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slideLayouts/slideLayout17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6" r:id="rId2"/>
    <p:sldMasterId id="2147483673" r:id="rId3"/>
  </p:sldMasterIdLst>
  <p:notesMasterIdLst>
    <p:notesMasterId r:id="rId208"/>
  </p:notesMasterIdLst>
  <p:sldIdLst>
    <p:sldId id="256" r:id="rId4"/>
    <p:sldId id="257" r:id="rId5"/>
    <p:sldId id="258" r:id="rId6"/>
    <p:sldId id="259" r:id="rId7"/>
    <p:sldId id="260" r:id="rId8"/>
    <p:sldId id="411" r:id="rId9"/>
    <p:sldId id="410" r:id="rId10"/>
    <p:sldId id="425" r:id="rId11"/>
    <p:sldId id="430" r:id="rId12"/>
    <p:sldId id="414" r:id="rId13"/>
    <p:sldId id="408" r:id="rId14"/>
    <p:sldId id="412" r:id="rId15"/>
    <p:sldId id="413" r:id="rId16"/>
    <p:sldId id="415" r:id="rId17"/>
    <p:sldId id="416" r:id="rId18"/>
    <p:sldId id="417" r:id="rId19"/>
    <p:sldId id="418" r:id="rId20"/>
    <p:sldId id="392" r:id="rId21"/>
    <p:sldId id="409" r:id="rId22"/>
    <p:sldId id="426" r:id="rId23"/>
    <p:sldId id="427" r:id="rId24"/>
    <p:sldId id="428" r:id="rId25"/>
    <p:sldId id="420" r:id="rId26"/>
    <p:sldId id="431" r:id="rId27"/>
    <p:sldId id="432" r:id="rId28"/>
    <p:sldId id="434" r:id="rId29"/>
    <p:sldId id="433" r:id="rId30"/>
    <p:sldId id="435" r:id="rId31"/>
    <p:sldId id="421" r:id="rId32"/>
    <p:sldId id="436" r:id="rId33"/>
    <p:sldId id="437" r:id="rId34"/>
    <p:sldId id="439" r:id="rId35"/>
    <p:sldId id="438" r:id="rId36"/>
    <p:sldId id="440" r:id="rId37"/>
    <p:sldId id="419" r:id="rId38"/>
    <p:sldId id="478" r:id="rId39"/>
    <p:sldId id="459" r:id="rId40"/>
    <p:sldId id="460" r:id="rId41"/>
    <p:sldId id="480" r:id="rId42"/>
    <p:sldId id="481" r:id="rId43"/>
    <p:sldId id="463" r:id="rId44"/>
    <p:sldId id="483" r:id="rId45"/>
    <p:sldId id="523" r:id="rId46"/>
    <p:sldId id="484" r:id="rId47"/>
    <p:sldId id="464" r:id="rId48"/>
    <p:sldId id="482" r:id="rId49"/>
    <p:sldId id="441" r:id="rId50"/>
    <p:sldId id="485" r:id="rId51"/>
    <p:sldId id="486" r:id="rId52"/>
    <p:sldId id="487" r:id="rId53"/>
    <p:sldId id="488" r:id="rId54"/>
    <p:sldId id="489" r:id="rId55"/>
    <p:sldId id="490" r:id="rId56"/>
    <p:sldId id="491" r:id="rId57"/>
    <p:sldId id="492" r:id="rId58"/>
    <p:sldId id="493" r:id="rId59"/>
    <p:sldId id="494" r:id="rId60"/>
    <p:sldId id="495" r:id="rId61"/>
    <p:sldId id="496" r:id="rId62"/>
    <p:sldId id="422" r:id="rId63"/>
    <p:sldId id="497" r:id="rId64"/>
    <p:sldId id="498" r:id="rId65"/>
    <p:sldId id="442" r:id="rId66"/>
    <p:sldId id="443" r:id="rId67"/>
    <p:sldId id="499" r:id="rId68"/>
    <p:sldId id="500" r:id="rId69"/>
    <p:sldId id="501" r:id="rId70"/>
    <p:sldId id="502" r:id="rId71"/>
    <p:sldId id="524" r:id="rId72"/>
    <p:sldId id="504" r:id="rId73"/>
    <p:sldId id="505" r:id="rId74"/>
    <p:sldId id="506" r:id="rId75"/>
    <p:sldId id="507" r:id="rId76"/>
    <p:sldId id="508" r:id="rId77"/>
    <p:sldId id="509" r:id="rId78"/>
    <p:sldId id="510" r:id="rId79"/>
    <p:sldId id="511" r:id="rId80"/>
    <p:sldId id="512" r:id="rId81"/>
    <p:sldId id="514" r:id="rId82"/>
    <p:sldId id="515" r:id="rId83"/>
    <p:sldId id="516" r:id="rId84"/>
    <p:sldId id="517" r:id="rId85"/>
    <p:sldId id="518" r:id="rId86"/>
    <p:sldId id="519" r:id="rId87"/>
    <p:sldId id="520" r:id="rId88"/>
    <p:sldId id="521" r:id="rId89"/>
    <p:sldId id="522" r:id="rId90"/>
    <p:sldId id="444" r:id="rId91"/>
    <p:sldId id="445" r:id="rId92"/>
    <p:sldId id="450" r:id="rId93"/>
    <p:sldId id="451" r:id="rId94"/>
    <p:sldId id="452" r:id="rId95"/>
    <p:sldId id="453" r:id="rId96"/>
    <p:sldId id="458" r:id="rId97"/>
    <p:sldId id="466" r:id="rId98"/>
    <p:sldId id="455" r:id="rId99"/>
    <p:sldId id="456" r:id="rId100"/>
    <p:sldId id="446" r:id="rId101"/>
    <p:sldId id="447" r:id="rId102"/>
    <p:sldId id="467" r:id="rId103"/>
    <p:sldId id="468" r:id="rId104"/>
    <p:sldId id="469" r:id="rId105"/>
    <p:sldId id="472" r:id="rId106"/>
    <p:sldId id="473" r:id="rId107"/>
    <p:sldId id="474" r:id="rId108"/>
    <p:sldId id="476" r:id="rId109"/>
    <p:sldId id="475" r:id="rId110"/>
    <p:sldId id="470" r:id="rId111"/>
    <p:sldId id="471" r:id="rId112"/>
    <p:sldId id="448" r:id="rId113"/>
    <p:sldId id="449" r:id="rId114"/>
    <p:sldId id="477" r:id="rId115"/>
    <p:sldId id="525" r:id="rId116"/>
    <p:sldId id="526" r:id="rId117"/>
    <p:sldId id="527" r:id="rId118"/>
    <p:sldId id="528" r:id="rId119"/>
    <p:sldId id="529" r:id="rId120"/>
    <p:sldId id="530" r:id="rId121"/>
    <p:sldId id="531" r:id="rId122"/>
    <p:sldId id="532" r:id="rId123"/>
    <p:sldId id="533" r:id="rId124"/>
    <p:sldId id="534" r:id="rId125"/>
    <p:sldId id="535" r:id="rId126"/>
    <p:sldId id="536" r:id="rId127"/>
    <p:sldId id="537" r:id="rId128"/>
    <p:sldId id="538" r:id="rId129"/>
    <p:sldId id="539" r:id="rId130"/>
    <p:sldId id="540" r:id="rId131"/>
    <p:sldId id="541" r:id="rId132"/>
    <p:sldId id="542" r:id="rId133"/>
    <p:sldId id="543" r:id="rId134"/>
    <p:sldId id="544" r:id="rId135"/>
    <p:sldId id="545" r:id="rId136"/>
    <p:sldId id="546" r:id="rId137"/>
    <p:sldId id="547" r:id="rId138"/>
    <p:sldId id="548" r:id="rId139"/>
    <p:sldId id="549" r:id="rId140"/>
    <p:sldId id="550" r:id="rId141"/>
    <p:sldId id="551" r:id="rId142"/>
    <p:sldId id="552" r:id="rId143"/>
    <p:sldId id="553" r:id="rId144"/>
    <p:sldId id="554" r:id="rId145"/>
    <p:sldId id="555" r:id="rId146"/>
    <p:sldId id="556" r:id="rId147"/>
    <p:sldId id="557" r:id="rId148"/>
    <p:sldId id="558" r:id="rId149"/>
    <p:sldId id="559" r:id="rId150"/>
    <p:sldId id="560" r:id="rId151"/>
    <p:sldId id="561" r:id="rId152"/>
    <p:sldId id="562" r:id="rId153"/>
    <p:sldId id="563" r:id="rId154"/>
    <p:sldId id="564" r:id="rId155"/>
    <p:sldId id="565" r:id="rId156"/>
    <p:sldId id="566" r:id="rId157"/>
    <p:sldId id="567" r:id="rId158"/>
    <p:sldId id="568" r:id="rId159"/>
    <p:sldId id="569" r:id="rId160"/>
    <p:sldId id="570" r:id="rId161"/>
    <p:sldId id="571" r:id="rId162"/>
    <p:sldId id="572" r:id="rId163"/>
    <p:sldId id="573" r:id="rId164"/>
    <p:sldId id="574" r:id="rId165"/>
    <p:sldId id="575" r:id="rId166"/>
    <p:sldId id="576" r:id="rId167"/>
    <p:sldId id="577" r:id="rId168"/>
    <p:sldId id="578" r:id="rId169"/>
    <p:sldId id="579" r:id="rId170"/>
    <p:sldId id="580" r:id="rId171"/>
    <p:sldId id="581" r:id="rId172"/>
    <p:sldId id="582" r:id="rId173"/>
    <p:sldId id="583" r:id="rId174"/>
    <p:sldId id="584" r:id="rId175"/>
    <p:sldId id="585" r:id="rId176"/>
    <p:sldId id="586" r:id="rId177"/>
    <p:sldId id="587" r:id="rId178"/>
    <p:sldId id="588" r:id="rId179"/>
    <p:sldId id="589" r:id="rId180"/>
    <p:sldId id="590" r:id="rId181"/>
    <p:sldId id="591" r:id="rId182"/>
    <p:sldId id="592" r:id="rId183"/>
    <p:sldId id="593" r:id="rId184"/>
    <p:sldId id="594" r:id="rId185"/>
    <p:sldId id="595" r:id="rId186"/>
    <p:sldId id="596" r:id="rId187"/>
    <p:sldId id="597" r:id="rId188"/>
    <p:sldId id="598" r:id="rId189"/>
    <p:sldId id="599" r:id="rId190"/>
    <p:sldId id="600" r:id="rId191"/>
    <p:sldId id="601" r:id="rId192"/>
    <p:sldId id="602" r:id="rId193"/>
    <p:sldId id="603" r:id="rId194"/>
    <p:sldId id="604" r:id="rId195"/>
    <p:sldId id="605" r:id="rId196"/>
    <p:sldId id="606" r:id="rId197"/>
    <p:sldId id="607" r:id="rId198"/>
    <p:sldId id="608" r:id="rId199"/>
    <p:sldId id="609" r:id="rId200"/>
    <p:sldId id="610" r:id="rId201"/>
    <p:sldId id="611" r:id="rId202"/>
    <p:sldId id="612" r:id="rId203"/>
    <p:sldId id="613" r:id="rId204"/>
    <p:sldId id="614" r:id="rId205"/>
    <p:sldId id="615" r:id="rId206"/>
    <p:sldId id="616" r:id="rId20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65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754" autoAdjust="0"/>
    <p:restoredTop sz="94889" autoAdjust="0"/>
  </p:normalViewPr>
  <p:slideViewPr>
    <p:cSldViewPr snapToGrid="0" showGuides="1">
      <p:cViewPr varScale="1">
        <p:scale>
          <a:sx n="107" d="100"/>
          <a:sy n="107" d="100"/>
        </p:scale>
        <p:origin x="456" y="102"/>
      </p:cViewPr>
      <p:guideLst>
        <p:guide orient="horz" pos="1865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4.xml"/><Relationship Id="rId21" Type="http://schemas.openxmlformats.org/officeDocument/2006/relationships/slide" Target="slides/slide18.xml"/><Relationship Id="rId42" Type="http://schemas.openxmlformats.org/officeDocument/2006/relationships/slide" Target="slides/slide39.xml"/><Relationship Id="rId63" Type="http://schemas.openxmlformats.org/officeDocument/2006/relationships/slide" Target="slides/slide60.xml"/><Relationship Id="rId84" Type="http://schemas.openxmlformats.org/officeDocument/2006/relationships/slide" Target="slides/slide81.xml"/><Relationship Id="rId138" Type="http://schemas.openxmlformats.org/officeDocument/2006/relationships/slide" Target="slides/slide135.xml"/><Relationship Id="rId159" Type="http://schemas.openxmlformats.org/officeDocument/2006/relationships/slide" Target="slides/slide156.xml"/><Relationship Id="rId170" Type="http://schemas.openxmlformats.org/officeDocument/2006/relationships/slide" Target="slides/slide167.xml"/><Relationship Id="rId191" Type="http://schemas.openxmlformats.org/officeDocument/2006/relationships/slide" Target="slides/slide188.xml"/><Relationship Id="rId205" Type="http://schemas.openxmlformats.org/officeDocument/2006/relationships/slide" Target="slides/slide202.xml"/><Relationship Id="rId107" Type="http://schemas.openxmlformats.org/officeDocument/2006/relationships/slide" Target="slides/slide104.xml"/><Relationship Id="rId11" Type="http://schemas.openxmlformats.org/officeDocument/2006/relationships/slide" Target="slides/slide8.xml"/><Relationship Id="rId32" Type="http://schemas.openxmlformats.org/officeDocument/2006/relationships/slide" Target="slides/slide29.xml"/><Relationship Id="rId53" Type="http://schemas.openxmlformats.org/officeDocument/2006/relationships/slide" Target="slides/slide50.xml"/><Relationship Id="rId74" Type="http://schemas.openxmlformats.org/officeDocument/2006/relationships/slide" Target="slides/slide71.xml"/><Relationship Id="rId128" Type="http://schemas.openxmlformats.org/officeDocument/2006/relationships/slide" Target="slides/slide125.xml"/><Relationship Id="rId149" Type="http://schemas.openxmlformats.org/officeDocument/2006/relationships/slide" Target="slides/slide146.xml"/><Relationship Id="rId5" Type="http://schemas.openxmlformats.org/officeDocument/2006/relationships/slide" Target="slides/slide2.xml"/><Relationship Id="rId95" Type="http://schemas.openxmlformats.org/officeDocument/2006/relationships/slide" Target="slides/slide92.xml"/><Relationship Id="rId160" Type="http://schemas.openxmlformats.org/officeDocument/2006/relationships/slide" Target="slides/slide157.xml"/><Relationship Id="rId181" Type="http://schemas.openxmlformats.org/officeDocument/2006/relationships/slide" Target="slides/slide178.xml"/><Relationship Id="rId22" Type="http://schemas.openxmlformats.org/officeDocument/2006/relationships/slide" Target="slides/slide19.xml"/><Relationship Id="rId43" Type="http://schemas.openxmlformats.org/officeDocument/2006/relationships/slide" Target="slides/slide40.xml"/><Relationship Id="rId64" Type="http://schemas.openxmlformats.org/officeDocument/2006/relationships/slide" Target="slides/slide61.xml"/><Relationship Id="rId118" Type="http://schemas.openxmlformats.org/officeDocument/2006/relationships/slide" Target="slides/slide115.xml"/><Relationship Id="rId139" Type="http://schemas.openxmlformats.org/officeDocument/2006/relationships/slide" Target="slides/slide136.xml"/><Relationship Id="rId85" Type="http://schemas.openxmlformats.org/officeDocument/2006/relationships/slide" Target="slides/slide82.xml"/><Relationship Id="rId150" Type="http://schemas.openxmlformats.org/officeDocument/2006/relationships/slide" Target="slides/slide147.xml"/><Relationship Id="rId171" Type="http://schemas.openxmlformats.org/officeDocument/2006/relationships/slide" Target="slides/slide168.xml"/><Relationship Id="rId192" Type="http://schemas.openxmlformats.org/officeDocument/2006/relationships/slide" Target="slides/slide189.xml"/><Relationship Id="rId206" Type="http://schemas.openxmlformats.org/officeDocument/2006/relationships/slide" Target="slides/slide203.xml"/><Relationship Id="rId12" Type="http://schemas.openxmlformats.org/officeDocument/2006/relationships/slide" Target="slides/slide9.xml"/><Relationship Id="rId33" Type="http://schemas.openxmlformats.org/officeDocument/2006/relationships/slide" Target="slides/slide30.xml"/><Relationship Id="rId108" Type="http://schemas.openxmlformats.org/officeDocument/2006/relationships/slide" Target="slides/slide105.xml"/><Relationship Id="rId129" Type="http://schemas.openxmlformats.org/officeDocument/2006/relationships/slide" Target="slides/slide126.xml"/><Relationship Id="rId54" Type="http://schemas.openxmlformats.org/officeDocument/2006/relationships/slide" Target="slides/slide51.xml"/><Relationship Id="rId75" Type="http://schemas.openxmlformats.org/officeDocument/2006/relationships/slide" Target="slides/slide72.xml"/><Relationship Id="rId96" Type="http://schemas.openxmlformats.org/officeDocument/2006/relationships/slide" Target="slides/slide93.xml"/><Relationship Id="rId140" Type="http://schemas.openxmlformats.org/officeDocument/2006/relationships/slide" Target="slides/slide137.xml"/><Relationship Id="rId161" Type="http://schemas.openxmlformats.org/officeDocument/2006/relationships/slide" Target="slides/slide158.xml"/><Relationship Id="rId182" Type="http://schemas.openxmlformats.org/officeDocument/2006/relationships/slide" Target="slides/slide179.xml"/><Relationship Id="rId6" Type="http://schemas.openxmlformats.org/officeDocument/2006/relationships/slide" Target="slides/slide3.xml"/><Relationship Id="rId23" Type="http://schemas.openxmlformats.org/officeDocument/2006/relationships/slide" Target="slides/slide20.xml"/><Relationship Id="rId119" Type="http://schemas.openxmlformats.org/officeDocument/2006/relationships/slide" Target="slides/slide116.xml"/><Relationship Id="rId44" Type="http://schemas.openxmlformats.org/officeDocument/2006/relationships/slide" Target="slides/slide41.xml"/><Relationship Id="rId65" Type="http://schemas.openxmlformats.org/officeDocument/2006/relationships/slide" Target="slides/slide62.xml"/><Relationship Id="rId86" Type="http://schemas.openxmlformats.org/officeDocument/2006/relationships/slide" Target="slides/slide83.xml"/><Relationship Id="rId130" Type="http://schemas.openxmlformats.org/officeDocument/2006/relationships/slide" Target="slides/slide127.xml"/><Relationship Id="rId151" Type="http://schemas.openxmlformats.org/officeDocument/2006/relationships/slide" Target="slides/slide148.xml"/><Relationship Id="rId172" Type="http://schemas.openxmlformats.org/officeDocument/2006/relationships/slide" Target="slides/slide169.xml"/><Relationship Id="rId193" Type="http://schemas.openxmlformats.org/officeDocument/2006/relationships/slide" Target="slides/slide190.xml"/><Relationship Id="rId207" Type="http://schemas.openxmlformats.org/officeDocument/2006/relationships/slide" Target="slides/slide204.xml"/><Relationship Id="rId13" Type="http://schemas.openxmlformats.org/officeDocument/2006/relationships/slide" Target="slides/slide10.xml"/><Relationship Id="rId109" Type="http://schemas.openxmlformats.org/officeDocument/2006/relationships/slide" Target="slides/slide106.xml"/><Relationship Id="rId34" Type="http://schemas.openxmlformats.org/officeDocument/2006/relationships/slide" Target="slides/slide31.xml"/><Relationship Id="rId55" Type="http://schemas.openxmlformats.org/officeDocument/2006/relationships/slide" Target="slides/slide52.xml"/><Relationship Id="rId76" Type="http://schemas.openxmlformats.org/officeDocument/2006/relationships/slide" Target="slides/slide73.xml"/><Relationship Id="rId97" Type="http://schemas.openxmlformats.org/officeDocument/2006/relationships/slide" Target="slides/slide94.xml"/><Relationship Id="rId120" Type="http://schemas.openxmlformats.org/officeDocument/2006/relationships/slide" Target="slides/slide117.xml"/><Relationship Id="rId141" Type="http://schemas.openxmlformats.org/officeDocument/2006/relationships/slide" Target="slides/slide138.xml"/><Relationship Id="rId7" Type="http://schemas.openxmlformats.org/officeDocument/2006/relationships/slide" Target="slides/slide4.xml"/><Relationship Id="rId162" Type="http://schemas.openxmlformats.org/officeDocument/2006/relationships/slide" Target="slides/slide159.xml"/><Relationship Id="rId183" Type="http://schemas.openxmlformats.org/officeDocument/2006/relationships/slide" Target="slides/slide180.xml"/><Relationship Id="rId24" Type="http://schemas.openxmlformats.org/officeDocument/2006/relationships/slide" Target="slides/slide21.xml"/><Relationship Id="rId45" Type="http://schemas.openxmlformats.org/officeDocument/2006/relationships/slide" Target="slides/slide42.xml"/><Relationship Id="rId66" Type="http://schemas.openxmlformats.org/officeDocument/2006/relationships/slide" Target="slides/slide63.xml"/><Relationship Id="rId87" Type="http://schemas.openxmlformats.org/officeDocument/2006/relationships/slide" Target="slides/slide84.xml"/><Relationship Id="rId110" Type="http://schemas.openxmlformats.org/officeDocument/2006/relationships/slide" Target="slides/slide107.xml"/><Relationship Id="rId131" Type="http://schemas.openxmlformats.org/officeDocument/2006/relationships/slide" Target="slides/slide128.xml"/><Relationship Id="rId61" Type="http://schemas.openxmlformats.org/officeDocument/2006/relationships/slide" Target="slides/slide58.xml"/><Relationship Id="rId82" Type="http://schemas.openxmlformats.org/officeDocument/2006/relationships/slide" Target="slides/slide79.xml"/><Relationship Id="rId152" Type="http://schemas.openxmlformats.org/officeDocument/2006/relationships/slide" Target="slides/slide149.xml"/><Relationship Id="rId173" Type="http://schemas.openxmlformats.org/officeDocument/2006/relationships/slide" Target="slides/slide170.xml"/><Relationship Id="rId194" Type="http://schemas.openxmlformats.org/officeDocument/2006/relationships/slide" Target="slides/slide191.xml"/><Relationship Id="rId199" Type="http://schemas.openxmlformats.org/officeDocument/2006/relationships/slide" Target="slides/slide196.xml"/><Relationship Id="rId203" Type="http://schemas.openxmlformats.org/officeDocument/2006/relationships/slide" Target="slides/slide200.xml"/><Relationship Id="rId208" Type="http://schemas.openxmlformats.org/officeDocument/2006/relationships/notesMaster" Target="notesMasters/notesMaster1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56" Type="http://schemas.openxmlformats.org/officeDocument/2006/relationships/slide" Target="slides/slide53.xml"/><Relationship Id="rId77" Type="http://schemas.openxmlformats.org/officeDocument/2006/relationships/slide" Target="slides/slide74.xml"/><Relationship Id="rId100" Type="http://schemas.openxmlformats.org/officeDocument/2006/relationships/slide" Target="slides/slide97.xml"/><Relationship Id="rId105" Type="http://schemas.openxmlformats.org/officeDocument/2006/relationships/slide" Target="slides/slide102.xml"/><Relationship Id="rId126" Type="http://schemas.openxmlformats.org/officeDocument/2006/relationships/slide" Target="slides/slide123.xml"/><Relationship Id="rId147" Type="http://schemas.openxmlformats.org/officeDocument/2006/relationships/slide" Target="slides/slide144.xml"/><Relationship Id="rId168" Type="http://schemas.openxmlformats.org/officeDocument/2006/relationships/slide" Target="slides/slide165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72" Type="http://schemas.openxmlformats.org/officeDocument/2006/relationships/slide" Target="slides/slide69.xml"/><Relationship Id="rId93" Type="http://schemas.openxmlformats.org/officeDocument/2006/relationships/slide" Target="slides/slide90.xml"/><Relationship Id="rId98" Type="http://schemas.openxmlformats.org/officeDocument/2006/relationships/slide" Target="slides/slide95.xml"/><Relationship Id="rId121" Type="http://schemas.openxmlformats.org/officeDocument/2006/relationships/slide" Target="slides/slide118.xml"/><Relationship Id="rId142" Type="http://schemas.openxmlformats.org/officeDocument/2006/relationships/slide" Target="slides/slide139.xml"/><Relationship Id="rId163" Type="http://schemas.openxmlformats.org/officeDocument/2006/relationships/slide" Target="slides/slide160.xml"/><Relationship Id="rId184" Type="http://schemas.openxmlformats.org/officeDocument/2006/relationships/slide" Target="slides/slide181.xml"/><Relationship Id="rId189" Type="http://schemas.openxmlformats.org/officeDocument/2006/relationships/slide" Target="slides/slide186.xml"/><Relationship Id="rId3" Type="http://schemas.openxmlformats.org/officeDocument/2006/relationships/slideMaster" Target="slideMasters/slideMaster3.xml"/><Relationship Id="rId25" Type="http://schemas.openxmlformats.org/officeDocument/2006/relationships/slide" Target="slides/slide22.xml"/><Relationship Id="rId46" Type="http://schemas.openxmlformats.org/officeDocument/2006/relationships/slide" Target="slides/slide43.xml"/><Relationship Id="rId67" Type="http://schemas.openxmlformats.org/officeDocument/2006/relationships/slide" Target="slides/slide64.xml"/><Relationship Id="rId116" Type="http://schemas.openxmlformats.org/officeDocument/2006/relationships/slide" Target="slides/slide113.xml"/><Relationship Id="rId137" Type="http://schemas.openxmlformats.org/officeDocument/2006/relationships/slide" Target="slides/slide134.xml"/><Relationship Id="rId158" Type="http://schemas.openxmlformats.org/officeDocument/2006/relationships/slide" Target="slides/slide155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62" Type="http://schemas.openxmlformats.org/officeDocument/2006/relationships/slide" Target="slides/slide59.xml"/><Relationship Id="rId83" Type="http://schemas.openxmlformats.org/officeDocument/2006/relationships/slide" Target="slides/slide80.xml"/><Relationship Id="rId88" Type="http://schemas.openxmlformats.org/officeDocument/2006/relationships/slide" Target="slides/slide85.xml"/><Relationship Id="rId111" Type="http://schemas.openxmlformats.org/officeDocument/2006/relationships/slide" Target="slides/slide108.xml"/><Relationship Id="rId132" Type="http://schemas.openxmlformats.org/officeDocument/2006/relationships/slide" Target="slides/slide129.xml"/><Relationship Id="rId153" Type="http://schemas.openxmlformats.org/officeDocument/2006/relationships/slide" Target="slides/slide150.xml"/><Relationship Id="rId174" Type="http://schemas.openxmlformats.org/officeDocument/2006/relationships/slide" Target="slides/slide171.xml"/><Relationship Id="rId179" Type="http://schemas.openxmlformats.org/officeDocument/2006/relationships/slide" Target="slides/slide176.xml"/><Relationship Id="rId195" Type="http://schemas.openxmlformats.org/officeDocument/2006/relationships/slide" Target="slides/slide192.xml"/><Relationship Id="rId209" Type="http://schemas.openxmlformats.org/officeDocument/2006/relationships/presProps" Target="presProps.xml"/><Relationship Id="rId190" Type="http://schemas.openxmlformats.org/officeDocument/2006/relationships/slide" Target="slides/slide187.xml"/><Relationship Id="rId204" Type="http://schemas.openxmlformats.org/officeDocument/2006/relationships/slide" Target="slides/slide201.xml"/><Relationship Id="rId15" Type="http://schemas.openxmlformats.org/officeDocument/2006/relationships/slide" Target="slides/slide12.xml"/><Relationship Id="rId36" Type="http://schemas.openxmlformats.org/officeDocument/2006/relationships/slide" Target="slides/slide33.xml"/><Relationship Id="rId57" Type="http://schemas.openxmlformats.org/officeDocument/2006/relationships/slide" Target="slides/slide54.xml"/><Relationship Id="rId106" Type="http://schemas.openxmlformats.org/officeDocument/2006/relationships/slide" Target="slides/slide103.xml"/><Relationship Id="rId127" Type="http://schemas.openxmlformats.org/officeDocument/2006/relationships/slide" Target="slides/slide124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52" Type="http://schemas.openxmlformats.org/officeDocument/2006/relationships/slide" Target="slides/slide49.xml"/><Relationship Id="rId73" Type="http://schemas.openxmlformats.org/officeDocument/2006/relationships/slide" Target="slides/slide70.xml"/><Relationship Id="rId78" Type="http://schemas.openxmlformats.org/officeDocument/2006/relationships/slide" Target="slides/slide75.xml"/><Relationship Id="rId94" Type="http://schemas.openxmlformats.org/officeDocument/2006/relationships/slide" Target="slides/slide91.xml"/><Relationship Id="rId99" Type="http://schemas.openxmlformats.org/officeDocument/2006/relationships/slide" Target="slides/slide96.xml"/><Relationship Id="rId101" Type="http://schemas.openxmlformats.org/officeDocument/2006/relationships/slide" Target="slides/slide98.xml"/><Relationship Id="rId122" Type="http://schemas.openxmlformats.org/officeDocument/2006/relationships/slide" Target="slides/slide119.xml"/><Relationship Id="rId143" Type="http://schemas.openxmlformats.org/officeDocument/2006/relationships/slide" Target="slides/slide140.xml"/><Relationship Id="rId148" Type="http://schemas.openxmlformats.org/officeDocument/2006/relationships/slide" Target="slides/slide145.xml"/><Relationship Id="rId164" Type="http://schemas.openxmlformats.org/officeDocument/2006/relationships/slide" Target="slides/slide161.xml"/><Relationship Id="rId169" Type="http://schemas.openxmlformats.org/officeDocument/2006/relationships/slide" Target="slides/slide166.xml"/><Relationship Id="rId185" Type="http://schemas.openxmlformats.org/officeDocument/2006/relationships/slide" Target="slides/slide182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80" Type="http://schemas.openxmlformats.org/officeDocument/2006/relationships/slide" Target="slides/slide177.xml"/><Relationship Id="rId210" Type="http://schemas.openxmlformats.org/officeDocument/2006/relationships/viewProps" Target="viewProps.xml"/><Relationship Id="rId26" Type="http://schemas.openxmlformats.org/officeDocument/2006/relationships/slide" Target="slides/slide23.xml"/><Relationship Id="rId47" Type="http://schemas.openxmlformats.org/officeDocument/2006/relationships/slide" Target="slides/slide44.xml"/><Relationship Id="rId68" Type="http://schemas.openxmlformats.org/officeDocument/2006/relationships/slide" Target="slides/slide65.xml"/><Relationship Id="rId89" Type="http://schemas.openxmlformats.org/officeDocument/2006/relationships/slide" Target="slides/slide86.xml"/><Relationship Id="rId112" Type="http://schemas.openxmlformats.org/officeDocument/2006/relationships/slide" Target="slides/slide109.xml"/><Relationship Id="rId133" Type="http://schemas.openxmlformats.org/officeDocument/2006/relationships/slide" Target="slides/slide130.xml"/><Relationship Id="rId154" Type="http://schemas.openxmlformats.org/officeDocument/2006/relationships/slide" Target="slides/slide151.xml"/><Relationship Id="rId175" Type="http://schemas.openxmlformats.org/officeDocument/2006/relationships/slide" Target="slides/slide172.xml"/><Relationship Id="rId196" Type="http://schemas.openxmlformats.org/officeDocument/2006/relationships/slide" Target="slides/slide193.xml"/><Relationship Id="rId200" Type="http://schemas.openxmlformats.org/officeDocument/2006/relationships/slide" Target="slides/slide197.xml"/><Relationship Id="rId16" Type="http://schemas.openxmlformats.org/officeDocument/2006/relationships/slide" Target="slides/slide13.xml"/><Relationship Id="rId37" Type="http://schemas.openxmlformats.org/officeDocument/2006/relationships/slide" Target="slides/slide34.xml"/><Relationship Id="rId58" Type="http://schemas.openxmlformats.org/officeDocument/2006/relationships/slide" Target="slides/slide55.xml"/><Relationship Id="rId79" Type="http://schemas.openxmlformats.org/officeDocument/2006/relationships/slide" Target="slides/slide76.xml"/><Relationship Id="rId102" Type="http://schemas.openxmlformats.org/officeDocument/2006/relationships/slide" Target="slides/slide99.xml"/><Relationship Id="rId123" Type="http://schemas.openxmlformats.org/officeDocument/2006/relationships/slide" Target="slides/slide120.xml"/><Relationship Id="rId144" Type="http://schemas.openxmlformats.org/officeDocument/2006/relationships/slide" Target="slides/slide141.xml"/><Relationship Id="rId90" Type="http://schemas.openxmlformats.org/officeDocument/2006/relationships/slide" Target="slides/slide87.xml"/><Relationship Id="rId165" Type="http://schemas.openxmlformats.org/officeDocument/2006/relationships/slide" Target="slides/slide162.xml"/><Relationship Id="rId186" Type="http://schemas.openxmlformats.org/officeDocument/2006/relationships/slide" Target="slides/slide183.xml"/><Relationship Id="rId211" Type="http://schemas.openxmlformats.org/officeDocument/2006/relationships/theme" Target="theme/theme1.xml"/><Relationship Id="rId27" Type="http://schemas.openxmlformats.org/officeDocument/2006/relationships/slide" Target="slides/slide24.xml"/><Relationship Id="rId48" Type="http://schemas.openxmlformats.org/officeDocument/2006/relationships/slide" Target="slides/slide45.xml"/><Relationship Id="rId69" Type="http://schemas.openxmlformats.org/officeDocument/2006/relationships/slide" Target="slides/slide66.xml"/><Relationship Id="rId113" Type="http://schemas.openxmlformats.org/officeDocument/2006/relationships/slide" Target="slides/slide110.xml"/><Relationship Id="rId134" Type="http://schemas.openxmlformats.org/officeDocument/2006/relationships/slide" Target="slides/slide131.xml"/><Relationship Id="rId80" Type="http://schemas.openxmlformats.org/officeDocument/2006/relationships/slide" Target="slides/slide77.xml"/><Relationship Id="rId155" Type="http://schemas.openxmlformats.org/officeDocument/2006/relationships/slide" Target="slides/slide152.xml"/><Relationship Id="rId176" Type="http://schemas.openxmlformats.org/officeDocument/2006/relationships/slide" Target="slides/slide173.xml"/><Relationship Id="rId197" Type="http://schemas.openxmlformats.org/officeDocument/2006/relationships/slide" Target="slides/slide194.xml"/><Relationship Id="rId201" Type="http://schemas.openxmlformats.org/officeDocument/2006/relationships/slide" Target="slides/slide198.xml"/><Relationship Id="rId17" Type="http://schemas.openxmlformats.org/officeDocument/2006/relationships/slide" Target="slides/slide14.xml"/><Relationship Id="rId38" Type="http://schemas.openxmlformats.org/officeDocument/2006/relationships/slide" Target="slides/slide35.xml"/><Relationship Id="rId59" Type="http://schemas.openxmlformats.org/officeDocument/2006/relationships/slide" Target="slides/slide56.xml"/><Relationship Id="rId103" Type="http://schemas.openxmlformats.org/officeDocument/2006/relationships/slide" Target="slides/slide100.xml"/><Relationship Id="rId124" Type="http://schemas.openxmlformats.org/officeDocument/2006/relationships/slide" Target="slides/slide121.xml"/><Relationship Id="rId70" Type="http://schemas.openxmlformats.org/officeDocument/2006/relationships/slide" Target="slides/slide67.xml"/><Relationship Id="rId91" Type="http://schemas.openxmlformats.org/officeDocument/2006/relationships/slide" Target="slides/slide88.xml"/><Relationship Id="rId145" Type="http://schemas.openxmlformats.org/officeDocument/2006/relationships/slide" Target="slides/slide142.xml"/><Relationship Id="rId166" Type="http://schemas.openxmlformats.org/officeDocument/2006/relationships/slide" Target="slides/slide163.xml"/><Relationship Id="rId187" Type="http://schemas.openxmlformats.org/officeDocument/2006/relationships/slide" Target="slides/slide184.xml"/><Relationship Id="rId1" Type="http://schemas.openxmlformats.org/officeDocument/2006/relationships/slideMaster" Target="slideMasters/slideMaster1.xml"/><Relationship Id="rId212" Type="http://schemas.openxmlformats.org/officeDocument/2006/relationships/tableStyles" Target="tableStyles.xml"/><Relationship Id="rId28" Type="http://schemas.openxmlformats.org/officeDocument/2006/relationships/slide" Target="slides/slide25.xml"/><Relationship Id="rId49" Type="http://schemas.openxmlformats.org/officeDocument/2006/relationships/slide" Target="slides/slide46.xml"/><Relationship Id="rId114" Type="http://schemas.openxmlformats.org/officeDocument/2006/relationships/slide" Target="slides/slide111.xml"/><Relationship Id="rId60" Type="http://schemas.openxmlformats.org/officeDocument/2006/relationships/slide" Target="slides/slide57.xml"/><Relationship Id="rId81" Type="http://schemas.openxmlformats.org/officeDocument/2006/relationships/slide" Target="slides/slide78.xml"/><Relationship Id="rId135" Type="http://schemas.openxmlformats.org/officeDocument/2006/relationships/slide" Target="slides/slide132.xml"/><Relationship Id="rId156" Type="http://schemas.openxmlformats.org/officeDocument/2006/relationships/slide" Target="slides/slide153.xml"/><Relationship Id="rId177" Type="http://schemas.openxmlformats.org/officeDocument/2006/relationships/slide" Target="slides/slide174.xml"/><Relationship Id="rId198" Type="http://schemas.openxmlformats.org/officeDocument/2006/relationships/slide" Target="slides/slide195.xml"/><Relationship Id="rId202" Type="http://schemas.openxmlformats.org/officeDocument/2006/relationships/slide" Target="slides/slide199.xml"/><Relationship Id="rId18" Type="http://schemas.openxmlformats.org/officeDocument/2006/relationships/slide" Target="slides/slide15.xml"/><Relationship Id="rId39" Type="http://schemas.openxmlformats.org/officeDocument/2006/relationships/slide" Target="slides/slide36.xml"/><Relationship Id="rId50" Type="http://schemas.openxmlformats.org/officeDocument/2006/relationships/slide" Target="slides/slide47.xml"/><Relationship Id="rId104" Type="http://schemas.openxmlformats.org/officeDocument/2006/relationships/slide" Target="slides/slide101.xml"/><Relationship Id="rId125" Type="http://schemas.openxmlformats.org/officeDocument/2006/relationships/slide" Target="slides/slide122.xml"/><Relationship Id="rId146" Type="http://schemas.openxmlformats.org/officeDocument/2006/relationships/slide" Target="slides/slide143.xml"/><Relationship Id="rId167" Type="http://schemas.openxmlformats.org/officeDocument/2006/relationships/slide" Target="slides/slide164.xml"/><Relationship Id="rId188" Type="http://schemas.openxmlformats.org/officeDocument/2006/relationships/slide" Target="slides/slide185.xml"/><Relationship Id="rId71" Type="http://schemas.openxmlformats.org/officeDocument/2006/relationships/slide" Target="slides/slide68.xml"/><Relationship Id="rId92" Type="http://schemas.openxmlformats.org/officeDocument/2006/relationships/slide" Target="slides/slide89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6.xml"/><Relationship Id="rId40" Type="http://schemas.openxmlformats.org/officeDocument/2006/relationships/slide" Target="slides/slide37.xml"/><Relationship Id="rId115" Type="http://schemas.openxmlformats.org/officeDocument/2006/relationships/slide" Target="slides/slide112.xml"/><Relationship Id="rId136" Type="http://schemas.openxmlformats.org/officeDocument/2006/relationships/slide" Target="slides/slide133.xml"/><Relationship Id="rId157" Type="http://schemas.openxmlformats.org/officeDocument/2006/relationships/slide" Target="slides/slide154.xml"/><Relationship Id="rId178" Type="http://schemas.openxmlformats.org/officeDocument/2006/relationships/slide" Target="slides/slide17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85099F-FD25-49ED-AE0F-3EFC84226C26}" type="datetimeFigureOut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E8815F-8162-4F02-B083-0D4020F84E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01945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4">
            <a:extLst>
              <a:ext uri="{FF2B5EF4-FFF2-40B4-BE49-F238E27FC236}">
                <a16:creationId xmlns:a16="http://schemas.microsoft.com/office/drawing/2014/main" id="{0471D472-5D9B-A2AE-2F2A-DAB7859F3FBD}"/>
              </a:ext>
            </a:extLst>
          </p:cNvPr>
          <p:cNvSpPr txBox="1">
            <a:spLocks/>
          </p:cNvSpPr>
          <p:nvPr userDrawn="1"/>
        </p:nvSpPr>
        <p:spPr>
          <a:xfrm>
            <a:off x="634069" y="2090060"/>
            <a:ext cx="9591135" cy="707886"/>
          </a:xfrm>
          <a:prstGeom prst="rect">
            <a:avLst/>
          </a:prstGeom>
        </p:spPr>
        <p:txBody>
          <a:bodyPr wrap="square">
            <a:sp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ko-KR" altLang="en-US" sz="4000" b="1" dirty="0">
                <a:solidFill>
                  <a:srgbClr val="000000"/>
                </a:solidFill>
                <a:latin typeface="나눔고딕" pitchFamily="2" charset="-127"/>
                <a:ea typeface="나눔고딕" pitchFamily="2" charset="-127"/>
              </a:rPr>
              <a:t>하늘누리 추모공원 웹사이트 구축 프로젝트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4EB893D-B697-69CE-3C2D-6429D5AD3ECF}"/>
              </a:ext>
            </a:extLst>
          </p:cNvPr>
          <p:cNvSpPr txBox="1"/>
          <p:nvPr userDrawn="1"/>
        </p:nvSpPr>
        <p:spPr>
          <a:xfrm>
            <a:off x="634070" y="2931638"/>
            <a:ext cx="31049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b="1" dirty="0">
                <a:solidFill>
                  <a:srgbClr val="00206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Story Board</a:t>
            </a:r>
            <a:endParaRPr lang="ko-KR" altLang="en-US" sz="4000" b="1" dirty="0">
              <a:solidFill>
                <a:srgbClr val="002060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113845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인덱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4">
            <a:extLst>
              <a:ext uri="{FF2B5EF4-FFF2-40B4-BE49-F238E27FC236}">
                <a16:creationId xmlns:a16="http://schemas.microsoft.com/office/drawing/2014/main" id="{51D23519-EBEB-344E-0D66-46DE9658790C}"/>
              </a:ext>
            </a:extLst>
          </p:cNvPr>
          <p:cNvSpPr txBox="1">
            <a:spLocks/>
          </p:cNvSpPr>
          <p:nvPr userDrawn="1"/>
        </p:nvSpPr>
        <p:spPr>
          <a:xfrm>
            <a:off x="998540" y="644247"/>
            <a:ext cx="9591135" cy="707886"/>
          </a:xfrm>
          <a:prstGeom prst="rect">
            <a:avLst/>
          </a:prstGeom>
        </p:spPr>
        <p:txBody>
          <a:bodyPr wrap="square">
            <a:sp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ko-KR" sz="4000" b="1" dirty="0">
                <a:solidFill>
                  <a:srgbClr val="000000"/>
                </a:solidFill>
                <a:latin typeface="나눔고딕" pitchFamily="2" charset="-127"/>
                <a:ea typeface="나눔고딕" pitchFamily="2" charset="-127"/>
              </a:rPr>
              <a:t>Index</a:t>
            </a:r>
            <a:endParaRPr lang="ko-KR" altLang="en-US" sz="4000" b="1" dirty="0">
              <a:solidFill>
                <a:srgbClr val="000000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5EFBD9C-8C23-8564-1A19-C6D44FC67CA3}"/>
              </a:ext>
            </a:extLst>
          </p:cNvPr>
          <p:cNvSpPr/>
          <p:nvPr userDrawn="1"/>
        </p:nvSpPr>
        <p:spPr bwMode="auto">
          <a:xfrm>
            <a:off x="518972" y="689120"/>
            <a:ext cx="309703" cy="565146"/>
          </a:xfrm>
          <a:prstGeom prst="rect">
            <a:avLst/>
          </a:prstGeom>
          <a:solidFill>
            <a:srgbClr val="FFFFFF">
              <a:lumMod val="5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9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돋움" pitchFamily="50" charset="-127"/>
              <a:ea typeface="돋움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502851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웹사이트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712F3872-E17B-8CD8-2FF9-B088D962CB30}"/>
              </a:ext>
            </a:extLst>
          </p:cNvPr>
          <p:cNvCxnSpPr/>
          <p:nvPr userDrawn="1"/>
        </p:nvCxnSpPr>
        <p:spPr>
          <a:xfrm>
            <a:off x="1047750" y="2371725"/>
            <a:ext cx="9541925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333BBD8-36F3-8EDA-E34D-772A13532CCC}"/>
              </a:ext>
            </a:extLst>
          </p:cNvPr>
          <p:cNvSpPr/>
          <p:nvPr userDrawn="1"/>
        </p:nvSpPr>
        <p:spPr bwMode="auto">
          <a:xfrm>
            <a:off x="518972" y="1546871"/>
            <a:ext cx="309703" cy="1364411"/>
          </a:xfrm>
          <a:prstGeom prst="rect">
            <a:avLst/>
          </a:prstGeom>
          <a:solidFill>
            <a:schemeClr val="bg1">
              <a:lumMod val="5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9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15" name="제목 4">
            <a:extLst>
              <a:ext uri="{FF2B5EF4-FFF2-40B4-BE49-F238E27FC236}">
                <a16:creationId xmlns:a16="http://schemas.microsoft.com/office/drawing/2014/main" id="{3260E325-0D5E-069E-0F11-EAEC4F285BB9}"/>
              </a:ext>
            </a:extLst>
          </p:cNvPr>
          <p:cNvSpPr txBox="1">
            <a:spLocks/>
          </p:cNvSpPr>
          <p:nvPr userDrawn="1"/>
        </p:nvSpPr>
        <p:spPr>
          <a:xfrm>
            <a:off x="998540" y="1663839"/>
            <a:ext cx="9591135" cy="707886"/>
          </a:xfrm>
          <a:prstGeom prst="rect">
            <a:avLst/>
          </a:prstGeom>
        </p:spPr>
        <p:txBody>
          <a:bodyPr wrap="square">
            <a:sp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ko-KR" altLang="en-US" sz="4000" b="1" dirty="0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웹사이트</a:t>
            </a:r>
            <a:r>
              <a:rPr lang="en-US" altLang="ko-KR" sz="4000" b="1" dirty="0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(PC </a:t>
            </a:r>
            <a:r>
              <a:rPr lang="ko-KR" altLang="en-US" sz="4000" b="1" dirty="0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버전</a:t>
            </a:r>
            <a:r>
              <a:rPr lang="en-US" altLang="ko-KR" sz="4000" b="1" dirty="0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)</a:t>
            </a:r>
            <a:endParaRPr lang="ko-KR" altLang="en-US" sz="4000" b="1" dirty="0">
              <a:solidFill>
                <a:schemeClr val="tx1"/>
              </a:solidFill>
              <a:latin typeface="나눔고딕" pitchFamily="2" charset="-127"/>
              <a:ea typeface="나눔고딕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004644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모바일 사이트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3A9C65FD-3A4B-AC58-4D33-E0804982C61F}"/>
              </a:ext>
            </a:extLst>
          </p:cNvPr>
          <p:cNvCxnSpPr/>
          <p:nvPr userDrawn="1"/>
        </p:nvCxnSpPr>
        <p:spPr>
          <a:xfrm>
            <a:off x="1047750" y="2371725"/>
            <a:ext cx="9541925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직사각형 8">
            <a:extLst>
              <a:ext uri="{FF2B5EF4-FFF2-40B4-BE49-F238E27FC236}">
                <a16:creationId xmlns:a16="http://schemas.microsoft.com/office/drawing/2014/main" id="{76245A76-0975-591A-5F87-68E5344F6B80}"/>
              </a:ext>
            </a:extLst>
          </p:cNvPr>
          <p:cNvSpPr/>
          <p:nvPr userDrawn="1"/>
        </p:nvSpPr>
        <p:spPr bwMode="auto">
          <a:xfrm>
            <a:off x="518972" y="1546871"/>
            <a:ext cx="309703" cy="1364411"/>
          </a:xfrm>
          <a:prstGeom prst="rect">
            <a:avLst/>
          </a:prstGeom>
          <a:solidFill>
            <a:schemeClr val="bg1">
              <a:lumMod val="5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9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10" name="제목 4">
            <a:extLst>
              <a:ext uri="{FF2B5EF4-FFF2-40B4-BE49-F238E27FC236}">
                <a16:creationId xmlns:a16="http://schemas.microsoft.com/office/drawing/2014/main" id="{DF0B7138-4A35-3ED3-9930-F9D1FD732D8C}"/>
              </a:ext>
            </a:extLst>
          </p:cNvPr>
          <p:cNvSpPr txBox="1">
            <a:spLocks/>
          </p:cNvSpPr>
          <p:nvPr userDrawn="1"/>
        </p:nvSpPr>
        <p:spPr>
          <a:xfrm>
            <a:off x="998540" y="1663839"/>
            <a:ext cx="9591135" cy="707886"/>
          </a:xfrm>
          <a:prstGeom prst="rect">
            <a:avLst/>
          </a:prstGeom>
        </p:spPr>
        <p:txBody>
          <a:bodyPr wrap="square">
            <a:sp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ko-KR" altLang="en-US" sz="4000" b="1" dirty="0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모바일사이트</a:t>
            </a:r>
            <a:r>
              <a:rPr lang="en-US" altLang="ko-KR" sz="4000" b="1" dirty="0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(Mobile </a:t>
            </a:r>
            <a:r>
              <a:rPr lang="ko-KR" altLang="en-US" sz="4000" b="1" dirty="0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버전</a:t>
            </a:r>
            <a:r>
              <a:rPr lang="en-US" altLang="ko-KR" sz="4000" b="1" dirty="0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)</a:t>
            </a:r>
            <a:endParaRPr lang="ko-KR" altLang="en-US" sz="4000" b="1" dirty="0">
              <a:solidFill>
                <a:schemeClr val="tx1"/>
              </a:solidFill>
              <a:latin typeface="나눔고딕" pitchFamily="2" charset="-127"/>
              <a:ea typeface="나눔고딕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657981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관리자사이트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D1F210F2-5AE7-62C6-96B0-7B76DD077DAC}"/>
              </a:ext>
            </a:extLst>
          </p:cNvPr>
          <p:cNvCxnSpPr/>
          <p:nvPr userDrawn="1"/>
        </p:nvCxnSpPr>
        <p:spPr>
          <a:xfrm>
            <a:off x="1047750" y="2371725"/>
            <a:ext cx="9541925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31D65DF-C237-43EE-524F-63043DD9D0CF}"/>
              </a:ext>
            </a:extLst>
          </p:cNvPr>
          <p:cNvSpPr/>
          <p:nvPr userDrawn="1"/>
        </p:nvSpPr>
        <p:spPr bwMode="auto">
          <a:xfrm>
            <a:off x="518972" y="1546871"/>
            <a:ext cx="309703" cy="1364411"/>
          </a:xfrm>
          <a:prstGeom prst="rect">
            <a:avLst/>
          </a:prstGeom>
          <a:solidFill>
            <a:schemeClr val="bg1">
              <a:lumMod val="5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9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12" name="제목 4">
            <a:extLst>
              <a:ext uri="{FF2B5EF4-FFF2-40B4-BE49-F238E27FC236}">
                <a16:creationId xmlns:a16="http://schemas.microsoft.com/office/drawing/2014/main" id="{9E9391F9-3F71-5F28-E5F3-B615EEE293C9}"/>
              </a:ext>
            </a:extLst>
          </p:cNvPr>
          <p:cNvSpPr txBox="1">
            <a:spLocks/>
          </p:cNvSpPr>
          <p:nvPr userDrawn="1"/>
        </p:nvSpPr>
        <p:spPr>
          <a:xfrm>
            <a:off x="998540" y="1663839"/>
            <a:ext cx="9591135" cy="707886"/>
          </a:xfrm>
          <a:prstGeom prst="rect">
            <a:avLst/>
          </a:prstGeom>
        </p:spPr>
        <p:txBody>
          <a:bodyPr wrap="square">
            <a:sp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ko-KR" altLang="en-US" sz="4000" b="1" dirty="0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관리자사이트</a:t>
            </a:r>
          </a:p>
        </p:txBody>
      </p:sp>
    </p:spTree>
    <p:extLst>
      <p:ext uri="{BB962C8B-B14F-4D97-AF65-F5344CB8AC3E}">
        <p14:creationId xmlns:p14="http://schemas.microsoft.com/office/powerpoint/2010/main" val="27107234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470578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B6854D3-7145-7871-0F26-5BAF1E871060}"/>
              </a:ext>
            </a:extLst>
          </p:cNvPr>
          <p:cNvSpPr txBox="1"/>
          <p:nvPr userDrawn="1"/>
        </p:nvSpPr>
        <p:spPr>
          <a:xfrm>
            <a:off x="5144457" y="2721114"/>
            <a:ext cx="1903086" cy="14157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6400" b="1" dirty="0">
                <a:latin typeface="나눔고딕" pitchFamily="2" charset="-127"/>
                <a:ea typeface="나눔고딕" pitchFamily="2" charset="-127"/>
              </a:rPr>
              <a:t>END</a:t>
            </a:r>
            <a:br>
              <a:rPr lang="en-US" altLang="ko-KR" sz="6600" b="1" dirty="0">
                <a:latin typeface="나눔고딕" pitchFamily="2" charset="-127"/>
                <a:ea typeface="나눔고딕" pitchFamily="2" charset="-127"/>
              </a:rPr>
            </a:br>
            <a:r>
              <a:rPr lang="en-US" altLang="ko-KR" sz="2000" b="0" dirty="0">
                <a:latin typeface="나눔고딕" pitchFamily="2" charset="-127"/>
                <a:ea typeface="나눔고딕" pitchFamily="2" charset="-127"/>
              </a:rPr>
              <a:t>of</a:t>
            </a:r>
            <a:r>
              <a:rPr lang="en-US" altLang="ko-KR" sz="2000" b="0" baseline="0" dirty="0">
                <a:latin typeface="나눔고딕" pitchFamily="2" charset="-127"/>
                <a:ea typeface="나눔고딕" pitchFamily="2" charset="-127"/>
              </a:rPr>
              <a:t> Document</a:t>
            </a:r>
            <a:endParaRPr lang="ko-KR" altLang="en-US" sz="2000" b="0" dirty="0">
              <a:latin typeface="나눔고딕" pitchFamily="2" charset="-127"/>
              <a:ea typeface="나눔고딕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362938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3410C05-419D-3D80-699C-782C9B12F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208B7-EBBC-4D57-8B9D-3E1C35A5D1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91256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bile_2page 연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8B81DB1-627C-8DF4-A752-07264C03D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208B7-EBBC-4D57-8B9D-3E1C35A5D1D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5BC2504-557F-BB9B-A521-DD28B7211094}"/>
              </a:ext>
            </a:extLst>
          </p:cNvPr>
          <p:cNvSpPr/>
          <p:nvPr userDrawn="1"/>
        </p:nvSpPr>
        <p:spPr bwMode="auto">
          <a:xfrm>
            <a:off x="5198852" y="1114425"/>
            <a:ext cx="3133935" cy="506095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anchor="ctr"/>
          <a:lstStyle/>
          <a:p>
            <a:pPr algn="ctr" eaLnBrk="1" latinLnBrk="1" hangingPunct="1">
              <a:spcBef>
                <a:spcPct val="50000"/>
              </a:spcBef>
              <a:defRPr/>
            </a:pPr>
            <a:endParaRPr lang="ko-KR" altLang="en-US" sz="1000">
              <a:ln w="0" cmpd="sng">
                <a:solidFill>
                  <a:schemeClr val="tx2">
                    <a:satMod val="155000"/>
                    <a:alpha val="0"/>
                  </a:schemeClr>
                </a:solidFill>
                <a:prstDash val="solid"/>
                <a:round/>
              </a:ln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5F4F716-9F78-845B-D732-BA6BFFE43648}"/>
              </a:ext>
            </a:extLst>
          </p:cNvPr>
          <p:cNvSpPr/>
          <p:nvPr userDrawn="1"/>
        </p:nvSpPr>
        <p:spPr bwMode="auto">
          <a:xfrm>
            <a:off x="685590" y="1114425"/>
            <a:ext cx="3133935" cy="506095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anchor="ctr"/>
          <a:lstStyle/>
          <a:p>
            <a:pPr algn="ctr" eaLnBrk="1" latinLnBrk="1" hangingPunct="1">
              <a:spcBef>
                <a:spcPct val="50000"/>
              </a:spcBef>
              <a:defRPr/>
            </a:pPr>
            <a:endParaRPr lang="ko-KR" altLang="en-US" sz="1000">
              <a:ln w="0" cmpd="sng">
                <a:solidFill>
                  <a:schemeClr val="tx2">
                    <a:satMod val="155000"/>
                    <a:alpha val="0"/>
                  </a:schemeClr>
                </a:solidFill>
                <a:prstDash val="solid"/>
                <a:round/>
              </a:ln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9" name="연결선: 꺾임 8">
            <a:extLst>
              <a:ext uri="{FF2B5EF4-FFF2-40B4-BE49-F238E27FC236}">
                <a16:creationId xmlns:a16="http://schemas.microsoft.com/office/drawing/2014/main" id="{15AAE9C6-FA4F-56A1-6326-F6485FCE9370}"/>
              </a:ext>
            </a:extLst>
          </p:cNvPr>
          <p:cNvCxnSpPr>
            <a:cxnSpLocks/>
            <a:stCxn id="8" idx="2"/>
            <a:endCxn id="7" idx="0"/>
          </p:cNvCxnSpPr>
          <p:nvPr userDrawn="1"/>
        </p:nvCxnSpPr>
        <p:spPr bwMode="auto">
          <a:xfrm rot="5400000" flipH="1" flipV="1">
            <a:off x="1978714" y="1388269"/>
            <a:ext cx="5060950" cy="4513262"/>
          </a:xfrm>
          <a:prstGeom prst="bentConnector5">
            <a:avLst>
              <a:gd name="adj1" fmla="val -4517"/>
              <a:gd name="adj2" fmla="val 50000"/>
              <a:gd name="adj3" fmla="val 104517"/>
            </a:avLst>
          </a:prstGeom>
          <a:noFill/>
          <a:ln w="9525" cap="flat" cmpd="sng" algn="ctr">
            <a:solidFill>
              <a:srgbClr val="FF0000"/>
            </a:solidFill>
            <a:prstDash val="sysDash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24312420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bile_2page(다음화면 연결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74B22A6-45E6-A51E-9079-1DD14C3F0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208B7-EBBC-4D57-8B9D-3E1C35A5D1D3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0" name="연결선: 꺾임 9">
            <a:extLst>
              <a:ext uri="{FF2B5EF4-FFF2-40B4-BE49-F238E27FC236}">
                <a16:creationId xmlns:a16="http://schemas.microsoft.com/office/drawing/2014/main" id="{A0CD1738-C107-87E0-BE6E-34D7CAE04BC0}"/>
              </a:ext>
            </a:extLst>
          </p:cNvPr>
          <p:cNvCxnSpPr>
            <a:cxnSpLocks/>
            <a:stCxn id="16" idx="2"/>
          </p:cNvCxnSpPr>
          <p:nvPr userDrawn="1"/>
        </p:nvCxnSpPr>
        <p:spPr bwMode="auto">
          <a:xfrm rot="16200000" flipH="1">
            <a:off x="7829497" y="5111698"/>
            <a:ext cx="225424" cy="2352778"/>
          </a:xfrm>
          <a:prstGeom prst="bentConnector2">
            <a:avLst/>
          </a:prstGeom>
          <a:noFill/>
          <a:ln w="9525" cap="flat" cmpd="sng" algn="ctr">
            <a:solidFill>
              <a:srgbClr val="FF0000"/>
            </a:solidFill>
            <a:prstDash val="sysDash"/>
            <a:round/>
            <a:headEnd type="none" w="med" len="med"/>
            <a:tailEnd type="triangle"/>
          </a:ln>
          <a:effectLst/>
        </p:spPr>
      </p:cxn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5630A49C-4CF0-40D4-6E52-4C4FD2A05FF6}"/>
              </a:ext>
            </a:extLst>
          </p:cNvPr>
          <p:cNvSpPr/>
          <p:nvPr userDrawn="1"/>
        </p:nvSpPr>
        <p:spPr bwMode="auto">
          <a:xfrm>
            <a:off x="5198852" y="1114425"/>
            <a:ext cx="3133935" cy="506095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anchor="ctr"/>
          <a:lstStyle/>
          <a:p>
            <a:pPr algn="ctr" eaLnBrk="1" latinLnBrk="1" hangingPunct="1">
              <a:spcBef>
                <a:spcPct val="50000"/>
              </a:spcBef>
              <a:defRPr/>
            </a:pPr>
            <a:endParaRPr lang="ko-KR" altLang="en-US" sz="1000">
              <a:ln w="0" cmpd="sng">
                <a:solidFill>
                  <a:schemeClr val="tx2">
                    <a:satMod val="155000"/>
                    <a:alpha val="0"/>
                  </a:schemeClr>
                </a:solidFill>
                <a:prstDash val="solid"/>
                <a:round/>
              </a:ln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38CB1B13-69CA-9BB4-7710-623BC84D87B6}"/>
              </a:ext>
            </a:extLst>
          </p:cNvPr>
          <p:cNvSpPr/>
          <p:nvPr userDrawn="1"/>
        </p:nvSpPr>
        <p:spPr bwMode="auto">
          <a:xfrm>
            <a:off x="685590" y="1114425"/>
            <a:ext cx="3133935" cy="506095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anchor="ctr"/>
          <a:lstStyle/>
          <a:p>
            <a:pPr algn="ctr" eaLnBrk="1" latinLnBrk="1" hangingPunct="1">
              <a:spcBef>
                <a:spcPct val="50000"/>
              </a:spcBef>
              <a:defRPr/>
            </a:pPr>
            <a:endParaRPr lang="ko-KR" altLang="en-US" sz="1000">
              <a:ln w="0" cmpd="sng">
                <a:solidFill>
                  <a:schemeClr val="tx2">
                    <a:satMod val="155000"/>
                    <a:alpha val="0"/>
                  </a:schemeClr>
                </a:solidFill>
                <a:prstDash val="solid"/>
                <a:round/>
              </a:ln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9" name="연결선: 꺾임 8">
            <a:extLst>
              <a:ext uri="{FF2B5EF4-FFF2-40B4-BE49-F238E27FC236}">
                <a16:creationId xmlns:a16="http://schemas.microsoft.com/office/drawing/2014/main" id="{180EB108-DF64-105F-3DBC-B4142773928B}"/>
              </a:ext>
            </a:extLst>
          </p:cNvPr>
          <p:cNvCxnSpPr>
            <a:cxnSpLocks/>
            <a:stCxn id="17" idx="2"/>
            <a:endCxn id="16" idx="0"/>
          </p:cNvCxnSpPr>
          <p:nvPr userDrawn="1"/>
        </p:nvCxnSpPr>
        <p:spPr bwMode="auto">
          <a:xfrm rot="5400000" flipH="1" flipV="1">
            <a:off x="1978714" y="1388269"/>
            <a:ext cx="5060950" cy="4513262"/>
          </a:xfrm>
          <a:prstGeom prst="bentConnector5">
            <a:avLst>
              <a:gd name="adj1" fmla="val -4517"/>
              <a:gd name="adj2" fmla="val 50000"/>
              <a:gd name="adj3" fmla="val 104517"/>
            </a:avLst>
          </a:prstGeom>
          <a:noFill/>
          <a:ln w="9525" cap="flat" cmpd="sng" algn="ctr">
            <a:solidFill>
              <a:srgbClr val="FF0000"/>
            </a:solidFill>
            <a:prstDash val="sysDash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14883002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bile_2page(이전화면 연결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74B22A6-45E6-A51E-9079-1DD14C3F0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208B7-EBBC-4D57-8B9D-3E1C35A5D1D3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연결선: 꺾임 8">
            <a:extLst>
              <a:ext uri="{FF2B5EF4-FFF2-40B4-BE49-F238E27FC236}">
                <a16:creationId xmlns:a16="http://schemas.microsoft.com/office/drawing/2014/main" id="{180EB108-DF64-105F-3DBC-B4142773928B}"/>
              </a:ext>
            </a:extLst>
          </p:cNvPr>
          <p:cNvCxnSpPr>
            <a:cxnSpLocks/>
            <a:stCxn id="11" idx="2"/>
            <a:endCxn id="5" idx="0"/>
          </p:cNvCxnSpPr>
          <p:nvPr userDrawn="1"/>
        </p:nvCxnSpPr>
        <p:spPr bwMode="auto">
          <a:xfrm rot="5400000" flipH="1" flipV="1">
            <a:off x="1978714" y="1388269"/>
            <a:ext cx="5060950" cy="4513262"/>
          </a:xfrm>
          <a:prstGeom prst="bentConnector5">
            <a:avLst>
              <a:gd name="adj1" fmla="val -4517"/>
              <a:gd name="adj2" fmla="val 50000"/>
              <a:gd name="adj3" fmla="val 104517"/>
            </a:avLst>
          </a:prstGeom>
          <a:noFill/>
          <a:ln w="9525" cap="flat" cmpd="sng" algn="ctr">
            <a:solidFill>
              <a:srgbClr val="FF0000"/>
            </a:solidFill>
            <a:prstDash val="sysDash"/>
            <a:round/>
            <a:headEnd type="none" w="med" len="med"/>
            <a:tailEnd type="triangle"/>
          </a:ln>
          <a:effectLst/>
        </p:spPr>
      </p:cxnSp>
      <p:cxnSp>
        <p:nvCxnSpPr>
          <p:cNvPr id="2" name="연결선: 꺾임 1">
            <a:extLst>
              <a:ext uri="{FF2B5EF4-FFF2-40B4-BE49-F238E27FC236}">
                <a16:creationId xmlns:a16="http://schemas.microsoft.com/office/drawing/2014/main" id="{73E482D5-E8B2-0B4A-BF77-8BDCC751C684}"/>
              </a:ext>
            </a:extLst>
          </p:cNvPr>
          <p:cNvCxnSpPr>
            <a:cxnSpLocks/>
            <a:endCxn id="11" idx="0"/>
          </p:cNvCxnSpPr>
          <p:nvPr userDrawn="1"/>
        </p:nvCxnSpPr>
        <p:spPr bwMode="auto">
          <a:xfrm rot="5400000" flipH="1" flipV="1">
            <a:off x="-1345459" y="2929786"/>
            <a:ext cx="5413378" cy="1782656"/>
          </a:xfrm>
          <a:prstGeom prst="bentConnector3">
            <a:avLst>
              <a:gd name="adj1" fmla="val 104223"/>
            </a:avLst>
          </a:prstGeom>
          <a:noFill/>
          <a:ln w="9525" cap="flat" cmpd="sng" algn="ctr">
            <a:solidFill>
              <a:srgbClr val="FF0000"/>
            </a:solidFill>
            <a:prstDash val="sysDash"/>
            <a:round/>
            <a:headEnd type="none" w="med" len="med"/>
            <a:tailEnd type="triangle"/>
          </a:ln>
          <a:effectLst/>
        </p:spPr>
      </p:cxnSp>
      <p:sp>
        <p:nvSpPr>
          <p:cNvPr id="5" name="직사각형 4">
            <a:extLst>
              <a:ext uri="{FF2B5EF4-FFF2-40B4-BE49-F238E27FC236}">
                <a16:creationId xmlns:a16="http://schemas.microsoft.com/office/drawing/2014/main" id="{761DAFA2-2699-FBBB-7B0F-87E00D30EB49}"/>
              </a:ext>
            </a:extLst>
          </p:cNvPr>
          <p:cNvSpPr/>
          <p:nvPr userDrawn="1"/>
        </p:nvSpPr>
        <p:spPr bwMode="auto">
          <a:xfrm>
            <a:off x="5198852" y="1114425"/>
            <a:ext cx="3133935" cy="506095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anchor="ctr"/>
          <a:lstStyle/>
          <a:p>
            <a:pPr algn="ctr" eaLnBrk="1" latinLnBrk="1" hangingPunct="1">
              <a:spcBef>
                <a:spcPct val="50000"/>
              </a:spcBef>
              <a:defRPr/>
            </a:pPr>
            <a:endParaRPr lang="ko-KR" altLang="en-US" sz="1000">
              <a:ln w="0" cmpd="sng">
                <a:solidFill>
                  <a:schemeClr val="tx2">
                    <a:satMod val="155000"/>
                    <a:alpha val="0"/>
                  </a:schemeClr>
                </a:solidFill>
                <a:prstDash val="solid"/>
                <a:round/>
              </a:ln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EB2DAA8-7B5C-E6D7-580C-5B5F7AAB3598}"/>
              </a:ext>
            </a:extLst>
          </p:cNvPr>
          <p:cNvSpPr/>
          <p:nvPr userDrawn="1"/>
        </p:nvSpPr>
        <p:spPr bwMode="auto">
          <a:xfrm>
            <a:off x="685590" y="1114425"/>
            <a:ext cx="3133935" cy="506095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anchor="ctr"/>
          <a:lstStyle/>
          <a:p>
            <a:pPr algn="ctr" eaLnBrk="1" latinLnBrk="1" hangingPunct="1">
              <a:spcBef>
                <a:spcPct val="50000"/>
              </a:spcBef>
              <a:defRPr/>
            </a:pPr>
            <a:endParaRPr lang="ko-KR" altLang="en-US" sz="1000">
              <a:ln w="0" cmpd="sng">
                <a:solidFill>
                  <a:schemeClr val="tx2">
                    <a:satMod val="155000"/>
                    <a:alpha val="0"/>
                  </a:schemeClr>
                </a:solidFill>
                <a:prstDash val="solid"/>
                <a:round/>
              </a:ln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010257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bile_1page(이전화면 연결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74B22A6-45E6-A51E-9079-1DD14C3F0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208B7-EBBC-4D57-8B9D-3E1C35A5D1D3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2" name="연결선: 꺾임 1">
            <a:extLst>
              <a:ext uri="{FF2B5EF4-FFF2-40B4-BE49-F238E27FC236}">
                <a16:creationId xmlns:a16="http://schemas.microsoft.com/office/drawing/2014/main" id="{73E482D5-E8B2-0B4A-BF77-8BDCC751C684}"/>
              </a:ext>
            </a:extLst>
          </p:cNvPr>
          <p:cNvCxnSpPr>
            <a:cxnSpLocks/>
            <a:endCxn id="4" idx="0"/>
          </p:cNvCxnSpPr>
          <p:nvPr userDrawn="1"/>
        </p:nvCxnSpPr>
        <p:spPr bwMode="auto">
          <a:xfrm rot="5400000" flipH="1" flipV="1">
            <a:off x="-1345459" y="2929786"/>
            <a:ext cx="5413378" cy="1782656"/>
          </a:xfrm>
          <a:prstGeom prst="bentConnector3">
            <a:avLst>
              <a:gd name="adj1" fmla="val 104223"/>
            </a:avLst>
          </a:prstGeom>
          <a:noFill/>
          <a:ln w="9525" cap="flat" cmpd="sng" algn="ctr">
            <a:solidFill>
              <a:srgbClr val="FF0000"/>
            </a:solidFill>
            <a:prstDash val="sysDash"/>
            <a:round/>
            <a:headEnd type="none" w="med" len="med"/>
            <a:tailEnd type="triangle"/>
          </a:ln>
          <a:effectLst/>
        </p:spPr>
      </p:cxnSp>
      <p:sp>
        <p:nvSpPr>
          <p:cNvPr id="4" name="직사각형 3">
            <a:extLst>
              <a:ext uri="{FF2B5EF4-FFF2-40B4-BE49-F238E27FC236}">
                <a16:creationId xmlns:a16="http://schemas.microsoft.com/office/drawing/2014/main" id="{5CD3704F-A349-33A0-5C1C-85F6BF061ECA}"/>
              </a:ext>
            </a:extLst>
          </p:cNvPr>
          <p:cNvSpPr/>
          <p:nvPr userDrawn="1"/>
        </p:nvSpPr>
        <p:spPr bwMode="auto">
          <a:xfrm>
            <a:off x="685590" y="1114425"/>
            <a:ext cx="3133935" cy="506095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anchor="ctr"/>
          <a:lstStyle/>
          <a:p>
            <a:pPr algn="ctr" eaLnBrk="1" latinLnBrk="1" hangingPunct="1">
              <a:spcBef>
                <a:spcPct val="50000"/>
              </a:spcBef>
              <a:defRPr/>
            </a:pPr>
            <a:endParaRPr lang="ko-KR" altLang="en-US" sz="1000">
              <a:ln w="0" cmpd="sng">
                <a:solidFill>
                  <a:schemeClr val="tx2">
                    <a:satMod val="155000"/>
                    <a:alpha val="0"/>
                  </a:schemeClr>
                </a:solidFill>
                <a:prstDash val="solid"/>
                <a:round/>
              </a:ln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311157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bile_1page(단독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74B22A6-45E6-A51E-9079-1DD14C3F0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208B7-EBBC-4D57-8B9D-3E1C35A5D1D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DB34AF6-6413-29D9-D03A-9AB530935BFE}"/>
              </a:ext>
            </a:extLst>
          </p:cNvPr>
          <p:cNvSpPr/>
          <p:nvPr userDrawn="1"/>
        </p:nvSpPr>
        <p:spPr bwMode="auto">
          <a:xfrm>
            <a:off x="685590" y="1114425"/>
            <a:ext cx="3133935" cy="506095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anchor="ctr"/>
          <a:lstStyle/>
          <a:p>
            <a:pPr algn="ctr" eaLnBrk="1" latinLnBrk="1" hangingPunct="1">
              <a:spcBef>
                <a:spcPct val="50000"/>
              </a:spcBef>
              <a:defRPr/>
            </a:pPr>
            <a:endParaRPr lang="ko-KR" altLang="en-US" sz="1000">
              <a:ln w="0" cmpd="sng">
                <a:solidFill>
                  <a:schemeClr val="tx2">
                    <a:satMod val="155000"/>
                    <a:alpha val="0"/>
                  </a:schemeClr>
                </a:solidFill>
                <a:prstDash val="solid"/>
                <a:round/>
              </a:ln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914170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bile_2page(단독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74B22A6-45E6-A51E-9079-1DD14C3F0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208B7-EBBC-4D57-8B9D-3E1C35A5D1D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9F89FB2-C19D-8EFE-0F38-252EC62187E6}"/>
              </a:ext>
            </a:extLst>
          </p:cNvPr>
          <p:cNvSpPr/>
          <p:nvPr userDrawn="1"/>
        </p:nvSpPr>
        <p:spPr bwMode="auto">
          <a:xfrm>
            <a:off x="5198852" y="1114425"/>
            <a:ext cx="3133935" cy="506095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anchor="ctr"/>
          <a:lstStyle/>
          <a:p>
            <a:pPr algn="ctr" eaLnBrk="1" latinLnBrk="1" hangingPunct="1">
              <a:spcBef>
                <a:spcPct val="50000"/>
              </a:spcBef>
              <a:defRPr/>
            </a:pPr>
            <a:endParaRPr lang="ko-KR" altLang="en-US" sz="1000">
              <a:ln w="0" cmpd="sng">
                <a:solidFill>
                  <a:schemeClr val="tx2">
                    <a:satMod val="155000"/>
                    <a:alpha val="0"/>
                  </a:schemeClr>
                </a:solidFill>
                <a:prstDash val="solid"/>
                <a:round/>
              </a:ln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1BC4278-BCAF-8446-B9EF-5CCC8483257F}"/>
              </a:ext>
            </a:extLst>
          </p:cNvPr>
          <p:cNvSpPr/>
          <p:nvPr userDrawn="1"/>
        </p:nvSpPr>
        <p:spPr bwMode="auto">
          <a:xfrm>
            <a:off x="685590" y="1114425"/>
            <a:ext cx="3133935" cy="506095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anchor="ctr"/>
          <a:lstStyle/>
          <a:p>
            <a:pPr algn="ctr" eaLnBrk="1" latinLnBrk="1" hangingPunct="1">
              <a:spcBef>
                <a:spcPct val="50000"/>
              </a:spcBef>
              <a:defRPr/>
            </a:pPr>
            <a:endParaRPr lang="ko-KR" altLang="en-US" sz="1000">
              <a:ln w="0" cmpd="sng">
                <a:solidFill>
                  <a:schemeClr val="tx2">
                    <a:satMod val="155000"/>
                    <a:alpha val="0"/>
                  </a:schemeClr>
                </a:solidFill>
                <a:prstDash val="solid"/>
                <a:round/>
              </a:ln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593141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모바일 사이트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3A9C65FD-3A4B-AC58-4D33-E0804982C61F}"/>
              </a:ext>
            </a:extLst>
          </p:cNvPr>
          <p:cNvCxnSpPr/>
          <p:nvPr userDrawn="1"/>
        </p:nvCxnSpPr>
        <p:spPr>
          <a:xfrm>
            <a:off x="1047750" y="2371725"/>
            <a:ext cx="9541925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직사각형 8">
            <a:extLst>
              <a:ext uri="{FF2B5EF4-FFF2-40B4-BE49-F238E27FC236}">
                <a16:creationId xmlns:a16="http://schemas.microsoft.com/office/drawing/2014/main" id="{76245A76-0975-591A-5F87-68E5344F6B80}"/>
              </a:ext>
            </a:extLst>
          </p:cNvPr>
          <p:cNvSpPr/>
          <p:nvPr userDrawn="1"/>
        </p:nvSpPr>
        <p:spPr bwMode="auto">
          <a:xfrm>
            <a:off x="518972" y="1546871"/>
            <a:ext cx="309703" cy="1364411"/>
          </a:xfrm>
          <a:prstGeom prst="rect">
            <a:avLst/>
          </a:prstGeom>
          <a:solidFill>
            <a:schemeClr val="bg1">
              <a:lumMod val="5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9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10" name="제목 4">
            <a:extLst>
              <a:ext uri="{FF2B5EF4-FFF2-40B4-BE49-F238E27FC236}">
                <a16:creationId xmlns:a16="http://schemas.microsoft.com/office/drawing/2014/main" id="{DF0B7138-4A35-3ED3-9930-F9D1FD732D8C}"/>
              </a:ext>
            </a:extLst>
          </p:cNvPr>
          <p:cNvSpPr txBox="1">
            <a:spLocks/>
          </p:cNvSpPr>
          <p:nvPr userDrawn="1"/>
        </p:nvSpPr>
        <p:spPr>
          <a:xfrm>
            <a:off x="998540" y="1663839"/>
            <a:ext cx="9591135" cy="707886"/>
          </a:xfrm>
          <a:prstGeom prst="rect">
            <a:avLst/>
          </a:prstGeom>
        </p:spPr>
        <p:txBody>
          <a:bodyPr wrap="square">
            <a:sp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ko-KR" altLang="en-US" sz="4000" b="1" dirty="0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모바일사이트</a:t>
            </a:r>
            <a:r>
              <a:rPr lang="en-US" altLang="ko-KR" sz="4000" b="1" dirty="0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(Mobile </a:t>
            </a:r>
            <a:r>
              <a:rPr lang="ko-KR" altLang="en-US" sz="4000" b="1" dirty="0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버전</a:t>
            </a:r>
            <a:r>
              <a:rPr lang="en-US" altLang="ko-KR" sz="4000" b="1" dirty="0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)</a:t>
            </a:r>
            <a:endParaRPr lang="ko-KR" altLang="en-US" sz="4000" b="1" dirty="0">
              <a:solidFill>
                <a:schemeClr val="tx1"/>
              </a:solidFill>
              <a:latin typeface="나눔고딕" pitchFamily="2" charset="-127"/>
              <a:ea typeface="나눔고딕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78592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웹사이트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712F3872-E17B-8CD8-2FF9-B088D962CB30}"/>
              </a:ext>
            </a:extLst>
          </p:cNvPr>
          <p:cNvCxnSpPr/>
          <p:nvPr userDrawn="1"/>
        </p:nvCxnSpPr>
        <p:spPr>
          <a:xfrm>
            <a:off x="1047750" y="2371725"/>
            <a:ext cx="9541925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333BBD8-36F3-8EDA-E34D-772A13532CCC}"/>
              </a:ext>
            </a:extLst>
          </p:cNvPr>
          <p:cNvSpPr/>
          <p:nvPr userDrawn="1"/>
        </p:nvSpPr>
        <p:spPr bwMode="auto">
          <a:xfrm>
            <a:off x="518972" y="1546871"/>
            <a:ext cx="309703" cy="1364411"/>
          </a:xfrm>
          <a:prstGeom prst="rect">
            <a:avLst/>
          </a:prstGeom>
          <a:solidFill>
            <a:schemeClr val="bg1">
              <a:lumMod val="5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9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15" name="제목 4">
            <a:extLst>
              <a:ext uri="{FF2B5EF4-FFF2-40B4-BE49-F238E27FC236}">
                <a16:creationId xmlns:a16="http://schemas.microsoft.com/office/drawing/2014/main" id="{3260E325-0D5E-069E-0F11-EAEC4F285BB9}"/>
              </a:ext>
            </a:extLst>
          </p:cNvPr>
          <p:cNvSpPr txBox="1">
            <a:spLocks/>
          </p:cNvSpPr>
          <p:nvPr userDrawn="1"/>
        </p:nvSpPr>
        <p:spPr>
          <a:xfrm>
            <a:off x="998540" y="1663839"/>
            <a:ext cx="9591135" cy="707886"/>
          </a:xfrm>
          <a:prstGeom prst="rect">
            <a:avLst/>
          </a:prstGeom>
        </p:spPr>
        <p:txBody>
          <a:bodyPr wrap="square">
            <a:sp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ko-KR" altLang="en-US" sz="4000" b="1" dirty="0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웹사이트</a:t>
            </a:r>
            <a:r>
              <a:rPr lang="en-US" altLang="ko-KR" sz="4000" b="1" dirty="0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(PC </a:t>
            </a:r>
            <a:r>
              <a:rPr lang="ko-KR" altLang="en-US" sz="4000" b="1" dirty="0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버전</a:t>
            </a:r>
            <a:r>
              <a:rPr lang="en-US" altLang="ko-KR" sz="4000" b="1" dirty="0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)</a:t>
            </a:r>
            <a:endParaRPr lang="ko-KR" altLang="en-US" sz="4000" b="1" dirty="0">
              <a:solidFill>
                <a:schemeClr val="tx1"/>
              </a:solidFill>
              <a:latin typeface="나눔고딕" pitchFamily="2" charset="-127"/>
              <a:ea typeface="나눔고딕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3790298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연합관리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/>
          <p:cNvCxnSpPr/>
          <p:nvPr userDrawn="1"/>
        </p:nvCxnSpPr>
        <p:spPr bwMode="auto">
          <a:xfrm>
            <a:off x="160303" y="1076325"/>
            <a:ext cx="8964647" cy="0"/>
          </a:xfrm>
          <a:prstGeom prst="line">
            <a:avLst/>
          </a:prstGeom>
          <a:noFill/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8" name="모서리가 둥근 직사각형 7"/>
          <p:cNvSpPr/>
          <p:nvPr userDrawn="1"/>
        </p:nvSpPr>
        <p:spPr bwMode="auto">
          <a:xfrm>
            <a:off x="8454651" y="803806"/>
            <a:ext cx="569321" cy="182839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833482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7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LOGOUT</a:t>
            </a:r>
            <a:endParaRPr kumimoji="1" lang="ko-KR" altLang="en-US" sz="700" dirty="0">
              <a:ln w="0" cmpd="sng">
                <a:solidFill>
                  <a:schemeClr val="tx2">
                    <a:satMod val="155000"/>
                    <a:alpha val="0"/>
                  </a:schemeClr>
                </a:solidFill>
                <a:prstDash val="solid"/>
                <a:round/>
              </a:ln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9" name="TextBox 8"/>
          <p:cNvSpPr txBox="1"/>
          <p:nvPr userDrawn="1"/>
        </p:nvSpPr>
        <p:spPr>
          <a:xfrm>
            <a:off x="6942606" y="792887"/>
            <a:ext cx="152157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800" dirty="0">
                <a:latin typeface="나눔고딕" pitchFamily="50" charset="-127"/>
                <a:ea typeface="나눔고딕" pitchFamily="50" charset="-127"/>
              </a:rPr>
              <a:t>Admin</a:t>
            </a:r>
            <a:r>
              <a:rPr lang="ko-KR" altLang="en-US" sz="800" dirty="0">
                <a:latin typeface="나눔고딕" pitchFamily="50" charset="-127"/>
                <a:ea typeface="나눔고딕" pitchFamily="50" charset="-127"/>
              </a:rPr>
              <a:t>님이 로그인 하셨습니다</a:t>
            </a:r>
          </a:p>
        </p:txBody>
      </p:sp>
      <p:cxnSp>
        <p:nvCxnSpPr>
          <p:cNvPr id="12" name="직선 연결선 11"/>
          <p:cNvCxnSpPr/>
          <p:nvPr userDrawn="1"/>
        </p:nvCxnSpPr>
        <p:spPr bwMode="auto">
          <a:xfrm>
            <a:off x="1592334" y="1076329"/>
            <a:ext cx="0" cy="5514975"/>
          </a:xfrm>
          <a:prstGeom prst="line">
            <a:avLst/>
          </a:prstGeom>
          <a:noFill/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DE0E0BBC-8249-4581-80BD-4BF6681F7F56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394071383"/>
              </p:ext>
            </p:extLst>
          </p:nvPr>
        </p:nvGraphicFramePr>
        <p:xfrm>
          <a:off x="172997" y="1087545"/>
          <a:ext cx="1419329" cy="354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93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</a:pP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관리자관리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관리자 관리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</a:pP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회원관리</a:t>
                      </a:r>
                      <a:endParaRPr lang="en-US" altLang="ko-KR" sz="9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회원관리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</a:pP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사이버추모관</a:t>
                      </a:r>
                      <a:endParaRPr lang="en-US" altLang="ko-KR" sz="9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고인관리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하늘편지 관리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9380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</a:pP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고객센터</a:t>
                      </a:r>
                      <a:endParaRPr lang="en-US" altLang="ko-KR" sz="9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21475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공지사항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53685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1:1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상담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46467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자료실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89444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</a:pP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팝업관리</a:t>
                      </a:r>
                      <a:endParaRPr lang="en-US" altLang="ko-KR" sz="9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팝업관리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54772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</a:pP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브로슈어 신청</a:t>
                      </a:r>
                      <a:endParaRPr lang="en-US" altLang="ko-KR" sz="9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62300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브로슈어 신청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15" name="슬라이드 번호 개체 틀 5">
            <a:extLst>
              <a:ext uri="{FF2B5EF4-FFF2-40B4-BE49-F238E27FC236}">
                <a16:creationId xmlns:a16="http://schemas.microsoft.com/office/drawing/2014/main" id="{9AA43927-D392-1C8F-F0C8-1C4C96AAC2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6481" y="6658209"/>
            <a:ext cx="398755" cy="1520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E208B7-EBBC-4D57-8B9D-3E1C35A5D1D3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2" name="TextBox 1"/>
          <p:cNvSpPr txBox="1"/>
          <p:nvPr userDrawn="1"/>
        </p:nvSpPr>
        <p:spPr>
          <a:xfrm>
            <a:off x="160303" y="742180"/>
            <a:ext cx="20102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1400" b="1" dirty="0"/>
              <a:t>하늘누리 추모공원 </a:t>
            </a:r>
            <a:r>
              <a:rPr lang="en-US" altLang="ko-KR" sz="1400" b="1" dirty="0"/>
              <a:t>CI</a:t>
            </a:r>
            <a:endParaRPr lang="ko-KR" alt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41324766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4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2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6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631342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72" r:id="rId6"/>
    <p:sldLayoutId id="2147483655" r:id="rId7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AA43927-D392-1C8F-F0C8-1C4C96AAC2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6481" y="6658209"/>
            <a:ext cx="398755" cy="1520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E208B7-EBBC-4D57-8B9D-3E1C35A5D1D3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7" name="Rectangle 105">
            <a:extLst>
              <a:ext uri="{FF2B5EF4-FFF2-40B4-BE49-F238E27FC236}">
                <a16:creationId xmlns:a16="http://schemas.microsoft.com/office/drawing/2014/main" id="{E1E7D3E1-328A-A58B-DE26-4D3E64E6117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53155" y="708025"/>
            <a:ext cx="8964212" cy="58880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ko-KR" altLang="en-US" sz="1641"/>
          </a:p>
        </p:txBody>
      </p:sp>
      <p:graphicFrame>
        <p:nvGraphicFramePr>
          <p:cNvPr id="8" name="Group 106">
            <a:extLst>
              <a:ext uri="{FF2B5EF4-FFF2-40B4-BE49-F238E27FC236}">
                <a16:creationId xmlns:a16="http://schemas.microsoft.com/office/drawing/2014/main" id="{B11AD511-F8E7-B946-6920-4673E1D778D6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995185303"/>
              </p:ext>
            </p:extLst>
          </p:nvPr>
        </p:nvGraphicFramePr>
        <p:xfrm>
          <a:off x="9179511" y="708030"/>
          <a:ext cx="2800797" cy="5888033"/>
        </p:xfrm>
        <a:graphic>
          <a:graphicData uri="http://schemas.openxmlformats.org/drawingml/2006/table">
            <a:tbl>
              <a:tblPr/>
              <a:tblGrid>
                <a:gridCol w="28007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4019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Description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on</a:t>
                      </a:r>
                    </a:p>
                  </a:txBody>
                  <a:tcPr marL="100962" marR="100962" marT="46800" marB="468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478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00962" marR="100962" marT="46800" marB="468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Line 120">
            <a:extLst>
              <a:ext uri="{FF2B5EF4-FFF2-40B4-BE49-F238E27FC236}">
                <a16:creationId xmlns:a16="http://schemas.microsoft.com/office/drawing/2014/main" id="{66B3644F-326F-92BC-088A-D38F3F4DA917}"/>
              </a:ext>
            </a:extLst>
          </p:cNvPr>
          <p:cNvSpPr>
            <a:spLocks noChangeShapeType="1"/>
          </p:cNvSpPr>
          <p:nvPr userDrawn="1"/>
        </p:nvSpPr>
        <p:spPr bwMode="auto">
          <a:xfrm flipV="1">
            <a:off x="144251" y="645879"/>
            <a:ext cx="11830985" cy="31983"/>
          </a:xfrm>
          <a:prstGeom prst="line">
            <a:avLst/>
          </a:prstGeom>
          <a:noFill/>
          <a:ln w="19050">
            <a:solidFill>
              <a:schemeClr val="bg2"/>
            </a:solidFill>
            <a:round/>
            <a:headEnd/>
            <a:tailEnd/>
          </a:ln>
          <a:effectLst/>
        </p:spPr>
        <p:txBody>
          <a:bodyPr wrap="none" lIns="82031" tIns="42656" rIns="82031" bIns="42656" anchor="ctr"/>
          <a:lstStyle/>
          <a:p>
            <a:pPr>
              <a:defRPr/>
            </a:pPr>
            <a:endParaRPr lang="ko-KR" altLang="en-US" sz="1641">
              <a:ln>
                <a:solidFill>
                  <a:schemeClr val="tx1"/>
                </a:solidFill>
              </a:ln>
            </a:endParaRPr>
          </a:p>
        </p:txBody>
      </p:sp>
      <p:graphicFrame>
        <p:nvGraphicFramePr>
          <p:cNvPr id="16" name="Group 88">
            <a:extLst>
              <a:ext uri="{FF2B5EF4-FFF2-40B4-BE49-F238E27FC236}">
                <a16:creationId xmlns:a16="http://schemas.microsoft.com/office/drawing/2014/main" id="{F584194E-F086-2412-A12B-51870EDB3413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843964515"/>
              </p:ext>
            </p:extLst>
          </p:nvPr>
        </p:nvGraphicFramePr>
        <p:xfrm>
          <a:off x="153153" y="108183"/>
          <a:ext cx="8964214" cy="500699"/>
        </p:xfrm>
        <a:graphic>
          <a:graphicData uri="http://schemas.openxmlformats.org/drawingml/2006/table">
            <a:tbl>
              <a:tblPr/>
              <a:tblGrid>
                <a:gridCol w="844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790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85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19125">
                  <a:extLst>
                    <a:ext uri="{9D8B030D-6E8A-4147-A177-3AD203B41FA5}">
                      <a16:colId xmlns:a16="http://schemas.microsoft.com/office/drawing/2014/main" val="481126058"/>
                    </a:ext>
                  </a:extLst>
                </a:gridCol>
                <a:gridCol w="792517">
                  <a:extLst>
                    <a:ext uri="{9D8B030D-6E8A-4147-A177-3AD203B41FA5}">
                      <a16:colId xmlns:a16="http://schemas.microsoft.com/office/drawing/2014/main" val="4053179848"/>
                    </a:ext>
                  </a:extLst>
                </a:gridCol>
              </a:tblGrid>
              <a:tr h="26472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Project</a:t>
                      </a:r>
                    </a:p>
                  </a:txBody>
                  <a:tcPr marL="51289" marR="51289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하늘누리 웹사이트 구축 프로젝트</a:t>
                      </a:r>
                    </a:p>
                  </a:txBody>
                  <a:tcPr marL="51289" marR="51289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ID</a:t>
                      </a:r>
                    </a:p>
                  </a:txBody>
                  <a:tcPr marL="51289" marR="51289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51289" marR="51289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Date</a:t>
                      </a: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51289" marR="51289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2026.02.12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51289" marR="51289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597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Directory</a:t>
                      </a:r>
                    </a:p>
                  </a:txBody>
                  <a:tcPr marL="51289" marR="51289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51289" marR="51289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Reported</a:t>
                      </a:r>
                    </a:p>
                  </a:txBody>
                  <a:tcPr marL="51289" marR="51289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이황열</a:t>
                      </a:r>
                    </a:p>
                  </a:txBody>
                  <a:tcPr marL="51289" marR="51289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Version</a:t>
                      </a: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51289" marR="51289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v 0.96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51289" marR="51289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B573FCB4-1C0F-DA40-65F3-0BB753518E72}"/>
              </a:ext>
            </a:extLst>
          </p:cNvPr>
          <p:cNvSpPr txBox="1"/>
          <p:nvPr userDrawn="1"/>
        </p:nvSpPr>
        <p:spPr>
          <a:xfrm>
            <a:off x="9469433" y="198869"/>
            <a:ext cx="23064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b="1" dirty="0">
                <a:latin typeface="나눔고딕" pitchFamily="2" charset="-127"/>
                <a:ea typeface="나눔고딕" pitchFamily="2" charset="-127"/>
              </a:rPr>
              <a:t>하늘누리 추모공원</a:t>
            </a:r>
          </a:p>
        </p:txBody>
      </p:sp>
    </p:spTree>
    <p:extLst>
      <p:ext uri="{BB962C8B-B14F-4D97-AF65-F5344CB8AC3E}">
        <p14:creationId xmlns:p14="http://schemas.microsoft.com/office/powerpoint/2010/main" val="29774844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59" r:id="rId3"/>
    <p:sldLayoutId id="2147483668" r:id="rId4"/>
    <p:sldLayoutId id="2147483669" r:id="rId5"/>
    <p:sldLayoutId id="2147483670" r:id="rId6"/>
    <p:sldLayoutId id="2147483671" r:id="rId7"/>
    <p:sldLayoutId id="2147483675" r:id="rId8"/>
    <p:sldLayoutId id="2147483676" r:id="rId9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1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296" userDrawn="1">
          <p15:clr>
            <a:srgbClr val="F26B43"/>
          </p15:clr>
        </p15:guide>
        <p15:guide id="2" pos="2910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9AA43927-D392-1C8F-F0C8-1C4C96AAC2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6481" y="6658209"/>
            <a:ext cx="398755" cy="1520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E208B7-EBBC-4D57-8B9D-3E1C35A5D1D3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8" name="Rectangle 105">
            <a:extLst>
              <a:ext uri="{FF2B5EF4-FFF2-40B4-BE49-F238E27FC236}">
                <a16:creationId xmlns:a16="http://schemas.microsoft.com/office/drawing/2014/main" id="{E1E7D3E1-328A-A58B-DE26-4D3E64E6117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53155" y="708025"/>
            <a:ext cx="8964212" cy="58880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ko-KR" altLang="en-US" sz="1641"/>
          </a:p>
        </p:txBody>
      </p:sp>
      <p:graphicFrame>
        <p:nvGraphicFramePr>
          <p:cNvPr id="9" name="Group 106">
            <a:extLst>
              <a:ext uri="{FF2B5EF4-FFF2-40B4-BE49-F238E27FC236}">
                <a16:creationId xmlns:a16="http://schemas.microsoft.com/office/drawing/2014/main" id="{B11AD511-F8E7-B946-6920-4673E1D778D6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324278487"/>
              </p:ext>
            </p:extLst>
          </p:nvPr>
        </p:nvGraphicFramePr>
        <p:xfrm>
          <a:off x="9179511" y="708030"/>
          <a:ext cx="2800797" cy="5888033"/>
        </p:xfrm>
        <a:graphic>
          <a:graphicData uri="http://schemas.openxmlformats.org/drawingml/2006/table">
            <a:tbl>
              <a:tblPr/>
              <a:tblGrid>
                <a:gridCol w="28007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4019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Description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on</a:t>
                      </a:r>
                    </a:p>
                  </a:txBody>
                  <a:tcPr marL="100962" marR="100962" marT="46800" marB="468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478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00962" marR="100962" marT="46800" marB="468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Line 120">
            <a:extLst>
              <a:ext uri="{FF2B5EF4-FFF2-40B4-BE49-F238E27FC236}">
                <a16:creationId xmlns:a16="http://schemas.microsoft.com/office/drawing/2014/main" id="{66B3644F-326F-92BC-088A-D38F3F4DA917}"/>
              </a:ext>
            </a:extLst>
          </p:cNvPr>
          <p:cNvSpPr>
            <a:spLocks noChangeShapeType="1"/>
          </p:cNvSpPr>
          <p:nvPr userDrawn="1"/>
        </p:nvSpPr>
        <p:spPr bwMode="auto">
          <a:xfrm flipV="1">
            <a:off x="144251" y="645879"/>
            <a:ext cx="11830985" cy="31983"/>
          </a:xfrm>
          <a:prstGeom prst="line">
            <a:avLst/>
          </a:prstGeom>
          <a:noFill/>
          <a:ln w="19050">
            <a:solidFill>
              <a:schemeClr val="bg2"/>
            </a:solidFill>
            <a:round/>
            <a:headEnd/>
            <a:tailEnd/>
          </a:ln>
          <a:effectLst/>
        </p:spPr>
        <p:txBody>
          <a:bodyPr wrap="none" lIns="82031" tIns="42656" rIns="82031" bIns="42656" anchor="ctr"/>
          <a:lstStyle/>
          <a:p>
            <a:pPr>
              <a:defRPr/>
            </a:pPr>
            <a:endParaRPr lang="ko-KR" altLang="en-US" sz="1641">
              <a:ln>
                <a:solidFill>
                  <a:schemeClr val="tx1"/>
                </a:solidFill>
              </a:ln>
            </a:endParaRPr>
          </a:p>
        </p:txBody>
      </p:sp>
      <p:graphicFrame>
        <p:nvGraphicFramePr>
          <p:cNvPr id="11" name="Group 88">
            <a:extLst>
              <a:ext uri="{FF2B5EF4-FFF2-40B4-BE49-F238E27FC236}">
                <a16:creationId xmlns:a16="http://schemas.microsoft.com/office/drawing/2014/main" id="{F584194E-F086-2412-A12B-51870EDB3413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558403640"/>
              </p:ext>
            </p:extLst>
          </p:nvPr>
        </p:nvGraphicFramePr>
        <p:xfrm>
          <a:off x="153153" y="108183"/>
          <a:ext cx="8964214" cy="500699"/>
        </p:xfrm>
        <a:graphic>
          <a:graphicData uri="http://schemas.openxmlformats.org/drawingml/2006/table">
            <a:tbl>
              <a:tblPr/>
              <a:tblGrid>
                <a:gridCol w="844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790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85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19125">
                  <a:extLst>
                    <a:ext uri="{9D8B030D-6E8A-4147-A177-3AD203B41FA5}">
                      <a16:colId xmlns:a16="http://schemas.microsoft.com/office/drawing/2014/main" val="481126058"/>
                    </a:ext>
                  </a:extLst>
                </a:gridCol>
                <a:gridCol w="792517">
                  <a:extLst>
                    <a:ext uri="{9D8B030D-6E8A-4147-A177-3AD203B41FA5}">
                      <a16:colId xmlns:a16="http://schemas.microsoft.com/office/drawing/2014/main" val="4053179848"/>
                    </a:ext>
                  </a:extLst>
                </a:gridCol>
              </a:tblGrid>
              <a:tr h="26472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Project</a:t>
                      </a:r>
                    </a:p>
                  </a:txBody>
                  <a:tcPr marL="51289" marR="51289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하늘누리 웹사이트 구축 프로젝트</a:t>
                      </a:r>
                    </a:p>
                  </a:txBody>
                  <a:tcPr marL="51289" marR="51289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ID</a:t>
                      </a:r>
                    </a:p>
                  </a:txBody>
                  <a:tcPr marL="51289" marR="51289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51289" marR="51289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Date</a:t>
                      </a: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51289" marR="51289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2026.02.12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51289" marR="51289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597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Directory</a:t>
                      </a:r>
                    </a:p>
                  </a:txBody>
                  <a:tcPr marL="51289" marR="51289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51289" marR="51289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Reported</a:t>
                      </a:r>
                    </a:p>
                  </a:txBody>
                  <a:tcPr marL="51289" marR="51289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이황열</a:t>
                      </a:r>
                    </a:p>
                  </a:txBody>
                  <a:tcPr marL="51289" marR="51289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Version</a:t>
                      </a: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51289" marR="51289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v 0.96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51289" marR="51289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B573FCB4-1C0F-DA40-65F3-0BB753518E72}"/>
              </a:ext>
            </a:extLst>
          </p:cNvPr>
          <p:cNvSpPr txBox="1"/>
          <p:nvPr userDrawn="1"/>
        </p:nvSpPr>
        <p:spPr>
          <a:xfrm>
            <a:off x="9469433" y="198869"/>
            <a:ext cx="23064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b="1" dirty="0">
                <a:latin typeface="나눔고딕" pitchFamily="2" charset="-127"/>
                <a:ea typeface="나눔고딕" pitchFamily="2" charset="-127"/>
              </a:rPr>
              <a:t>하늘누리 추모공원</a:t>
            </a:r>
          </a:p>
        </p:txBody>
      </p:sp>
    </p:spTree>
    <p:extLst>
      <p:ext uri="{BB962C8B-B14F-4D97-AF65-F5344CB8AC3E}">
        <p14:creationId xmlns:p14="http://schemas.microsoft.com/office/powerpoint/2010/main" val="8877907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hyperlink" Target="mailto:gildong@abc.co.kr" TargetMode="External"/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hyperlink" Target="mailto:gildong@abc.co.kr" TargetMode="External"/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3.png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3.png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microsoft.com/office/2007/relationships/hdphoto" Target="../media/hdphoto1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microsoft.com/office/2007/relationships/hdphoto" Target="../media/hdphoto1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4.jpeg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0.xml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1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1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1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/Relationships>
</file>

<file path=ppt/slides/_rels/slide1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1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1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Relationship Id="rId4" Type="http://schemas.openxmlformats.org/officeDocument/2006/relationships/hyperlink" Target="mailto:gildong@abc.co.kr" TargetMode="External"/></Relationships>
</file>

<file path=ppt/slides/_rels/slide1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1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Relationship Id="rId4" Type="http://schemas.openxmlformats.org/officeDocument/2006/relationships/hyperlink" Target="mailto:gildong@abc.co.kr" TargetMode="Externa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1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1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1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1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/Relationships>
</file>

<file path=ppt/slides/_rels/slide1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0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0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5.png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0.xml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0.xml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0.xml"/></Relationships>
</file>

<file path=ppt/slides/_rels/slide1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0.xml"/></Relationships>
</file>

<file path=ppt/slides/_rels/slide1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0.xml"/></Relationships>
</file>

<file path=ppt/slides/_rels/slide1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0.xml"/></Relationships>
</file>

<file path=ppt/slides/_rels/slide1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0.xml"/></Relationships>
</file>

<file path=ppt/slides/_rels/slide1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0.xml"/></Relationships>
</file>

<file path=ppt/slides/_rels/slide1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/Relationships>
</file>

<file path=ppt/slides/_rels/slide1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1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1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1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1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6.png"/></Relationships>
</file>

<file path=ppt/slides/_rels/slide1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/Relationships>
</file>

<file path=ppt/slides/_rels/slide1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1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1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1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1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7.png"/></Relationships>
</file>

<file path=ppt/slides/_rels/slide1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7.png"/></Relationships>
</file>

<file path=ppt/slides/_rels/slide1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8.png"/></Relationships>
</file>

<file path=ppt/slides/_rels/slide1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1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1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/Relationships>
</file>

<file path=ppt/slides/_rels/slide1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1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8.png"/></Relationships>
</file>

<file path=ppt/slides/_rels/slide1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2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7.png"/></Relationships>
</file>

<file path=ppt/slides/_rels/slide2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8.png"/></Relationships>
</file>

<file path=ppt/slides/_rels/slide2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2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82673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9694A5-A72B-9D72-262D-0953EAD1E3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roup 304">
            <a:extLst>
              <a:ext uri="{FF2B5EF4-FFF2-40B4-BE49-F238E27FC236}">
                <a16:creationId xmlns:a16="http://schemas.microsoft.com/office/drawing/2014/main" id="{472E65C1-B2A7-F06D-881C-EA76C00E69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2345019"/>
              </p:ext>
            </p:extLst>
          </p:nvPr>
        </p:nvGraphicFramePr>
        <p:xfrm>
          <a:off x="323850" y="1149731"/>
          <a:ext cx="11563349" cy="2367190"/>
        </p:xfrm>
        <a:graphic>
          <a:graphicData uri="http://schemas.openxmlformats.org/drawingml/2006/table">
            <a:tbl>
              <a:tblPr/>
              <a:tblGrid>
                <a:gridCol w="11739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55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15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2439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6894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6894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3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Date</a:t>
                      </a:r>
                    </a:p>
                  </a:txBody>
                  <a:tcPr marL="83330" marR="83330" marT="41672" marB="41672" anchor="ctr" horzOverflow="overflow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Version</a:t>
                      </a:r>
                    </a:p>
                  </a:txBody>
                  <a:tcPr marL="83330" marR="83330" marT="41672" marB="41672" anchor="ctr" horzOverflow="overflow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ID / Page</a:t>
                      </a:r>
                    </a:p>
                  </a:txBody>
                  <a:tcPr marL="83330" marR="83330" marT="41672" marB="41672" anchor="ctr" horzOverflow="overflow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Description</a:t>
                      </a:r>
                    </a:p>
                  </a:txBody>
                  <a:tcPr marL="83330" marR="83330" marT="41672" marB="41672" anchor="ctr" horzOverflow="overflow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Person</a:t>
                      </a:r>
                    </a:p>
                  </a:txBody>
                  <a:tcPr marL="83330" marR="83330" marT="41672" marB="41672" anchor="ctr" horzOverflow="overflow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confirm</a:t>
                      </a:r>
                    </a:p>
                  </a:txBody>
                  <a:tcPr marL="83330" marR="83330" marT="41672" marB="41672" anchor="ctr" horzOverflow="overflow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3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2026.02.12</a:t>
                      </a:r>
                    </a:p>
                  </a:txBody>
                  <a:tcPr marL="83330" marR="83330" marT="41672" marB="41672" anchor="ctr" horzOverflow="overflow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0.96</a:t>
                      </a:r>
                    </a:p>
                  </a:txBody>
                  <a:tcPr marL="83330" marR="83330" marT="41672" marB="41672" anchor="ctr" horzOverflow="overflow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30" marR="83330" marT="41672" marB="41672" anchor="ctr" horzOverflow="overflow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PC/Mobile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통합본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 작성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30" marR="83330" marT="41672" marB="41672" anchor="ctr" horzOverflow="overflow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이황열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30" marR="83330" marT="41672" marB="41672" anchor="ctr" horzOverflow="overflow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30" marR="83330" marT="41672" marB="41672" horzOverflow="overflow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83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30" marR="83330" marT="41672" marB="41672" anchor="ctr" horzOverflow="overflow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30" marR="83330" marT="41672" marB="41672" anchor="ctr" horzOverflow="overflow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30" marR="83330" marT="41672" marB="41672" anchor="ctr" horzOverflow="overflow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30" marR="83330" marT="41672" marB="41672" anchor="ctr" horzOverflow="overflow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30" marR="83330" marT="41672" marB="41672" anchor="ctr" horzOverflow="overflow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30" marR="83330" marT="41672" marB="41672" horzOverflow="overflow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83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30" marR="83330" marT="41672" marB="41672" anchor="ctr" horzOverflow="overflow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30" marR="83330" marT="41672" marB="41672" anchor="ctr" horzOverflow="overflow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30" marR="83330" marT="41672" marB="41672" anchor="ctr" horzOverflow="overflow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30" marR="83330" marT="41672" marB="41672" anchor="ctr" horzOverflow="overflow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30" marR="83330" marT="41672" marB="41672" anchor="ctr" horzOverflow="overflow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30" marR="83330" marT="41672" marB="41672" horzOverflow="overflow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83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30" marR="83330" marT="41672" marB="41672" anchor="ctr" horzOverflow="overflow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30" marR="83330" marT="41672" marB="41672" anchor="ctr" horzOverflow="overflow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30" marR="83330" marT="41672" marB="41672" anchor="ctr" horzOverflow="overflow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30" marR="83330" marT="41672" marB="41672" anchor="ctr" horzOverflow="overflow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83330" marR="83330" marT="41672" marB="41672" anchor="ctr" horzOverflow="overflow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30" marR="83330" marT="41672" marB="41672" horzOverflow="overflow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83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30" marR="83330" marT="41672" marB="41672" anchor="ctr" horzOverflow="overflow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30" marR="83330" marT="41672" marB="41672" anchor="ctr" horzOverflow="overflow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30" marR="83330" marT="41672" marB="41672" anchor="ctr" horzOverflow="overflow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30" marR="83330" marT="41672" marB="41672" anchor="ctr" horzOverflow="overflow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83330" marR="83330" marT="41672" marB="41672" anchor="ctr" horzOverflow="overflow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30" marR="83330" marT="41672" marB="41672" horzOverflow="overflow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83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30" marR="83330" marT="41672" marB="41672" anchor="ctr" horzOverflow="overflow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30" marR="83330" marT="41672" marB="41672" anchor="ctr" horzOverflow="overflow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30" marR="83330" marT="41672" marB="41672" anchor="ctr" horzOverflow="overflow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30" marR="83330" marT="41672" marB="41672" anchor="ctr" horzOverflow="overflow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30" marR="83330" marT="41672" marB="41672" anchor="ctr" horzOverflow="overflow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30" marR="83330" marT="41672" marB="41672" horzOverflow="overflow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83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30" marR="83330" marT="41672" marB="41672" anchor="ctr" horzOverflow="overflow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30" marR="83330" marT="41672" marB="41672" anchor="ctr" horzOverflow="overflow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30" marR="83330" marT="41672" marB="41672" anchor="ctr" horzOverflow="overflow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30" marR="83330" marT="41672" marB="41672" anchor="ctr" horzOverflow="overflow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30" marR="83330" marT="41672" marB="41672" anchor="ctr" horzOverflow="overflow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30" marR="83330" marT="41672" marB="41672" horzOverflow="overflow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83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30" marR="83330" marT="41672" marB="41672" anchor="ctr" horzOverflow="overflow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30" marR="83330" marT="41672" marB="41672" anchor="ctr" horzOverflow="overflow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30" marR="83330" marT="41672" marB="41672" anchor="ctr" horzOverflow="overflow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30" marR="83330" marT="41672" marB="41672" anchor="ctr" horzOverflow="overflow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30" marR="83330" marT="41672" marB="41672" anchor="ctr" horzOverflow="overflow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30" marR="83330" marT="41672" marB="41672" horzOverflow="overflow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83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30" marR="83330" marT="41672" marB="41672" anchor="ctr" horzOverflow="overflow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30" marR="83330" marT="41672" marB="41672" anchor="ctr" horzOverflow="overflow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30" marR="83330" marT="41672" marB="41672" anchor="ctr" horzOverflow="overflow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30" marR="83330" marT="41672" marB="41672" anchor="ctr" horzOverflow="overflow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30" marR="83330" marT="41672" marB="41672" anchor="ctr" horzOverflow="overflow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30" marR="83330" marT="41672" marB="41672" horzOverflow="overflow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83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30" marR="83330" marT="41672" marB="41672" anchor="ctr" horzOverflow="overflow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30" marR="83330" marT="41672" marB="41672" anchor="ctr" horzOverflow="overflow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30" marR="83330" marT="41672" marB="41672" anchor="ctr" horzOverflow="overflow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30" marR="83330" marT="41672" marB="41672" anchor="ctr" horzOverflow="overflow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30" marR="83330" marT="41672" marB="41672" anchor="ctr" horzOverflow="overflow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30" marR="83330" marT="41672" marB="41672" horzOverflow="overflow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3" name="Text Box 244">
            <a:extLst>
              <a:ext uri="{FF2B5EF4-FFF2-40B4-BE49-F238E27FC236}">
                <a16:creationId xmlns:a16="http://schemas.microsoft.com/office/drawing/2014/main" id="{A36C5383-A024-AEFB-0278-FE24F08226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6306" y="900007"/>
            <a:ext cx="1047082" cy="2466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ko-KR" sz="1003" b="1" dirty="0">
                <a:latin typeface="나눔고딕" pitchFamily="50" charset="-127"/>
                <a:ea typeface="나눔고딕" pitchFamily="50" charset="-127"/>
              </a:rPr>
              <a:t>Modify History</a:t>
            </a:r>
          </a:p>
        </p:txBody>
      </p:sp>
      <p:sp>
        <p:nvSpPr>
          <p:cNvPr id="4" name="Text Box 293">
            <a:extLst>
              <a:ext uri="{FF2B5EF4-FFF2-40B4-BE49-F238E27FC236}">
                <a16:creationId xmlns:a16="http://schemas.microsoft.com/office/drawing/2014/main" id="{7EF9BEA5-3800-7C80-48DD-DA63E06E54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6306" y="497500"/>
            <a:ext cx="1939955" cy="344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ko-KR" sz="1641" b="1" dirty="0">
                <a:latin typeface="나눔고딕" pitchFamily="50" charset="-127"/>
                <a:ea typeface="나눔고딕" pitchFamily="50" charset="-127"/>
              </a:rPr>
              <a:t>Document History</a:t>
            </a:r>
          </a:p>
        </p:txBody>
      </p:sp>
    </p:spTree>
    <p:extLst>
      <p:ext uri="{BB962C8B-B14F-4D97-AF65-F5344CB8AC3E}">
        <p14:creationId xmlns:p14="http://schemas.microsoft.com/office/powerpoint/2010/main" val="12845044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2ABBED-A449-3B37-AF77-32A557700F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293">
            <a:extLst>
              <a:ext uri="{FF2B5EF4-FFF2-40B4-BE49-F238E27FC236}">
                <a16:creationId xmlns:a16="http://schemas.microsoft.com/office/drawing/2014/main" id="{5CFAC8F2-A42A-E0CF-10BF-45F930EAD4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699" y="497500"/>
            <a:ext cx="1426994" cy="344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dist">
              <a:spcBef>
                <a:spcPct val="0"/>
              </a:spcBef>
            </a:pPr>
            <a:r>
              <a:rPr lang="ko-KR" altLang="en-US" sz="1641" b="1" dirty="0">
                <a:latin typeface="나눔고딕" pitchFamily="50" charset="-127"/>
                <a:ea typeface="나눔고딕" pitchFamily="50" charset="-127"/>
              </a:rPr>
              <a:t>화면설계 정의</a:t>
            </a:r>
          </a:p>
        </p:txBody>
      </p:sp>
      <p:graphicFrame>
        <p:nvGraphicFramePr>
          <p:cNvPr id="6" name="Group 86">
            <a:extLst>
              <a:ext uri="{FF2B5EF4-FFF2-40B4-BE49-F238E27FC236}">
                <a16:creationId xmlns:a16="http://schemas.microsoft.com/office/drawing/2014/main" id="{D3B501CF-8500-C336-ED9E-B5B9C61A34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7663337"/>
              </p:ext>
            </p:extLst>
          </p:nvPr>
        </p:nvGraphicFramePr>
        <p:xfrm>
          <a:off x="342899" y="1195190"/>
          <a:ext cx="11544301" cy="4305300"/>
        </p:xfrm>
        <a:graphic>
          <a:graphicData uri="http://schemas.openxmlformats.org/drawingml/2006/table">
            <a:tbl>
              <a:tblPr/>
              <a:tblGrid>
                <a:gridCol w="19732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021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688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321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정의</a:t>
                      </a:r>
                    </a:p>
                  </a:txBody>
                  <a:tcPr marL="83330" marR="83330" marT="41672" marB="41672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표시 방법</a:t>
                      </a:r>
                    </a:p>
                  </a:txBody>
                  <a:tcPr marL="83330" marR="83330" marT="41672" marB="41672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설명 및 실행 예</a:t>
                      </a:r>
                    </a:p>
                  </a:txBody>
                  <a:tcPr marL="83330" marR="83330" marT="41672" marB="41672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530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화면 기능 설명</a:t>
                      </a:r>
                    </a:p>
                  </a:txBody>
                  <a:tcPr marL="82018" marR="82018" marT="42656" marB="42656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2018" marR="82018" marT="42656" marB="42656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우측의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Description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영역의 해당 번호에 설명이 있음을 의미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  <a:sym typeface="Wingdings" pitchFamily="2" charset="2"/>
                        </a:rPr>
                        <a:t>  </a:t>
                      </a:r>
                    </a:p>
                  </a:txBody>
                  <a:tcPr marL="82018" marR="82018" marT="42656" marB="42656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1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스토리보드 필수준수사항</a:t>
                      </a:r>
                    </a:p>
                  </a:txBody>
                  <a:tcPr marL="82018" marR="82018" marT="42656" marB="42656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★</a:t>
                      </a:r>
                    </a:p>
                  </a:txBody>
                  <a:tcPr marL="82018" marR="82018" marT="42656" marB="42656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  ★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표시된 부분은 디자인할 때 형태를 반드시 유지함</a:t>
                      </a:r>
                    </a:p>
                  </a:txBody>
                  <a:tcPr marL="82018" marR="82018" marT="42656" marB="42656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1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텍스트 링크</a:t>
                      </a:r>
                    </a:p>
                  </a:txBody>
                  <a:tcPr marL="82018" marR="82018" marT="42656" marB="42656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Text Link</a:t>
                      </a:r>
                    </a:p>
                  </a:txBody>
                  <a:tcPr marL="82018" marR="82018" marT="42656" marB="42656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sng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내려받기</a:t>
                      </a:r>
                      <a:endParaRPr kumimoji="1" lang="ko-KR" altLang="en-US" sz="800" b="0" i="0" u="sng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2018" marR="82018" marT="42656" marB="42656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032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텍스트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(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기본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)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2018" marR="82018" marT="42656" marB="42656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나눔고딕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 기본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8/9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포인트</a:t>
                      </a:r>
                    </a:p>
                  </a:txBody>
                  <a:tcPr marL="82018" marR="82018" marT="42656" marB="42656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브이아이자산운용 웹사이트 리뉴얼</a:t>
                      </a:r>
                    </a:p>
                  </a:txBody>
                  <a:tcPr marL="82018" marR="82018" marT="42656" marB="42656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032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금액</a:t>
                      </a:r>
                    </a:p>
                  </a:txBody>
                  <a:tcPr marL="82018" marR="82018" marT="42656" marB="42656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우측 정열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/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단위 구분 콤마 표시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/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원 표시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(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단위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)</a:t>
                      </a:r>
                    </a:p>
                  </a:txBody>
                  <a:tcPr marL="82018" marR="82018" marT="42656" marB="42656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100,000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원</a:t>
                      </a:r>
                    </a:p>
                  </a:txBody>
                  <a:tcPr marL="82018" marR="82018" marT="42656" marB="42656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032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경로표시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2018" marR="82018" marT="42656" marB="42656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각 화면 우측 상단 위치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/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좌측메뉴와 동일하게 표기</a:t>
                      </a:r>
                    </a:p>
                  </a:txBody>
                  <a:tcPr marL="82018" marR="82018" marT="42656" marB="42656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800" dirty="0">
                          <a:latin typeface="나눔고딕" pitchFamily="50" charset="-127"/>
                          <a:ea typeface="나눔고딕" pitchFamily="50" charset="-127"/>
                        </a:rPr>
                        <a:t>Main &gt; </a:t>
                      </a:r>
                      <a:r>
                        <a:rPr lang="ko-KR" altLang="en-US" sz="800" dirty="0">
                          <a:latin typeface="나눔고딕" pitchFamily="50" charset="-127"/>
                          <a:ea typeface="나눔고딕" pitchFamily="50" charset="-127"/>
                        </a:rPr>
                        <a:t>회사소개 </a:t>
                      </a:r>
                      <a:r>
                        <a:rPr lang="en-US" altLang="ko-KR" sz="800" baseline="0" dirty="0">
                          <a:latin typeface="나눔고딕" pitchFamily="50" charset="-127"/>
                          <a:ea typeface="나눔고딕" pitchFamily="50" charset="-127"/>
                        </a:rPr>
                        <a:t>&gt; </a:t>
                      </a:r>
                      <a:r>
                        <a:rPr lang="ko-KR" altLang="en-US" sz="800" baseline="0" dirty="0">
                          <a:latin typeface="나눔고딕" pitchFamily="50" charset="-127"/>
                          <a:ea typeface="나눔고딕" pitchFamily="50" charset="-127"/>
                        </a:rPr>
                        <a:t>인사말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2018" marR="82018" marT="42656" marB="42656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173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년월일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/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기간표시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/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시간 표기</a:t>
                      </a:r>
                    </a:p>
                  </a:txBody>
                  <a:tcPr marL="82018" marR="82018" marT="42656" marB="42656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년월일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 사이는 콤마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(.)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로 구분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YYYY.MM.DD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HH:MM:SS</a:t>
                      </a:r>
                    </a:p>
                  </a:txBody>
                  <a:tcPr marL="82018" marR="82018" marT="42656" marB="42656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2020.12.15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2021.01.01~2021.12.31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24:00:00</a:t>
                      </a:r>
                    </a:p>
                  </a:txBody>
                  <a:tcPr marL="82018" marR="82018" marT="42656" marB="42656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905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일반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컨텐츠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 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테이블 텍스트 정열</a:t>
                      </a:r>
                    </a:p>
                  </a:txBody>
                  <a:tcPr marL="82018" marR="82018" marT="42656" marB="42656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타이틀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: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중앙정렬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내용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: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좌측정렬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(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금액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-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우측정렬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날짜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-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중앙정렬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)</a:t>
                      </a:r>
                    </a:p>
                  </a:txBody>
                  <a:tcPr marL="82018" marR="82018" marT="42656" marB="42656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2018" marR="82018" marT="42656" marB="42656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034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다음 페이지에 계속</a:t>
                      </a:r>
                    </a:p>
                  </a:txBody>
                  <a:tcPr marL="82018" marR="82018" marT="42656" marB="42656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2018" marR="82018" marT="42656" marB="42656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 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설계 시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PPT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한 페이지에 컨텐츠 전체를 작성하기 어려울 경우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다음 페이지에 이어서 계속된다는 의미</a:t>
                      </a:r>
                    </a:p>
                  </a:txBody>
                  <a:tcPr marL="82018" marR="82018" marT="42656" marB="42656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946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이전 페이지에 이어</a:t>
                      </a:r>
                    </a:p>
                  </a:txBody>
                  <a:tcPr marL="82018" marR="82018" marT="42656" marB="42656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 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이전 페이지에 이어 컨텐츠가 연결된다는 의미</a:t>
                      </a:r>
                    </a:p>
                  </a:txBody>
                  <a:tcPr marL="82018" marR="82018" marT="42656" marB="42656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429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게시판 모듈 사용시</a:t>
                      </a:r>
                    </a:p>
                  </a:txBody>
                  <a:tcPr marL="82018" marR="82018" marT="42656" marB="42656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A Type Board</a:t>
                      </a:r>
                    </a:p>
                  </a:txBody>
                  <a:tcPr marL="82018" marR="82018" marT="42656" marB="42656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 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해당 페이지에 사용될 게시판 모듈의 타입 정의 </a:t>
                      </a:r>
                      <a:b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</a:b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 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ex) A Type Board, K Type Board</a:t>
                      </a:r>
                    </a:p>
                  </a:txBody>
                  <a:tcPr marL="82018" marR="82018" marT="42656" marB="42656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6034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본문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TEXT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강조</a:t>
                      </a:r>
                    </a:p>
                  </a:txBody>
                  <a:tcPr marL="82018" marR="82018" marT="42656" marB="42656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강조색상</a:t>
                      </a: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 </a:t>
                      </a: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(</a:t>
                      </a: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중요</a:t>
                      </a: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)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강조색상</a:t>
                      </a: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 </a:t>
                      </a: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(</a:t>
                      </a: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보통</a:t>
                      </a: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)</a:t>
                      </a: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※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내용상 강조</a:t>
                      </a:r>
                    </a:p>
                  </a:txBody>
                  <a:tcPr marL="82018" marR="82018" marT="42656" marB="42656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강조색상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: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본문에 쓰이는 강조색상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 내용상 강조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: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본문에 삽입되어 있는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※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내용상에 강조해야 될 부분</a:t>
                      </a:r>
                    </a:p>
                  </a:txBody>
                  <a:tcPr marL="82018" marR="82018" marT="42656" marB="42656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graphicFrame>
        <p:nvGraphicFramePr>
          <p:cNvPr id="7" name="Group 69">
            <a:extLst>
              <a:ext uri="{FF2B5EF4-FFF2-40B4-BE49-F238E27FC236}">
                <a16:creationId xmlns:a16="http://schemas.microsoft.com/office/drawing/2014/main" id="{92BD1311-3B22-94AD-C10A-4DB09AEB32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8527491"/>
              </p:ext>
            </p:extLst>
          </p:nvPr>
        </p:nvGraphicFramePr>
        <p:xfrm>
          <a:off x="7205260" y="3474104"/>
          <a:ext cx="4246965" cy="416718"/>
        </p:xfrm>
        <a:graphic>
          <a:graphicData uri="http://schemas.openxmlformats.org/drawingml/2006/table">
            <a:tbl>
              <a:tblPr/>
              <a:tblGrid>
                <a:gridCol w="10612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87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56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127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3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지수명</a:t>
                      </a: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30" marR="83330" marT="41672" marB="4167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종가</a:t>
                      </a:r>
                    </a:p>
                  </a:txBody>
                  <a:tcPr marL="83330" marR="83330" marT="41672" marB="4167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지수명</a:t>
                      </a:r>
                    </a:p>
                  </a:txBody>
                  <a:tcPr marL="83330" marR="83330" marT="41672" marB="4167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날짜</a:t>
                      </a:r>
                    </a:p>
                  </a:txBody>
                  <a:tcPr marL="83330" marR="83330" marT="41672" marB="4167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35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전일가</a:t>
                      </a: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(</a:t>
                      </a:r>
                      <a:r>
                        <a:rPr kumimoji="1" lang="ko-KR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원</a:t>
                      </a: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)</a:t>
                      </a:r>
                    </a:p>
                  </a:txBody>
                  <a:tcPr marL="83330" marR="83330" marT="41672" marB="4167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43,900</a:t>
                      </a:r>
                    </a:p>
                  </a:txBody>
                  <a:tcPr marL="83330" marR="83330" marT="41672" marB="4167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매도호가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(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원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)</a:t>
                      </a:r>
                    </a:p>
                  </a:txBody>
                  <a:tcPr marL="83330" marR="83330" marT="41672" marB="4167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2020.01.03</a:t>
                      </a:r>
                    </a:p>
                  </a:txBody>
                  <a:tcPr marL="83330" marR="83330" marT="41672" marB="4167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AutoShape 161">
            <a:extLst>
              <a:ext uri="{FF2B5EF4-FFF2-40B4-BE49-F238E27FC236}">
                <a16:creationId xmlns:a16="http://schemas.microsoft.com/office/drawing/2014/main" id="{57067A25-B4B8-9EFA-A76C-8CBE742E78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00106" y="4215168"/>
            <a:ext cx="1115413" cy="328455"/>
          </a:xfrm>
          <a:prstGeom prst="downArrowCallout">
            <a:avLst>
              <a:gd name="adj1" fmla="val 84912"/>
              <a:gd name="adj2" fmla="val 84912"/>
              <a:gd name="adj3" fmla="val 16667"/>
              <a:gd name="adj4" fmla="val 66667"/>
            </a:avLst>
          </a:prstGeom>
          <a:solidFill>
            <a:srgbClr val="92D050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82031" tIns="42656" rIns="82031" bIns="42656" anchor="ctr"/>
          <a:lstStyle/>
          <a:p>
            <a:pPr algn="ctr">
              <a:spcBef>
                <a:spcPct val="0"/>
              </a:spcBef>
            </a:pPr>
            <a:r>
              <a:rPr lang="ko-KR" altLang="en-US" sz="800" b="1">
                <a:latin typeface="나눔고딕" pitchFamily="50" charset="-127"/>
                <a:ea typeface="나눔고딕" pitchFamily="50" charset="-127"/>
              </a:rPr>
              <a:t>계속</a:t>
            </a:r>
          </a:p>
        </p:txBody>
      </p:sp>
      <p:sp>
        <p:nvSpPr>
          <p:cNvPr id="9" name="AutoShape 90">
            <a:extLst>
              <a:ext uri="{FF2B5EF4-FFF2-40B4-BE49-F238E27FC236}">
                <a16:creationId xmlns:a16="http://schemas.microsoft.com/office/drawing/2014/main" id="{8411A59A-413F-C429-CB0A-BE46A60A51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2268" y="4105202"/>
            <a:ext cx="1116859" cy="328455"/>
          </a:xfrm>
          <a:prstGeom prst="upArrowCallout">
            <a:avLst>
              <a:gd name="adj1" fmla="val 85022"/>
              <a:gd name="adj2" fmla="val 85022"/>
              <a:gd name="adj3" fmla="val 16667"/>
              <a:gd name="adj4" fmla="val 66667"/>
            </a:avLst>
          </a:prstGeom>
          <a:solidFill>
            <a:srgbClr val="92D050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82031" tIns="42656" rIns="82031" bIns="42656" anchor="ctr"/>
          <a:lstStyle/>
          <a:p>
            <a:pPr algn="ctr">
              <a:spcBef>
                <a:spcPct val="0"/>
              </a:spcBef>
            </a:pPr>
            <a:r>
              <a:rPr lang="ko-KR" altLang="en-US" sz="800" b="1" dirty="0">
                <a:latin typeface="나눔고딕" pitchFamily="50" charset="-127"/>
                <a:ea typeface="나눔고딕" pitchFamily="50" charset="-127"/>
              </a:rPr>
              <a:t>이전페이지 이어서</a:t>
            </a:r>
          </a:p>
        </p:txBody>
      </p:sp>
      <p:sp>
        <p:nvSpPr>
          <p:cNvPr id="10" name="TextBox 59">
            <a:extLst>
              <a:ext uri="{FF2B5EF4-FFF2-40B4-BE49-F238E27FC236}">
                <a16:creationId xmlns:a16="http://schemas.microsoft.com/office/drawing/2014/main" id="{1163FCE5-6E63-DB95-FC70-42522493C0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699" y="907732"/>
            <a:ext cx="800219" cy="2886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ko-KR" altLang="en-US" sz="1276" b="1" dirty="0">
                <a:latin typeface="나눔고딕" pitchFamily="50" charset="-127"/>
                <a:ea typeface="나눔고딕" pitchFamily="50" charset="-127"/>
              </a:rPr>
              <a:t>부호설명</a:t>
            </a:r>
          </a:p>
        </p:txBody>
      </p:sp>
      <p:sp>
        <p:nvSpPr>
          <p:cNvPr id="11" name="Oval 109">
            <a:extLst>
              <a:ext uri="{FF2B5EF4-FFF2-40B4-BE49-F238E27FC236}">
                <a16:creationId xmlns:a16="http://schemas.microsoft.com/office/drawing/2014/main" id="{F78CC73B-BDD0-4299-DB26-520CADEB72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09132" y="1520825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1</a:t>
            </a:r>
          </a:p>
        </p:txBody>
      </p:sp>
      <p:sp>
        <p:nvSpPr>
          <p:cNvPr id="12" name="Oval 109">
            <a:extLst>
              <a:ext uri="{FF2B5EF4-FFF2-40B4-BE49-F238E27FC236}">
                <a16:creationId xmlns:a16="http://schemas.microsoft.com/office/drawing/2014/main" id="{BB370556-FD83-1C86-A16D-587608CA52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52019" y="1520825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2</a:t>
            </a:r>
          </a:p>
        </p:txBody>
      </p:sp>
      <p:sp>
        <p:nvSpPr>
          <p:cNvPr id="13" name="Oval 109">
            <a:extLst>
              <a:ext uri="{FF2B5EF4-FFF2-40B4-BE49-F238E27FC236}">
                <a16:creationId xmlns:a16="http://schemas.microsoft.com/office/drawing/2014/main" id="{982B18A9-01D2-3873-C7AF-BDABF6A292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94907" y="1520825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6033184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E64165-732A-09E9-5C19-15132EE002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BAC85FB-899E-BEC8-F8B4-4C2351BA6B13}"/>
              </a:ext>
            </a:extLst>
          </p:cNvPr>
          <p:cNvSpPr txBox="1"/>
          <p:nvPr/>
        </p:nvSpPr>
        <p:spPr>
          <a:xfrm>
            <a:off x="1047750" y="2476500"/>
            <a:ext cx="2390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latin typeface="나눔고딕" pitchFamily="2" charset="-127"/>
                <a:ea typeface="나눔고딕" pitchFamily="2" charset="-127"/>
              </a:rPr>
              <a:t>공통</a:t>
            </a:r>
          </a:p>
        </p:txBody>
      </p:sp>
    </p:spTree>
    <p:extLst>
      <p:ext uri="{BB962C8B-B14F-4D97-AF65-F5344CB8AC3E}">
        <p14:creationId xmlns:p14="http://schemas.microsoft.com/office/powerpoint/2010/main" val="6510581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AC2EF8-3774-7445-0BC4-5708E30F6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158621" y="1184988"/>
            <a:ext cx="8957388" cy="10863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B91E9091-5844-23E8-A837-A227C202A9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1207199"/>
              </p:ext>
            </p:extLst>
          </p:nvPr>
        </p:nvGraphicFramePr>
        <p:xfrm>
          <a:off x="9182101" y="947377"/>
          <a:ext cx="2795588" cy="1969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1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로그인 전의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Utility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메뉴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(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로그인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회원가입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)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684046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로그인 후의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Utility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메뉴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(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나의정보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비밀번호변경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로그아웃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)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723838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3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172599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4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290794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5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922450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6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784800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7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0538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8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199337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9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450365"/>
                  </a:ext>
                </a:extLst>
              </a:tr>
            </a:tbl>
          </a:graphicData>
        </a:graphic>
      </p:graphicFrame>
      <p:sp>
        <p:nvSpPr>
          <p:cNvPr id="3" name="직사각형 2"/>
          <p:cNvSpPr/>
          <p:nvPr/>
        </p:nvSpPr>
        <p:spPr>
          <a:xfrm>
            <a:off x="959895" y="375614"/>
            <a:ext cx="833883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</a:pP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공통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Header</a:t>
            </a:r>
            <a:endParaRPr kumimoji="1" lang="ko-KR" altLang="en-US" sz="800" dirty="0"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4165923" y="1273569"/>
            <a:ext cx="942784" cy="35821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31551" y="1833645"/>
            <a:ext cx="12036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하늘누리소개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39720" y="1833645"/>
            <a:ext cx="914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시설안내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58640" y="1833645"/>
            <a:ext cx="914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분양안내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77560" y="1833645"/>
            <a:ext cx="11912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사이버추모관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73289" y="1833645"/>
            <a:ext cx="914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고객센터</a:t>
            </a:r>
          </a:p>
        </p:txBody>
      </p:sp>
      <p:sp>
        <p:nvSpPr>
          <p:cNvPr id="14" name="직사각형 13"/>
          <p:cNvSpPr/>
          <p:nvPr/>
        </p:nvSpPr>
        <p:spPr>
          <a:xfrm>
            <a:off x="158621" y="2790079"/>
            <a:ext cx="8957388" cy="105413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4165923" y="2878660"/>
            <a:ext cx="942784" cy="35821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31551" y="3438736"/>
            <a:ext cx="12036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하늘누리소개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39720" y="3438736"/>
            <a:ext cx="914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시설안내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58640" y="3438736"/>
            <a:ext cx="914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분양안내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77560" y="3438736"/>
            <a:ext cx="11912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사이버추모관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73289" y="3438736"/>
            <a:ext cx="914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고객센터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24326" y="1344952"/>
            <a:ext cx="50385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b="1">
                <a:latin typeface="나눔고딕" panose="020D0604000000000000" pitchFamily="50" charset="-127"/>
                <a:ea typeface="나눔고딕" panose="020D0604000000000000" pitchFamily="50" charset="-127"/>
              </a:rPr>
              <a:t>로그인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72200" y="1344952"/>
            <a:ext cx="58783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회원가입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34300" y="2917252"/>
            <a:ext cx="79388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b="1">
                <a:latin typeface="나눔고딕" panose="020D0604000000000000" pitchFamily="50" charset="-127"/>
                <a:ea typeface="나눔고딕" panose="020D0604000000000000" pitchFamily="50" charset="-127"/>
              </a:rPr>
              <a:t>비밀번호변경</a:t>
            </a:r>
            <a:endParaRPr lang="ko-KR" altLang="en-US" sz="8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472200" y="2917252"/>
            <a:ext cx="58783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로그아웃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03231" y="2917252"/>
            <a:ext cx="65313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나의정보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8621" y="846434"/>
            <a:ext cx="20900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Header (Login </a:t>
            </a:r>
            <a:r>
              <a:rPr lang="ko-KR" altLang="en-US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전</a:t>
            </a:r>
            <a:r>
              <a:rPr lang="en-US" altLang="ko-KR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16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58621" y="2451525"/>
            <a:ext cx="20900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Header (Login </a:t>
            </a:r>
            <a:r>
              <a:rPr lang="ko-KR" altLang="en-US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후</a:t>
            </a:r>
            <a:r>
              <a:rPr lang="en-US" altLang="ko-KR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16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2" name="Oval 109">
            <a:extLst>
              <a:ext uri="{FF2B5EF4-FFF2-40B4-BE49-F238E27FC236}">
                <a16:creationId xmlns:a16="http://schemas.microsoft.com/office/drawing/2014/main" id="{F78CC73B-BDD0-4299-DB26-520CADEB72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8441" y="1187169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1</a:t>
            </a:r>
          </a:p>
        </p:txBody>
      </p:sp>
      <p:sp>
        <p:nvSpPr>
          <p:cNvPr id="34" name="Oval 109">
            <a:extLst>
              <a:ext uri="{FF2B5EF4-FFF2-40B4-BE49-F238E27FC236}">
                <a16:creationId xmlns:a16="http://schemas.microsoft.com/office/drawing/2014/main" id="{F78CC73B-BDD0-4299-DB26-520CADEB72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8153" y="2774954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9705590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AC2EF8-3774-7445-0BC4-5708E30F6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158621" y="1184988"/>
            <a:ext cx="8957388" cy="1474236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B91E9091-5844-23E8-A837-A227C202A9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9806989"/>
              </p:ext>
            </p:extLst>
          </p:nvPr>
        </p:nvGraphicFramePr>
        <p:xfrm>
          <a:off x="9182101" y="947377"/>
          <a:ext cx="2795588" cy="1847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1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풋터의 메뉴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(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서비스 이용약관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개인정보 처리방침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)</a:t>
                      </a: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684046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723838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3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172599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4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290794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5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922450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6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784800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7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0538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8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199337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9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450365"/>
                  </a:ext>
                </a:extLst>
              </a:tr>
            </a:tbl>
          </a:graphicData>
        </a:graphic>
      </p:graphicFrame>
      <p:sp>
        <p:nvSpPr>
          <p:cNvPr id="3" name="직사각형 2"/>
          <p:cNvSpPr/>
          <p:nvPr/>
        </p:nvSpPr>
        <p:spPr>
          <a:xfrm>
            <a:off x="959895" y="375614"/>
            <a:ext cx="797013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</a:pP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공통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Footer</a:t>
            </a:r>
            <a:endParaRPr kumimoji="1" lang="ko-KR" altLang="en-US" sz="800" dirty="0"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94646" y="1934018"/>
            <a:ext cx="16293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하늘누리 추모공원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97215" y="1401854"/>
            <a:ext cx="13696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서비스 이용약관</a:t>
            </a:r>
          </a:p>
        </p:txBody>
      </p:sp>
      <p:sp>
        <p:nvSpPr>
          <p:cNvPr id="25" name="직사각형 24"/>
          <p:cNvSpPr/>
          <p:nvPr/>
        </p:nvSpPr>
        <p:spPr>
          <a:xfrm>
            <a:off x="837929" y="1508531"/>
            <a:ext cx="942784" cy="35821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80539" y="1401853"/>
            <a:ext cx="13696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개인정보 처리방침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10937" y="1821214"/>
            <a:ext cx="4265316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재단법인 하늘누리 추모공원 </a:t>
            </a:r>
            <a:r>
              <a:rPr lang="en-US" altLang="ko-KR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l </a:t>
            </a:r>
            <a:r>
              <a:rPr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사업자등록번호 </a:t>
            </a:r>
            <a:r>
              <a:rPr lang="en-US" altLang="ko-KR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155-77-88888</a:t>
            </a:r>
          </a:p>
          <a:p>
            <a:r>
              <a:rPr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대표번호 </a:t>
            </a:r>
            <a:r>
              <a:rPr lang="en-US" altLang="ko-KR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031-999-9999 l </a:t>
            </a:r>
            <a:r>
              <a:rPr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주소</a:t>
            </a:r>
            <a:r>
              <a:rPr lang="en-US" altLang="ko-KR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</a:t>
            </a:r>
            <a:r>
              <a:rPr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경기도 양주시 산북동 산</a:t>
            </a:r>
            <a:r>
              <a:rPr lang="en-US" altLang="ko-KR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67-20</a:t>
            </a:r>
          </a:p>
          <a:p>
            <a:r>
              <a:rPr lang="en-US" altLang="ko-KR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Copyright 2026 haneulnuri. All Right Reserved</a:t>
            </a:r>
            <a:r>
              <a:rPr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8621" y="846434"/>
            <a:ext cx="20900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Footer</a:t>
            </a:r>
            <a:endParaRPr lang="ko-KR" altLang="en-US" sz="16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6" name="Oval 109">
            <a:extLst>
              <a:ext uri="{FF2B5EF4-FFF2-40B4-BE49-F238E27FC236}">
                <a16:creationId xmlns:a16="http://schemas.microsoft.com/office/drawing/2014/main" id="{F78CC73B-BDD0-4299-DB26-520CADEB72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83493" y="1234291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1375888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AC2EF8-3774-7445-0BC4-5708E30F6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B91E9091-5844-23E8-A837-A227C202A9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5143844"/>
              </p:ext>
            </p:extLst>
          </p:nvPr>
        </p:nvGraphicFramePr>
        <p:xfrm>
          <a:off x="9182101" y="947377"/>
          <a:ext cx="2795588" cy="1969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1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 Depth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메뉴들을 </a:t>
                      </a:r>
                      <a:r>
                        <a:rPr lang="ko-KR" altLang="en-US" sz="800" b="0" baseline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롤오버할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시 전체 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2Depth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메뉴가 </a:t>
                      </a:r>
                      <a:r>
                        <a:rPr lang="ko-KR" altLang="en-US" sz="800" b="0" baseline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슬라이딩되며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노출됨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684046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723838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3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172599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4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290794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5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922450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6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784800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7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0538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8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199337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9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450365"/>
                  </a:ext>
                </a:extLst>
              </a:tr>
            </a:tbl>
          </a:graphicData>
        </a:graphic>
      </p:graphicFrame>
      <p:sp>
        <p:nvSpPr>
          <p:cNvPr id="3" name="직사각형 2"/>
          <p:cNvSpPr/>
          <p:nvPr/>
        </p:nvSpPr>
        <p:spPr>
          <a:xfrm>
            <a:off x="959895" y="375614"/>
            <a:ext cx="846707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</a:pP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공통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2Depth</a:t>
            </a:r>
            <a:endParaRPr kumimoji="1" lang="ko-KR" altLang="en-US" sz="800" dirty="0"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158621" y="1194542"/>
            <a:ext cx="8957388" cy="105413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4165923" y="1283123"/>
            <a:ext cx="942784" cy="35821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70293" y="1843199"/>
            <a:ext cx="12036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하늘누리소개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71770" y="1843199"/>
            <a:ext cx="914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시설안내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33289" y="1843199"/>
            <a:ext cx="914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분양안내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73509" y="1843199"/>
            <a:ext cx="11912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사이버추모관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65181" y="1843199"/>
            <a:ext cx="914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고객센터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34300" y="1321715"/>
            <a:ext cx="79388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b="1">
                <a:latin typeface="나눔고딕" panose="020D0604000000000000" pitchFamily="50" charset="-127"/>
                <a:ea typeface="나눔고딕" panose="020D0604000000000000" pitchFamily="50" charset="-127"/>
              </a:rPr>
              <a:t>비밀번호변경</a:t>
            </a:r>
            <a:endParaRPr lang="ko-KR" altLang="en-US" sz="8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472200" y="1321715"/>
            <a:ext cx="58783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로그아웃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03231" y="1321715"/>
            <a:ext cx="65313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나의정보</a:t>
            </a:r>
          </a:p>
        </p:txBody>
      </p:sp>
      <p:sp>
        <p:nvSpPr>
          <p:cNvPr id="25" name="직사각형 24"/>
          <p:cNvSpPr/>
          <p:nvPr/>
        </p:nvSpPr>
        <p:spPr>
          <a:xfrm>
            <a:off x="158621" y="2248675"/>
            <a:ext cx="8957388" cy="105413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760529" y="2267910"/>
            <a:ext cx="111120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인사말</a:t>
            </a: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하늘누리 이야기</a:t>
            </a: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재단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허가 현황</a:t>
            </a: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오시는 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92603" y="2267910"/>
            <a:ext cx="122483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봉안당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하늘누리관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수목장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자연장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부대시설</a:t>
            </a: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주변 둘러보기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70562" y="2257778"/>
            <a:ext cx="951776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분양절차</a:t>
            </a: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분양가격</a:t>
            </a: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사전청약 혜택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48157" y="2267910"/>
            <a:ext cx="951776" cy="5270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고인 검색</a:t>
            </a: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하늘 편지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55955" y="2257778"/>
            <a:ext cx="120041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공지사항</a:t>
            </a: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자주 묻는 질문</a:t>
            </a: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1:1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상담</a:t>
            </a: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자료실</a:t>
            </a: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58621" y="846434"/>
            <a:ext cx="20900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2 Depth </a:t>
            </a:r>
            <a:r>
              <a:rPr lang="ko-KR" altLang="en-US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노출</a:t>
            </a:r>
          </a:p>
        </p:txBody>
      </p:sp>
      <p:sp>
        <p:nvSpPr>
          <p:cNvPr id="38" name="Oval 109">
            <a:extLst>
              <a:ext uri="{FF2B5EF4-FFF2-40B4-BE49-F238E27FC236}">
                <a16:creationId xmlns:a16="http://schemas.microsoft.com/office/drawing/2014/main" id="{F78CC73B-BDD0-4299-DB26-520CADEB72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23318" y="2218025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3552601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AC2EF8-3774-7445-0BC4-5708E30F6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B91E9091-5844-23E8-A837-A227C202A9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9909724"/>
              </p:ext>
            </p:extLst>
          </p:nvPr>
        </p:nvGraphicFramePr>
        <p:xfrm>
          <a:off x="9182101" y="947377"/>
          <a:ext cx="2795588" cy="27006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1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42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롤오버시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전화상담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말풍선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노출되며 웹에서는 전화상담 선택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전화상담 안내 팝업 노출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rgbClr val="FF0000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모바일에서는 전화번호가 입력된 상태에서 전화 앱이 실행된다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.</a:t>
                      </a: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684046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카카오 상담을 선택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하늘 누리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카카오채널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추가를 안한 상태에서는 카카오의 하늘누리채널 안내 화면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호줄되고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하늘누리 카카오채널을 등록한 상태에서는 바로 하늘누리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카카오톡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대화창을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호출한다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.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723838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3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브로슈어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신청 선택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로그인이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안된 상태에서는 로그인화면으로 이동하고 로그인 후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브로슈어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신청 화면으로 자동 이동</a:t>
                      </a: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172599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4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290794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5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922450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6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784800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7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0538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8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199337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9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450365"/>
                  </a:ext>
                </a:extLst>
              </a:tr>
            </a:tbl>
          </a:graphicData>
        </a:graphic>
      </p:graphicFrame>
      <p:sp>
        <p:nvSpPr>
          <p:cNvPr id="3" name="직사각형 2"/>
          <p:cNvSpPr/>
          <p:nvPr/>
        </p:nvSpPr>
        <p:spPr>
          <a:xfrm>
            <a:off x="959895" y="375614"/>
            <a:ext cx="1747594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</a:pP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공통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스카이스크레퍼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(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플로팅 메뉴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)</a:t>
            </a:r>
            <a:endParaRPr kumimoji="1" lang="ko-KR" altLang="en-US" sz="800" dirty="0"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158621" y="718292"/>
            <a:ext cx="8957388" cy="105413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4165923" y="806873"/>
            <a:ext cx="942784" cy="35821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70293" y="1366949"/>
            <a:ext cx="12036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하늘누리소개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071770" y="1366949"/>
            <a:ext cx="914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시설안내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33289" y="1366949"/>
            <a:ext cx="914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분양안내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73509" y="1366949"/>
            <a:ext cx="11912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사이버추모관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65181" y="1366949"/>
            <a:ext cx="914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고객센터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34300" y="845465"/>
            <a:ext cx="79388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b="1">
                <a:latin typeface="나눔고딕" panose="020D0604000000000000" pitchFamily="50" charset="-127"/>
                <a:ea typeface="나눔고딕" panose="020D0604000000000000" pitchFamily="50" charset="-127"/>
              </a:rPr>
              <a:t>비밀번호변경</a:t>
            </a:r>
            <a:endParaRPr lang="ko-KR" altLang="en-US" sz="8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8472200" y="845465"/>
            <a:ext cx="58783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로그아웃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03231" y="845465"/>
            <a:ext cx="65313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나의정보</a:t>
            </a:r>
          </a:p>
        </p:txBody>
      </p:sp>
      <p:grpSp>
        <p:nvGrpSpPr>
          <p:cNvPr id="5" name="그룹 4"/>
          <p:cNvGrpSpPr/>
          <p:nvPr/>
        </p:nvGrpSpPr>
        <p:grpSpPr>
          <a:xfrm>
            <a:off x="8442265" y="4876800"/>
            <a:ext cx="465374" cy="1581150"/>
            <a:chOff x="8308915" y="4381500"/>
            <a:chExt cx="465374" cy="1581150"/>
          </a:xfrm>
        </p:grpSpPr>
        <p:sp>
          <p:nvSpPr>
            <p:cNvPr id="41" name="타원 40"/>
            <p:cNvSpPr/>
            <p:nvPr/>
          </p:nvSpPr>
          <p:spPr>
            <a:xfrm>
              <a:off x="8308915" y="4943475"/>
              <a:ext cx="457200" cy="45720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2" name="타원 41"/>
            <p:cNvSpPr/>
            <p:nvPr/>
          </p:nvSpPr>
          <p:spPr>
            <a:xfrm>
              <a:off x="8308915" y="5505450"/>
              <a:ext cx="457200" cy="45720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pic>
          <p:nvPicPr>
            <p:cNvPr id="2050" name="Picture 2" descr="카카오 톡 - 무료 소셜 미디어개 아이콘"/>
            <p:cNvPicPr>
              <a:picLocks noChangeAspect="1" noChangeArrowheads="1"/>
            </p:cNvPicPr>
            <p:nvPr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84156" y="5029592"/>
              <a:ext cx="323066" cy="32306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3" name="타원 42"/>
            <p:cNvSpPr/>
            <p:nvPr/>
          </p:nvSpPr>
          <p:spPr>
            <a:xfrm>
              <a:off x="8317089" y="4381500"/>
              <a:ext cx="457200" cy="45720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pic>
          <p:nvPicPr>
            <p:cNvPr id="2056" name="Picture 8" descr="전화기 아이콘 일러스트 | Canva"/>
            <p:cNvPicPr>
              <a:picLocks noChangeAspect="1" noChangeArrowheads="1"/>
            </p:cNvPicPr>
            <p:nvPr/>
          </p:nvPicPr>
          <p:blipFill>
            <a:blip r:embed="rId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84156" y="4447921"/>
              <a:ext cx="324358" cy="32435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8" name="Picture 10" descr="브로슈어 - 무료 마케팅개 아이콘"/>
            <p:cNvPicPr>
              <a:picLocks noChangeAspect="1" noChangeArrowheads="1"/>
            </p:cNvPicPr>
            <p:nvPr/>
          </p:nvPicPr>
          <p:blipFill>
            <a:blip r:embed="rId4" cstate="hqprint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aturation sat="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54671" y="5542615"/>
              <a:ext cx="382869" cy="38286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44" name="Oval 109">
            <a:extLst>
              <a:ext uri="{FF2B5EF4-FFF2-40B4-BE49-F238E27FC236}">
                <a16:creationId xmlns:a16="http://schemas.microsoft.com/office/drawing/2014/main" id="{F78CC73B-BDD0-4299-DB26-520CADEB72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69465" y="4790400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1</a:t>
            </a:r>
          </a:p>
        </p:txBody>
      </p:sp>
      <p:sp>
        <p:nvSpPr>
          <p:cNvPr id="45" name="Oval 109">
            <a:extLst>
              <a:ext uri="{FF2B5EF4-FFF2-40B4-BE49-F238E27FC236}">
                <a16:creationId xmlns:a16="http://schemas.microsoft.com/office/drawing/2014/main" id="{F78CC73B-BDD0-4299-DB26-520CADEB72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69465" y="5467096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2</a:t>
            </a:r>
          </a:p>
        </p:txBody>
      </p:sp>
      <p:sp>
        <p:nvSpPr>
          <p:cNvPr id="46" name="Oval 109">
            <a:extLst>
              <a:ext uri="{FF2B5EF4-FFF2-40B4-BE49-F238E27FC236}">
                <a16:creationId xmlns:a16="http://schemas.microsoft.com/office/drawing/2014/main" id="{F78CC73B-BDD0-4299-DB26-520CADEB72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86646" y="6011371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4664990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AC2EF8-3774-7445-0BC4-5708E30F6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B91E9091-5844-23E8-A837-A227C202A9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9909724"/>
              </p:ext>
            </p:extLst>
          </p:nvPr>
        </p:nvGraphicFramePr>
        <p:xfrm>
          <a:off x="9182101" y="947377"/>
          <a:ext cx="2795588" cy="27006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1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42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롤오버시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전화상담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말풍선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노출되며 웹에서는 전화상담 선택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전화상담 안내 팝업 노출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rgbClr val="FF0000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모바일에서는 전화번호가 입력된 상태에서 전화 앱이 실행된다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.</a:t>
                      </a: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684046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카카오 상담을 선택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하늘 누리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카카오채널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추가를 안한 상태에서는 카카오의 하늘누리채널 안내 화면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호줄되고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하늘누리 카카오채널을 등록한 상태에서는 바로 하늘누리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카카오톡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대화창을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호출한다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.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723838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3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브로슈어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신청 선택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로그인이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안된 상태에서는 로그인화면으로 이동하고 로그인 후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브로슈어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신청 화면으로 자동 이동</a:t>
                      </a: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172599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4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290794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5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922450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6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784800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7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0538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8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199337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9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450365"/>
                  </a:ext>
                </a:extLst>
              </a:tr>
            </a:tbl>
          </a:graphicData>
        </a:graphic>
      </p:graphicFrame>
      <p:sp>
        <p:nvSpPr>
          <p:cNvPr id="3" name="직사각형 2"/>
          <p:cNvSpPr/>
          <p:nvPr/>
        </p:nvSpPr>
        <p:spPr>
          <a:xfrm>
            <a:off x="959895" y="375614"/>
            <a:ext cx="1747594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</a:pP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공통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스카이스크레퍼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(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플로팅 메뉴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)</a:t>
            </a:r>
            <a:endParaRPr kumimoji="1" lang="ko-KR" altLang="en-US" sz="800" dirty="0"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158621" y="718292"/>
            <a:ext cx="8957388" cy="105413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4165923" y="806873"/>
            <a:ext cx="942784" cy="35821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70293" y="1366949"/>
            <a:ext cx="12036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하늘누리소개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071770" y="1366949"/>
            <a:ext cx="914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시설안내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33289" y="1366949"/>
            <a:ext cx="914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분양안내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73509" y="1366949"/>
            <a:ext cx="11912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사이버추모관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65181" y="1366949"/>
            <a:ext cx="914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고객센터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34300" y="845465"/>
            <a:ext cx="79388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b="1">
                <a:latin typeface="나눔고딕" panose="020D0604000000000000" pitchFamily="50" charset="-127"/>
                <a:ea typeface="나눔고딕" panose="020D0604000000000000" pitchFamily="50" charset="-127"/>
              </a:rPr>
              <a:t>비밀번호변경</a:t>
            </a:r>
            <a:endParaRPr lang="ko-KR" altLang="en-US" sz="8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8472200" y="845465"/>
            <a:ext cx="58783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로그아웃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03231" y="845465"/>
            <a:ext cx="65313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나의정보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158621" y="718292"/>
            <a:ext cx="8957388" cy="5897112"/>
          </a:xfrm>
          <a:prstGeom prst="rect">
            <a:avLst/>
          </a:prstGeom>
          <a:solidFill>
            <a:schemeClr val="bg1">
              <a:lumMod val="95000"/>
              <a:alpha val="49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pSp>
        <p:nvGrpSpPr>
          <p:cNvPr id="12" name="그룹 11"/>
          <p:cNvGrpSpPr/>
          <p:nvPr/>
        </p:nvGrpSpPr>
        <p:grpSpPr>
          <a:xfrm>
            <a:off x="2791709" y="2985796"/>
            <a:ext cx="3797560" cy="1754154"/>
            <a:chOff x="8761445" y="4217437"/>
            <a:chExt cx="3797560" cy="1754154"/>
          </a:xfrm>
        </p:grpSpPr>
        <p:sp>
          <p:nvSpPr>
            <p:cNvPr id="4" name="모서리가 둥근 직사각형 3"/>
            <p:cNvSpPr/>
            <p:nvPr/>
          </p:nvSpPr>
          <p:spPr>
            <a:xfrm>
              <a:off x="8761445" y="4217437"/>
              <a:ext cx="3797560" cy="1754154"/>
            </a:xfrm>
            <a:prstGeom prst="roundRect">
              <a:avLst>
                <a:gd name="adj" fmla="val 3334"/>
              </a:avLst>
            </a:prstGeom>
            <a:solidFill>
              <a:schemeClr val="bg1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cxnSp>
          <p:nvCxnSpPr>
            <p:cNvPr id="7" name="직선 연결선 6"/>
            <p:cNvCxnSpPr/>
            <p:nvPr/>
          </p:nvCxnSpPr>
          <p:spPr>
            <a:xfrm flipV="1">
              <a:off x="8761445" y="4506685"/>
              <a:ext cx="3797560" cy="9331"/>
            </a:xfrm>
            <a:prstGeom prst="line">
              <a:avLst/>
            </a:prstGeom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/>
            <p:cNvSpPr txBox="1"/>
            <p:nvPr/>
          </p:nvSpPr>
          <p:spPr>
            <a:xfrm>
              <a:off x="8761445" y="4254339"/>
              <a:ext cx="121298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900" b="1">
                  <a:latin typeface="나눔고딕" panose="020D0604000000000000" pitchFamily="50" charset="-127"/>
                  <a:ea typeface="나눔고딕" panose="020D0604000000000000" pitchFamily="50" charset="-127"/>
                </a:rPr>
                <a:t>화면명</a:t>
              </a:r>
              <a:endParaRPr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12225456" y="4235745"/>
              <a:ext cx="27678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1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X</a:t>
              </a:r>
              <a:endParaRPr lang="ko-KR" altLang="en-US" sz="11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0" name="직사각형 9"/>
            <p:cNvSpPr/>
            <p:nvPr/>
          </p:nvSpPr>
          <p:spPr>
            <a:xfrm>
              <a:off x="9018234" y="4792560"/>
              <a:ext cx="3207222" cy="72182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9621569" y="5059619"/>
              <a:ext cx="2209642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9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모든 항목에 동의를 선택하셔야 합니다</a:t>
              </a:r>
              <a:r>
                <a:rPr lang="en-US" altLang="ko-KR" sz="9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.</a:t>
              </a:r>
              <a:endParaRPr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2" name="모서리가 둥근 직사각형 63">
              <a:extLst>
                <a:ext uri="{FF2B5EF4-FFF2-40B4-BE49-F238E27FC236}">
                  <a16:creationId xmlns:a16="http://schemas.microsoft.com/office/drawing/2014/main" id="{C9563051-32B1-0086-E228-FEE25D4479E5}"/>
                </a:ext>
              </a:extLst>
            </p:cNvPr>
            <p:cNvSpPr/>
            <p:nvPr/>
          </p:nvSpPr>
          <p:spPr bwMode="auto">
            <a:xfrm>
              <a:off x="10042040" y="5681433"/>
              <a:ext cx="956159" cy="200025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ko-KR" altLang="en-US" sz="800" dirty="0">
                  <a:ln w="0" cmpd="sng">
                    <a:solidFill>
                      <a:schemeClr val="tx2">
                        <a:satMod val="155000"/>
                        <a:alpha val="0"/>
                      </a:schemeClr>
                    </a:solidFill>
                    <a:prstDash val="solid"/>
                    <a:round/>
                  </a:ln>
                  <a:solidFill>
                    <a:schemeClr val="tx1"/>
                  </a:solidFill>
                  <a:latin typeface="나눔고딕" pitchFamily="50" charset="-127"/>
                  <a:ea typeface="나눔고딕" pitchFamily="50" charset="-127"/>
                </a:rPr>
                <a:t>확인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903896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AC2EF8-3774-7445-0BC4-5708E30F6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B91E9091-5844-23E8-A837-A227C202A9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0040464"/>
              </p:ext>
            </p:extLst>
          </p:nvPr>
        </p:nvGraphicFramePr>
        <p:xfrm>
          <a:off x="9182101" y="947377"/>
          <a:ext cx="2795588" cy="1969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1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팝업을 제외한 모든 서브페이지에는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Bread Crumbs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가 구성됨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684046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서브 화면의 타이틀은 센터정렬하여 구성</a:t>
                      </a: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723838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3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172599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4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290794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5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922450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6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784800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7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0538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8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199337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9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450365"/>
                  </a:ext>
                </a:extLst>
              </a:tr>
            </a:tbl>
          </a:graphicData>
        </a:graphic>
      </p:graphicFrame>
      <p:sp>
        <p:nvSpPr>
          <p:cNvPr id="3" name="직사각형 2"/>
          <p:cNvSpPr/>
          <p:nvPr/>
        </p:nvSpPr>
        <p:spPr>
          <a:xfrm>
            <a:off x="959895" y="375614"/>
            <a:ext cx="2238113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</a:pP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공통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Bread Crumbs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및 서브 페이지 레이아웃</a:t>
            </a:r>
          </a:p>
        </p:txBody>
      </p:sp>
      <p:sp>
        <p:nvSpPr>
          <p:cNvPr id="14" name="직사각형 13"/>
          <p:cNvSpPr/>
          <p:nvPr/>
        </p:nvSpPr>
        <p:spPr>
          <a:xfrm>
            <a:off x="158621" y="1194542"/>
            <a:ext cx="8957388" cy="105413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4165923" y="1283123"/>
            <a:ext cx="942784" cy="35821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70293" y="1843199"/>
            <a:ext cx="12036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하늘누리소개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71770" y="1843199"/>
            <a:ext cx="914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시설안내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33289" y="1843199"/>
            <a:ext cx="914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분양안내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73509" y="1843199"/>
            <a:ext cx="11912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사이버추모관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65181" y="1843199"/>
            <a:ext cx="914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고객센터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34300" y="1321715"/>
            <a:ext cx="79388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b="1">
                <a:latin typeface="나눔고딕" panose="020D0604000000000000" pitchFamily="50" charset="-127"/>
                <a:ea typeface="나눔고딕" panose="020D0604000000000000" pitchFamily="50" charset="-127"/>
              </a:rPr>
              <a:t>비밀번호변경</a:t>
            </a:r>
            <a:endParaRPr lang="ko-KR" altLang="en-US" sz="8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472200" y="1321715"/>
            <a:ext cx="58783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로그아웃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03231" y="1321715"/>
            <a:ext cx="65313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나의정보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8621" y="846434"/>
            <a:ext cx="370852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Bread Crumbs </a:t>
            </a:r>
            <a:r>
              <a:rPr lang="ko-KR" altLang="en-US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및 서브 페이지 레이아웃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8621" y="2313992"/>
            <a:ext cx="314441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HOME &gt; </a:t>
            </a:r>
            <a:r>
              <a:rPr lang="ko-KR" altLang="en-US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하늘누리소개 </a:t>
            </a:r>
            <a:r>
              <a:rPr lang="en-US" altLang="ko-KR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인사말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62325" y="2594753"/>
            <a:ext cx="33499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인사말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 rot="19713666">
            <a:off x="2602981" y="4457699"/>
            <a:ext cx="38385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CONTENTS</a:t>
            </a:r>
            <a:endParaRPr lang="ko-KR" altLang="en-US" sz="3200" b="1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3" name="Oval 109">
            <a:extLst>
              <a:ext uri="{FF2B5EF4-FFF2-40B4-BE49-F238E27FC236}">
                <a16:creationId xmlns:a16="http://schemas.microsoft.com/office/drawing/2014/main" id="{F78CC73B-BDD0-4299-DB26-520CADEB72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529" y="2194934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1</a:t>
            </a:r>
          </a:p>
        </p:txBody>
      </p:sp>
      <p:sp>
        <p:nvSpPr>
          <p:cNvPr id="25" name="Oval 109">
            <a:extLst>
              <a:ext uri="{FF2B5EF4-FFF2-40B4-BE49-F238E27FC236}">
                <a16:creationId xmlns:a16="http://schemas.microsoft.com/office/drawing/2014/main" id="{F78CC73B-BDD0-4299-DB26-520CADEB72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80750" y="2594753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2335605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E64165-732A-09E9-5C19-15132EE002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BAC85FB-899E-BEC8-F8B4-4C2351BA6B13}"/>
              </a:ext>
            </a:extLst>
          </p:cNvPr>
          <p:cNvSpPr txBox="1"/>
          <p:nvPr/>
        </p:nvSpPr>
        <p:spPr>
          <a:xfrm>
            <a:off x="1047750" y="2476500"/>
            <a:ext cx="2390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나눔고딕" pitchFamily="2" charset="-127"/>
                <a:ea typeface="나눔고딕" pitchFamily="2" charset="-127"/>
              </a:rPr>
              <a:t>01. </a:t>
            </a:r>
            <a:r>
              <a:rPr lang="ko-KR" altLang="en-US" b="1" dirty="0">
                <a:latin typeface="나눔고딕" pitchFamily="2" charset="-127"/>
                <a:ea typeface="나눔고딕" pitchFamily="2" charset="-127"/>
              </a:rPr>
              <a:t>메인</a:t>
            </a:r>
          </a:p>
        </p:txBody>
      </p:sp>
    </p:spTree>
    <p:extLst>
      <p:ext uri="{BB962C8B-B14F-4D97-AF65-F5344CB8AC3E}">
        <p14:creationId xmlns:p14="http://schemas.microsoft.com/office/powerpoint/2010/main" val="15249737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AC2EF8-3774-7445-0BC4-5708E30F6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B91E9091-5844-23E8-A837-A227C202A9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6930694"/>
              </p:ext>
            </p:extLst>
          </p:nvPr>
        </p:nvGraphicFramePr>
        <p:xfrm>
          <a:off x="9182101" y="947377"/>
          <a:ext cx="2795588" cy="1847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1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684046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723838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3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172599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4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290794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5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922450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6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784800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7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0538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8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199337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9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450365"/>
                  </a:ext>
                </a:extLst>
              </a:tr>
            </a:tbl>
          </a:graphicData>
        </a:graphic>
      </p:graphicFrame>
      <p:sp>
        <p:nvSpPr>
          <p:cNvPr id="3" name="직사각형 2"/>
          <p:cNvSpPr/>
          <p:nvPr/>
        </p:nvSpPr>
        <p:spPr>
          <a:xfrm>
            <a:off x="959895" y="375614"/>
            <a:ext cx="846707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</a:pP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공통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2Depth</a:t>
            </a:r>
            <a:endParaRPr kumimoji="1" lang="ko-KR" altLang="en-US" sz="800" dirty="0"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4997518" y="830423"/>
            <a:ext cx="2976465" cy="568234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8" name="직선 연결선 7"/>
          <p:cNvCxnSpPr/>
          <p:nvPr/>
        </p:nvCxnSpPr>
        <p:spPr>
          <a:xfrm flipV="1">
            <a:off x="4997518" y="1231642"/>
            <a:ext cx="2976465" cy="9331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/>
          <p:cNvCxnSpPr/>
          <p:nvPr/>
        </p:nvCxnSpPr>
        <p:spPr>
          <a:xfrm flipV="1">
            <a:off x="4991291" y="2195484"/>
            <a:ext cx="2976465" cy="9331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70295" y="1721101"/>
            <a:ext cx="3590012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메인구성</a:t>
            </a:r>
            <a:endParaRPr lang="en-US" altLang="ko-KR" sz="16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en-US" altLang="ko-KR" sz="16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: Full Screen </a:t>
            </a:r>
            <a:r>
              <a:rPr lang="ko-KR" altLang="en-US" sz="16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구성</a:t>
            </a:r>
            <a:endParaRPr lang="en-US" altLang="ko-KR" sz="16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endParaRPr lang="en-US" altLang="ko-KR" sz="16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en-US" altLang="ko-KR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&lt;</a:t>
            </a:r>
            <a:r>
              <a:rPr lang="ko-KR" altLang="en-US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구성 시나리오</a:t>
            </a:r>
            <a:r>
              <a:rPr lang="en-US" altLang="ko-KR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&gt;</a:t>
            </a:r>
          </a:p>
          <a:p>
            <a:endParaRPr lang="en-US" altLang="ko-KR" sz="14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en-US" altLang="ko-KR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1. Header </a:t>
            </a:r>
            <a:r>
              <a:rPr lang="ko-KR" altLang="en-US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영역</a:t>
            </a:r>
            <a:endParaRPr lang="en-US" altLang="ko-KR" sz="16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en-US" altLang="ko-KR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2. Hero Section</a:t>
            </a:r>
          </a:p>
          <a:p>
            <a:pPr marL="285750" indent="-285750">
              <a:buFontTx/>
              <a:buChar char="-"/>
            </a:pPr>
            <a:r>
              <a:rPr lang="en-US" altLang="ko-KR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Main Visual</a:t>
            </a:r>
            <a:r>
              <a:rPr lang="ko-KR" altLang="en-US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+ </a:t>
            </a:r>
            <a:r>
              <a:rPr lang="ko-KR" altLang="en-US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핵심 </a:t>
            </a:r>
            <a:r>
              <a:rPr lang="en-US" altLang="ko-KR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Copy</a:t>
            </a:r>
          </a:p>
          <a:p>
            <a:r>
              <a:rPr lang="en-US" altLang="ko-KR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3. </a:t>
            </a:r>
            <a:r>
              <a:rPr lang="ko-KR" altLang="en-US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브랜드 소개</a:t>
            </a:r>
            <a:endParaRPr lang="en-US" altLang="ko-KR" sz="16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85750" indent="-285750">
              <a:buFontTx/>
              <a:buChar char="-"/>
            </a:pPr>
            <a:r>
              <a:rPr lang="en-US" altLang="ko-KR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Visual</a:t>
            </a:r>
            <a:r>
              <a:rPr lang="ko-KR" altLang="en-US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+ </a:t>
            </a:r>
            <a:r>
              <a:rPr lang="ko-KR" altLang="en-US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관련 </a:t>
            </a:r>
            <a:r>
              <a:rPr lang="en-US" altLang="ko-KR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Copy</a:t>
            </a:r>
          </a:p>
          <a:p>
            <a:r>
              <a:rPr lang="en-US" altLang="ko-KR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4. </a:t>
            </a:r>
            <a:r>
              <a:rPr lang="ko-KR" altLang="en-US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시설안내</a:t>
            </a:r>
            <a:endParaRPr lang="en-US" altLang="ko-KR" sz="16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85750" indent="-285750">
              <a:buFontTx/>
              <a:buChar char="-"/>
            </a:pPr>
            <a:r>
              <a:rPr lang="en-US" altLang="ko-KR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Visual + </a:t>
            </a:r>
            <a:r>
              <a:rPr lang="ko-KR" altLang="en-US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관련 </a:t>
            </a:r>
            <a:r>
              <a:rPr lang="en-US" altLang="ko-KR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Copy</a:t>
            </a:r>
          </a:p>
          <a:p>
            <a:r>
              <a:rPr lang="en-US" altLang="ko-KR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5. </a:t>
            </a:r>
            <a:r>
              <a:rPr lang="ko-KR" altLang="en-US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분양안내</a:t>
            </a:r>
            <a:endParaRPr lang="en-US" altLang="ko-KR" sz="16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85750" indent="-285750">
              <a:buFontTx/>
              <a:buChar char="-"/>
            </a:pPr>
            <a:r>
              <a:rPr lang="en-US" altLang="ko-KR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Visual + </a:t>
            </a:r>
            <a:r>
              <a:rPr lang="ko-KR" altLang="en-US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관련 </a:t>
            </a:r>
            <a:r>
              <a:rPr lang="en-US" altLang="ko-KR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Copy</a:t>
            </a:r>
          </a:p>
          <a:p>
            <a:r>
              <a:rPr lang="en-US" altLang="ko-KR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6. </a:t>
            </a:r>
            <a:r>
              <a:rPr lang="ko-KR" altLang="en-US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오시는 길</a:t>
            </a:r>
            <a:endParaRPr lang="en-US" altLang="ko-KR" sz="16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85750" indent="-285750">
              <a:buFontTx/>
              <a:buChar char="-"/>
            </a:pPr>
            <a:r>
              <a:rPr lang="en-US" altLang="ko-KR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Location </a:t>
            </a:r>
            <a:r>
              <a:rPr lang="ko-KR" altLang="en-US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정보 </a:t>
            </a:r>
            <a:r>
              <a:rPr lang="en-US" altLang="ko-KR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+ </a:t>
            </a:r>
            <a:r>
              <a:rPr lang="ko-KR" altLang="en-US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상담안내</a:t>
            </a:r>
            <a:endParaRPr lang="en-US" altLang="ko-KR" sz="16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en-US" altLang="ko-KR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7. Footer</a:t>
            </a:r>
            <a:endParaRPr lang="ko-KR" altLang="en-US" sz="16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5706715" y="1499113"/>
            <a:ext cx="154561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Hero Section</a:t>
            </a:r>
          </a:p>
        </p:txBody>
      </p:sp>
      <p:cxnSp>
        <p:nvCxnSpPr>
          <p:cNvPr id="31" name="직선 연결선 30"/>
          <p:cNvCxnSpPr/>
          <p:nvPr/>
        </p:nvCxnSpPr>
        <p:spPr>
          <a:xfrm flipV="1">
            <a:off x="4985661" y="3159326"/>
            <a:ext cx="2976465" cy="9331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직선 연결선 32"/>
          <p:cNvCxnSpPr/>
          <p:nvPr/>
        </p:nvCxnSpPr>
        <p:spPr>
          <a:xfrm flipV="1">
            <a:off x="5009375" y="4123168"/>
            <a:ext cx="2976465" cy="9331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직선 연결선 34"/>
          <p:cNvCxnSpPr/>
          <p:nvPr/>
        </p:nvCxnSpPr>
        <p:spPr>
          <a:xfrm flipV="1">
            <a:off x="4985660" y="5087010"/>
            <a:ext cx="2976465" cy="9331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직선 연결선 38"/>
          <p:cNvCxnSpPr/>
          <p:nvPr/>
        </p:nvCxnSpPr>
        <p:spPr>
          <a:xfrm flipV="1">
            <a:off x="5001880" y="6050851"/>
            <a:ext cx="2976465" cy="9331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직사각형 21"/>
          <p:cNvSpPr/>
          <p:nvPr/>
        </p:nvSpPr>
        <p:spPr>
          <a:xfrm>
            <a:off x="6001903" y="854822"/>
            <a:ext cx="95090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Header</a:t>
            </a:r>
          </a:p>
        </p:txBody>
      </p:sp>
      <p:sp>
        <p:nvSpPr>
          <p:cNvPr id="23" name="직사각형 22"/>
          <p:cNvSpPr/>
          <p:nvPr/>
        </p:nvSpPr>
        <p:spPr>
          <a:xfrm>
            <a:off x="5817816" y="2528057"/>
            <a:ext cx="13308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브랜드 소개</a:t>
            </a:r>
            <a:endParaRPr lang="en-US" altLang="ko-KR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0" name="직사각형 29"/>
          <p:cNvSpPr/>
          <p:nvPr/>
        </p:nvSpPr>
        <p:spPr>
          <a:xfrm>
            <a:off x="5948748" y="3430772"/>
            <a:ext cx="10502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시설안내</a:t>
            </a:r>
            <a:endParaRPr lang="en-US" altLang="ko-KR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1" name="직사각형 40"/>
          <p:cNvSpPr/>
          <p:nvPr/>
        </p:nvSpPr>
        <p:spPr>
          <a:xfrm>
            <a:off x="5948748" y="4365988"/>
            <a:ext cx="10502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분양안내</a:t>
            </a:r>
            <a:endParaRPr lang="en-US" altLang="ko-KR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2" name="직사각형 41"/>
          <p:cNvSpPr/>
          <p:nvPr/>
        </p:nvSpPr>
        <p:spPr>
          <a:xfrm>
            <a:off x="5928547" y="5417819"/>
            <a:ext cx="11144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오시는 길</a:t>
            </a:r>
            <a:endParaRPr lang="en-US" altLang="ko-KR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5998441" y="6108629"/>
            <a:ext cx="8707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Footer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003996" y="123825"/>
            <a:ext cx="17303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HN_Main_001</a:t>
            </a:r>
            <a:endParaRPr lang="ko-KR" altLang="en-US" sz="800" dirty="0"/>
          </a:p>
        </p:txBody>
      </p:sp>
      <p:sp>
        <p:nvSpPr>
          <p:cNvPr id="45" name="TextBox 44"/>
          <p:cNvSpPr txBox="1"/>
          <p:nvPr/>
        </p:nvSpPr>
        <p:spPr>
          <a:xfrm>
            <a:off x="7613796" y="831532"/>
            <a:ext cx="3720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endParaRPr lang="ko-KR" altLang="en-US" sz="20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7604120" y="1521046"/>
            <a:ext cx="3720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endParaRPr lang="ko-KR" altLang="en-US" sz="20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7604120" y="2483466"/>
            <a:ext cx="3720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endParaRPr lang="ko-KR" altLang="en-US" sz="20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7591918" y="3444845"/>
            <a:ext cx="3720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r>
            <a:endParaRPr lang="ko-KR" altLang="en-US" sz="20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7601443" y="4386489"/>
            <a:ext cx="3720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5</a:t>
            </a:r>
            <a:endParaRPr lang="ko-KR" altLang="en-US" sz="20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7608166" y="5374992"/>
            <a:ext cx="3720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6</a:t>
            </a:r>
            <a:endParaRPr lang="ko-KR" altLang="en-US" sz="20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7601443" y="6076292"/>
            <a:ext cx="3720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7</a:t>
            </a:r>
            <a:endParaRPr lang="ko-KR" altLang="en-US" sz="20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621548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AC2EF8-3774-7445-0BC4-5708E30F6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B91E9091-5844-23E8-A837-A227C202A9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6930694"/>
              </p:ext>
            </p:extLst>
          </p:nvPr>
        </p:nvGraphicFramePr>
        <p:xfrm>
          <a:off x="9182101" y="947377"/>
          <a:ext cx="2795588" cy="1847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1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684046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723838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3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172599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4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290794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5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922450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6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784800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7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0538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8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199337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9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450365"/>
                  </a:ext>
                </a:extLst>
              </a:tr>
            </a:tbl>
          </a:graphicData>
        </a:graphic>
      </p:graphicFrame>
      <p:sp>
        <p:nvSpPr>
          <p:cNvPr id="3" name="직사각형 2"/>
          <p:cNvSpPr/>
          <p:nvPr/>
        </p:nvSpPr>
        <p:spPr>
          <a:xfrm>
            <a:off x="959895" y="375614"/>
            <a:ext cx="1040670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</a:pP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메인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_Hero Section</a:t>
            </a:r>
            <a:endParaRPr kumimoji="1" lang="ko-KR" altLang="en-US" sz="800" dirty="0"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158621" y="709350"/>
            <a:ext cx="8957388" cy="105413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4165923" y="797931"/>
            <a:ext cx="942784" cy="35821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70293" y="1358007"/>
            <a:ext cx="12036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하늘누리소개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71770" y="1358007"/>
            <a:ext cx="914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시설안내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33289" y="1358007"/>
            <a:ext cx="914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분양안내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73509" y="1358007"/>
            <a:ext cx="11912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사이버추모관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65181" y="1358007"/>
            <a:ext cx="914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고객센터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34300" y="836523"/>
            <a:ext cx="79388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비밀번호변경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72200" y="836523"/>
            <a:ext cx="58783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로그아웃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03231" y="836523"/>
            <a:ext cx="65313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나의정보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158621" y="1763483"/>
            <a:ext cx="8957388" cy="4833260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548591" y="2078625"/>
            <a:ext cx="614206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하늘누리</a:t>
            </a:r>
            <a:endParaRPr lang="en-US" altLang="ko-KR" sz="4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ko-KR" altLang="en-US" sz="4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하늘</a:t>
            </a:r>
            <a:r>
              <a:rPr lang="ko-KR" altLang="en-US" sz="2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 머무는 언덕</a:t>
            </a:r>
            <a:r>
              <a:rPr lang="en-US" altLang="ko-KR" sz="2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4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누리</a:t>
            </a:r>
            <a:r>
              <a:rPr lang="ko-KR" altLang="en-US" sz="2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가 펼쳐지는 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45782" y="3703059"/>
            <a:ext cx="615606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자연의 품으로 돌아가 영원히 쉬는 곳 </a:t>
            </a:r>
            <a:endParaRPr lang="en-US" altLang="ko-KR" sz="1400" b="1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ko-KR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사계절 아름다움 속에서 고인의 존엄을 지키고 </a:t>
            </a:r>
            <a:endParaRPr lang="en-US" altLang="ko-KR" sz="1400" b="1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ko-KR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사랑하는 이들의 그리움을 위로하는 </a:t>
            </a:r>
            <a:endParaRPr lang="en-US" altLang="ko-KR" sz="1400" b="1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ko-KR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하늘과 땅이 함께하는 성스러운 안식처입니다 </a:t>
            </a:r>
          </a:p>
        </p:txBody>
      </p:sp>
      <p:sp>
        <p:nvSpPr>
          <p:cNvPr id="8" name="TextBox 7"/>
          <p:cNvSpPr txBox="1"/>
          <p:nvPr/>
        </p:nvSpPr>
        <p:spPr>
          <a:xfrm rot="19796595">
            <a:off x="18801" y="2288820"/>
            <a:ext cx="258629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IMAGE</a:t>
            </a:r>
            <a:endParaRPr lang="ko-KR" altLang="en-US" sz="44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003996" y="123825"/>
            <a:ext cx="17303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HN_Main_001</a:t>
            </a:r>
            <a:endParaRPr lang="ko-KR" altLang="en-US" sz="800" dirty="0"/>
          </a:p>
        </p:txBody>
      </p:sp>
    </p:spTree>
    <p:extLst>
      <p:ext uri="{BB962C8B-B14F-4D97-AF65-F5344CB8AC3E}">
        <p14:creationId xmlns:p14="http://schemas.microsoft.com/office/powerpoint/2010/main" val="11712483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AC2EF8-3774-7445-0BC4-5708E30F6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B91E9091-5844-23E8-A837-A227C202A9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9984314"/>
              </p:ext>
            </p:extLst>
          </p:nvPr>
        </p:nvGraphicFramePr>
        <p:xfrm>
          <a:off x="9182101" y="947377"/>
          <a:ext cx="2795588" cy="1847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1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선택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하늘누리 소개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&gt;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인사말로 이동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684046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선택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하늘누리 소개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&gt;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하늘누리 이야기로 이동</a:t>
                      </a: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723838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3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선택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재단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/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허가 현황으로 이동</a:t>
                      </a: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172599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4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290794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5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922450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6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784800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7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0538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8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199337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9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450365"/>
                  </a:ext>
                </a:extLst>
              </a:tr>
            </a:tbl>
          </a:graphicData>
        </a:graphic>
      </p:graphicFrame>
      <p:sp>
        <p:nvSpPr>
          <p:cNvPr id="3" name="직사각형 2"/>
          <p:cNvSpPr/>
          <p:nvPr/>
        </p:nvSpPr>
        <p:spPr>
          <a:xfrm>
            <a:off x="959895" y="375614"/>
            <a:ext cx="1010213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</a:pP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메인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_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하늘누리소개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158621" y="718457"/>
            <a:ext cx="8957388" cy="5878286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19587" y="800766"/>
            <a:ext cx="33499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하늘누리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이야기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21363" y="1636051"/>
            <a:ext cx="2893642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하늘누리는</a:t>
            </a:r>
            <a:endParaRPr lang="en-US" altLang="ko-KR" sz="1400" b="1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ko-KR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하늘이 내린 평화로운 세상에서</a:t>
            </a:r>
            <a:endParaRPr lang="en-US" altLang="ko-KR" sz="1400" b="1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ko-KR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고인께서 편안히 쉬시고</a:t>
            </a:r>
            <a:endParaRPr lang="en-US" altLang="ko-KR" sz="1400" b="1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ko-KR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유가족께 위안을 얻는 성스러운</a:t>
            </a:r>
            <a:endParaRPr lang="en-US" altLang="ko-KR" sz="1400" b="1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ko-KR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안식처입니다</a:t>
            </a:r>
            <a:r>
              <a:rPr lang="en-US" altLang="ko-KR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r>
              <a:rPr lang="ko-KR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</p:txBody>
      </p:sp>
      <p:sp>
        <p:nvSpPr>
          <p:cNvPr id="8" name="TextBox 7"/>
          <p:cNvSpPr txBox="1"/>
          <p:nvPr/>
        </p:nvSpPr>
        <p:spPr>
          <a:xfrm rot="19796595">
            <a:off x="4972360" y="1679959"/>
            <a:ext cx="258629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IMAGE</a:t>
            </a:r>
            <a:endParaRPr lang="ko-KR" altLang="en-US" sz="44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19587" y="3657600"/>
            <a:ext cx="3649421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하늘누리는 </a:t>
            </a:r>
            <a:endParaRPr lang="en-US" altLang="ko-KR" sz="1400" b="1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ko-KR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죽음을 끝이 아닌 또다른 시작으로 생각합니다</a:t>
            </a:r>
            <a:endParaRPr lang="en-US" altLang="ko-KR" sz="1400" b="1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ko-KR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자연으로 돌아가 영원히 쉬는 곳</a:t>
            </a:r>
            <a:endParaRPr lang="en-US" altLang="ko-KR" sz="1400" b="1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ko-KR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고인의 존엄과 유가족의 평안을 최우선으로</a:t>
            </a:r>
            <a:endParaRPr lang="en-US" altLang="ko-KR" sz="1400" b="1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ko-KR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생각합니다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6335486" y="5019870"/>
            <a:ext cx="1922105" cy="391886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인사말 </a:t>
            </a:r>
          </a:p>
        </p:txBody>
      </p:sp>
      <p:sp>
        <p:nvSpPr>
          <p:cNvPr id="23" name="직사각형 22"/>
          <p:cNvSpPr/>
          <p:nvPr/>
        </p:nvSpPr>
        <p:spPr>
          <a:xfrm>
            <a:off x="6335486" y="5539155"/>
            <a:ext cx="1922105" cy="391886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하늘누리 이야기</a:t>
            </a:r>
          </a:p>
        </p:txBody>
      </p:sp>
      <p:sp>
        <p:nvSpPr>
          <p:cNvPr id="25" name="직사각형 24"/>
          <p:cNvSpPr/>
          <p:nvPr/>
        </p:nvSpPr>
        <p:spPr>
          <a:xfrm>
            <a:off x="6335486" y="6030627"/>
            <a:ext cx="1922105" cy="391886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재단</a:t>
            </a:r>
            <a:r>
              <a:rPr lang="en-US" altLang="ko-KR" sz="12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12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허가 현황</a:t>
            </a:r>
          </a:p>
        </p:txBody>
      </p:sp>
      <p:pic>
        <p:nvPicPr>
          <p:cNvPr id="1026" name="Picture 2" descr="PNG, SVG 형식의 왼쪽을 가리키는 화살표 원형 아이콘"/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7928690" y="5095164"/>
            <a:ext cx="241298" cy="241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2" descr="PNG, SVG 형식의 왼쪽을 가리키는 화살표 원형 아이콘"/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7928689" y="5631033"/>
            <a:ext cx="241298" cy="241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2" descr="PNG, SVG 형식의 왼쪽을 가리키는 화살표 원형 아이콘"/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7928690" y="6105921"/>
            <a:ext cx="241298" cy="241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Oval 109">
            <a:extLst>
              <a:ext uri="{FF2B5EF4-FFF2-40B4-BE49-F238E27FC236}">
                <a16:creationId xmlns:a16="http://schemas.microsoft.com/office/drawing/2014/main" id="{F78CC73B-BDD0-4299-DB26-520CADEB72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9086" y="4834166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1</a:t>
            </a:r>
          </a:p>
        </p:txBody>
      </p:sp>
      <p:sp>
        <p:nvSpPr>
          <p:cNvPr id="31" name="Oval 109">
            <a:extLst>
              <a:ext uri="{FF2B5EF4-FFF2-40B4-BE49-F238E27FC236}">
                <a16:creationId xmlns:a16="http://schemas.microsoft.com/office/drawing/2014/main" id="{F78CC73B-BDD0-4299-DB26-520CADEB72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6867" y="5439569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2</a:t>
            </a:r>
          </a:p>
        </p:txBody>
      </p:sp>
      <p:sp>
        <p:nvSpPr>
          <p:cNvPr id="32" name="Oval 109">
            <a:extLst>
              <a:ext uri="{FF2B5EF4-FFF2-40B4-BE49-F238E27FC236}">
                <a16:creationId xmlns:a16="http://schemas.microsoft.com/office/drawing/2014/main" id="{F78CC73B-BDD0-4299-DB26-520CADEB72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7434" y="5972040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5929355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AC2EF8-3774-7445-0BC4-5708E30F6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B91E9091-5844-23E8-A837-A227C202A9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5318465"/>
              </p:ext>
            </p:extLst>
          </p:nvPr>
        </p:nvGraphicFramePr>
        <p:xfrm>
          <a:off x="9182101" y="947377"/>
          <a:ext cx="2795588" cy="1847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1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선택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시설안내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&gt;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봉안당 화면으로 이동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684046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선택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시설안내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&gt;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자연장 화면으로 이동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723838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3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172599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4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290794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5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922450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6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784800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7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0538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8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199337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9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450365"/>
                  </a:ext>
                </a:extLst>
              </a:tr>
            </a:tbl>
          </a:graphicData>
        </a:graphic>
      </p:graphicFrame>
      <p:sp>
        <p:nvSpPr>
          <p:cNvPr id="3" name="직사각형 2"/>
          <p:cNvSpPr/>
          <p:nvPr/>
        </p:nvSpPr>
        <p:spPr>
          <a:xfrm>
            <a:off x="959895" y="375614"/>
            <a:ext cx="817853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</a:pP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메인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_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시설안내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158621" y="718457"/>
            <a:ext cx="4461004" cy="5878286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19587" y="800766"/>
            <a:ext cx="33499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하늘누리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시설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70667" y="3709501"/>
            <a:ext cx="383691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하늘누리관은 단순한 봉안시설이 아닙니다</a:t>
            </a:r>
            <a:endParaRPr lang="en-US" altLang="ko-KR" sz="1400" b="1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ko-KR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고인께서는 평안을 얻으시고 </a:t>
            </a:r>
            <a:endParaRPr lang="en-US" altLang="ko-KR" sz="1400" b="1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ko-KR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유가족께서는 위안을 받으시는</a:t>
            </a:r>
            <a:endParaRPr lang="en-US" altLang="ko-KR" sz="1400" b="1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ko-KR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하늘과 땅이 함께하는 성스러운 안식처입니다</a:t>
            </a:r>
          </a:p>
        </p:txBody>
      </p:sp>
      <p:sp>
        <p:nvSpPr>
          <p:cNvPr id="8" name="TextBox 7"/>
          <p:cNvSpPr txBox="1"/>
          <p:nvPr/>
        </p:nvSpPr>
        <p:spPr>
          <a:xfrm rot="19796595">
            <a:off x="-373697" y="1452342"/>
            <a:ext cx="258629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IMAGE</a:t>
            </a:r>
            <a:endParaRPr lang="ko-KR" altLang="en-US" sz="44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1428071" y="5049449"/>
            <a:ext cx="1922105" cy="391886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봉안당 </a:t>
            </a:r>
          </a:p>
        </p:txBody>
      </p:sp>
      <p:sp>
        <p:nvSpPr>
          <p:cNvPr id="23" name="직사각형 22"/>
          <p:cNvSpPr/>
          <p:nvPr/>
        </p:nvSpPr>
        <p:spPr>
          <a:xfrm>
            <a:off x="6003996" y="5019710"/>
            <a:ext cx="1922105" cy="391886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자연장</a:t>
            </a:r>
          </a:p>
        </p:txBody>
      </p:sp>
      <p:pic>
        <p:nvPicPr>
          <p:cNvPr id="1026" name="Picture 2" descr="PNG, SVG 형식의 왼쪽을 가리키는 화살표 원형 아이콘"/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3021275" y="5124743"/>
            <a:ext cx="241298" cy="241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2" descr="PNG, SVG 형식의 왼쪽을 가리키는 화살표 원형 아이콘"/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7597199" y="5111588"/>
            <a:ext cx="241298" cy="241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직사각형 14"/>
          <p:cNvSpPr/>
          <p:nvPr/>
        </p:nvSpPr>
        <p:spPr>
          <a:xfrm>
            <a:off x="4619625" y="723900"/>
            <a:ext cx="4492690" cy="5878286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14134" y="1678409"/>
            <a:ext cx="334997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봉안당</a:t>
            </a:r>
            <a:endParaRPr lang="en-US" altLang="ko-KR" sz="4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en-US" altLang="ko-KR" sz="4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4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하늘누리관</a:t>
            </a:r>
            <a:r>
              <a:rPr lang="en-US" altLang="ko-KR" sz="4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170744" y="1710736"/>
            <a:ext cx="334997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자연장</a:t>
            </a:r>
            <a:endParaRPr lang="en-US" altLang="ko-KR" sz="4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en-US" altLang="ko-KR" sz="4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4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수목장</a:t>
            </a:r>
            <a:r>
              <a:rPr lang="en-US" altLang="ko-KR" sz="4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" name="TextBox 17"/>
          <p:cNvSpPr txBox="1"/>
          <p:nvPr/>
        </p:nvSpPr>
        <p:spPr>
          <a:xfrm rot="19796595">
            <a:off x="4087307" y="1396714"/>
            <a:ext cx="258629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IMAGE</a:t>
            </a:r>
            <a:endParaRPr lang="ko-KR" altLang="en-US" sz="44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14134" y="3059668"/>
            <a:ext cx="33499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천년을 이어갈 품격의 공간</a:t>
            </a:r>
            <a:endParaRPr lang="en-US" altLang="ko-KR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947514" y="3739549"/>
            <a:ext cx="383691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생명은 자연에서 태어나 자연으로 돌아갑니다</a:t>
            </a:r>
            <a:endParaRPr lang="en-US" altLang="ko-KR" sz="1400" b="1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ko-KR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하늘누리 수목장은 이 숭고한 진리를 따라</a:t>
            </a:r>
            <a:endParaRPr lang="en-US" altLang="ko-KR" sz="1400" b="1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ko-KR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고인께서 자연과 하나 되어 쉬시는</a:t>
            </a:r>
            <a:endParaRPr lang="en-US" altLang="ko-KR" sz="1400" b="1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ko-KR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가장 아름다운 안장 방식 입니다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89870" y="3034638"/>
            <a:ext cx="35934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>
                <a:latin typeface="나눔고딕" panose="020D0604000000000000" pitchFamily="50" charset="-127"/>
                <a:ea typeface="나눔고딕" panose="020D0604000000000000" pitchFamily="50" charset="-127"/>
              </a:rPr>
              <a:t>자연으로 돌아가는 아름다운 여정</a:t>
            </a:r>
            <a:endParaRPr lang="en-US" altLang="ko-KR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003996" y="123825"/>
            <a:ext cx="17303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HN_Main_001</a:t>
            </a:r>
            <a:endParaRPr lang="ko-KR" altLang="en-US" sz="800" dirty="0"/>
          </a:p>
        </p:txBody>
      </p:sp>
      <p:sp>
        <p:nvSpPr>
          <p:cNvPr id="26" name="Oval 109">
            <a:extLst>
              <a:ext uri="{FF2B5EF4-FFF2-40B4-BE49-F238E27FC236}">
                <a16:creationId xmlns:a16="http://schemas.microsoft.com/office/drawing/2014/main" id="{F78CC73B-BDD0-4299-DB26-520CADEB72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2421" y="4846910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1</a:t>
            </a:r>
          </a:p>
        </p:txBody>
      </p:sp>
      <p:sp>
        <p:nvSpPr>
          <p:cNvPr id="27" name="Oval 109">
            <a:extLst>
              <a:ext uri="{FF2B5EF4-FFF2-40B4-BE49-F238E27FC236}">
                <a16:creationId xmlns:a16="http://schemas.microsoft.com/office/drawing/2014/main" id="{F78CC73B-BDD0-4299-DB26-520CADEB72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34210" y="4846910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3113483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AC2EF8-3774-7445-0BC4-5708E30F6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B91E9091-5844-23E8-A837-A227C202A9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9633766"/>
              </p:ext>
            </p:extLst>
          </p:nvPr>
        </p:nvGraphicFramePr>
        <p:xfrm>
          <a:off x="9182101" y="947377"/>
          <a:ext cx="2795588" cy="1847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1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선택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분양안내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&gt;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분양절차 화면으로 이동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684046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선택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분양안내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&gt;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분양가격 화면으로 이동</a:t>
                      </a: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723838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3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선택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분양안내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&gt;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사전청약 화면으로 이동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172599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4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290794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5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922450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6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784800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7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0538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8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199337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9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450365"/>
                  </a:ext>
                </a:extLst>
              </a:tr>
            </a:tbl>
          </a:graphicData>
        </a:graphic>
      </p:graphicFrame>
      <p:sp>
        <p:nvSpPr>
          <p:cNvPr id="3" name="직사각형 2"/>
          <p:cNvSpPr/>
          <p:nvPr/>
        </p:nvSpPr>
        <p:spPr>
          <a:xfrm>
            <a:off x="959895" y="375614"/>
            <a:ext cx="817853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</a:pP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메인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_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분양안내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158621" y="718457"/>
            <a:ext cx="8957388" cy="5878286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19587" y="800766"/>
            <a:ext cx="33499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하늘누리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분양안내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21363" y="1636051"/>
            <a:ext cx="289364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영원을 준비하는 가장 현명한 선택</a:t>
            </a:r>
            <a:endParaRPr lang="en-US" altLang="ko-KR" sz="1400" b="1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ko-KR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생의 마지막 순간까지 품격을 지키며</a:t>
            </a:r>
            <a:endParaRPr lang="en-US" altLang="ko-KR" sz="1400" b="1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ko-KR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사랑하는 가족에게 평안을 선물하는</a:t>
            </a:r>
            <a:endParaRPr lang="en-US" altLang="ko-KR" sz="1400" b="1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ko-KR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하늘누리에서 영원을 약속 받으세요</a:t>
            </a:r>
          </a:p>
        </p:txBody>
      </p:sp>
      <p:sp>
        <p:nvSpPr>
          <p:cNvPr id="8" name="TextBox 7"/>
          <p:cNvSpPr txBox="1"/>
          <p:nvPr/>
        </p:nvSpPr>
        <p:spPr>
          <a:xfrm rot="19796595">
            <a:off x="276535" y="2975359"/>
            <a:ext cx="258629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IMAGE</a:t>
            </a:r>
            <a:endParaRPr lang="ko-KR" altLang="en-US" sz="44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4677943" y="3349193"/>
            <a:ext cx="1390844" cy="775132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봉안당</a:t>
            </a:r>
            <a:endParaRPr lang="en-US" altLang="ko-KR" b="1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en-US" altLang="ko-KR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Standard</a:t>
            </a:r>
            <a:r>
              <a:rPr lang="ko-KR" altLang="en-US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</p:txBody>
      </p:sp>
      <p:sp>
        <p:nvSpPr>
          <p:cNvPr id="23" name="직사각형 22"/>
          <p:cNvSpPr/>
          <p:nvPr/>
        </p:nvSpPr>
        <p:spPr>
          <a:xfrm>
            <a:off x="1535202" y="5272803"/>
            <a:ext cx="1922105" cy="391886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분양절차</a:t>
            </a:r>
          </a:p>
        </p:txBody>
      </p:sp>
      <p:sp>
        <p:nvSpPr>
          <p:cNvPr id="25" name="직사각형 24"/>
          <p:cNvSpPr/>
          <p:nvPr/>
        </p:nvSpPr>
        <p:spPr>
          <a:xfrm>
            <a:off x="3660907" y="5272803"/>
            <a:ext cx="1922105" cy="391886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분양가격</a:t>
            </a:r>
          </a:p>
        </p:txBody>
      </p:sp>
      <p:pic>
        <p:nvPicPr>
          <p:cNvPr id="28" name="Picture 2" descr="PNG, SVG 형식의 왼쪽을 가리키는 화살표 원형 아이콘"/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3128405" y="5364681"/>
            <a:ext cx="241298" cy="241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2" descr="PNG, SVG 형식의 왼쪽을 가리키는 화살표 원형 아이콘"/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5254111" y="5348097"/>
            <a:ext cx="241298" cy="241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/>
          <p:cNvSpPr txBox="1"/>
          <p:nvPr/>
        </p:nvSpPr>
        <p:spPr>
          <a:xfrm>
            <a:off x="4751615" y="2726944"/>
            <a:ext cx="41167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세가지 선택</a:t>
            </a:r>
            <a:r>
              <a:rPr lang="en-US" altLang="ko-KR" sz="2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하나의 마음</a:t>
            </a:r>
          </a:p>
        </p:txBody>
      </p:sp>
      <p:sp>
        <p:nvSpPr>
          <p:cNvPr id="16" name="직사각형 15"/>
          <p:cNvSpPr/>
          <p:nvPr/>
        </p:nvSpPr>
        <p:spPr>
          <a:xfrm>
            <a:off x="6163843" y="3349193"/>
            <a:ext cx="1390844" cy="775132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봉안당</a:t>
            </a:r>
            <a:endParaRPr lang="en-US" altLang="ko-KR" b="1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en-US" altLang="ko-KR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Premium</a:t>
            </a:r>
            <a:endParaRPr lang="ko-KR" altLang="en-US" b="1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7649743" y="3349193"/>
            <a:ext cx="1390844" cy="775132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수목장</a:t>
            </a:r>
            <a:endParaRPr lang="en-US" altLang="ko-KR" b="1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en-US" altLang="ko-KR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Nature</a:t>
            </a:r>
            <a:endParaRPr lang="ko-KR" altLang="en-US" b="1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5786612" y="5279642"/>
            <a:ext cx="1922105" cy="391886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사전청약</a:t>
            </a:r>
          </a:p>
        </p:txBody>
      </p:sp>
      <p:pic>
        <p:nvPicPr>
          <p:cNvPr id="19" name="Picture 2" descr="PNG, SVG 형식의 왼쪽을 가리키는 화살표 원형 아이콘"/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7379816" y="5354936"/>
            <a:ext cx="241298" cy="241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6003996" y="123825"/>
            <a:ext cx="17303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HN_Main_001</a:t>
            </a:r>
            <a:endParaRPr lang="ko-KR" altLang="en-US" sz="800" dirty="0"/>
          </a:p>
        </p:txBody>
      </p:sp>
      <p:sp>
        <p:nvSpPr>
          <p:cNvPr id="24" name="Oval 109">
            <a:extLst>
              <a:ext uri="{FF2B5EF4-FFF2-40B4-BE49-F238E27FC236}">
                <a16:creationId xmlns:a16="http://schemas.microsoft.com/office/drawing/2014/main" id="{F78CC73B-BDD0-4299-DB26-520CADEB72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69681" y="4997708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1</a:t>
            </a:r>
          </a:p>
        </p:txBody>
      </p:sp>
      <p:sp>
        <p:nvSpPr>
          <p:cNvPr id="26" name="Oval 109">
            <a:extLst>
              <a:ext uri="{FF2B5EF4-FFF2-40B4-BE49-F238E27FC236}">
                <a16:creationId xmlns:a16="http://schemas.microsoft.com/office/drawing/2014/main" id="{F78CC73B-BDD0-4299-DB26-520CADEB72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96766" y="4997708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2</a:t>
            </a:r>
          </a:p>
        </p:txBody>
      </p:sp>
      <p:sp>
        <p:nvSpPr>
          <p:cNvPr id="27" name="Oval 109">
            <a:extLst>
              <a:ext uri="{FF2B5EF4-FFF2-40B4-BE49-F238E27FC236}">
                <a16:creationId xmlns:a16="http://schemas.microsoft.com/office/drawing/2014/main" id="{F78CC73B-BDD0-4299-DB26-520CADEB72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86612" y="4997708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6537447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AC2EF8-3774-7445-0BC4-5708E30F6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B91E9091-5844-23E8-A837-A227C202A9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6193308"/>
              </p:ext>
            </p:extLst>
          </p:nvPr>
        </p:nvGraphicFramePr>
        <p:xfrm>
          <a:off x="9182101" y="947377"/>
          <a:ext cx="2795588" cy="1847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1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카카오 맵 지도화면으로 구성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684046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723838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3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172599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4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290794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5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922450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6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784800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7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0538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8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199337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9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450365"/>
                  </a:ext>
                </a:extLst>
              </a:tr>
            </a:tbl>
          </a:graphicData>
        </a:graphic>
      </p:graphicFrame>
      <p:sp>
        <p:nvSpPr>
          <p:cNvPr id="3" name="직사각형 2"/>
          <p:cNvSpPr/>
          <p:nvPr/>
        </p:nvSpPr>
        <p:spPr>
          <a:xfrm>
            <a:off x="959895" y="375614"/>
            <a:ext cx="846707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</a:pP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메인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_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오시는 길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158621" y="718457"/>
            <a:ext cx="8957388" cy="5878286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19587" y="800766"/>
            <a:ext cx="33499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하늘누리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오시는 길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21363" y="1636051"/>
            <a:ext cx="28936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하늘누리로 오시는 길</a:t>
            </a:r>
            <a:endParaRPr lang="en-US" altLang="ko-KR" sz="1400" b="1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ko-KR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사랑하는 이를 만나러 가능 여정</a:t>
            </a:r>
          </a:p>
        </p:txBody>
      </p:sp>
      <p:sp>
        <p:nvSpPr>
          <p:cNvPr id="9" name="직사각형 8"/>
          <p:cNvSpPr/>
          <p:nvPr/>
        </p:nvSpPr>
        <p:spPr>
          <a:xfrm>
            <a:off x="619125" y="2219325"/>
            <a:ext cx="8086725" cy="369016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126" y="2219325"/>
            <a:ext cx="8086724" cy="36901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19126" y="5975578"/>
            <a:ext cx="39052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운영시간 </a:t>
            </a:r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연중무휴 오전 </a:t>
            </a:r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09:00 ~ </a:t>
            </a:r>
            <a:r>
              <a:rPr lang="ko-KR" altLang="en-US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오후 </a:t>
            </a:r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18 :00</a:t>
            </a:r>
          </a:p>
          <a:p>
            <a:r>
              <a:rPr lang="ko-KR" altLang="en-US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주소 </a:t>
            </a:r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경기도 양주시 산북동 산</a:t>
            </a:r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67-20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03996" y="123825"/>
            <a:ext cx="17303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HN_Main_001</a:t>
            </a:r>
            <a:endParaRPr lang="ko-KR" altLang="en-US" sz="800" dirty="0"/>
          </a:p>
        </p:txBody>
      </p:sp>
      <p:sp>
        <p:nvSpPr>
          <p:cNvPr id="13" name="직사각형 12"/>
          <p:cNvSpPr/>
          <p:nvPr/>
        </p:nvSpPr>
        <p:spPr>
          <a:xfrm>
            <a:off x="4619624" y="5999560"/>
            <a:ext cx="4086225" cy="528007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대표전화   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031-999-9999</a:t>
            </a:r>
          </a:p>
        </p:txBody>
      </p:sp>
      <p:sp>
        <p:nvSpPr>
          <p:cNvPr id="26" name="Oval 109">
            <a:extLst>
              <a:ext uri="{FF2B5EF4-FFF2-40B4-BE49-F238E27FC236}">
                <a16:creationId xmlns:a16="http://schemas.microsoft.com/office/drawing/2014/main" id="{F78CC73B-BDD0-4299-DB26-520CADEB72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3033" y="2243700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40638121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E64165-732A-09E9-5C19-15132EE002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BAC85FB-899E-BEC8-F8B4-4C2351BA6B13}"/>
              </a:ext>
            </a:extLst>
          </p:cNvPr>
          <p:cNvSpPr txBox="1"/>
          <p:nvPr/>
        </p:nvSpPr>
        <p:spPr>
          <a:xfrm>
            <a:off x="1047750" y="2476500"/>
            <a:ext cx="2390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나눔고딕" pitchFamily="2" charset="-127"/>
                <a:ea typeface="나눔고딕" pitchFamily="2" charset="-127"/>
              </a:rPr>
              <a:t>02. </a:t>
            </a:r>
            <a:r>
              <a:rPr lang="ko-KR" altLang="en-US" b="1" dirty="0">
                <a:latin typeface="나눔고딕" pitchFamily="2" charset="-127"/>
                <a:ea typeface="나눔고딕" pitchFamily="2" charset="-127"/>
              </a:rPr>
              <a:t>회원가입</a:t>
            </a:r>
          </a:p>
        </p:txBody>
      </p:sp>
    </p:spTree>
    <p:extLst>
      <p:ext uri="{BB962C8B-B14F-4D97-AF65-F5344CB8AC3E}">
        <p14:creationId xmlns:p14="http://schemas.microsoft.com/office/powerpoint/2010/main" val="23930582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AC2EF8-3774-7445-0BC4-5708E30F6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B91E9091-5844-23E8-A837-A227C202A9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5589831"/>
              </p:ext>
            </p:extLst>
          </p:nvPr>
        </p:nvGraphicFramePr>
        <p:xfrm>
          <a:off x="9182101" y="947377"/>
          <a:ext cx="2795588" cy="22130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1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체크시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서비스 이용약관 동의 처리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684046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체크시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개인정보 처리방침 동의 처리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723838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3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체크시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서비스 이용약관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개인정보 처리방침 동시 동의 처리</a:t>
                      </a: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172599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4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약관 동의 후 다음 선택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본인인증 화면으로 이동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모두 동의선택하지 않은 상태에서 다음 버튼 선택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알럿화면 노출</a:t>
                      </a: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290794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5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922450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6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784800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7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0538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8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199337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9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450365"/>
                  </a:ext>
                </a:extLst>
              </a:tr>
            </a:tbl>
          </a:graphicData>
        </a:graphic>
      </p:graphicFrame>
      <p:sp>
        <p:nvSpPr>
          <p:cNvPr id="3" name="직사각형 2"/>
          <p:cNvSpPr/>
          <p:nvPr/>
        </p:nvSpPr>
        <p:spPr>
          <a:xfrm>
            <a:off x="959895" y="375614"/>
            <a:ext cx="875561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</a:pP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메인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회원가입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03996" y="123825"/>
            <a:ext cx="17303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HN_Join_001</a:t>
            </a:r>
            <a:endParaRPr lang="ko-KR" altLang="en-US" sz="800" dirty="0"/>
          </a:p>
        </p:txBody>
      </p:sp>
      <p:sp>
        <p:nvSpPr>
          <p:cNvPr id="17" name="TextBox 16"/>
          <p:cNvSpPr txBox="1"/>
          <p:nvPr/>
        </p:nvSpPr>
        <p:spPr>
          <a:xfrm>
            <a:off x="2962325" y="1866963"/>
            <a:ext cx="33499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회원가입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788591" y="2574847"/>
            <a:ext cx="36974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회원가입을 하시면 하늘편지와 같은 온라인 추모관 및 다양한 서비스를 이용하실 수 있습니다</a:t>
            </a:r>
            <a:r>
              <a:rPr lang="en-US" altLang="ko-KR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12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045403" y="3473925"/>
            <a:ext cx="193143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서비스 이용약관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2123996" y="3719541"/>
            <a:ext cx="4901955" cy="95509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2031551" y="4689442"/>
            <a:ext cx="193143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개인정보 처리방침</a:t>
            </a:r>
          </a:p>
        </p:txBody>
      </p:sp>
      <p:sp>
        <p:nvSpPr>
          <p:cNvPr id="37" name="직사각형 36"/>
          <p:cNvSpPr/>
          <p:nvPr/>
        </p:nvSpPr>
        <p:spPr>
          <a:xfrm>
            <a:off x="2110144" y="4953720"/>
            <a:ext cx="4901955" cy="95509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1ACC1D2A-E2B3-B83A-CA73-8BE282076BF9}"/>
              </a:ext>
            </a:extLst>
          </p:cNvPr>
          <p:cNvSpPr/>
          <p:nvPr/>
        </p:nvSpPr>
        <p:spPr bwMode="auto">
          <a:xfrm>
            <a:off x="6151293" y="3511861"/>
            <a:ext cx="109248" cy="110837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>
              <a:ln w="0" cmpd="sng">
                <a:solidFill>
                  <a:schemeClr val="tx2">
                    <a:satMod val="155000"/>
                    <a:alpha val="0"/>
                  </a:schemeClr>
                </a:solidFill>
                <a:prstDash val="solid"/>
                <a:round/>
              </a:ln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6290547" y="3448663"/>
            <a:ext cx="79262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동의합니다</a:t>
            </a:r>
            <a:r>
              <a:rPr lang="en-US" altLang="ko-KR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9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1ACC1D2A-E2B3-B83A-CA73-8BE282076BF9}"/>
              </a:ext>
            </a:extLst>
          </p:cNvPr>
          <p:cNvSpPr/>
          <p:nvPr/>
        </p:nvSpPr>
        <p:spPr bwMode="auto">
          <a:xfrm>
            <a:off x="6121287" y="4779988"/>
            <a:ext cx="109248" cy="110837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>
              <a:ln w="0" cmpd="sng">
                <a:solidFill>
                  <a:schemeClr val="tx2">
                    <a:satMod val="155000"/>
                    <a:alpha val="0"/>
                  </a:schemeClr>
                </a:solidFill>
                <a:prstDash val="solid"/>
                <a:round/>
              </a:ln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6260541" y="4716790"/>
            <a:ext cx="79262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동의합니다</a:t>
            </a:r>
            <a:r>
              <a:rPr lang="en-US" altLang="ko-KR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9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1ACC1D2A-E2B3-B83A-CA73-8BE282076BF9}"/>
              </a:ext>
            </a:extLst>
          </p:cNvPr>
          <p:cNvSpPr/>
          <p:nvPr/>
        </p:nvSpPr>
        <p:spPr bwMode="auto">
          <a:xfrm>
            <a:off x="2110144" y="5969588"/>
            <a:ext cx="109248" cy="110837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>
              <a:ln w="0" cmpd="sng">
                <a:solidFill>
                  <a:schemeClr val="tx2">
                    <a:satMod val="155000"/>
                    <a:alpha val="0"/>
                  </a:schemeClr>
                </a:solidFill>
                <a:prstDash val="solid"/>
                <a:round/>
              </a:ln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2249398" y="5906390"/>
            <a:ext cx="190472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모든 약관에 동의합니다</a:t>
            </a:r>
            <a:r>
              <a:rPr lang="en-US" altLang="ko-KR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9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2123996" y="6197999"/>
            <a:ext cx="4929168" cy="361422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다음</a:t>
            </a:r>
            <a:endParaRPr lang="ko-KR" altLang="en-US" sz="10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" name="오른쪽 화살표 15"/>
          <p:cNvSpPr/>
          <p:nvPr/>
        </p:nvSpPr>
        <p:spPr>
          <a:xfrm>
            <a:off x="1974703" y="3113837"/>
            <a:ext cx="1319000" cy="303151"/>
          </a:xfrm>
          <a:prstGeom prst="rightArrow">
            <a:avLst>
              <a:gd name="adj1" fmla="val 100000"/>
              <a:gd name="adj2" fmla="val 50000"/>
            </a:avLst>
          </a:prstGeom>
          <a:solidFill>
            <a:schemeClr val="tx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>
                <a:solidFill>
                  <a:schemeClr val="bg1">
                    <a:lumMod val="9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1. </a:t>
            </a:r>
            <a:r>
              <a:rPr lang="ko-KR" altLang="en-US" sz="1000" b="1" dirty="0">
                <a:solidFill>
                  <a:schemeClr val="bg1">
                    <a:lumMod val="9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약관동의</a:t>
            </a:r>
          </a:p>
        </p:txBody>
      </p:sp>
      <p:sp>
        <p:nvSpPr>
          <p:cNvPr id="45" name="오른쪽 화살표 44"/>
          <p:cNvSpPr/>
          <p:nvPr/>
        </p:nvSpPr>
        <p:spPr>
          <a:xfrm>
            <a:off x="3323709" y="3113837"/>
            <a:ext cx="1319000" cy="303151"/>
          </a:xfrm>
          <a:prstGeom prst="rightArrow">
            <a:avLst>
              <a:gd name="adj1" fmla="val 100000"/>
              <a:gd name="adj2" fmla="val 50000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2. </a:t>
            </a:r>
            <a:r>
              <a:rPr lang="ko-KR" altLang="en-US" sz="1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본인인증</a:t>
            </a:r>
          </a:p>
        </p:txBody>
      </p:sp>
      <p:sp>
        <p:nvSpPr>
          <p:cNvPr id="46" name="오른쪽 화살표 45"/>
          <p:cNvSpPr/>
          <p:nvPr/>
        </p:nvSpPr>
        <p:spPr>
          <a:xfrm>
            <a:off x="4670609" y="3113837"/>
            <a:ext cx="1319000" cy="303151"/>
          </a:xfrm>
          <a:prstGeom prst="rightArrow">
            <a:avLst>
              <a:gd name="adj1" fmla="val 100000"/>
              <a:gd name="adj2" fmla="val 50000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3. </a:t>
            </a:r>
            <a:r>
              <a:rPr lang="ko-KR" altLang="en-US" sz="1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정보입력</a:t>
            </a:r>
          </a:p>
        </p:txBody>
      </p:sp>
      <p:sp>
        <p:nvSpPr>
          <p:cNvPr id="47" name="오른쪽 화살표 46"/>
          <p:cNvSpPr/>
          <p:nvPr/>
        </p:nvSpPr>
        <p:spPr>
          <a:xfrm>
            <a:off x="6019615" y="3113837"/>
            <a:ext cx="1319000" cy="303151"/>
          </a:xfrm>
          <a:prstGeom prst="rightArrow">
            <a:avLst>
              <a:gd name="adj1" fmla="val 100000"/>
              <a:gd name="adj2" fmla="val 50000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4. </a:t>
            </a:r>
            <a:r>
              <a:rPr lang="ko-KR" altLang="en-US" sz="1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가입완료</a:t>
            </a:r>
          </a:p>
        </p:txBody>
      </p:sp>
      <p:sp>
        <p:nvSpPr>
          <p:cNvPr id="48" name="Oval 109">
            <a:extLst>
              <a:ext uri="{FF2B5EF4-FFF2-40B4-BE49-F238E27FC236}">
                <a16:creationId xmlns:a16="http://schemas.microsoft.com/office/drawing/2014/main" id="{F78CC73B-BDD0-4299-DB26-520CADEB72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17458" y="3404731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1</a:t>
            </a:r>
          </a:p>
        </p:txBody>
      </p:sp>
      <p:sp>
        <p:nvSpPr>
          <p:cNvPr id="49" name="Oval 109">
            <a:extLst>
              <a:ext uri="{FF2B5EF4-FFF2-40B4-BE49-F238E27FC236}">
                <a16:creationId xmlns:a16="http://schemas.microsoft.com/office/drawing/2014/main" id="{F78CC73B-BDD0-4299-DB26-520CADEB72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17458" y="4663710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2</a:t>
            </a:r>
          </a:p>
        </p:txBody>
      </p:sp>
      <p:sp>
        <p:nvSpPr>
          <p:cNvPr id="50" name="Oval 109">
            <a:extLst>
              <a:ext uri="{FF2B5EF4-FFF2-40B4-BE49-F238E27FC236}">
                <a16:creationId xmlns:a16="http://schemas.microsoft.com/office/drawing/2014/main" id="{F78CC73B-BDD0-4299-DB26-520CADEB72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73219" y="5818559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3</a:t>
            </a:r>
          </a:p>
        </p:txBody>
      </p:sp>
      <p:sp>
        <p:nvSpPr>
          <p:cNvPr id="51" name="Oval 109">
            <a:extLst>
              <a:ext uri="{FF2B5EF4-FFF2-40B4-BE49-F238E27FC236}">
                <a16:creationId xmlns:a16="http://schemas.microsoft.com/office/drawing/2014/main" id="{F78CC73B-BDD0-4299-DB26-520CADEB72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79082" y="6233770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4</a:t>
            </a:r>
          </a:p>
        </p:txBody>
      </p:sp>
      <p:grpSp>
        <p:nvGrpSpPr>
          <p:cNvPr id="52" name="그룹 51"/>
          <p:cNvGrpSpPr/>
          <p:nvPr/>
        </p:nvGrpSpPr>
        <p:grpSpPr>
          <a:xfrm>
            <a:off x="7984940" y="3719541"/>
            <a:ext cx="3797560" cy="1754154"/>
            <a:chOff x="8761445" y="4217437"/>
            <a:chExt cx="3797560" cy="1754154"/>
          </a:xfrm>
        </p:grpSpPr>
        <p:sp>
          <p:nvSpPr>
            <p:cNvPr id="53" name="모서리가 둥근 직사각형 52"/>
            <p:cNvSpPr/>
            <p:nvPr/>
          </p:nvSpPr>
          <p:spPr>
            <a:xfrm>
              <a:off x="8761445" y="4217437"/>
              <a:ext cx="3797560" cy="1754154"/>
            </a:xfrm>
            <a:prstGeom prst="roundRect">
              <a:avLst>
                <a:gd name="adj" fmla="val 3334"/>
              </a:avLst>
            </a:prstGeom>
            <a:solidFill>
              <a:schemeClr val="bg1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cxnSp>
          <p:nvCxnSpPr>
            <p:cNvPr id="54" name="직선 연결선 53"/>
            <p:cNvCxnSpPr/>
            <p:nvPr/>
          </p:nvCxnSpPr>
          <p:spPr>
            <a:xfrm flipV="1">
              <a:off x="8761445" y="4506685"/>
              <a:ext cx="3797560" cy="9331"/>
            </a:xfrm>
            <a:prstGeom prst="line">
              <a:avLst/>
            </a:prstGeom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TextBox 54"/>
            <p:cNvSpPr txBox="1"/>
            <p:nvPr/>
          </p:nvSpPr>
          <p:spPr>
            <a:xfrm>
              <a:off x="8761445" y="4254339"/>
              <a:ext cx="121298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9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알림</a:t>
              </a: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12225456" y="4235745"/>
              <a:ext cx="27678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1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X</a:t>
              </a:r>
              <a:endParaRPr lang="ko-KR" altLang="en-US" sz="11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7" name="직사각형 56"/>
            <p:cNvSpPr/>
            <p:nvPr/>
          </p:nvSpPr>
          <p:spPr>
            <a:xfrm>
              <a:off x="9018234" y="4792560"/>
              <a:ext cx="3207222" cy="72182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9621569" y="5059619"/>
              <a:ext cx="2209642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9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모든 항목에 동의를 선택하셔야 합니다</a:t>
              </a:r>
              <a:r>
                <a:rPr lang="en-US" altLang="ko-KR" sz="9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.</a:t>
              </a:r>
              <a:endParaRPr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9" name="모서리가 둥근 직사각형 63">
              <a:extLst>
                <a:ext uri="{FF2B5EF4-FFF2-40B4-BE49-F238E27FC236}">
                  <a16:creationId xmlns:a16="http://schemas.microsoft.com/office/drawing/2014/main" id="{C9563051-32B1-0086-E228-FEE25D4479E5}"/>
                </a:ext>
              </a:extLst>
            </p:cNvPr>
            <p:cNvSpPr/>
            <p:nvPr/>
          </p:nvSpPr>
          <p:spPr bwMode="auto">
            <a:xfrm>
              <a:off x="10042040" y="5681433"/>
              <a:ext cx="956159" cy="200025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ko-KR" altLang="en-US" sz="800" dirty="0">
                  <a:ln w="0" cmpd="sng">
                    <a:solidFill>
                      <a:schemeClr val="tx2">
                        <a:satMod val="155000"/>
                        <a:alpha val="0"/>
                      </a:schemeClr>
                    </a:solidFill>
                    <a:prstDash val="solid"/>
                    <a:round/>
                  </a:ln>
                  <a:solidFill>
                    <a:schemeClr val="tx1"/>
                  </a:solidFill>
                  <a:latin typeface="나눔고딕" pitchFamily="50" charset="-127"/>
                  <a:ea typeface="나눔고딕" pitchFamily="50" charset="-127"/>
                </a:rPr>
                <a:t>확인</a:t>
              </a:r>
            </a:p>
          </p:txBody>
        </p:sp>
      </p:grpSp>
      <p:grpSp>
        <p:nvGrpSpPr>
          <p:cNvPr id="20" name="그룹 19"/>
          <p:cNvGrpSpPr/>
          <p:nvPr/>
        </p:nvGrpSpPr>
        <p:grpSpPr>
          <a:xfrm>
            <a:off x="158621" y="773452"/>
            <a:ext cx="8956804" cy="1146384"/>
            <a:chOff x="158621" y="773452"/>
            <a:chExt cx="8956804" cy="1146384"/>
          </a:xfrm>
        </p:grpSpPr>
        <p:sp>
          <p:nvSpPr>
            <p:cNvPr id="5" name="직사각형 4"/>
            <p:cNvSpPr/>
            <p:nvPr/>
          </p:nvSpPr>
          <p:spPr>
            <a:xfrm>
              <a:off x="4144448" y="797629"/>
              <a:ext cx="942784" cy="35821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800" b="1" dirty="0">
                  <a:solidFill>
                    <a:srgbClr val="FF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CI</a:t>
              </a:r>
            </a:p>
          </p:txBody>
        </p: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C254A2AD-70BC-913B-F5E0-560EF17D3589}"/>
                </a:ext>
              </a:extLst>
            </p:cNvPr>
            <p:cNvCxnSpPr/>
            <p:nvPr/>
          </p:nvCxnSpPr>
          <p:spPr>
            <a:xfrm>
              <a:off x="161925" y="1649572"/>
              <a:ext cx="8953500" cy="0"/>
            </a:xfrm>
            <a:prstGeom prst="line">
              <a:avLst/>
            </a:prstGeom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/>
            <p:cNvSpPr txBox="1"/>
            <p:nvPr/>
          </p:nvSpPr>
          <p:spPr>
            <a:xfrm>
              <a:off x="2031551" y="1301804"/>
              <a:ext cx="120364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하늘누리소개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3239720" y="1301804"/>
              <a:ext cx="9144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시설안내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4158640" y="1301804"/>
              <a:ext cx="9144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분양안내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5077560" y="1301804"/>
              <a:ext cx="119120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사이버추모관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6273289" y="1301804"/>
              <a:ext cx="9144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고객센터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58621" y="1704392"/>
              <a:ext cx="3144416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HOME &gt; </a:t>
              </a:r>
              <a:r>
                <a:rPr lang="ko-KR" altLang="en-US" sz="8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회원가입</a:t>
              </a:r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8024326" y="773452"/>
              <a:ext cx="503855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b="1">
                  <a:latin typeface="나눔고딕" panose="020D0604000000000000" pitchFamily="50" charset="-127"/>
                  <a:ea typeface="나눔고딕" panose="020D0604000000000000" pitchFamily="50" charset="-127"/>
                </a:rPr>
                <a:t>로그인</a:t>
              </a: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8472200" y="773452"/>
              <a:ext cx="58783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회원가입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690999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AC2EF8-3774-7445-0BC4-5708E30F6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B91E9091-5844-23E8-A837-A227C202A9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4202672"/>
              </p:ext>
            </p:extLst>
          </p:nvPr>
        </p:nvGraphicFramePr>
        <p:xfrm>
          <a:off x="9182101" y="947377"/>
          <a:ext cx="2795588" cy="1969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1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본인인증하러가기 선택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휴대폰 인증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PASS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화면 호출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684046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723838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3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172599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4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290794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5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922450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6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784800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7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0538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8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199337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9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450365"/>
                  </a:ext>
                </a:extLst>
              </a:tr>
            </a:tbl>
          </a:graphicData>
        </a:graphic>
      </p:graphicFrame>
      <p:sp>
        <p:nvSpPr>
          <p:cNvPr id="3" name="직사각형 2"/>
          <p:cNvSpPr/>
          <p:nvPr/>
        </p:nvSpPr>
        <p:spPr>
          <a:xfrm>
            <a:off x="959895" y="375614"/>
            <a:ext cx="875561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</a:pP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메인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회원가입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03996" y="123825"/>
            <a:ext cx="17303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HN_Main_002</a:t>
            </a:r>
            <a:endParaRPr lang="ko-KR" altLang="en-US" sz="800" dirty="0"/>
          </a:p>
        </p:txBody>
      </p:sp>
      <p:sp>
        <p:nvSpPr>
          <p:cNvPr id="18" name="TextBox 17"/>
          <p:cNvSpPr txBox="1"/>
          <p:nvPr/>
        </p:nvSpPr>
        <p:spPr>
          <a:xfrm>
            <a:off x="158621" y="1704392"/>
            <a:ext cx="314441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HOME &gt; </a:t>
            </a:r>
            <a:r>
              <a:rPr lang="ko-KR" altLang="en-US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회원가입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62325" y="1866963"/>
            <a:ext cx="33499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회원가입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788591" y="2574847"/>
            <a:ext cx="36974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회원가입을 하시면 하늘편지와 같은 온라인 추모관 및 다양한 서비스를 이용하실 수 있습니다</a:t>
            </a:r>
            <a:r>
              <a:rPr lang="en-US" altLang="ko-KR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12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19" name="표 18">
            <a:extLst>
              <a:ext uri="{FF2B5EF4-FFF2-40B4-BE49-F238E27FC236}">
                <a16:creationId xmlns:a16="http://schemas.microsoft.com/office/drawing/2014/main" id="{D6CC5FDF-6355-9F64-2689-E6F15DD1D0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3655280"/>
              </p:ext>
            </p:extLst>
          </p:nvPr>
        </p:nvGraphicFramePr>
        <p:xfrm>
          <a:off x="2375073" y="4610989"/>
          <a:ext cx="1008968" cy="387982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008968">
                  <a:extLst>
                    <a:ext uri="{9D8B030D-6E8A-4147-A177-3AD203B41FA5}">
                      <a16:colId xmlns:a16="http://schemas.microsoft.com/office/drawing/2014/main" val="1553538150"/>
                    </a:ext>
                  </a:extLst>
                </a:gridCol>
              </a:tblGrid>
              <a:tr h="38798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본인인증</a:t>
                      </a:r>
                      <a:r>
                        <a:rPr lang="ko-KR" altLang="en-US" sz="1100" b="1" u="none" dirty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endParaRPr lang="en-US" altLang="ko-KR" sz="1100" b="1" u="none" dirty="0">
                        <a:solidFill>
                          <a:srgbClr val="FF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7895842"/>
                  </a:ext>
                </a:extLst>
              </a:tr>
            </a:tbl>
          </a:graphicData>
        </a:graphic>
      </p:graphicFrame>
      <p:sp>
        <p:nvSpPr>
          <p:cNvPr id="34" name="직사각형 33"/>
          <p:cNvSpPr/>
          <p:nvPr/>
        </p:nvSpPr>
        <p:spPr>
          <a:xfrm>
            <a:off x="3983209" y="4610989"/>
            <a:ext cx="1782148" cy="356037"/>
          </a:xfrm>
          <a:prstGeom prst="rect">
            <a:avLst/>
          </a:prstGeom>
          <a:solidFill>
            <a:srgbClr val="002060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chemeClr val="bg1">
                    <a:lumMod val="9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본인인증하러 가기</a:t>
            </a:r>
          </a:p>
        </p:txBody>
      </p:sp>
      <p:sp>
        <p:nvSpPr>
          <p:cNvPr id="36" name="오른쪽 화살표 35"/>
          <p:cNvSpPr/>
          <p:nvPr/>
        </p:nvSpPr>
        <p:spPr>
          <a:xfrm>
            <a:off x="1974703" y="3113837"/>
            <a:ext cx="1319000" cy="303151"/>
          </a:xfrm>
          <a:prstGeom prst="rightArrow">
            <a:avLst>
              <a:gd name="adj1" fmla="val 100000"/>
              <a:gd name="adj2" fmla="val 50000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1. </a:t>
            </a:r>
            <a:r>
              <a:rPr lang="ko-KR" altLang="en-US" sz="1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약관동의</a:t>
            </a:r>
          </a:p>
        </p:txBody>
      </p:sp>
      <p:sp>
        <p:nvSpPr>
          <p:cNvPr id="37" name="오른쪽 화살표 36"/>
          <p:cNvSpPr/>
          <p:nvPr/>
        </p:nvSpPr>
        <p:spPr>
          <a:xfrm>
            <a:off x="3323709" y="3113837"/>
            <a:ext cx="1319000" cy="303151"/>
          </a:xfrm>
          <a:prstGeom prst="rightArrow">
            <a:avLst>
              <a:gd name="adj1" fmla="val 100000"/>
              <a:gd name="adj2" fmla="val 50000"/>
            </a:avLst>
          </a:prstGeom>
          <a:solidFill>
            <a:schemeClr val="tx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chemeClr val="bg1">
                    <a:lumMod val="9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2. </a:t>
            </a:r>
            <a:r>
              <a:rPr lang="ko-KR" altLang="en-US" sz="1000" b="1" dirty="0">
                <a:solidFill>
                  <a:schemeClr val="bg1">
                    <a:lumMod val="9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본인인증</a:t>
            </a:r>
          </a:p>
        </p:txBody>
      </p:sp>
      <p:sp>
        <p:nvSpPr>
          <p:cNvPr id="38" name="오른쪽 화살표 37"/>
          <p:cNvSpPr/>
          <p:nvPr/>
        </p:nvSpPr>
        <p:spPr>
          <a:xfrm>
            <a:off x="4670609" y="3113837"/>
            <a:ext cx="1319000" cy="303151"/>
          </a:xfrm>
          <a:prstGeom prst="rightArrow">
            <a:avLst>
              <a:gd name="adj1" fmla="val 100000"/>
              <a:gd name="adj2" fmla="val 50000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3. </a:t>
            </a:r>
            <a:r>
              <a:rPr lang="ko-KR" altLang="en-US" sz="1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정보입력</a:t>
            </a:r>
          </a:p>
        </p:txBody>
      </p:sp>
      <p:sp>
        <p:nvSpPr>
          <p:cNvPr id="39" name="오른쪽 화살표 38"/>
          <p:cNvSpPr/>
          <p:nvPr/>
        </p:nvSpPr>
        <p:spPr>
          <a:xfrm>
            <a:off x="6019615" y="3113837"/>
            <a:ext cx="1319000" cy="303151"/>
          </a:xfrm>
          <a:prstGeom prst="rightArrow">
            <a:avLst>
              <a:gd name="adj1" fmla="val 100000"/>
              <a:gd name="adj2" fmla="val 50000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4. </a:t>
            </a:r>
            <a:r>
              <a:rPr lang="ko-KR" altLang="en-US" sz="1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가입완료</a:t>
            </a:r>
          </a:p>
        </p:txBody>
      </p:sp>
      <p:sp>
        <p:nvSpPr>
          <p:cNvPr id="40" name="Oval 109">
            <a:extLst>
              <a:ext uri="{FF2B5EF4-FFF2-40B4-BE49-F238E27FC236}">
                <a16:creationId xmlns:a16="http://schemas.microsoft.com/office/drawing/2014/main" id="{F78CC73B-BDD0-4299-DB26-520CADEB72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96809" y="4438189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1</a:t>
            </a:r>
          </a:p>
        </p:txBody>
      </p:sp>
      <p:grpSp>
        <p:nvGrpSpPr>
          <p:cNvPr id="41" name="그룹 40"/>
          <p:cNvGrpSpPr/>
          <p:nvPr/>
        </p:nvGrpSpPr>
        <p:grpSpPr>
          <a:xfrm>
            <a:off x="158621" y="773452"/>
            <a:ext cx="8956804" cy="1146384"/>
            <a:chOff x="158621" y="773452"/>
            <a:chExt cx="8956804" cy="1146384"/>
          </a:xfrm>
        </p:grpSpPr>
        <p:sp>
          <p:nvSpPr>
            <p:cNvPr id="42" name="직사각형 41"/>
            <p:cNvSpPr/>
            <p:nvPr/>
          </p:nvSpPr>
          <p:spPr>
            <a:xfrm>
              <a:off x="4144448" y="797629"/>
              <a:ext cx="942784" cy="35821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800" b="1" dirty="0">
                  <a:solidFill>
                    <a:srgbClr val="FF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CI</a:t>
              </a:r>
            </a:p>
          </p:txBody>
        </p:sp>
        <p:cxnSp>
          <p:nvCxnSpPr>
            <p:cNvPr id="43" name="직선 연결선 42">
              <a:extLst>
                <a:ext uri="{FF2B5EF4-FFF2-40B4-BE49-F238E27FC236}">
                  <a16:creationId xmlns:a16="http://schemas.microsoft.com/office/drawing/2014/main" id="{C254A2AD-70BC-913B-F5E0-560EF17D3589}"/>
                </a:ext>
              </a:extLst>
            </p:cNvPr>
            <p:cNvCxnSpPr/>
            <p:nvPr/>
          </p:nvCxnSpPr>
          <p:spPr>
            <a:xfrm>
              <a:off x="161925" y="1649572"/>
              <a:ext cx="8953500" cy="0"/>
            </a:xfrm>
            <a:prstGeom prst="line">
              <a:avLst/>
            </a:prstGeom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TextBox 43"/>
            <p:cNvSpPr txBox="1"/>
            <p:nvPr/>
          </p:nvSpPr>
          <p:spPr>
            <a:xfrm>
              <a:off x="2031551" y="1301804"/>
              <a:ext cx="120364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하늘누리소개</a:t>
              </a: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3239720" y="1301804"/>
              <a:ext cx="9144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시설안내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4158640" y="1301804"/>
              <a:ext cx="9144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분양안내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5077560" y="1301804"/>
              <a:ext cx="119120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사이버추모관</a:t>
              </a: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6273289" y="1301804"/>
              <a:ext cx="9144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고객센터</a:t>
              </a: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158621" y="1704392"/>
              <a:ext cx="3144416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HOME &gt; </a:t>
              </a:r>
              <a:r>
                <a:rPr lang="ko-KR" altLang="en-US" sz="8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회원가입</a:t>
              </a: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8024326" y="773452"/>
              <a:ext cx="503855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b="1">
                  <a:latin typeface="나눔고딕" panose="020D0604000000000000" pitchFamily="50" charset="-127"/>
                  <a:ea typeface="나눔고딕" panose="020D0604000000000000" pitchFamily="50" charset="-127"/>
                </a:rPr>
                <a:t>로그인</a:t>
              </a: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8472200" y="773452"/>
              <a:ext cx="58783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회원가입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030148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AC2EF8-3774-7445-0BC4-5708E30F6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B91E9091-5844-23E8-A837-A227C202A9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8921245"/>
              </p:ext>
            </p:extLst>
          </p:nvPr>
        </p:nvGraphicFramePr>
        <p:xfrm>
          <a:off x="9182101" y="947377"/>
          <a:ext cx="2795588" cy="294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1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성공적으로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PASS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인증을 마치면 노출되는 화면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이름과 휴대폰 번호는 입력된 상태로 노출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684046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ID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를 입력 후 중복 여부 체크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.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사용가능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: “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사용 가능한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ID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입니다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.”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알럿 노출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사용 불가능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: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이미 사용되고 있는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ID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입니다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.”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알럿 노출</a:t>
                      </a: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723838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3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셀렉트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박스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선택시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naver.com,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daum.net, google.com, 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직접입력 노출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172599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4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모든 항목을 정상적으로 입력하고 확인 버튼 선택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가입 완료화면으로 이동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정상적으로 입력되지 않은 항목이 있는 상태에서 확인 버튼 선택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Alert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노출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“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다시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한번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모든 항목이 정상적으로 입력되었는지 확인해주세요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.” 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290794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5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922450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6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784800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7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0538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8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199337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9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450365"/>
                  </a:ext>
                </a:extLst>
              </a:tr>
            </a:tbl>
          </a:graphicData>
        </a:graphic>
      </p:graphicFrame>
      <p:sp>
        <p:nvSpPr>
          <p:cNvPr id="3" name="직사각형 2"/>
          <p:cNvSpPr/>
          <p:nvPr/>
        </p:nvSpPr>
        <p:spPr>
          <a:xfrm>
            <a:off x="959895" y="375614"/>
            <a:ext cx="875561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</a:pP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메인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회원가입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03996" y="123825"/>
            <a:ext cx="17303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HN_Main_003</a:t>
            </a:r>
            <a:endParaRPr lang="ko-KR" altLang="en-US" sz="800" dirty="0"/>
          </a:p>
        </p:txBody>
      </p:sp>
      <p:sp>
        <p:nvSpPr>
          <p:cNvPr id="17" name="TextBox 16"/>
          <p:cNvSpPr txBox="1"/>
          <p:nvPr/>
        </p:nvSpPr>
        <p:spPr>
          <a:xfrm>
            <a:off x="2962325" y="1866963"/>
            <a:ext cx="33499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회원가입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788591" y="2574847"/>
            <a:ext cx="36974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회원가입을 하시면 하늘편지와 같은 온라인 추모관 및 다양한 서비스를 이용하실 수 있습니다</a:t>
            </a:r>
            <a:r>
              <a:rPr lang="en-US" altLang="ko-KR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12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19" name="표 18">
            <a:extLst>
              <a:ext uri="{FF2B5EF4-FFF2-40B4-BE49-F238E27FC236}">
                <a16:creationId xmlns:a16="http://schemas.microsoft.com/office/drawing/2014/main" id="{D6CC5FDF-6355-9F64-2689-E6F15DD1D0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2908412"/>
              </p:ext>
            </p:extLst>
          </p:nvPr>
        </p:nvGraphicFramePr>
        <p:xfrm>
          <a:off x="2375072" y="3579053"/>
          <a:ext cx="1008968" cy="2524032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008968">
                  <a:extLst>
                    <a:ext uri="{9D8B030D-6E8A-4147-A177-3AD203B41FA5}">
                      <a16:colId xmlns:a16="http://schemas.microsoft.com/office/drawing/2014/main" val="1553538150"/>
                    </a:ext>
                  </a:extLst>
                </a:gridCol>
              </a:tblGrid>
              <a:tr h="42067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아이디 </a:t>
                      </a:r>
                      <a:r>
                        <a:rPr lang="en-US" altLang="ko-KR" sz="1100" b="1" u="none" dirty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*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0268165"/>
                  </a:ext>
                </a:extLst>
              </a:tr>
              <a:tr h="42067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이름 </a:t>
                      </a:r>
                      <a:r>
                        <a:rPr lang="en-US" altLang="ko-KR" sz="1100" b="1" u="none" dirty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*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1090331"/>
                  </a:ext>
                </a:extLst>
              </a:tr>
              <a:tr h="42067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휴대전화 </a:t>
                      </a:r>
                      <a:r>
                        <a:rPr lang="en-US" altLang="ko-KR" sz="1100" b="1" u="none" dirty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*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0626559"/>
                  </a:ext>
                </a:extLst>
              </a:tr>
              <a:tr h="42067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E-Mail </a:t>
                      </a:r>
                      <a:r>
                        <a:rPr lang="en-US" altLang="ko-KR" sz="1100" b="1" u="none" dirty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*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0662131"/>
                  </a:ext>
                </a:extLst>
              </a:tr>
              <a:tr h="42067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비밀번호 </a:t>
                      </a:r>
                      <a:r>
                        <a:rPr lang="en-US" altLang="ko-KR" sz="1100" b="1" u="none" dirty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*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5462810"/>
                  </a:ext>
                </a:extLst>
              </a:tr>
              <a:tr h="42067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비빌번호 확인 </a:t>
                      </a:r>
                      <a:r>
                        <a:rPr lang="en-US" altLang="ko-KR" sz="1100" b="1" u="none" dirty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*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350863"/>
                  </a:ext>
                </a:extLst>
              </a:tr>
            </a:tbl>
          </a:graphicData>
        </a:graphic>
      </p:graphicFrame>
      <p:sp>
        <p:nvSpPr>
          <p:cNvPr id="7" name="직사각형 6"/>
          <p:cNvSpPr/>
          <p:nvPr/>
        </p:nvSpPr>
        <p:spPr>
          <a:xfrm>
            <a:off x="3421364" y="3685597"/>
            <a:ext cx="3641908" cy="27991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3421364" y="4170412"/>
            <a:ext cx="3641908" cy="27991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홍길동</a:t>
            </a:r>
          </a:p>
        </p:txBody>
      </p:sp>
      <p:sp>
        <p:nvSpPr>
          <p:cNvPr id="22" name="직사각형 21"/>
          <p:cNvSpPr/>
          <p:nvPr/>
        </p:nvSpPr>
        <p:spPr>
          <a:xfrm>
            <a:off x="3421364" y="4542012"/>
            <a:ext cx="1097473" cy="27991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010</a:t>
            </a:r>
            <a:endParaRPr lang="ko-KR" altLang="en-US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5905858" y="4929879"/>
            <a:ext cx="1157414" cy="27991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직접입력</a:t>
            </a:r>
          </a:p>
        </p:txBody>
      </p:sp>
      <p:sp>
        <p:nvSpPr>
          <p:cNvPr id="26" name="직사각형 25"/>
          <p:cNvSpPr/>
          <p:nvPr/>
        </p:nvSpPr>
        <p:spPr>
          <a:xfrm>
            <a:off x="3421364" y="5286501"/>
            <a:ext cx="3641908" cy="27991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6297373" y="3685597"/>
            <a:ext cx="765899" cy="279918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중복확인</a:t>
            </a:r>
          </a:p>
        </p:txBody>
      </p:sp>
      <p:sp>
        <p:nvSpPr>
          <p:cNvPr id="32" name="직사각형 31"/>
          <p:cNvSpPr/>
          <p:nvPr/>
        </p:nvSpPr>
        <p:spPr>
          <a:xfrm>
            <a:off x="3421364" y="5774290"/>
            <a:ext cx="3641908" cy="27991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6" name="오른쪽 화살표 35"/>
          <p:cNvSpPr/>
          <p:nvPr/>
        </p:nvSpPr>
        <p:spPr>
          <a:xfrm>
            <a:off x="1974703" y="3113837"/>
            <a:ext cx="1319000" cy="303151"/>
          </a:xfrm>
          <a:prstGeom prst="rightArrow">
            <a:avLst>
              <a:gd name="adj1" fmla="val 100000"/>
              <a:gd name="adj2" fmla="val 50000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1. </a:t>
            </a:r>
            <a:r>
              <a:rPr lang="ko-KR" altLang="en-US" sz="1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약관동의</a:t>
            </a:r>
          </a:p>
        </p:txBody>
      </p:sp>
      <p:sp>
        <p:nvSpPr>
          <p:cNvPr id="37" name="오른쪽 화살표 36"/>
          <p:cNvSpPr/>
          <p:nvPr/>
        </p:nvSpPr>
        <p:spPr>
          <a:xfrm>
            <a:off x="3323709" y="3113837"/>
            <a:ext cx="1319000" cy="303151"/>
          </a:xfrm>
          <a:prstGeom prst="rightArrow">
            <a:avLst>
              <a:gd name="adj1" fmla="val 100000"/>
              <a:gd name="adj2" fmla="val 50000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2. </a:t>
            </a:r>
            <a:r>
              <a:rPr lang="ko-KR" altLang="en-US" sz="1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본인인증</a:t>
            </a:r>
          </a:p>
        </p:txBody>
      </p:sp>
      <p:sp>
        <p:nvSpPr>
          <p:cNvPr id="38" name="오른쪽 화살표 37"/>
          <p:cNvSpPr/>
          <p:nvPr/>
        </p:nvSpPr>
        <p:spPr>
          <a:xfrm>
            <a:off x="4670609" y="3113837"/>
            <a:ext cx="1319000" cy="303151"/>
          </a:xfrm>
          <a:prstGeom prst="rightArrow">
            <a:avLst>
              <a:gd name="adj1" fmla="val 100000"/>
              <a:gd name="adj2" fmla="val 50000"/>
            </a:avLst>
          </a:prstGeom>
          <a:solidFill>
            <a:schemeClr val="tx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chemeClr val="bg1">
                    <a:lumMod val="9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3. </a:t>
            </a:r>
            <a:r>
              <a:rPr lang="ko-KR" altLang="en-US" sz="1000" b="1" dirty="0">
                <a:solidFill>
                  <a:schemeClr val="bg1">
                    <a:lumMod val="9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정보입력</a:t>
            </a:r>
          </a:p>
        </p:txBody>
      </p:sp>
      <p:sp>
        <p:nvSpPr>
          <p:cNvPr id="39" name="오른쪽 화살표 38"/>
          <p:cNvSpPr/>
          <p:nvPr/>
        </p:nvSpPr>
        <p:spPr>
          <a:xfrm>
            <a:off x="6019615" y="3113837"/>
            <a:ext cx="1319000" cy="303151"/>
          </a:xfrm>
          <a:prstGeom prst="rightArrow">
            <a:avLst>
              <a:gd name="adj1" fmla="val 100000"/>
              <a:gd name="adj2" fmla="val 50000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4. </a:t>
            </a:r>
            <a:r>
              <a:rPr lang="ko-KR" altLang="en-US" sz="1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가입완료</a:t>
            </a:r>
          </a:p>
        </p:txBody>
      </p:sp>
      <p:sp>
        <p:nvSpPr>
          <p:cNvPr id="40" name="Oval 109">
            <a:extLst>
              <a:ext uri="{FF2B5EF4-FFF2-40B4-BE49-F238E27FC236}">
                <a16:creationId xmlns:a16="http://schemas.microsoft.com/office/drawing/2014/main" id="{F78CC73B-BDD0-4299-DB26-520CADEB72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44429" y="3512797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1</a:t>
            </a:r>
          </a:p>
        </p:txBody>
      </p:sp>
      <p:sp>
        <p:nvSpPr>
          <p:cNvPr id="41" name="Oval 109">
            <a:extLst>
              <a:ext uri="{FF2B5EF4-FFF2-40B4-BE49-F238E27FC236}">
                <a16:creationId xmlns:a16="http://schemas.microsoft.com/office/drawing/2014/main" id="{F78CC73B-BDD0-4299-DB26-520CADEB72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0049" y="3571596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1364" y="3965515"/>
            <a:ext cx="364190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* ID</a:t>
            </a:r>
            <a:r>
              <a:rPr lang="ko-KR" altLang="en-US" sz="800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는 알파벳 영문 소문자</a:t>
            </a:r>
            <a:r>
              <a:rPr lang="en-US" altLang="ko-KR" sz="800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4</a:t>
            </a:r>
            <a:r>
              <a:rPr lang="ko-KR" altLang="en-US" sz="800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자리에서 </a:t>
            </a:r>
            <a:r>
              <a:rPr lang="en-US" altLang="ko-KR" sz="800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12</a:t>
            </a:r>
            <a:r>
              <a:rPr lang="ko-KR" altLang="en-US" sz="800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자리까지 입력이 가능합니다</a:t>
            </a:r>
            <a:r>
              <a:rPr lang="en-US" altLang="ko-KR" sz="800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800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3421364" y="5585536"/>
            <a:ext cx="364190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* 8</a:t>
            </a:r>
            <a:r>
              <a:rPr lang="ko-KR" altLang="en-US" sz="800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자리 이상 </a:t>
            </a:r>
            <a:r>
              <a:rPr lang="en-US" altLang="ko-KR" sz="800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16</a:t>
            </a:r>
            <a:r>
              <a:rPr lang="ko-KR" altLang="en-US" sz="800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자리 이하 알파벳</a:t>
            </a:r>
            <a:r>
              <a:rPr lang="en-US" altLang="ko-KR" sz="800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</a:t>
            </a:r>
            <a:r>
              <a:rPr lang="ko-KR" altLang="en-US" sz="800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숫자</a:t>
            </a:r>
            <a:r>
              <a:rPr lang="en-US" altLang="ko-KR" sz="800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</a:t>
            </a:r>
            <a:r>
              <a:rPr lang="ko-KR" altLang="en-US" sz="800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특수기호의 조합으로 작성하셔야 합니다</a:t>
            </a:r>
            <a:r>
              <a:rPr lang="en-US" altLang="ko-KR" sz="800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800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2123996" y="6201655"/>
            <a:ext cx="4929168" cy="357765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확인</a:t>
            </a:r>
          </a:p>
        </p:txBody>
      </p:sp>
      <p:sp>
        <p:nvSpPr>
          <p:cNvPr id="44" name="Oval 109">
            <a:extLst>
              <a:ext uri="{FF2B5EF4-FFF2-40B4-BE49-F238E27FC236}">
                <a16:creationId xmlns:a16="http://schemas.microsoft.com/office/drawing/2014/main" id="{F78CC73B-BDD0-4299-DB26-520CADEB72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7210" y="6047327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4</a:t>
            </a:r>
          </a:p>
        </p:txBody>
      </p:sp>
      <p:grpSp>
        <p:nvGrpSpPr>
          <p:cNvPr id="45" name="그룹 44"/>
          <p:cNvGrpSpPr/>
          <p:nvPr/>
        </p:nvGrpSpPr>
        <p:grpSpPr>
          <a:xfrm>
            <a:off x="158621" y="773452"/>
            <a:ext cx="8956804" cy="1146384"/>
            <a:chOff x="158621" y="773452"/>
            <a:chExt cx="8956804" cy="1146384"/>
          </a:xfrm>
        </p:grpSpPr>
        <p:sp>
          <p:nvSpPr>
            <p:cNvPr id="46" name="직사각형 45"/>
            <p:cNvSpPr/>
            <p:nvPr/>
          </p:nvSpPr>
          <p:spPr>
            <a:xfrm>
              <a:off x="4144448" y="797629"/>
              <a:ext cx="942784" cy="35821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800" b="1" dirty="0">
                  <a:solidFill>
                    <a:srgbClr val="FF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CI</a:t>
              </a:r>
            </a:p>
          </p:txBody>
        </p:sp>
        <p:cxnSp>
          <p:nvCxnSpPr>
            <p:cNvPr id="47" name="직선 연결선 46">
              <a:extLst>
                <a:ext uri="{FF2B5EF4-FFF2-40B4-BE49-F238E27FC236}">
                  <a16:creationId xmlns:a16="http://schemas.microsoft.com/office/drawing/2014/main" id="{C254A2AD-70BC-913B-F5E0-560EF17D3589}"/>
                </a:ext>
              </a:extLst>
            </p:cNvPr>
            <p:cNvCxnSpPr/>
            <p:nvPr/>
          </p:nvCxnSpPr>
          <p:spPr>
            <a:xfrm>
              <a:off x="161925" y="1649572"/>
              <a:ext cx="8953500" cy="0"/>
            </a:xfrm>
            <a:prstGeom prst="line">
              <a:avLst/>
            </a:prstGeom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TextBox 47"/>
            <p:cNvSpPr txBox="1"/>
            <p:nvPr/>
          </p:nvSpPr>
          <p:spPr>
            <a:xfrm>
              <a:off x="2031551" y="1301804"/>
              <a:ext cx="120364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하늘누리소개</a:t>
              </a: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3239720" y="1301804"/>
              <a:ext cx="9144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시설안내</a:t>
              </a: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4158640" y="1301804"/>
              <a:ext cx="9144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분양안내</a:t>
              </a: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5077560" y="1301804"/>
              <a:ext cx="119120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사이버추모관</a:t>
              </a: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6273289" y="1301804"/>
              <a:ext cx="9144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고객센터</a:t>
              </a: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158621" y="1704392"/>
              <a:ext cx="3144416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HOME &gt; </a:t>
              </a:r>
              <a:r>
                <a:rPr lang="ko-KR" altLang="en-US" sz="8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회원가입</a:t>
              </a: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8024326" y="773452"/>
              <a:ext cx="503855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b="1">
                  <a:latin typeface="나눔고딕" panose="020D0604000000000000" pitchFamily="50" charset="-127"/>
                  <a:ea typeface="나눔고딕" panose="020D0604000000000000" pitchFamily="50" charset="-127"/>
                </a:rPr>
                <a:t>로그인</a:t>
              </a: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8472200" y="773452"/>
              <a:ext cx="58783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회원가입</a:t>
              </a:r>
            </a:p>
          </p:txBody>
        </p:sp>
      </p:grpSp>
      <p:sp>
        <p:nvSpPr>
          <p:cNvPr id="58" name="직사각형 57"/>
          <p:cNvSpPr/>
          <p:nvPr/>
        </p:nvSpPr>
        <p:spPr>
          <a:xfrm>
            <a:off x="4693581" y="4542012"/>
            <a:ext cx="1097473" cy="27991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8888</a:t>
            </a:r>
            <a:endParaRPr lang="ko-KR" altLang="en-US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9" name="직사각형 58"/>
          <p:cNvSpPr/>
          <p:nvPr/>
        </p:nvSpPr>
        <p:spPr>
          <a:xfrm>
            <a:off x="5937299" y="4542012"/>
            <a:ext cx="1097473" cy="27991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9999</a:t>
            </a:r>
            <a:endParaRPr lang="ko-KR" altLang="en-US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454683" y="4562314"/>
            <a:ext cx="1891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endParaRPr lang="ko-KR" altLang="en-US" sz="14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5733522" y="4543228"/>
            <a:ext cx="1891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endParaRPr lang="ko-KR" altLang="en-US" sz="14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1" name="직사각형 60"/>
          <p:cNvSpPr/>
          <p:nvPr/>
        </p:nvSpPr>
        <p:spPr>
          <a:xfrm>
            <a:off x="3421364" y="4542339"/>
            <a:ext cx="1097473" cy="27991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010</a:t>
            </a:r>
            <a:endParaRPr lang="ko-KR" altLang="en-US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2" name="직사각형 61"/>
          <p:cNvSpPr/>
          <p:nvPr/>
        </p:nvSpPr>
        <p:spPr>
          <a:xfrm>
            <a:off x="3421364" y="4929879"/>
            <a:ext cx="1097473" cy="27991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3" name="직사각형 62"/>
          <p:cNvSpPr/>
          <p:nvPr/>
        </p:nvSpPr>
        <p:spPr>
          <a:xfrm>
            <a:off x="4693581" y="4542339"/>
            <a:ext cx="1097473" cy="27991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8888</a:t>
            </a:r>
            <a:endParaRPr lang="ko-KR" altLang="en-US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4" name="직사각형 63"/>
          <p:cNvSpPr/>
          <p:nvPr/>
        </p:nvSpPr>
        <p:spPr>
          <a:xfrm>
            <a:off x="5937299" y="4542339"/>
            <a:ext cx="1097473" cy="27991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9999</a:t>
            </a:r>
            <a:endParaRPr lang="ko-KR" altLang="en-US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4454683" y="4562641"/>
            <a:ext cx="1891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endParaRPr lang="ko-KR" altLang="en-US" sz="14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5733522" y="4543555"/>
            <a:ext cx="1891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endParaRPr lang="ko-KR" altLang="en-US" sz="14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4459472" y="4929879"/>
            <a:ext cx="3335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@</a:t>
            </a:r>
            <a:endParaRPr lang="ko-KR" altLang="en-US" sz="14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6808616" y="4929879"/>
            <a:ext cx="255181" cy="27954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▼</a:t>
            </a:r>
          </a:p>
        </p:txBody>
      </p:sp>
      <p:sp>
        <p:nvSpPr>
          <p:cNvPr id="68" name="직사각형 67"/>
          <p:cNvSpPr/>
          <p:nvPr/>
        </p:nvSpPr>
        <p:spPr>
          <a:xfrm>
            <a:off x="4760428" y="4929879"/>
            <a:ext cx="1097473" cy="27991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0" name="Oval 109">
            <a:extLst>
              <a:ext uri="{FF2B5EF4-FFF2-40B4-BE49-F238E27FC236}">
                <a16:creationId xmlns:a16="http://schemas.microsoft.com/office/drawing/2014/main" id="{F78CC73B-BDD0-4299-DB26-520CADEB72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8726" y="4821930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39958" y="3724365"/>
            <a:ext cx="229401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아이디를 입력하세요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450369" y="5305419"/>
            <a:ext cx="229401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비밀번호를 입력하세요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421364" y="5811278"/>
            <a:ext cx="229401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비밀번호를 입력하세요</a:t>
            </a:r>
          </a:p>
        </p:txBody>
      </p:sp>
    </p:spTree>
    <p:extLst>
      <p:ext uri="{BB962C8B-B14F-4D97-AF65-F5344CB8AC3E}">
        <p14:creationId xmlns:p14="http://schemas.microsoft.com/office/powerpoint/2010/main" val="39329455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AC2EF8-3774-7445-0BC4-5708E30F6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B91E9091-5844-23E8-A837-A227C202A9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5258520"/>
              </p:ext>
            </p:extLst>
          </p:nvPr>
        </p:nvGraphicFramePr>
        <p:xfrm>
          <a:off x="9182101" y="947377"/>
          <a:ext cx="2795588" cy="1847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1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선택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로그인 된 상태에서 메인화면으로 이동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684046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723838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3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172599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4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290794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5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922450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6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784800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7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0538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8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199337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9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450365"/>
                  </a:ext>
                </a:extLst>
              </a:tr>
            </a:tbl>
          </a:graphicData>
        </a:graphic>
      </p:graphicFrame>
      <p:sp>
        <p:nvSpPr>
          <p:cNvPr id="3" name="직사각형 2"/>
          <p:cNvSpPr/>
          <p:nvPr/>
        </p:nvSpPr>
        <p:spPr>
          <a:xfrm>
            <a:off x="959895" y="375614"/>
            <a:ext cx="875561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</a:pP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메인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회원가입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03996" y="123825"/>
            <a:ext cx="17303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HN_Main_004</a:t>
            </a:r>
            <a:endParaRPr lang="ko-KR" altLang="en-US" sz="800" dirty="0"/>
          </a:p>
        </p:txBody>
      </p:sp>
      <p:sp>
        <p:nvSpPr>
          <p:cNvPr id="18" name="TextBox 17"/>
          <p:cNvSpPr txBox="1"/>
          <p:nvPr/>
        </p:nvSpPr>
        <p:spPr>
          <a:xfrm>
            <a:off x="158621" y="1704392"/>
            <a:ext cx="314441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HOME &gt; </a:t>
            </a:r>
            <a:r>
              <a:rPr lang="ko-KR" altLang="en-US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회원가입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62325" y="1866963"/>
            <a:ext cx="33499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회원가입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788591" y="2574847"/>
            <a:ext cx="36974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회원가입을 하시면 하늘편지와 같은 온라인 추모관 및 다양한 서비스를 이용하실 수 있습니다</a:t>
            </a:r>
            <a:r>
              <a:rPr lang="en-US" altLang="ko-KR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12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6" name="오른쪽 화살표 35"/>
          <p:cNvSpPr/>
          <p:nvPr/>
        </p:nvSpPr>
        <p:spPr>
          <a:xfrm>
            <a:off x="1974703" y="3113837"/>
            <a:ext cx="1319000" cy="303151"/>
          </a:xfrm>
          <a:prstGeom prst="rightArrow">
            <a:avLst>
              <a:gd name="adj1" fmla="val 100000"/>
              <a:gd name="adj2" fmla="val 50000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1. </a:t>
            </a:r>
            <a:r>
              <a:rPr lang="ko-KR" altLang="en-US" sz="1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약관동의</a:t>
            </a:r>
          </a:p>
        </p:txBody>
      </p:sp>
      <p:sp>
        <p:nvSpPr>
          <p:cNvPr id="37" name="오른쪽 화살표 36"/>
          <p:cNvSpPr/>
          <p:nvPr/>
        </p:nvSpPr>
        <p:spPr>
          <a:xfrm>
            <a:off x="3323709" y="3113837"/>
            <a:ext cx="1319000" cy="303151"/>
          </a:xfrm>
          <a:prstGeom prst="rightArrow">
            <a:avLst>
              <a:gd name="adj1" fmla="val 100000"/>
              <a:gd name="adj2" fmla="val 50000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2. </a:t>
            </a:r>
            <a:r>
              <a:rPr lang="ko-KR" altLang="en-US" sz="1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본인인증</a:t>
            </a:r>
          </a:p>
        </p:txBody>
      </p:sp>
      <p:sp>
        <p:nvSpPr>
          <p:cNvPr id="38" name="오른쪽 화살표 37"/>
          <p:cNvSpPr/>
          <p:nvPr/>
        </p:nvSpPr>
        <p:spPr>
          <a:xfrm>
            <a:off x="4670609" y="3113837"/>
            <a:ext cx="1319000" cy="303151"/>
          </a:xfrm>
          <a:prstGeom prst="rightArrow">
            <a:avLst>
              <a:gd name="adj1" fmla="val 100000"/>
              <a:gd name="adj2" fmla="val 50000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3. </a:t>
            </a:r>
            <a:r>
              <a:rPr lang="ko-KR" altLang="en-US" sz="1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정보입력</a:t>
            </a:r>
          </a:p>
        </p:txBody>
      </p:sp>
      <p:sp>
        <p:nvSpPr>
          <p:cNvPr id="39" name="오른쪽 화살표 38"/>
          <p:cNvSpPr/>
          <p:nvPr/>
        </p:nvSpPr>
        <p:spPr>
          <a:xfrm>
            <a:off x="6019615" y="3113837"/>
            <a:ext cx="1319000" cy="303151"/>
          </a:xfrm>
          <a:prstGeom prst="rightArrow">
            <a:avLst>
              <a:gd name="adj1" fmla="val 100000"/>
              <a:gd name="adj2" fmla="val 50000"/>
            </a:avLst>
          </a:prstGeom>
          <a:solidFill>
            <a:schemeClr val="tx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chemeClr val="bg1">
                    <a:lumMod val="9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4. </a:t>
            </a:r>
            <a:r>
              <a:rPr lang="ko-KR" altLang="en-US" sz="1000" b="1" dirty="0">
                <a:solidFill>
                  <a:schemeClr val="bg1">
                    <a:lumMod val="9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가입완료</a:t>
            </a:r>
          </a:p>
        </p:txBody>
      </p:sp>
      <p:sp>
        <p:nvSpPr>
          <p:cNvPr id="40" name="모서리가 둥근 직사각형 39"/>
          <p:cNvSpPr/>
          <p:nvPr/>
        </p:nvSpPr>
        <p:spPr>
          <a:xfrm>
            <a:off x="2688476" y="4119591"/>
            <a:ext cx="3797560" cy="1754154"/>
          </a:xfrm>
          <a:prstGeom prst="roundRect">
            <a:avLst>
              <a:gd name="adj" fmla="val 3334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957305" y="4366717"/>
            <a:ext cx="336001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홍길동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님 반갑습니다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endParaRPr lang="en-US" altLang="ko-KR" sz="11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정상적으로 하늘누리 온라인 회원에 가입되셨습니다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지금부터 하늘누리의 모든 서비스를 이용하실 수 있습니다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7" name="모서리가 둥근 직사각형 63">
            <a:extLst>
              <a:ext uri="{FF2B5EF4-FFF2-40B4-BE49-F238E27FC236}">
                <a16:creationId xmlns:a16="http://schemas.microsoft.com/office/drawing/2014/main" id="{C9563051-32B1-0086-E228-FEE25D4479E5}"/>
              </a:ext>
            </a:extLst>
          </p:cNvPr>
          <p:cNvSpPr/>
          <p:nvPr/>
        </p:nvSpPr>
        <p:spPr bwMode="auto">
          <a:xfrm>
            <a:off x="4016375" y="5456698"/>
            <a:ext cx="1198930" cy="276024"/>
          </a:xfrm>
          <a:prstGeom prst="roundRect">
            <a:avLst/>
          </a:prstGeom>
          <a:solidFill>
            <a:schemeClr val="tx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000" b="1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메인 화면으로 가기</a:t>
            </a:r>
            <a:endParaRPr kumimoji="1" lang="ko-KR" altLang="en-US" sz="1000" b="1" dirty="0">
              <a:ln w="0" cmpd="sng">
                <a:solidFill>
                  <a:schemeClr val="tx2">
                    <a:satMod val="155000"/>
                    <a:alpha val="0"/>
                  </a:schemeClr>
                </a:solidFill>
                <a:prstDash val="solid"/>
                <a:round/>
              </a:ln>
              <a:solidFill>
                <a:schemeClr val="bg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48" name="Oval 109">
            <a:extLst>
              <a:ext uri="{FF2B5EF4-FFF2-40B4-BE49-F238E27FC236}">
                <a16:creationId xmlns:a16="http://schemas.microsoft.com/office/drawing/2014/main" id="{F78CC73B-BDD0-4299-DB26-520CADEB72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96809" y="5335510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1</a:t>
            </a:r>
          </a:p>
        </p:txBody>
      </p:sp>
      <p:grpSp>
        <p:nvGrpSpPr>
          <p:cNvPr id="49" name="그룹 48"/>
          <p:cNvGrpSpPr/>
          <p:nvPr/>
        </p:nvGrpSpPr>
        <p:grpSpPr>
          <a:xfrm>
            <a:off x="158621" y="773452"/>
            <a:ext cx="8956804" cy="1146384"/>
            <a:chOff x="158621" y="773452"/>
            <a:chExt cx="8956804" cy="1146384"/>
          </a:xfrm>
        </p:grpSpPr>
        <p:sp>
          <p:nvSpPr>
            <p:cNvPr id="50" name="직사각형 49"/>
            <p:cNvSpPr/>
            <p:nvPr/>
          </p:nvSpPr>
          <p:spPr>
            <a:xfrm>
              <a:off x="4144448" y="797629"/>
              <a:ext cx="942784" cy="35821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800" b="1" dirty="0">
                  <a:solidFill>
                    <a:srgbClr val="FF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CI</a:t>
              </a:r>
            </a:p>
          </p:txBody>
        </p:sp>
        <p:cxnSp>
          <p:nvCxnSpPr>
            <p:cNvPr id="51" name="직선 연결선 50">
              <a:extLst>
                <a:ext uri="{FF2B5EF4-FFF2-40B4-BE49-F238E27FC236}">
                  <a16:creationId xmlns:a16="http://schemas.microsoft.com/office/drawing/2014/main" id="{C254A2AD-70BC-913B-F5E0-560EF17D3589}"/>
                </a:ext>
              </a:extLst>
            </p:cNvPr>
            <p:cNvCxnSpPr/>
            <p:nvPr/>
          </p:nvCxnSpPr>
          <p:spPr>
            <a:xfrm>
              <a:off x="161925" y="1649572"/>
              <a:ext cx="8953500" cy="0"/>
            </a:xfrm>
            <a:prstGeom prst="line">
              <a:avLst/>
            </a:prstGeom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TextBox 51"/>
            <p:cNvSpPr txBox="1"/>
            <p:nvPr/>
          </p:nvSpPr>
          <p:spPr>
            <a:xfrm>
              <a:off x="2031551" y="1301804"/>
              <a:ext cx="120364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하늘누리소개</a:t>
              </a: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3239720" y="1301804"/>
              <a:ext cx="9144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시설안내</a:t>
              </a: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4158640" y="1301804"/>
              <a:ext cx="9144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분양안내</a:t>
              </a: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5077560" y="1301804"/>
              <a:ext cx="119120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사이버추모관</a:t>
              </a: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6273289" y="1301804"/>
              <a:ext cx="9144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고객센터</a:t>
              </a: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158621" y="1704392"/>
              <a:ext cx="3144416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HOME &gt; </a:t>
              </a:r>
              <a:r>
                <a:rPr lang="ko-KR" altLang="en-US" sz="8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회원가입</a:t>
              </a: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8024326" y="773452"/>
              <a:ext cx="503855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b="1">
                  <a:latin typeface="나눔고딕" panose="020D0604000000000000" pitchFamily="50" charset="-127"/>
                  <a:ea typeface="나눔고딕" panose="020D0604000000000000" pitchFamily="50" charset="-127"/>
                </a:rPr>
                <a:t>로그인</a:t>
              </a:r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8472200" y="773452"/>
              <a:ext cx="58783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회원가입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137629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E64165-732A-09E9-5C19-15132EE002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BAC85FB-899E-BEC8-F8B4-4C2351BA6B13}"/>
              </a:ext>
            </a:extLst>
          </p:cNvPr>
          <p:cNvSpPr txBox="1"/>
          <p:nvPr/>
        </p:nvSpPr>
        <p:spPr>
          <a:xfrm>
            <a:off x="1047750" y="2476500"/>
            <a:ext cx="2390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나눔고딕" pitchFamily="2" charset="-127"/>
                <a:ea typeface="나눔고딕" pitchFamily="2" charset="-127"/>
              </a:rPr>
              <a:t>03. </a:t>
            </a:r>
            <a:r>
              <a:rPr lang="ko-KR" altLang="en-US" b="1" dirty="0">
                <a:latin typeface="나눔고딕" pitchFamily="2" charset="-127"/>
                <a:ea typeface="나눔고딕" pitchFamily="2" charset="-127"/>
              </a:rPr>
              <a:t>로그인</a:t>
            </a:r>
          </a:p>
        </p:txBody>
      </p:sp>
    </p:spTree>
    <p:extLst>
      <p:ext uri="{BB962C8B-B14F-4D97-AF65-F5344CB8AC3E}">
        <p14:creationId xmlns:p14="http://schemas.microsoft.com/office/powerpoint/2010/main" val="17862308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AC2EF8-3774-7445-0BC4-5708E30F6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B91E9091-5844-23E8-A837-A227C202A9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8745658"/>
              </p:ext>
            </p:extLst>
          </p:nvPr>
        </p:nvGraphicFramePr>
        <p:xfrm>
          <a:off x="9182101" y="947377"/>
          <a:ext cx="2795588" cy="24569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1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로그인 버튼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버튼 선택 시 유효성 체크 후 로그인 후 메인 화면으로 이동 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ID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또는 비밀번호를 잘못 입력한 경우 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Alert 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메시지 노출 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“ID, 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비빌번호를 확인하시고 다시 로그인 해주시기 바랍니다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.”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684046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선택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회원가입 화면으로 이동</a:t>
                      </a: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723838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3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선택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ID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찾기 화면으로 이동</a:t>
                      </a: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172599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4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선택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비밀번호 찾기 화면으로 이동</a:t>
                      </a: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290794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5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922450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6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784800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7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0538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8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199337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9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450365"/>
                  </a:ext>
                </a:extLst>
              </a:tr>
            </a:tbl>
          </a:graphicData>
        </a:graphic>
      </p:graphicFrame>
      <p:sp>
        <p:nvSpPr>
          <p:cNvPr id="3" name="직사각형 2"/>
          <p:cNvSpPr/>
          <p:nvPr/>
        </p:nvSpPr>
        <p:spPr>
          <a:xfrm>
            <a:off x="959895" y="375614"/>
            <a:ext cx="779381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</a:pP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메인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로그인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03996" y="123825"/>
            <a:ext cx="17303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HN_Login_001</a:t>
            </a:r>
            <a:endParaRPr lang="ko-KR" altLang="en-US" sz="800" dirty="0"/>
          </a:p>
        </p:txBody>
      </p:sp>
      <p:sp>
        <p:nvSpPr>
          <p:cNvPr id="18" name="TextBox 17"/>
          <p:cNvSpPr txBox="1"/>
          <p:nvPr/>
        </p:nvSpPr>
        <p:spPr>
          <a:xfrm>
            <a:off x="158621" y="1704392"/>
            <a:ext cx="314441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HOME &gt; </a:t>
            </a:r>
            <a:r>
              <a:rPr lang="ko-KR" altLang="en-US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로그인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62325" y="1866963"/>
            <a:ext cx="33499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로그인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0" name="모서리가 둥근 직사각형 39"/>
          <p:cNvSpPr/>
          <p:nvPr/>
        </p:nvSpPr>
        <p:spPr>
          <a:xfrm>
            <a:off x="2720845" y="3429000"/>
            <a:ext cx="3797560" cy="1781176"/>
          </a:xfrm>
          <a:prstGeom prst="roundRect">
            <a:avLst>
              <a:gd name="adj" fmla="val 3334"/>
            </a:avLst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7" name="모서리가 둥근 직사각형 63">
            <a:extLst>
              <a:ext uri="{FF2B5EF4-FFF2-40B4-BE49-F238E27FC236}">
                <a16:creationId xmlns:a16="http://schemas.microsoft.com/office/drawing/2014/main" id="{C9563051-32B1-0086-E228-FEE25D4479E5}"/>
              </a:ext>
            </a:extLst>
          </p:cNvPr>
          <p:cNvSpPr/>
          <p:nvPr/>
        </p:nvSpPr>
        <p:spPr bwMode="auto">
          <a:xfrm>
            <a:off x="3192436" y="4794224"/>
            <a:ext cx="2940077" cy="276024"/>
          </a:xfrm>
          <a:prstGeom prst="roundRect">
            <a:avLst/>
          </a:prstGeom>
          <a:solidFill>
            <a:schemeClr val="tx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000" b="1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로그인</a:t>
            </a:r>
            <a:endParaRPr kumimoji="1" lang="ko-KR" altLang="en-US" sz="1000" b="1" dirty="0">
              <a:ln w="0" cmpd="sng">
                <a:solidFill>
                  <a:schemeClr val="tx2">
                    <a:satMod val="155000"/>
                    <a:alpha val="0"/>
                  </a:schemeClr>
                </a:solidFill>
                <a:prstDash val="solid"/>
                <a:round/>
              </a:ln>
              <a:solidFill>
                <a:schemeClr val="bg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grpSp>
        <p:nvGrpSpPr>
          <p:cNvPr id="49" name="그룹 48"/>
          <p:cNvGrpSpPr/>
          <p:nvPr/>
        </p:nvGrpSpPr>
        <p:grpSpPr>
          <a:xfrm>
            <a:off x="161925" y="773452"/>
            <a:ext cx="8953500" cy="876120"/>
            <a:chOff x="161925" y="773452"/>
            <a:chExt cx="8953500" cy="876120"/>
          </a:xfrm>
        </p:grpSpPr>
        <p:sp>
          <p:nvSpPr>
            <p:cNvPr id="50" name="직사각형 49"/>
            <p:cNvSpPr/>
            <p:nvPr/>
          </p:nvSpPr>
          <p:spPr>
            <a:xfrm>
              <a:off x="4144448" y="797629"/>
              <a:ext cx="942784" cy="35821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800" b="1" dirty="0">
                  <a:solidFill>
                    <a:srgbClr val="FF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CI</a:t>
              </a:r>
            </a:p>
          </p:txBody>
        </p:sp>
        <p:cxnSp>
          <p:nvCxnSpPr>
            <p:cNvPr id="51" name="직선 연결선 50">
              <a:extLst>
                <a:ext uri="{FF2B5EF4-FFF2-40B4-BE49-F238E27FC236}">
                  <a16:creationId xmlns:a16="http://schemas.microsoft.com/office/drawing/2014/main" id="{C254A2AD-70BC-913B-F5E0-560EF17D3589}"/>
                </a:ext>
              </a:extLst>
            </p:cNvPr>
            <p:cNvCxnSpPr/>
            <p:nvPr/>
          </p:nvCxnSpPr>
          <p:spPr>
            <a:xfrm>
              <a:off x="161925" y="1649572"/>
              <a:ext cx="8953500" cy="0"/>
            </a:xfrm>
            <a:prstGeom prst="line">
              <a:avLst/>
            </a:prstGeom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TextBox 51"/>
            <p:cNvSpPr txBox="1"/>
            <p:nvPr/>
          </p:nvSpPr>
          <p:spPr>
            <a:xfrm>
              <a:off x="2031551" y="1301804"/>
              <a:ext cx="120364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하늘누리소개</a:t>
              </a: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3239720" y="1301804"/>
              <a:ext cx="9144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시설안내</a:t>
              </a: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4158640" y="1301804"/>
              <a:ext cx="9144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분양안내</a:t>
              </a: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5077560" y="1301804"/>
              <a:ext cx="119120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사이버추모관</a:t>
              </a: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6273289" y="1301804"/>
              <a:ext cx="9144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고객센터</a:t>
              </a: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8024326" y="773452"/>
              <a:ext cx="503855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b="1">
                  <a:latin typeface="나눔고딕" panose="020D0604000000000000" pitchFamily="50" charset="-127"/>
                  <a:ea typeface="나눔고딕" panose="020D0604000000000000" pitchFamily="50" charset="-127"/>
                </a:rPr>
                <a:t>로그인</a:t>
              </a:r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8472200" y="773452"/>
              <a:ext cx="58783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회원가입</a:t>
              </a:r>
            </a:p>
          </p:txBody>
        </p:sp>
      </p:grpSp>
      <p:sp>
        <p:nvSpPr>
          <p:cNvPr id="27" name="직사각형 26"/>
          <p:cNvSpPr/>
          <p:nvPr/>
        </p:nvSpPr>
        <p:spPr>
          <a:xfrm>
            <a:off x="4165922" y="2918213"/>
            <a:ext cx="942784" cy="35821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CI</a:t>
            </a:r>
          </a:p>
        </p:txBody>
      </p:sp>
      <p:sp>
        <p:nvSpPr>
          <p:cNvPr id="48" name="Oval 109">
            <a:extLst>
              <a:ext uri="{FF2B5EF4-FFF2-40B4-BE49-F238E27FC236}">
                <a16:creationId xmlns:a16="http://schemas.microsoft.com/office/drawing/2014/main" id="{F78CC73B-BDD0-4299-DB26-520CADEB72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44299" y="4621424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1</a:t>
            </a:r>
          </a:p>
        </p:txBody>
      </p:sp>
      <p:graphicFrame>
        <p:nvGraphicFramePr>
          <p:cNvPr id="29" name="표 28">
            <a:extLst>
              <a:ext uri="{FF2B5EF4-FFF2-40B4-BE49-F238E27FC236}">
                <a16:creationId xmlns:a16="http://schemas.microsoft.com/office/drawing/2014/main" id="{D6CC5FDF-6355-9F64-2689-E6F15DD1D0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7053682"/>
              </p:ext>
            </p:extLst>
          </p:nvPr>
        </p:nvGraphicFramePr>
        <p:xfrm>
          <a:off x="3192436" y="3769519"/>
          <a:ext cx="1008968" cy="841344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008968">
                  <a:extLst>
                    <a:ext uri="{9D8B030D-6E8A-4147-A177-3AD203B41FA5}">
                      <a16:colId xmlns:a16="http://schemas.microsoft.com/office/drawing/2014/main" val="1553538150"/>
                    </a:ext>
                  </a:extLst>
                </a:gridCol>
              </a:tblGrid>
              <a:tr h="42067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아이디 </a:t>
                      </a:r>
                      <a:endParaRPr lang="en-US" altLang="ko-KR" sz="1100" b="1" u="none" dirty="0">
                        <a:solidFill>
                          <a:srgbClr val="FF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0268165"/>
                  </a:ext>
                </a:extLst>
              </a:tr>
              <a:tr h="42067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비밀번호 </a:t>
                      </a:r>
                      <a:endParaRPr lang="en-US" altLang="ko-KR" sz="1100" b="1" u="none" dirty="0">
                        <a:solidFill>
                          <a:srgbClr val="FF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5462810"/>
                  </a:ext>
                </a:extLst>
              </a:tr>
            </a:tbl>
          </a:graphicData>
        </a:graphic>
      </p:graphicFrame>
      <p:sp>
        <p:nvSpPr>
          <p:cNvPr id="30" name="직사각형 29"/>
          <p:cNvSpPr/>
          <p:nvPr/>
        </p:nvSpPr>
        <p:spPr>
          <a:xfrm>
            <a:off x="3933313" y="3831606"/>
            <a:ext cx="2199200" cy="27991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3933313" y="4260631"/>
            <a:ext cx="2199200" cy="27991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3" name="모서리가 둥근 직사각형 63">
            <a:extLst>
              <a:ext uri="{FF2B5EF4-FFF2-40B4-BE49-F238E27FC236}">
                <a16:creationId xmlns:a16="http://schemas.microsoft.com/office/drawing/2014/main" id="{C9563051-32B1-0086-E228-FEE25D4479E5}"/>
              </a:ext>
            </a:extLst>
          </p:cNvPr>
          <p:cNvSpPr/>
          <p:nvPr/>
        </p:nvSpPr>
        <p:spPr bwMode="auto">
          <a:xfrm>
            <a:off x="4618648" y="5340254"/>
            <a:ext cx="914552" cy="276024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1000" b="1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ID </a:t>
            </a:r>
            <a:r>
              <a:rPr kumimoji="1" lang="ko-KR" altLang="en-US" sz="1000" b="1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찾기</a:t>
            </a:r>
          </a:p>
        </p:txBody>
      </p:sp>
      <p:sp>
        <p:nvSpPr>
          <p:cNvPr id="34" name="모서리가 둥근 직사각형 63">
            <a:extLst>
              <a:ext uri="{FF2B5EF4-FFF2-40B4-BE49-F238E27FC236}">
                <a16:creationId xmlns:a16="http://schemas.microsoft.com/office/drawing/2014/main" id="{C9563051-32B1-0086-E228-FEE25D4479E5}"/>
              </a:ext>
            </a:extLst>
          </p:cNvPr>
          <p:cNvSpPr/>
          <p:nvPr/>
        </p:nvSpPr>
        <p:spPr bwMode="auto">
          <a:xfrm>
            <a:off x="5603076" y="5340254"/>
            <a:ext cx="914552" cy="276024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000" b="1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비밀번호</a:t>
            </a:r>
            <a:r>
              <a:rPr kumimoji="1" lang="en-US" altLang="ko-KR" sz="1000" b="1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 </a:t>
            </a:r>
            <a:r>
              <a:rPr kumimoji="1" lang="ko-KR" altLang="en-US" sz="1000" b="1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찾기</a:t>
            </a:r>
          </a:p>
        </p:txBody>
      </p:sp>
      <p:sp>
        <p:nvSpPr>
          <p:cNvPr id="41" name="모서리가 둥근 직사각형 63">
            <a:extLst>
              <a:ext uri="{FF2B5EF4-FFF2-40B4-BE49-F238E27FC236}">
                <a16:creationId xmlns:a16="http://schemas.microsoft.com/office/drawing/2014/main" id="{C9563051-32B1-0086-E228-FEE25D4479E5}"/>
              </a:ext>
            </a:extLst>
          </p:cNvPr>
          <p:cNvSpPr/>
          <p:nvPr/>
        </p:nvSpPr>
        <p:spPr bwMode="auto">
          <a:xfrm>
            <a:off x="2773423" y="5340254"/>
            <a:ext cx="914552" cy="276024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000" b="1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회원가입</a:t>
            </a:r>
          </a:p>
        </p:txBody>
      </p:sp>
      <p:sp>
        <p:nvSpPr>
          <p:cNvPr id="42" name="Oval 109">
            <a:extLst>
              <a:ext uri="{FF2B5EF4-FFF2-40B4-BE49-F238E27FC236}">
                <a16:creationId xmlns:a16="http://schemas.microsoft.com/office/drawing/2014/main" id="{F78CC73B-BDD0-4299-DB26-520CADEB72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3547" y="5192327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2</a:t>
            </a:r>
          </a:p>
        </p:txBody>
      </p:sp>
      <p:sp>
        <p:nvSpPr>
          <p:cNvPr id="43" name="Oval 109">
            <a:extLst>
              <a:ext uri="{FF2B5EF4-FFF2-40B4-BE49-F238E27FC236}">
                <a16:creationId xmlns:a16="http://schemas.microsoft.com/office/drawing/2014/main" id="{F78CC73B-BDD0-4299-DB26-520CADEB72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6074" y="5192327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3</a:t>
            </a:r>
          </a:p>
        </p:txBody>
      </p:sp>
      <p:sp>
        <p:nvSpPr>
          <p:cNvPr id="44" name="Oval 109">
            <a:extLst>
              <a:ext uri="{FF2B5EF4-FFF2-40B4-BE49-F238E27FC236}">
                <a16:creationId xmlns:a16="http://schemas.microsoft.com/office/drawing/2014/main" id="{F78CC73B-BDD0-4299-DB26-520CADEB72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0684" y="5192327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40570498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AC2EF8-3774-7445-0BC4-5708E30F6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B91E9091-5844-23E8-A837-A227C202A9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5285770"/>
              </p:ext>
            </p:extLst>
          </p:nvPr>
        </p:nvGraphicFramePr>
        <p:xfrm>
          <a:off x="9182101" y="947377"/>
          <a:ext cx="2795588" cy="28226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1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확인 버튼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성명과 휴대전화번호 정확히 입력 후 확인 버튼 선택 시 정합성 체크 후 등록 메일로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ID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발송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이메일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발송팝엄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노출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dirty="0">
                          <a:solidFill>
                            <a:srgbClr val="FF0000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ID</a:t>
                      </a:r>
                      <a:r>
                        <a:rPr lang="en-US" altLang="ko-KR" sz="800" b="1" baseline="0" dirty="0">
                          <a:solidFill>
                            <a:srgbClr val="FF0000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</a:t>
                      </a:r>
                      <a:r>
                        <a:rPr lang="ko-KR" altLang="en-US" sz="800" b="1" baseline="0" dirty="0">
                          <a:solidFill>
                            <a:srgbClr val="FF0000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메일 발송 내용은 </a:t>
                      </a:r>
                      <a:r>
                        <a:rPr lang="en-US" altLang="ko-KR" sz="800" b="1" baseline="0" dirty="0">
                          <a:solidFill>
                            <a:srgbClr val="FF0000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ID</a:t>
                      </a:r>
                      <a:r>
                        <a:rPr lang="ko-KR" altLang="en-US" sz="800" b="1" baseline="0" dirty="0">
                          <a:solidFill>
                            <a:srgbClr val="FF0000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의 끝 두자리는 마스킹 처리하여 발송</a:t>
                      </a:r>
                      <a:r>
                        <a:rPr lang="en-US" altLang="ko-KR" sz="800" b="1" baseline="0" dirty="0">
                          <a:solidFill>
                            <a:srgbClr val="FF0000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. </a:t>
                      </a:r>
                      <a:r>
                        <a:rPr lang="ko-KR" altLang="en-US" sz="800" b="1" baseline="0" dirty="0">
                          <a:solidFill>
                            <a:srgbClr val="FF0000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예</a:t>
                      </a:r>
                      <a:r>
                        <a:rPr lang="en-US" altLang="ko-KR" sz="800" b="1" baseline="0" dirty="0">
                          <a:solidFill>
                            <a:srgbClr val="FF0000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)gildo**</a:t>
                      </a:r>
                      <a:endParaRPr lang="en-US" altLang="ko-KR" sz="800" b="1" dirty="0">
                        <a:solidFill>
                          <a:srgbClr val="FF0000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성명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또는 휴대전화번호를 잘못 입력한 경우 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Alert 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메시지 노출 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“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성명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휴대전화번호를 확인하시고 다시 시도해주시기 바랍니다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.”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684046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723838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3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172599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4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290794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5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922450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6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784800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7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0538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8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199337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9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450365"/>
                  </a:ext>
                </a:extLst>
              </a:tr>
            </a:tbl>
          </a:graphicData>
        </a:graphic>
      </p:graphicFrame>
      <p:sp>
        <p:nvSpPr>
          <p:cNvPr id="3" name="직사각형 2"/>
          <p:cNvSpPr/>
          <p:nvPr/>
        </p:nvSpPr>
        <p:spPr>
          <a:xfrm>
            <a:off x="959895" y="375614"/>
            <a:ext cx="1402948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</a:pP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메인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로그인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아이디 찾기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03996" y="123825"/>
            <a:ext cx="17303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HN_Login_Idsearch_001</a:t>
            </a:r>
            <a:endParaRPr lang="ko-KR" altLang="en-US" sz="800" dirty="0"/>
          </a:p>
        </p:txBody>
      </p:sp>
      <p:sp>
        <p:nvSpPr>
          <p:cNvPr id="18" name="TextBox 17"/>
          <p:cNvSpPr txBox="1"/>
          <p:nvPr/>
        </p:nvSpPr>
        <p:spPr>
          <a:xfrm>
            <a:off x="158621" y="1704392"/>
            <a:ext cx="314441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HOME &gt; </a:t>
            </a:r>
            <a:r>
              <a:rPr lang="ko-KR" altLang="en-US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로그인 </a:t>
            </a:r>
            <a:r>
              <a:rPr lang="en-US" altLang="ko-KR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&gt; ID </a:t>
            </a:r>
            <a:r>
              <a:rPr lang="ko-KR" altLang="en-US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찾기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62325" y="1866963"/>
            <a:ext cx="33499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ID </a:t>
            </a:r>
            <a:r>
              <a:rPr lang="ko-KR" altLang="en-US" sz="4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찾기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0" name="모서리가 둥근 직사각형 39"/>
          <p:cNvSpPr/>
          <p:nvPr/>
        </p:nvSpPr>
        <p:spPr>
          <a:xfrm>
            <a:off x="2720845" y="3429000"/>
            <a:ext cx="3797560" cy="1781176"/>
          </a:xfrm>
          <a:prstGeom prst="roundRect">
            <a:avLst>
              <a:gd name="adj" fmla="val 3334"/>
            </a:avLst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7" name="모서리가 둥근 직사각형 63">
            <a:extLst>
              <a:ext uri="{FF2B5EF4-FFF2-40B4-BE49-F238E27FC236}">
                <a16:creationId xmlns:a16="http://schemas.microsoft.com/office/drawing/2014/main" id="{C9563051-32B1-0086-E228-FEE25D4479E5}"/>
              </a:ext>
            </a:extLst>
          </p:cNvPr>
          <p:cNvSpPr/>
          <p:nvPr/>
        </p:nvSpPr>
        <p:spPr bwMode="auto">
          <a:xfrm>
            <a:off x="3192436" y="4739465"/>
            <a:ext cx="2940077" cy="330783"/>
          </a:xfrm>
          <a:prstGeom prst="roundRect">
            <a:avLst/>
          </a:prstGeom>
          <a:solidFill>
            <a:schemeClr val="tx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000" b="1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확인</a:t>
            </a:r>
          </a:p>
        </p:txBody>
      </p:sp>
      <p:grpSp>
        <p:nvGrpSpPr>
          <p:cNvPr id="49" name="그룹 48"/>
          <p:cNvGrpSpPr/>
          <p:nvPr/>
        </p:nvGrpSpPr>
        <p:grpSpPr>
          <a:xfrm>
            <a:off x="161925" y="773452"/>
            <a:ext cx="8953500" cy="876120"/>
            <a:chOff x="161925" y="773452"/>
            <a:chExt cx="8953500" cy="876120"/>
          </a:xfrm>
        </p:grpSpPr>
        <p:sp>
          <p:nvSpPr>
            <p:cNvPr id="50" name="직사각형 49"/>
            <p:cNvSpPr/>
            <p:nvPr/>
          </p:nvSpPr>
          <p:spPr>
            <a:xfrm>
              <a:off x="4144448" y="797629"/>
              <a:ext cx="942784" cy="35821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800" b="1" dirty="0">
                  <a:solidFill>
                    <a:srgbClr val="FF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CI</a:t>
              </a:r>
            </a:p>
          </p:txBody>
        </p:sp>
        <p:cxnSp>
          <p:nvCxnSpPr>
            <p:cNvPr id="51" name="직선 연결선 50">
              <a:extLst>
                <a:ext uri="{FF2B5EF4-FFF2-40B4-BE49-F238E27FC236}">
                  <a16:creationId xmlns:a16="http://schemas.microsoft.com/office/drawing/2014/main" id="{C254A2AD-70BC-913B-F5E0-560EF17D3589}"/>
                </a:ext>
              </a:extLst>
            </p:cNvPr>
            <p:cNvCxnSpPr/>
            <p:nvPr/>
          </p:nvCxnSpPr>
          <p:spPr>
            <a:xfrm>
              <a:off x="161925" y="1649572"/>
              <a:ext cx="8953500" cy="0"/>
            </a:xfrm>
            <a:prstGeom prst="line">
              <a:avLst/>
            </a:prstGeom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TextBox 51"/>
            <p:cNvSpPr txBox="1"/>
            <p:nvPr/>
          </p:nvSpPr>
          <p:spPr>
            <a:xfrm>
              <a:off x="2031551" y="1301804"/>
              <a:ext cx="120364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하늘누리소개</a:t>
              </a: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3239720" y="1301804"/>
              <a:ext cx="9144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시설안내</a:t>
              </a: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4158640" y="1301804"/>
              <a:ext cx="9144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분양안내</a:t>
              </a: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5077560" y="1301804"/>
              <a:ext cx="119120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사이버추모관</a:t>
              </a: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6273289" y="1301804"/>
              <a:ext cx="9144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고객센터</a:t>
              </a: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8024326" y="773452"/>
              <a:ext cx="503855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b="1">
                  <a:latin typeface="나눔고딕" panose="020D0604000000000000" pitchFamily="50" charset="-127"/>
                  <a:ea typeface="나눔고딕" panose="020D0604000000000000" pitchFamily="50" charset="-127"/>
                </a:rPr>
                <a:t>로그인</a:t>
              </a:r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8472200" y="773452"/>
              <a:ext cx="58783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회원가입</a:t>
              </a:r>
            </a:p>
          </p:txBody>
        </p:sp>
      </p:grpSp>
      <p:sp>
        <p:nvSpPr>
          <p:cNvPr id="27" name="직사각형 26"/>
          <p:cNvSpPr/>
          <p:nvPr/>
        </p:nvSpPr>
        <p:spPr>
          <a:xfrm>
            <a:off x="4165922" y="2918213"/>
            <a:ext cx="942784" cy="35821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CI</a:t>
            </a:r>
          </a:p>
        </p:txBody>
      </p:sp>
      <p:sp>
        <p:nvSpPr>
          <p:cNvPr id="48" name="Oval 109">
            <a:extLst>
              <a:ext uri="{FF2B5EF4-FFF2-40B4-BE49-F238E27FC236}">
                <a16:creationId xmlns:a16="http://schemas.microsoft.com/office/drawing/2014/main" id="{F78CC73B-BDD0-4299-DB26-520CADEB72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44299" y="4621424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1</a:t>
            </a:r>
          </a:p>
        </p:txBody>
      </p:sp>
      <p:graphicFrame>
        <p:nvGraphicFramePr>
          <p:cNvPr id="29" name="표 28">
            <a:extLst>
              <a:ext uri="{FF2B5EF4-FFF2-40B4-BE49-F238E27FC236}">
                <a16:creationId xmlns:a16="http://schemas.microsoft.com/office/drawing/2014/main" id="{D6CC5FDF-6355-9F64-2689-E6F15DD1D0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5758285"/>
              </p:ext>
            </p:extLst>
          </p:nvPr>
        </p:nvGraphicFramePr>
        <p:xfrm>
          <a:off x="3192436" y="3769519"/>
          <a:ext cx="1008968" cy="841344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008968">
                  <a:extLst>
                    <a:ext uri="{9D8B030D-6E8A-4147-A177-3AD203B41FA5}">
                      <a16:colId xmlns:a16="http://schemas.microsoft.com/office/drawing/2014/main" val="1553538150"/>
                    </a:ext>
                  </a:extLst>
                </a:gridCol>
              </a:tblGrid>
              <a:tr h="42067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성명 </a:t>
                      </a:r>
                      <a:endParaRPr lang="en-US" altLang="ko-KR" sz="1100" b="1" u="none" dirty="0">
                        <a:solidFill>
                          <a:srgbClr val="FF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0268165"/>
                  </a:ext>
                </a:extLst>
              </a:tr>
              <a:tr h="42067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휴대전화번호 </a:t>
                      </a:r>
                      <a:endParaRPr lang="en-US" altLang="ko-KR" sz="1100" b="1" u="none" dirty="0">
                        <a:solidFill>
                          <a:srgbClr val="FF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5462810"/>
                  </a:ext>
                </a:extLst>
              </a:tr>
            </a:tbl>
          </a:graphicData>
        </a:graphic>
      </p:graphicFrame>
      <p:sp>
        <p:nvSpPr>
          <p:cNvPr id="30" name="직사각형 29"/>
          <p:cNvSpPr/>
          <p:nvPr/>
        </p:nvSpPr>
        <p:spPr>
          <a:xfrm>
            <a:off x="4068147" y="3831606"/>
            <a:ext cx="2064366" cy="27991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068147" y="4260631"/>
            <a:ext cx="2064366" cy="27991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02774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AC2EF8-3774-7445-0BC4-5708E30F6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B91E9091-5844-23E8-A837-A227C202A9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1048663"/>
              </p:ext>
            </p:extLst>
          </p:nvPr>
        </p:nvGraphicFramePr>
        <p:xfrm>
          <a:off x="9182101" y="947377"/>
          <a:ext cx="2795588" cy="1847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1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ID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찾기 이메일 발송 팝업</a:t>
                      </a: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684046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확인 선택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메인화면으로 이동</a:t>
                      </a: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723838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3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172599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4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290794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5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922450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6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784800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7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0538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8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199337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9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450365"/>
                  </a:ext>
                </a:extLst>
              </a:tr>
            </a:tbl>
          </a:graphicData>
        </a:graphic>
      </p:graphicFrame>
      <p:sp>
        <p:nvSpPr>
          <p:cNvPr id="3" name="직사각형 2"/>
          <p:cNvSpPr/>
          <p:nvPr/>
        </p:nvSpPr>
        <p:spPr>
          <a:xfrm>
            <a:off x="959895" y="375614"/>
            <a:ext cx="1402948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</a:pP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메인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로그인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아이디 찾기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03996" y="123825"/>
            <a:ext cx="17303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HN_Login_Idsearch_002P</a:t>
            </a:r>
            <a:endParaRPr lang="ko-KR" altLang="en-US" sz="800" dirty="0"/>
          </a:p>
        </p:txBody>
      </p:sp>
      <p:sp>
        <p:nvSpPr>
          <p:cNvPr id="18" name="TextBox 17"/>
          <p:cNvSpPr txBox="1"/>
          <p:nvPr/>
        </p:nvSpPr>
        <p:spPr>
          <a:xfrm>
            <a:off x="158621" y="1704392"/>
            <a:ext cx="314441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HOME &gt; </a:t>
            </a:r>
            <a:r>
              <a:rPr lang="ko-KR" altLang="en-US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로그인 </a:t>
            </a:r>
            <a:r>
              <a:rPr lang="en-US" altLang="ko-KR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비밀번호 찾기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62325" y="1866963"/>
            <a:ext cx="33499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ID </a:t>
            </a:r>
            <a:r>
              <a:rPr lang="ko-KR" altLang="en-US" sz="4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찾기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0" name="모서리가 둥근 직사각형 39"/>
          <p:cNvSpPr/>
          <p:nvPr/>
        </p:nvSpPr>
        <p:spPr>
          <a:xfrm>
            <a:off x="2720845" y="3429000"/>
            <a:ext cx="3797560" cy="1781176"/>
          </a:xfrm>
          <a:prstGeom prst="roundRect">
            <a:avLst>
              <a:gd name="adj" fmla="val 3334"/>
            </a:avLst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7" name="모서리가 둥근 직사각형 63">
            <a:extLst>
              <a:ext uri="{FF2B5EF4-FFF2-40B4-BE49-F238E27FC236}">
                <a16:creationId xmlns:a16="http://schemas.microsoft.com/office/drawing/2014/main" id="{C9563051-32B1-0086-E228-FEE25D4479E5}"/>
              </a:ext>
            </a:extLst>
          </p:cNvPr>
          <p:cNvSpPr/>
          <p:nvPr/>
        </p:nvSpPr>
        <p:spPr bwMode="auto">
          <a:xfrm>
            <a:off x="3192436" y="4739465"/>
            <a:ext cx="2940077" cy="330783"/>
          </a:xfrm>
          <a:prstGeom prst="roundRect">
            <a:avLst/>
          </a:prstGeom>
          <a:solidFill>
            <a:schemeClr val="tx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000" b="1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확인</a:t>
            </a:r>
          </a:p>
        </p:txBody>
      </p:sp>
      <p:grpSp>
        <p:nvGrpSpPr>
          <p:cNvPr id="49" name="그룹 48"/>
          <p:cNvGrpSpPr/>
          <p:nvPr/>
        </p:nvGrpSpPr>
        <p:grpSpPr>
          <a:xfrm>
            <a:off x="161925" y="773452"/>
            <a:ext cx="8953500" cy="876120"/>
            <a:chOff x="161925" y="773452"/>
            <a:chExt cx="8953500" cy="876120"/>
          </a:xfrm>
        </p:grpSpPr>
        <p:sp>
          <p:nvSpPr>
            <p:cNvPr id="50" name="직사각형 49"/>
            <p:cNvSpPr/>
            <p:nvPr/>
          </p:nvSpPr>
          <p:spPr>
            <a:xfrm>
              <a:off x="4144448" y="797629"/>
              <a:ext cx="942784" cy="35821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800" b="1" dirty="0">
                  <a:solidFill>
                    <a:srgbClr val="FF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CI</a:t>
              </a:r>
            </a:p>
          </p:txBody>
        </p:sp>
        <p:cxnSp>
          <p:nvCxnSpPr>
            <p:cNvPr id="51" name="직선 연결선 50">
              <a:extLst>
                <a:ext uri="{FF2B5EF4-FFF2-40B4-BE49-F238E27FC236}">
                  <a16:creationId xmlns:a16="http://schemas.microsoft.com/office/drawing/2014/main" id="{C254A2AD-70BC-913B-F5E0-560EF17D3589}"/>
                </a:ext>
              </a:extLst>
            </p:cNvPr>
            <p:cNvCxnSpPr/>
            <p:nvPr/>
          </p:nvCxnSpPr>
          <p:spPr>
            <a:xfrm>
              <a:off x="161925" y="1649572"/>
              <a:ext cx="8953500" cy="0"/>
            </a:xfrm>
            <a:prstGeom prst="line">
              <a:avLst/>
            </a:prstGeom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TextBox 51"/>
            <p:cNvSpPr txBox="1"/>
            <p:nvPr/>
          </p:nvSpPr>
          <p:spPr>
            <a:xfrm>
              <a:off x="2031551" y="1301804"/>
              <a:ext cx="120364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하늘누리소개</a:t>
              </a: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3239720" y="1301804"/>
              <a:ext cx="9144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시설안내</a:t>
              </a: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4158640" y="1301804"/>
              <a:ext cx="9144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분양안내</a:t>
              </a: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5077560" y="1301804"/>
              <a:ext cx="119120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사이버추모관</a:t>
              </a: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6273289" y="1301804"/>
              <a:ext cx="9144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고객센터</a:t>
              </a: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8024326" y="773452"/>
              <a:ext cx="503855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b="1">
                  <a:latin typeface="나눔고딕" panose="020D0604000000000000" pitchFamily="50" charset="-127"/>
                  <a:ea typeface="나눔고딕" panose="020D0604000000000000" pitchFamily="50" charset="-127"/>
                </a:rPr>
                <a:t>로그인</a:t>
              </a:r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8472200" y="773452"/>
              <a:ext cx="58783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회원가입</a:t>
              </a:r>
            </a:p>
          </p:txBody>
        </p:sp>
      </p:grpSp>
      <p:sp>
        <p:nvSpPr>
          <p:cNvPr id="27" name="직사각형 26"/>
          <p:cNvSpPr/>
          <p:nvPr/>
        </p:nvSpPr>
        <p:spPr>
          <a:xfrm>
            <a:off x="4165922" y="2918213"/>
            <a:ext cx="942784" cy="35821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CI</a:t>
            </a:r>
          </a:p>
        </p:txBody>
      </p:sp>
      <p:graphicFrame>
        <p:nvGraphicFramePr>
          <p:cNvPr id="29" name="표 28">
            <a:extLst>
              <a:ext uri="{FF2B5EF4-FFF2-40B4-BE49-F238E27FC236}">
                <a16:creationId xmlns:a16="http://schemas.microsoft.com/office/drawing/2014/main" id="{D6CC5FDF-6355-9F64-2689-E6F15DD1D0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5758285"/>
              </p:ext>
            </p:extLst>
          </p:nvPr>
        </p:nvGraphicFramePr>
        <p:xfrm>
          <a:off x="3192436" y="3769519"/>
          <a:ext cx="1008968" cy="841344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008968">
                  <a:extLst>
                    <a:ext uri="{9D8B030D-6E8A-4147-A177-3AD203B41FA5}">
                      <a16:colId xmlns:a16="http://schemas.microsoft.com/office/drawing/2014/main" val="1553538150"/>
                    </a:ext>
                  </a:extLst>
                </a:gridCol>
              </a:tblGrid>
              <a:tr h="42067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성명 </a:t>
                      </a:r>
                      <a:endParaRPr lang="en-US" altLang="ko-KR" sz="1100" b="1" u="none" dirty="0">
                        <a:solidFill>
                          <a:srgbClr val="FF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0268165"/>
                  </a:ext>
                </a:extLst>
              </a:tr>
              <a:tr h="42067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휴대전화번호 </a:t>
                      </a:r>
                      <a:endParaRPr lang="en-US" altLang="ko-KR" sz="1100" b="1" u="none" dirty="0">
                        <a:solidFill>
                          <a:srgbClr val="FF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5462810"/>
                  </a:ext>
                </a:extLst>
              </a:tr>
            </a:tbl>
          </a:graphicData>
        </a:graphic>
      </p:graphicFrame>
      <p:sp>
        <p:nvSpPr>
          <p:cNvPr id="30" name="직사각형 29"/>
          <p:cNvSpPr/>
          <p:nvPr/>
        </p:nvSpPr>
        <p:spPr>
          <a:xfrm>
            <a:off x="4068147" y="3831606"/>
            <a:ext cx="2064366" cy="27991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068147" y="4260631"/>
            <a:ext cx="2064366" cy="27991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158621" y="691116"/>
            <a:ext cx="8956804" cy="5933619"/>
          </a:xfrm>
          <a:prstGeom prst="rect">
            <a:avLst/>
          </a:prstGeom>
          <a:solidFill>
            <a:schemeClr val="bg1">
              <a:lumMod val="95000"/>
              <a:alpha val="49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pSp>
        <p:nvGrpSpPr>
          <p:cNvPr id="5" name="그룹 4"/>
          <p:cNvGrpSpPr/>
          <p:nvPr/>
        </p:nvGrpSpPr>
        <p:grpSpPr>
          <a:xfrm>
            <a:off x="2870381" y="2809388"/>
            <a:ext cx="3206932" cy="1754154"/>
            <a:chOff x="8387670" y="3663472"/>
            <a:chExt cx="3206932" cy="1754154"/>
          </a:xfrm>
        </p:grpSpPr>
        <p:sp>
          <p:nvSpPr>
            <p:cNvPr id="39" name="모서리가 둥근 직사각형 38"/>
            <p:cNvSpPr/>
            <p:nvPr/>
          </p:nvSpPr>
          <p:spPr>
            <a:xfrm>
              <a:off x="8387670" y="3663472"/>
              <a:ext cx="3206932" cy="1754154"/>
            </a:xfrm>
            <a:prstGeom prst="roundRect">
              <a:avLst>
                <a:gd name="adj" fmla="val 3334"/>
              </a:avLst>
            </a:prstGeom>
            <a:solidFill>
              <a:schemeClr val="bg1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cxnSp>
          <p:nvCxnSpPr>
            <p:cNvPr id="41" name="직선 연결선 40"/>
            <p:cNvCxnSpPr/>
            <p:nvPr/>
          </p:nvCxnSpPr>
          <p:spPr>
            <a:xfrm flipV="1">
              <a:off x="8387670" y="3952720"/>
              <a:ext cx="3206932" cy="9331"/>
            </a:xfrm>
            <a:prstGeom prst="line">
              <a:avLst/>
            </a:prstGeom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TextBox 41"/>
            <p:cNvSpPr txBox="1"/>
            <p:nvPr/>
          </p:nvSpPr>
          <p:spPr>
            <a:xfrm>
              <a:off x="8387670" y="3700374"/>
              <a:ext cx="1024327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9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ID </a:t>
              </a:r>
              <a:r>
                <a:rPr lang="ko-KR" altLang="en-US" sz="9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찾기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11312929" y="3681780"/>
              <a:ext cx="23374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1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X</a:t>
              </a:r>
              <a:endParaRPr lang="ko-KR" altLang="en-US" sz="11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4" name="직사각형 43"/>
            <p:cNvSpPr/>
            <p:nvPr/>
          </p:nvSpPr>
          <p:spPr>
            <a:xfrm>
              <a:off x="8604521" y="4238595"/>
              <a:ext cx="2708408" cy="72182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9060030" y="4439320"/>
              <a:ext cx="19984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9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등록된 </a:t>
              </a:r>
              <a:r>
                <a:rPr lang="en-US" altLang="ko-KR" sz="900" b="1" dirty="0">
                  <a:latin typeface="나눔고딕" panose="020D0604000000000000" pitchFamily="50" charset="-127"/>
                  <a:ea typeface="나눔고딕" panose="020D0604000000000000" pitchFamily="50" charset="-127"/>
                  <a:hlinkClick r:id="rId2"/>
                </a:rPr>
                <a:t>gildong@abc.co.kr</a:t>
              </a:r>
              <a:r>
                <a:rPr lang="ko-KR" altLang="en-US" sz="9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로 </a:t>
              </a:r>
              <a:r>
                <a:rPr lang="en-US" altLang="ko-KR" sz="9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ID</a:t>
              </a:r>
              <a:r>
                <a:rPr lang="ko-KR" altLang="en-US" sz="9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를 발송하였습니다</a:t>
              </a:r>
              <a:r>
                <a:rPr lang="en-US" altLang="ko-KR" sz="9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.</a:t>
              </a:r>
              <a:endParaRPr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6" name="모서리가 둥근 직사각형 63">
              <a:extLst>
                <a:ext uri="{FF2B5EF4-FFF2-40B4-BE49-F238E27FC236}">
                  <a16:creationId xmlns:a16="http://schemas.microsoft.com/office/drawing/2014/main" id="{C9563051-32B1-0086-E228-FEE25D4479E5}"/>
                </a:ext>
              </a:extLst>
            </p:cNvPr>
            <p:cNvSpPr/>
            <p:nvPr/>
          </p:nvSpPr>
          <p:spPr bwMode="auto">
            <a:xfrm>
              <a:off x="9606485" y="5104072"/>
              <a:ext cx="807449" cy="200025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ko-KR" altLang="en-US" sz="800" dirty="0">
                  <a:ln w="0" cmpd="sng">
                    <a:solidFill>
                      <a:schemeClr val="tx2">
                        <a:satMod val="155000"/>
                        <a:alpha val="0"/>
                      </a:schemeClr>
                    </a:solidFill>
                    <a:prstDash val="solid"/>
                    <a:round/>
                  </a:ln>
                  <a:solidFill>
                    <a:schemeClr val="tx1"/>
                  </a:solidFill>
                  <a:latin typeface="나눔고딕" pitchFamily="50" charset="-127"/>
                  <a:ea typeface="나눔고딕" pitchFamily="50" charset="-127"/>
                </a:rPr>
                <a:t>확인</a:t>
              </a:r>
            </a:p>
          </p:txBody>
        </p:sp>
      </p:grpSp>
      <p:sp>
        <p:nvSpPr>
          <p:cNvPr id="48" name="Oval 109">
            <a:extLst>
              <a:ext uri="{FF2B5EF4-FFF2-40B4-BE49-F238E27FC236}">
                <a16:creationId xmlns:a16="http://schemas.microsoft.com/office/drawing/2014/main" id="{F78CC73B-BDD0-4299-DB26-520CADEB72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7581" y="2760742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1</a:t>
            </a:r>
          </a:p>
        </p:txBody>
      </p:sp>
      <p:sp>
        <p:nvSpPr>
          <p:cNvPr id="57" name="Oval 109">
            <a:extLst>
              <a:ext uri="{FF2B5EF4-FFF2-40B4-BE49-F238E27FC236}">
                <a16:creationId xmlns:a16="http://schemas.microsoft.com/office/drawing/2014/main" id="{F78CC73B-BDD0-4299-DB26-520CADEB72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32006" y="4195861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00742843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AC2EF8-3774-7445-0BC4-5708E30F6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B91E9091-5844-23E8-A837-A227C202A9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6372851"/>
              </p:ext>
            </p:extLst>
          </p:nvPr>
        </p:nvGraphicFramePr>
        <p:xfrm>
          <a:off x="9182101" y="947377"/>
          <a:ext cx="2795588" cy="2700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1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확인 버튼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성명과 휴대전화번호 정확히 입력 후 확인 버튼 선택 시 정합성 체크 후 등록 메일로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임시비밀번호 발송</a:t>
                      </a:r>
                      <a:endParaRPr lang="en-US" altLang="ko-KR" sz="800" b="0" baseline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rgbClr val="FF0000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임시비밀번호는 영문대문자</a:t>
                      </a:r>
                      <a:r>
                        <a:rPr lang="en-US" altLang="ko-KR" sz="800" b="1" dirty="0">
                          <a:solidFill>
                            <a:srgbClr val="FF0000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1" dirty="0">
                          <a:solidFill>
                            <a:srgbClr val="FF0000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소문자</a:t>
                      </a:r>
                      <a:r>
                        <a:rPr lang="en-US" altLang="ko-KR" sz="800" b="1" dirty="0">
                          <a:solidFill>
                            <a:srgbClr val="FF0000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1" dirty="0">
                          <a:solidFill>
                            <a:srgbClr val="FF0000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숫자</a:t>
                      </a:r>
                      <a:r>
                        <a:rPr lang="en-US" altLang="ko-KR" sz="800" b="1" dirty="0">
                          <a:solidFill>
                            <a:srgbClr val="FF0000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1" dirty="0">
                          <a:solidFill>
                            <a:srgbClr val="FF0000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특수문자를 </a:t>
                      </a:r>
                      <a:r>
                        <a:rPr lang="ko-KR" altLang="en-US" sz="800" b="1" dirty="0" err="1">
                          <a:solidFill>
                            <a:srgbClr val="FF0000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혼합형태로</a:t>
                      </a:r>
                      <a:r>
                        <a:rPr lang="ko-KR" altLang="en-US" sz="800" b="1" dirty="0">
                          <a:solidFill>
                            <a:srgbClr val="FF0000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발급</a:t>
                      </a:r>
                      <a:r>
                        <a:rPr lang="en-US" altLang="ko-KR" sz="800" b="1" dirty="0">
                          <a:solidFill>
                            <a:srgbClr val="FF0000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(8</a:t>
                      </a:r>
                      <a:r>
                        <a:rPr lang="ko-KR" altLang="en-US" sz="800" b="1" dirty="0">
                          <a:solidFill>
                            <a:srgbClr val="FF0000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자리</a:t>
                      </a:r>
                      <a:r>
                        <a:rPr lang="en-US" altLang="ko-KR" sz="800" b="1" dirty="0">
                          <a:solidFill>
                            <a:srgbClr val="FF0000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)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성명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또는 휴대전화번호를 잘못 입력한 경우 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Alert 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메시지 노출 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“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성명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휴대전화번호를 확인하시고 다시 시도해주시기 바랍니다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.”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684046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723838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3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172599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4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290794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5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922450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6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784800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7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0538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8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199337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9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450365"/>
                  </a:ext>
                </a:extLst>
              </a:tr>
            </a:tbl>
          </a:graphicData>
        </a:graphic>
      </p:graphicFrame>
      <p:sp>
        <p:nvSpPr>
          <p:cNvPr id="3" name="직사각형 2"/>
          <p:cNvSpPr/>
          <p:nvPr/>
        </p:nvSpPr>
        <p:spPr>
          <a:xfrm>
            <a:off x="959895" y="375614"/>
            <a:ext cx="1402948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</a:pP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메인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로그인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아이디 찾기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03996" y="123825"/>
            <a:ext cx="17303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HN_Login_Idsearch_001</a:t>
            </a:r>
            <a:endParaRPr lang="ko-KR" altLang="en-US" sz="800" dirty="0"/>
          </a:p>
        </p:txBody>
      </p:sp>
      <p:sp>
        <p:nvSpPr>
          <p:cNvPr id="18" name="TextBox 17"/>
          <p:cNvSpPr txBox="1"/>
          <p:nvPr/>
        </p:nvSpPr>
        <p:spPr>
          <a:xfrm>
            <a:off x="158621" y="1704392"/>
            <a:ext cx="314441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HOME &gt; </a:t>
            </a:r>
            <a:r>
              <a:rPr lang="ko-KR" altLang="en-US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로그인 </a:t>
            </a:r>
            <a:r>
              <a:rPr lang="en-US" altLang="ko-KR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비밀번호 찾기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62325" y="1866963"/>
            <a:ext cx="33499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비밀번호</a:t>
            </a:r>
            <a:r>
              <a:rPr lang="en-US" altLang="ko-KR" sz="4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4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찾기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0" name="모서리가 둥근 직사각형 39"/>
          <p:cNvSpPr/>
          <p:nvPr/>
        </p:nvSpPr>
        <p:spPr>
          <a:xfrm>
            <a:off x="2720845" y="3429000"/>
            <a:ext cx="3797560" cy="1781176"/>
          </a:xfrm>
          <a:prstGeom prst="roundRect">
            <a:avLst>
              <a:gd name="adj" fmla="val 3334"/>
            </a:avLst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7" name="모서리가 둥근 직사각형 63">
            <a:extLst>
              <a:ext uri="{FF2B5EF4-FFF2-40B4-BE49-F238E27FC236}">
                <a16:creationId xmlns:a16="http://schemas.microsoft.com/office/drawing/2014/main" id="{C9563051-32B1-0086-E228-FEE25D4479E5}"/>
              </a:ext>
            </a:extLst>
          </p:cNvPr>
          <p:cNvSpPr/>
          <p:nvPr/>
        </p:nvSpPr>
        <p:spPr bwMode="auto">
          <a:xfrm>
            <a:off x="3192436" y="4739465"/>
            <a:ext cx="2940077" cy="330783"/>
          </a:xfrm>
          <a:prstGeom prst="roundRect">
            <a:avLst/>
          </a:prstGeom>
          <a:solidFill>
            <a:schemeClr val="tx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000" b="1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확인</a:t>
            </a:r>
          </a:p>
        </p:txBody>
      </p:sp>
      <p:grpSp>
        <p:nvGrpSpPr>
          <p:cNvPr id="49" name="그룹 48"/>
          <p:cNvGrpSpPr/>
          <p:nvPr/>
        </p:nvGrpSpPr>
        <p:grpSpPr>
          <a:xfrm>
            <a:off x="161925" y="773452"/>
            <a:ext cx="8953500" cy="876120"/>
            <a:chOff x="161925" y="773452"/>
            <a:chExt cx="8953500" cy="876120"/>
          </a:xfrm>
        </p:grpSpPr>
        <p:sp>
          <p:nvSpPr>
            <p:cNvPr id="50" name="직사각형 49"/>
            <p:cNvSpPr/>
            <p:nvPr/>
          </p:nvSpPr>
          <p:spPr>
            <a:xfrm>
              <a:off x="4144448" y="797629"/>
              <a:ext cx="942784" cy="35821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800" b="1" dirty="0">
                  <a:solidFill>
                    <a:srgbClr val="FF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CI</a:t>
              </a:r>
            </a:p>
          </p:txBody>
        </p:sp>
        <p:cxnSp>
          <p:nvCxnSpPr>
            <p:cNvPr id="51" name="직선 연결선 50">
              <a:extLst>
                <a:ext uri="{FF2B5EF4-FFF2-40B4-BE49-F238E27FC236}">
                  <a16:creationId xmlns:a16="http://schemas.microsoft.com/office/drawing/2014/main" id="{C254A2AD-70BC-913B-F5E0-560EF17D3589}"/>
                </a:ext>
              </a:extLst>
            </p:cNvPr>
            <p:cNvCxnSpPr/>
            <p:nvPr/>
          </p:nvCxnSpPr>
          <p:spPr>
            <a:xfrm>
              <a:off x="161925" y="1649572"/>
              <a:ext cx="8953500" cy="0"/>
            </a:xfrm>
            <a:prstGeom prst="line">
              <a:avLst/>
            </a:prstGeom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TextBox 51"/>
            <p:cNvSpPr txBox="1"/>
            <p:nvPr/>
          </p:nvSpPr>
          <p:spPr>
            <a:xfrm>
              <a:off x="2031551" y="1301804"/>
              <a:ext cx="120364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하늘누리소개</a:t>
              </a: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3239720" y="1301804"/>
              <a:ext cx="9144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시설안내</a:t>
              </a: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4158640" y="1301804"/>
              <a:ext cx="9144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분양안내</a:t>
              </a: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5077560" y="1301804"/>
              <a:ext cx="119120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사이버추모관</a:t>
              </a: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6273289" y="1301804"/>
              <a:ext cx="9144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고객센터</a:t>
              </a: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8024326" y="773452"/>
              <a:ext cx="503855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b="1">
                  <a:latin typeface="나눔고딕" panose="020D0604000000000000" pitchFamily="50" charset="-127"/>
                  <a:ea typeface="나눔고딕" panose="020D0604000000000000" pitchFamily="50" charset="-127"/>
                </a:rPr>
                <a:t>로그인</a:t>
              </a:r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8472200" y="773452"/>
              <a:ext cx="58783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회원가입</a:t>
              </a:r>
            </a:p>
          </p:txBody>
        </p:sp>
      </p:grpSp>
      <p:sp>
        <p:nvSpPr>
          <p:cNvPr id="27" name="직사각형 26"/>
          <p:cNvSpPr/>
          <p:nvPr/>
        </p:nvSpPr>
        <p:spPr>
          <a:xfrm>
            <a:off x="4165922" y="2918213"/>
            <a:ext cx="942784" cy="35821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CI</a:t>
            </a:r>
          </a:p>
        </p:txBody>
      </p:sp>
      <p:sp>
        <p:nvSpPr>
          <p:cNvPr id="48" name="Oval 109">
            <a:extLst>
              <a:ext uri="{FF2B5EF4-FFF2-40B4-BE49-F238E27FC236}">
                <a16:creationId xmlns:a16="http://schemas.microsoft.com/office/drawing/2014/main" id="{F78CC73B-BDD0-4299-DB26-520CADEB72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44299" y="4621424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1</a:t>
            </a:r>
          </a:p>
        </p:txBody>
      </p:sp>
      <p:graphicFrame>
        <p:nvGraphicFramePr>
          <p:cNvPr id="29" name="표 28">
            <a:extLst>
              <a:ext uri="{FF2B5EF4-FFF2-40B4-BE49-F238E27FC236}">
                <a16:creationId xmlns:a16="http://schemas.microsoft.com/office/drawing/2014/main" id="{D6CC5FDF-6355-9F64-2689-E6F15DD1D0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5758285"/>
              </p:ext>
            </p:extLst>
          </p:nvPr>
        </p:nvGraphicFramePr>
        <p:xfrm>
          <a:off x="3192436" y="3769519"/>
          <a:ext cx="1008968" cy="841344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008968">
                  <a:extLst>
                    <a:ext uri="{9D8B030D-6E8A-4147-A177-3AD203B41FA5}">
                      <a16:colId xmlns:a16="http://schemas.microsoft.com/office/drawing/2014/main" val="1553538150"/>
                    </a:ext>
                  </a:extLst>
                </a:gridCol>
              </a:tblGrid>
              <a:tr h="42067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성명 </a:t>
                      </a:r>
                      <a:endParaRPr lang="en-US" altLang="ko-KR" sz="1100" b="1" u="none" dirty="0">
                        <a:solidFill>
                          <a:srgbClr val="FF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0268165"/>
                  </a:ext>
                </a:extLst>
              </a:tr>
              <a:tr h="42067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휴대전화번호 </a:t>
                      </a:r>
                      <a:endParaRPr lang="en-US" altLang="ko-KR" sz="1100" b="1" u="none" dirty="0">
                        <a:solidFill>
                          <a:srgbClr val="FF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5462810"/>
                  </a:ext>
                </a:extLst>
              </a:tr>
            </a:tbl>
          </a:graphicData>
        </a:graphic>
      </p:graphicFrame>
      <p:sp>
        <p:nvSpPr>
          <p:cNvPr id="30" name="직사각형 29"/>
          <p:cNvSpPr/>
          <p:nvPr/>
        </p:nvSpPr>
        <p:spPr>
          <a:xfrm>
            <a:off x="4068147" y="3831606"/>
            <a:ext cx="2064366" cy="27991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068147" y="4260631"/>
            <a:ext cx="2064366" cy="27991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4202096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AC2EF8-3774-7445-0BC4-5708E30F6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B91E9091-5844-23E8-A837-A227C202A9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2571428"/>
              </p:ext>
            </p:extLst>
          </p:nvPr>
        </p:nvGraphicFramePr>
        <p:xfrm>
          <a:off x="9182101" y="947377"/>
          <a:ext cx="2795588" cy="1847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1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임시비빌번호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메일방송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확인 팝업 노출</a:t>
                      </a: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684046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확인 선택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메인 화면으로 이동</a:t>
                      </a: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723838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3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172599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4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290794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5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922450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6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784800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7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0538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8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199337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9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450365"/>
                  </a:ext>
                </a:extLst>
              </a:tr>
            </a:tbl>
          </a:graphicData>
        </a:graphic>
      </p:graphicFrame>
      <p:sp>
        <p:nvSpPr>
          <p:cNvPr id="3" name="직사각형 2"/>
          <p:cNvSpPr/>
          <p:nvPr/>
        </p:nvSpPr>
        <p:spPr>
          <a:xfrm>
            <a:off x="959895" y="375614"/>
            <a:ext cx="1402948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</a:pP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메인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로그인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아이디 찾기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03996" y="123825"/>
            <a:ext cx="17303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HN_Login_Pwsearch_002P</a:t>
            </a:r>
            <a:endParaRPr lang="ko-KR" altLang="en-US" sz="800" dirty="0"/>
          </a:p>
        </p:txBody>
      </p:sp>
      <p:sp>
        <p:nvSpPr>
          <p:cNvPr id="18" name="TextBox 17"/>
          <p:cNvSpPr txBox="1"/>
          <p:nvPr/>
        </p:nvSpPr>
        <p:spPr>
          <a:xfrm>
            <a:off x="158621" y="1704392"/>
            <a:ext cx="314441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HOME &gt; </a:t>
            </a:r>
            <a:r>
              <a:rPr lang="ko-KR" altLang="en-US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로그인 </a:t>
            </a:r>
            <a:r>
              <a:rPr lang="en-US" altLang="ko-KR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비밀번호 찾기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62325" y="1866963"/>
            <a:ext cx="33499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비밀번호</a:t>
            </a:r>
            <a:r>
              <a:rPr lang="en-US" altLang="ko-KR" sz="4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4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찾기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0" name="모서리가 둥근 직사각형 39"/>
          <p:cNvSpPr/>
          <p:nvPr/>
        </p:nvSpPr>
        <p:spPr>
          <a:xfrm>
            <a:off x="2720845" y="3429000"/>
            <a:ext cx="3797560" cy="1781176"/>
          </a:xfrm>
          <a:prstGeom prst="roundRect">
            <a:avLst>
              <a:gd name="adj" fmla="val 3334"/>
            </a:avLst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7" name="모서리가 둥근 직사각형 63">
            <a:extLst>
              <a:ext uri="{FF2B5EF4-FFF2-40B4-BE49-F238E27FC236}">
                <a16:creationId xmlns:a16="http://schemas.microsoft.com/office/drawing/2014/main" id="{C9563051-32B1-0086-E228-FEE25D4479E5}"/>
              </a:ext>
            </a:extLst>
          </p:cNvPr>
          <p:cNvSpPr/>
          <p:nvPr/>
        </p:nvSpPr>
        <p:spPr bwMode="auto">
          <a:xfrm>
            <a:off x="3192436" y="4739465"/>
            <a:ext cx="2940077" cy="330783"/>
          </a:xfrm>
          <a:prstGeom prst="roundRect">
            <a:avLst/>
          </a:prstGeom>
          <a:solidFill>
            <a:schemeClr val="tx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000" b="1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확인</a:t>
            </a:r>
          </a:p>
        </p:txBody>
      </p:sp>
      <p:grpSp>
        <p:nvGrpSpPr>
          <p:cNvPr id="49" name="그룹 48"/>
          <p:cNvGrpSpPr/>
          <p:nvPr/>
        </p:nvGrpSpPr>
        <p:grpSpPr>
          <a:xfrm>
            <a:off x="161925" y="773452"/>
            <a:ext cx="8953500" cy="876120"/>
            <a:chOff x="161925" y="773452"/>
            <a:chExt cx="8953500" cy="876120"/>
          </a:xfrm>
        </p:grpSpPr>
        <p:sp>
          <p:nvSpPr>
            <p:cNvPr id="50" name="직사각형 49"/>
            <p:cNvSpPr/>
            <p:nvPr/>
          </p:nvSpPr>
          <p:spPr>
            <a:xfrm>
              <a:off x="4144448" y="797629"/>
              <a:ext cx="942784" cy="35821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800" b="1" dirty="0">
                  <a:solidFill>
                    <a:srgbClr val="FF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CI</a:t>
              </a:r>
            </a:p>
          </p:txBody>
        </p:sp>
        <p:cxnSp>
          <p:nvCxnSpPr>
            <p:cNvPr id="51" name="직선 연결선 50">
              <a:extLst>
                <a:ext uri="{FF2B5EF4-FFF2-40B4-BE49-F238E27FC236}">
                  <a16:creationId xmlns:a16="http://schemas.microsoft.com/office/drawing/2014/main" id="{C254A2AD-70BC-913B-F5E0-560EF17D3589}"/>
                </a:ext>
              </a:extLst>
            </p:cNvPr>
            <p:cNvCxnSpPr/>
            <p:nvPr/>
          </p:nvCxnSpPr>
          <p:spPr>
            <a:xfrm>
              <a:off x="161925" y="1649572"/>
              <a:ext cx="8953500" cy="0"/>
            </a:xfrm>
            <a:prstGeom prst="line">
              <a:avLst/>
            </a:prstGeom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TextBox 51"/>
            <p:cNvSpPr txBox="1"/>
            <p:nvPr/>
          </p:nvSpPr>
          <p:spPr>
            <a:xfrm>
              <a:off x="2031551" y="1301804"/>
              <a:ext cx="120364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하늘누리소개</a:t>
              </a: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3239720" y="1301804"/>
              <a:ext cx="9144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시설안내</a:t>
              </a: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4158640" y="1301804"/>
              <a:ext cx="9144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분양안내</a:t>
              </a: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5077560" y="1301804"/>
              <a:ext cx="119120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사이버추모관</a:t>
              </a: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6273289" y="1301804"/>
              <a:ext cx="9144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고객센터</a:t>
              </a: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8024326" y="773452"/>
              <a:ext cx="503855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b="1">
                  <a:latin typeface="나눔고딕" panose="020D0604000000000000" pitchFamily="50" charset="-127"/>
                  <a:ea typeface="나눔고딕" panose="020D0604000000000000" pitchFamily="50" charset="-127"/>
                </a:rPr>
                <a:t>로그인</a:t>
              </a:r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8472200" y="773452"/>
              <a:ext cx="58783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회원가입</a:t>
              </a:r>
            </a:p>
          </p:txBody>
        </p:sp>
      </p:grpSp>
      <p:sp>
        <p:nvSpPr>
          <p:cNvPr id="27" name="직사각형 26"/>
          <p:cNvSpPr/>
          <p:nvPr/>
        </p:nvSpPr>
        <p:spPr>
          <a:xfrm>
            <a:off x="4165922" y="2918213"/>
            <a:ext cx="942784" cy="35821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CI</a:t>
            </a:r>
          </a:p>
        </p:txBody>
      </p:sp>
      <p:graphicFrame>
        <p:nvGraphicFramePr>
          <p:cNvPr id="29" name="표 28">
            <a:extLst>
              <a:ext uri="{FF2B5EF4-FFF2-40B4-BE49-F238E27FC236}">
                <a16:creationId xmlns:a16="http://schemas.microsoft.com/office/drawing/2014/main" id="{D6CC5FDF-6355-9F64-2689-E6F15DD1D0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5758285"/>
              </p:ext>
            </p:extLst>
          </p:nvPr>
        </p:nvGraphicFramePr>
        <p:xfrm>
          <a:off x="3192436" y="3769519"/>
          <a:ext cx="1008968" cy="841344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008968">
                  <a:extLst>
                    <a:ext uri="{9D8B030D-6E8A-4147-A177-3AD203B41FA5}">
                      <a16:colId xmlns:a16="http://schemas.microsoft.com/office/drawing/2014/main" val="1553538150"/>
                    </a:ext>
                  </a:extLst>
                </a:gridCol>
              </a:tblGrid>
              <a:tr h="42067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성명 </a:t>
                      </a:r>
                      <a:endParaRPr lang="en-US" altLang="ko-KR" sz="1100" b="1" u="none" dirty="0">
                        <a:solidFill>
                          <a:srgbClr val="FF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0268165"/>
                  </a:ext>
                </a:extLst>
              </a:tr>
              <a:tr h="42067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휴대전화번호 </a:t>
                      </a:r>
                      <a:endParaRPr lang="en-US" altLang="ko-KR" sz="1100" b="1" u="none" dirty="0">
                        <a:solidFill>
                          <a:srgbClr val="FF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5462810"/>
                  </a:ext>
                </a:extLst>
              </a:tr>
            </a:tbl>
          </a:graphicData>
        </a:graphic>
      </p:graphicFrame>
      <p:sp>
        <p:nvSpPr>
          <p:cNvPr id="30" name="직사각형 29"/>
          <p:cNvSpPr/>
          <p:nvPr/>
        </p:nvSpPr>
        <p:spPr>
          <a:xfrm>
            <a:off x="4068147" y="3831606"/>
            <a:ext cx="2064366" cy="27991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068147" y="4260631"/>
            <a:ext cx="2064366" cy="27991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158621" y="690466"/>
            <a:ext cx="8956804" cy="5934270"/>
          </a:xfrm>
          <a:prstGeom prst="rect">
            <a:avLst/>
          </a:prstGeom>
          <a:solidFill>
            <a:schemeClr val="bg1">
              <a:lumMod val="95000"/>
              <a:alpha val="49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pSp>
        <p:nvGrpSpPr>
          <p:cNvPr id="61" name="그룹 60"/>
          <p:cNvGrpSpPr/>
          <p:nvPr/>
        </p:nvGrpSpPr>
        <p:grpSpPr>
          <a:xfrm>
            <a:off x="3035671" y="3031434"/>
            <a:ext cx="3206932" cy="1754154"/>
            <a:chOff x="8387670" y="3663472"/>
            <a:chExt cx="3206932" cy="1754154"/>
          </a:xfrm>
        </p:grpSpPr>
        <p:sp>
          <p:nvSpPr>
            <p:cNvPr id="62" name="모서리가 둥근 직사각형 61"/>
            <p:cNvSpPr/>
            <p:nvPr/>
          </p:nvSpPr>
          <p:spPr>
            <a:xfrm>
              <a:off x="8387670" y="3663472"/>
              <a:ext cx="3206932" cy="1754154"/>
            </a:xfrm>
            <a:prstGeom prst="roundRect">
              <a:avLst>
                <a:gd name="adj" fmla="val 3334"/>
              </a:avLst>
            </a:prstGeom>
            <a:solidFill>
              <a:schemeClr val="bg1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cxnSp>
          <p:nvCxnSpPr>
            <p:cNvPr id="63" name="직선 연결선 62"/>
            <p:cNvCxnSpPr/>
            <p:nvPr/>
          </p:nvCxnSpPr>
          <p:spPr>
            <a:xfrm flipV="1">
              <a:off x="8387670" y="3952720"/>
              <a:ext cx="3206932" cy="9331"/>
            </a:xfrm>
            <a:prstGeom prst="line">
              <a:avLst/>
            </a:prstGeom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TextBox 63"/>
            <p:cNvSpPr txBox="1"/>
            <p:nvPr/>
          </p:nvSpPr>
          <p:spPr>
            <a:xfrm>
              <a:off x="8387670" y="3700374"/>
              <a:ext cx="1024327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9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비밀번호</a:t>
              </a:r>
              <a:r>
                <a:rPr lang="en-US" altLang="ko-KR" sz="9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 </a:t>
              </a:r>
              <a:r>
                <a:rPr lang="ko-KR" altLang="en-US" sz="9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찾기</a:t>
              </a:r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11312929" y="3681780"/>
              <a:ext cx="23374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1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X</a:t>
              </a:r>
              <a:endParaRPr lang="ko-KR" altLang="en-US" sz="11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66" name="직사각형 65"/>
            <p:cNvSpPr/>
            <p:nvPr/>
          </p:nvSpPr>
          <p:spPr>
            <a:xfrm>
              <a:off x="8604521" y="4238595"/>
              <a:ext cx="2708408" cy="72182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9060030" y="4439320"/>
              <a:ext cx="19984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9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등록된 </a:t>
              </a:r>
              <a:r>
                <a:rPr lang="en-US" altLang="ko-KR" sz="900" b="1" dirty="0">
                  <a:latin typeface="나눔고딕" panose="020D0604000000000000" pitchFamily="50" charset="-127"/>
                  <a:ea typeface="나눔고딕" panose="020D0604000000000000" pitchFamily="50" charset="-127"/>
                  <a:hlinkClick r:id="rId2"/>
                </a:rPr>
                <a:t>gildong@abc.co.kr</a:t>
              </a:r>
              <a:r>
                <a:rPr lang="ko-KR" altLang="en-US" sz="9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로 </a:t>
              </a:r>
              <a:r>
                <a:rPr lang="en-US" altLang="ko-KR" sz="9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ID</a:t>
              </a:r>
              <a:r>
                <a:rPr lang="ko-KR" altLang="en-US" sz="9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를 발송하였습니다</a:t>
              </a:r>
              <a:r>
                <a:rPr lang="en-US" altLang="ko-KR" sz="9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.</a:t>
              </a:r>
              <a:endParaRPr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68" name="모서리가 둥근 직사각형 63">
              <a:extLst>
                <a:ext uri="{FF2B5EF4-FFF2-40B4-BE49-F238E27FC236}">
                  <a16:creationId xmlns:a16="http://schemas.microsoft.com/office/drawing/2014/main" id="{C9563051-32B1-0086-E228-FEE25D4479E5}"/>
                </a:ext>
              </a:extLst>
            </p:cNvPr>
            <p:cNvSpPr/>
            <p:nvPr/>
          </p:nvSpPr>
          <p:spPr bwMode="auto">
            <a:xfrm>
              <a:off x="9606485" y="5104072"/>
              <a:ext cx="807449" cy="200025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ko-KR" altLang="en-US" sz="800" dirty="0">
                  <a:ln w="0" cmpd="sng">
                    <a:solidFill>
                      <a:schemeClr val="tx2">
                        <a:satMod val="155000"/>
                        <a:alpha val="0"/>
                      </a:schemeClr>
                    </a:solidFill>
                    <a:prstDash val="solid"/>
                    <a:round/>
                  </a:ln>
                  <a:solidFill>
                    <a:schemeClr val="tx1"/>
                  </a:solidFill>
                  <a:latin typeface="나눔고딕" pitchFamily="50" charset="-127"/>
                  <a:ea typeface="나눔고딕" pitchFamily="50" charset="-127"/>
                </a:rPr>
                <a:t>확인</a:t>
              </a:r>
            </a:p>
          </p:txBody>
        </p:sp>
      </p:grpSp>
      <p:sp>
        <p:nvSpPr>
          <p:cNvPr id="57" name="Oval 109">
            <a:extLst>
              <a:ext uri="{FF2B5EF4-FFF2-40B4-BE49-F238E27FC236}">
                <a16:creationId xmlns:a16="http://schemas.microsoft.com/office/drawing/2014/main" id="{F78CC73B-BDD0-4299-DB26-520CADEB72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8949" y="3002944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1</a:t>
            </a:r>
          </a:p>
        </p:txBody>
      </p:sp>
      <p:sp>
        <p:nvSpPr>
          <p:cNvPr id="60" name="Oval 109">
            <a:extLst>
              <a:ext uri="{FF2B5EF4-FFF2-40B4-BE49-F238E27FC236}">
                <a16:creationId xmlns:a16="http://schemas.microsoft.com/office/drawing/2014/main" id="{F78CC73B-BDD0-4299-DB26-520CADEB72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33374" y="4438063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20768076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E64165-732A-09E9-5C19-15132EE002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BAC85FB-899E-BEC8-F8B4-4C2351BA6B13}"/>
              </a:ext>
            </a:extLst>
          </p:cNvPr>
          <p:cNvSpPr txBox="1"/>
          <p:nvPr/>
        </p:nvSpPr>
        <p:spPr>
          <a:xfrm>
            <a:off x="1047750" y="2476500"/>
            <a:ext cx="2390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나눔고딕" pitchFamily="2" charset="-127"/>
                <a:ea typeface="나눔고딕" pitchFamily="2" charset="-127"/>
              </a:rPr>
              <a:t>04. </a:t>
            </a:r>
            <a:r>
              <a:rPr lang="ko-KR" altLang="en-US" b="1" dirty="0">
                <a:latin typeface="나눔고딕" pitchFamily="2" charset="-127"/>
                <a:ea typeface="나눔고딕" pitchFamily="2" charset="-127"/>
              </a:rPr>
              <a:t>나의정보</a:t>
            </a:r>
          </a:p>
        </p:txBody>
      </p:sp>
    </p:spTree>
    <p:extLst>
      <p:ext uri="{BB962C8B-B14F-4D97-AF65-F5344CB8AC3E}">
        <p14:creationId xmlns:p14="http://schemas.microsoft.com/office/powerpoint/2010/main" val="82240690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AC2EF8-3774-7445-0BC4-5708E30F6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모서리가 둥근 직사각형 31"/>
          <p:cNvSpPr/>
          <p:nvPr/>
        </p:nvSpPr>
        <p:spPr>
          <a:xfrm>
            <a:off x="1988284" y="2779952"/>
            <a:ext cx="5295014" cy="2589489"/>
          </a:xfrm>
          <a:prstGeom prst="roundRect">
            <a:avLst>
              <a:gd name="adj" fmla="val 3334"/>
            </a:avLst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B91E9091-5844-23E8-A837-A227C202A9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6372851"/>
              </p:ext>
            </p:extLst>
          </p:nvPr>
        </p:nvGraphicFramePr>
        <p:xfrm>
          <a:off x="9182101" y="947377"/>
          <a:ext cx="2795588" cy="2700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1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확인 버튼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성명과 휴대전화번호 정확히 입력 후 확인 버튼 선택 시 정합성 체크 후 등록 메일로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임시비밀번호 발송</a:t>
                      </a:r>
                      <a:endParaRPr lang="en-US" altLang="ko-KR" sz="800" b="0" baseline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rgbClr val="FF0000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임시비밀번호는 영문대문자</a:t>
                      </a:r>
                      <a:r>
                        <a:rPr lang="en-US" altLang="ko-KR" sz="800" b="1" dirty="0">
                          <a:solidFill>
                            <a:srgbClr val="FF0000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1" dirty="0">
                          <a:solidFill>
                            <a:srgbClr val="FF0000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소문자</a:t>
                      </a:r>
                      <a:r>
                        <a:rPr lang="en-US" altLang="ko-KR" sz="800" b="1" dirty="0">
                          <a:solidFill>
                            <a:srgbClr val="FF0000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1" dirty="0">
                          <a:solidFill>
                            <a:srgbClr val="FF0000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숫자</a:t>
                      </a:r>
                      <a:r>
                        <a:rPr lang="en-US" altLang="ko-KR" sz="800" b="1" dirty="0">
                          <a:solidFill>
                            <a:srgbClr val="FF0000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1" dirty="0">
                          <a:solidFill>
                            <a:srgbClr val="FF0000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특수문자를 </a:t>
                      </a:r>
                      <a:r>
                        <a:rPr lang="ko-KR" altLang="en-US" sz="800" b="1" dirty="0" err="1">
                          <a:solidFill>
                            <a:srgbClr val="FF0000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혼합형태로</a:t>
                      </a:r>
                      <a:r>
                        <a:rPr lang="ko-KR" altLang="en-US" sz="800" b="1" dirty="0">
                          <a:solidFill>
                            <a:srgbClr val="FF0000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발급</a:t>
                      </a:r>
                      <a:r>
                        <a:rPr lang="en-US" altLang="ko-KR" sz="800" b="1" dirty="0">
                          <a:solidFill>
                            <a:srgbClr val="FF0000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(8</a:t>
                      </a:r>
                      <a:r>
                        <a:rPr lang="ko-KR" altLang="en-US" sz="800" b="1" dirty="0">
                          <a:solidFill>
                            <a:srgbClr val="FF0000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자리</a:t>
                      </a:r>
                      <a:r>
                        <a:rPr lang="en-US" altLang="ko-KR" sz="800" b="1" dirty="0">
                          <a:solidFill>
                            <a:srgbClr val="FF0000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)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성명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또는 휴대전화번호를 잘못 입력한 경우 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Alert 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메시지 노출 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“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성명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휴대전화번호를 확인하시고 다시 시도해주시기 바랍니다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.”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684046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723838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3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172599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4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290794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5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922450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6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784800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7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0538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8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199337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9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450365"/>
                  </a:ext>
                </a:extLst>
              </a:tr>
            </a:tbl>
          </a:graphicData>
        </a:graphic>
      </p:graphicFrame>
      <p:sp>
        <p:nvSpPr>
          <p:cNvPr id="3" name="직사각형 2"/>
          <p:cNvSpPr/>
          <p:nvPr/>
        </p:nvSpPr>
        <p:spPr>
          <a:xfrm>
            <a:off x="959895" y="375614"/>
            <a:ext cx="875561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</a:pP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메인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나의정보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03996" y="123825"/>
            <a:ext cx="17303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HN_MemInfo_View_001</a:t>
            </a:r>
            <a:endParaRPr lang="ko-KR" altLang="en-US" sz="800" dirty="0"/>
          </a:p>
        </p:txBody>
      </p:sp>
      <p:sp>
        <p:nvSpPr>
          <p:cNvPr id="18" name="TextBox 17"/>
          <p:cNvSpPr txBox="1"/>
          <p:nvPr/>
        </p:nvSpPr>
        <p:spPr>
          <a:xfrm>
            <a:off x="158621" y="1704392"/>
            <a:ext cx="314441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HOME &gt; </a:t>
            </a:r>
            <a:r>
              <a:rPr lang="ko-KR" altLang="en-US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나의정보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62325" y="1866963"/>
            <a:ext cx="33499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나의정보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pSp>
        <p:nvGrpSpPr>
          <p:cNvPr id="4" name="그룹 3"/>
          <p:cNvGrpSpPr/>
          <p:nvPr/>
        </p:nvGrpSpPr>
        <p:grpSpPr>
          <a:xfrm>
            <a:off x="161925" y="797629"/>
            <a:ext cx="8953500" cy="851943"/>
            <a:chOff x="161925" y="797629"/>
            <a:chExt cx="8953500" cy="851943"/>
          </a:xfrm>
        </p:grpSpPr>
        <p:sp>
          <p:nvSpPr>
            <p:cNvPr id="50" name="직사각형 49"/>
            <p:cNvSpPr/>
            <p:nvPr/>
          </p:nvSpPr>
          <p:spPr>
            <a:xfrm>
              <a:off x="4144448" y="797629"/>
              <a:ext cx="942784" cy="35821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800" b="1" dirty="0">
                  <a:solidFill>
                    <a:srgbClr val="FF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CI</a:t>
              </a:r>
            </a:p>
          </p:txBody>
        </p:sp>
        <p:cxnSp>
          <p:nvCxnSpPr>
            <p:cNvPr id="51" name="직선 연결선 50">
              <a:extLst>
                <a:ext uri="{FF2B5EF4-FFF2-40B4-BE49-F238E27FC236}">
                  <a16:creationId xmlns:a16="http://schemas.microsoft.com/office/drawing/2014/main" id="{C254A2AD-70BC-913B-F5E0-560EF17D3589}"/>
                </a:ext>
              </a:extLst>
            </p:cNvPr>
            <p:cNvCxnSpPr/>
            <p:nvPr/>
          </p:nvCxnSpPr>
          <p:spPr>
            <a:xfrm>
              <a:off x="161925" y="1649572"/>
              <a:ext cx="8953500" cy="0"/>
            </a:xfrm>
            <a:prstGeom prst="line">
              <a:avLst/>
            </a:prstGeom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TextBox 51"/>
            <p:cNvSpPr txBox="1"/>
            <p:nvPr/>
          </p:nvSpPr>
          <p:spPr>
            <a:xfrm>
              <a:off x="2031551" y="1301804"/>
              <a:ext cx="120364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하늘누리소개</a:t>
              </a: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3239720" y="1301804"/>
              <a:ext cx="9144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시설안내</a:t>
              </a: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4158640" y="1301804"/>
              <a:ext cx="9144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분양안내</a:t>
              </a: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5077560" y="1301804"/>
              <a:ext cx="119120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사이버추모관</a:t>
              </a: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6273289" y="1301804"/>
              <a:ext cx="9144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고객센터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7734300" y="804624"/>
              <a:ext cx="79388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비밀번호변경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8472200" y="804624"/>
              <a:ext cx="58783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로그아웃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7203231" y="804624"/>
              <a:ext cx="65313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나의정보</a:t>
              </a:r>
            </a:p>
          </p:txBody>
        </p:sp>
      </p:grpSp>
      <p:graphicFrame>
        <p:nvGraphicFramePr>
          <p:cNvPr id="28" name="표 27">
            <a:extLst>
              <a:ext uri="{FF2B5EF4-FFF2-40B4-BE49-F238E27FC236}">
                <a16:creationId xmlns:a16="http://schemas.microsoft.com/office/drawing/2014/main" id="{D6CC5FDF-6355-9F64-2689-E6F15DD1D0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1477040"/>
              </p:ext>
            </p:extLst>
          </p:nvPr>
        </p:nvGraphicFramePr>
        <p:xfrm>
          <a:off x="2371060" y="2895784"/>
          <a:ext cx="4518838" cy="1682688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566301">
                  <a:extLst>
                    <a:ext uri="{9D8B030D-6E8A-4147-A177-3AD203B41FA5}">
                      <a16:colId xmlns:a16="http://schemas.microsoft.com/office/drawing/2014/main" val="1553538150"/>
                    </a:ext>
                  </a:extLst>
                </a:gridCol>
                <a:gridCol w="2952537">
                  <a:extLst>
                    <a:ext uri="{9D8B030D-6E8A-4147-A177-3AD203B41FA5}">
                      <a16:colId xmlns:a16="http://schemas.microsoft.com/office/drawing/2014/main" val="1005073696"/>
                    </a:ext>
                  </a:extLst>
                </a:gridCol>
              </a:tblGrid>
              <a:tr h="42067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아이디 </a:t>
                      </a:r>
                      <a:endParaRPr lang="en-US" altLang="ko-KR" sz="1000" b="1" u="none" dirty="0">
                        <a:solidFill>
                          <a:srgbClr val="FF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gildong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0268165"/>
                  </a:ext>
                </a:extLst>
              </a:tr>
              <a:tr h="42067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이름 </a:t>
                      </a:r>
                      <a:endParaRPr lang="en-US" altLang="ko-KR" sz="1000" b="1" u="none" dirty="0">
                        <a:solidFill>
                          <a:srgbClr val="FF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홍길동</a:t>
                      </a:r>
                      <a:endParaRPr lang="en-US" altLang="ko-KR" sz="10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1090331"/>
                  </a:ext>
                </a:extLst>
              </a:tr>
              <a:tr h="42067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휴대전화 </a:t>
                      </a:r>
                      <a:endParaRPr lang="en-US" altLang="ko-KR" sz="1000" b="1" u="none" dirty="0">
                        <a:solidFill>
                          <a:srgbClr val="FF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010-8888-7777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0626559"/>
                  </a:ext>
                </a:extLst>
              </a:tr>
              <a:tr h="42067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E-Mail </a:t>
                      </a:r>
                      <a:endParaRPr lang="en-US" altLang="ko-KR" sz="1000" b="1" u="none" dirty="0">
                        <a:solidFill>
                          <a:srgbClr val="FF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gildong@abc.co.kr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0662131"/>
                  </a:ext>
                </a:extLst>
              </a:tr>
            </a:tbl>
          </a:graphicData>
        </a:graphic>
      </p:graphicFrame>
      <p:sp>
        <p:nvSpPr>
          <p:cNvPr id="33" name="모서리가 둥근 직사각형 63">
            <a:extLst>
              <a:ext uri="{FF2B5EF4-FFF2-40B4-BE49-F238E27FC236}">
                <a16:creationId xmlns:a16="http://schemas.microsoft.com/office/drawing/2014/main" id="{C9563051-32B1-0086-E228-FEE25D4479E5}"/>
              </a:ext>
            </a:extLst>
          </p:cNvPr>
          <p:cNvSpPr/>
          <p:nvPr/>
        </p:nvSpPr>
        <p:spPr bwMode="auto">
          <a:xfrm>
            <a:off x="4934817" y="4968493"/>
            <a:ext cx="1037243" cy="276024"/>
          </a:xfrm>
          <a:prstGeom prst="roundRect">
            <a:avLst/>
          </a:prstGeom>
          <a:solidFill>
            <a:schemeClr val="tx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000" b="1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나의정보 수정</a:t>
            </a:r>
          </a:p>
        </p:txBody>
      </p:sp>
      <p:sp>
        <p:nvSpPr>
          <p:cNvPr id="34" name="모서리가 둥근 직사각형 63">
            <a:extLst>
              <a:ext uri="{FF2B5EF4-FFF2-40B4-BE49-F238E27FC236}">
                <a16:creationId xmlns:a16="http://schemas.microsoft.com/office/drawing/2014/main" id="{C9563051-32B1-0086-E228-FEE25D4479E5}"/>
              </a:ext>
            </a:extLst>
          </p:cNvPr>
          <p:cNvSpPr/>
          <p:nvPr/>
        </p:nvSpPr>
        <p:spPr bwMode="auto">
          <a:xfrm>
            <a:off x="6057468" y="4968493"/>
            <a:ext cx="1037243" cy="276024"/>
          </a:xfrm>
          <a:prstGeom prst="roundRect">
            <a:avLst/>
          </a:prstGeom>
          <a:solidFill>
            <a:schemeClr val="tx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000" b="1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비밀번호</a:t>
            </a:r>
            <a:r>
              <a:rPr kumimoji="1" lang="en-US" altLang="ko-KR" sz="1000" b="1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 </a:t>
            </a:r>
            <a:r>
              <a:rPr kumimoji="1" lang="ko-KR" altLang="en-US" sz="1000" b="1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변경</a:t>
            </a:r>
          </a:p>
        </p:txBody>
      </p:sp>
    </p:spTree>
    <p:extLst>
      <p:ext uri="{BB962C8B-B14F-4D97-AF65-F5344CB8AC3E}">
        <p14:creationId xmlns:p14="http://schemas.microsoft.com/office/powerpoint/2010/main" val="40307042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AC2EF8-3774-7445-0BC4-5708E30F6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모서리가 둥근 직사각형 30"/>
          <p:cNvSpPr/>
          <p:nvPr/>
        </p:nvSpPr>
        <p:spPr>
          <a:xfrm>
            <a:off x="1744464" y="2827866"/>
            <a:ext cx="5824818" cy="2626636"/>
          </a:xfrm>
          <a:prstGeom prst="roundRect">
            <a:avLst>
              <a:gd name="adj" fmla="val 3334"/>
            </a:avLst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B91E9091-5844-23E8-A837-A227C202A9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6254827"/>
              </p:ext>
            </p:extLst>
          </p:nvPr>
        </p:nvGraphicFramePr>
        <p:xfrm>
          <a:off x="9182101" y="947377"/>
          <a:ext cx="2795588" cy="2334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1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변경 가능한 나의 정보는 휴대전화 번호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E-Mail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정보</a:t>
                      </a: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684046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취소 버튼 선택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입력내용을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저장하지 않고 나의 정보 화면으로 이동</a:t>
                      </a: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723838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3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정보 변경 후 확인 버튼 선택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정합성 체크 후 나의 정보 변경됨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휴대전화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이메일이 입력되지 않은 경우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Alert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메시지 노출 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“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다시 한번 입력항목을 확인해 주세요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.”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172599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4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290794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5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922450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6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784800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7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0538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8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199337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9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450365"/>
                  </a:ext>
                </a:extLst>
              </a:tr>
            </a:tbl>
          </a:graphicData>
        </a:graphic>
      </p:graphicFrame>
      <p:sp>
        <p:nvSpPr>
          <p:cNvPr id="3" name="직사각형 2"/>
          <p:cNvSpPr/>
          <p:nvPr/>
        </p:nvSpPr>
        <p:spPr>
          <a:xfrm>
            <a:off x="959895" y="375614"/>
            <a:ext cx="1595309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</a:pP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메인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나의정보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나의정보 수정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03996" y="123825"/>
            <a:ext cx="17303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HN_MemInfo_Modi_001</a:t>
            </a:r>
            <a:endParaRPr lang="ko-KR" altLang="en-US" sz="800" dirty="0"/>
          </a:p>
        </p:txBody>
      </p:sp>
      <p:sp>
        <p:nvSpPr>
          <p:cNvPr id="18" name="TextBox 17"/>
          <p:cNvSpPr txBox="1"/>
          <p:nvPr/>
        </p:nvSpPr>
        <p:spPr>
          <a:xfrm>
            <a:off x="158621" y="1704392"/>
            <a:ext cx="314441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HOME &gt; </a:t>
            </a:r>
            <a:r>
              <a:rPr lang="ko-KR" altLang="en-US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나의정보 </a:t>
            </a:r>
            <a:r>
              <a:rPr lang="en-US" altLang="ko-KR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나의정보 수정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62325" y="1866963"/>
            <a:ext cx="33499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나의정보 수정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pSp>
        <p:nvGrpSpPr>
          <p:cNvPr id="4" name="그룹 3"/>
          <p:cNvGrpSpPr/>
          <p:nvPr/>
        </p:nvGrpSpPr>
        <p:grpSpPr>
          <a:xfrm>
            <a:off x="161925" y="797629"/>
            <a:ext cx="8953500" cy="851943"/>
            <a:chOff x="161925" y="797629"/>
            <a:chExt cx="8953500" cy="851943"/>
          </a:xfrm>
        </p:grpSpPr>
        <p:sp>
          <p:nvSpPr>
            <p:cNvPr id="50" name="직사각형 49"/>
            <p:cNvSpPr/>
            <p:nvPr/>
          </p:nvSpPr>
          <p:spPr>
            <a:xfrm>
              <a:off x="4144448" y="797629"/>
              <a:ext cx="942784" cy="35821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800" b="1" dirty="0">
                  <a:solidFill>
                    <a:srgbClr val="FF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CI</a:t>
              </a:r>
            </a:p>
          </p:txBody>
        </p:sp>
        <p:cxnSp>
          <p:nvCxnSpPr>
            <p:cNvPr id="51" name="직선 연결선 50">
              <a:extLst>
                <a:ext uri="{FF2B5EF4-FFF2-40B4-BE49-F238E27FC236}">
                  <a16:creationId xmlns:a16="http://schemas.microsoft.com/office/drawing/2014/main" id="{C254A2AD-70BC-913B-F5E0-560EF17D3589}"/>
                </a:ext>
              </a:extLst>
            </p:cNvPr>
            <p:cNvCxnSpPr/>
            <p:nvPr/>
          </p:nvCxnSpPr>
          <p:spPr>
            <a:xfrm>
              <a:off x="161925" y="1649572"/>
              <a:ext cx="8953500" cy="0"/>
            </a:xfrm>
            <a:prstGeom prst="line">
              <a:avLst/>
            </a:prstGeom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TextBox 51"/>
            <p:cNvSpPr txBox="1"/>
            <p:nvPr/>
          </p:nvSpPr>
          <p:spPr>
            <a:xfrm>
              <a:off x="2031551" y="1301804"/>
              <a:ext cx="120364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하늘누리소개</a:t>
              </a: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3239720" y="1301804"/>
              <a:ext cx="9144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시설안내</a:t>
              </a: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4158640" y="1301804"/>
              <a:ext cx="9144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분양안내</a:t>
              </a: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5077560" y="1301804"/>
              <a:ext cx="119120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사이버추모관</a:t>
              </a: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6273289" y="1301804"/>
              <a:ext cx="9144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고객센터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7734300" y="804624"/>
              <a:ext cx="79388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비밀번호변경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8472200" y="804624"/>
              <a:ext cx="58783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로그아웃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7203231" y="804624"/>
              <a:ext cx="65313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나의정보</a:t>
              </a:r>
            </a:p>
          </p:txBody>
        </p:sp>
      </p:grpSp>
      <p:graphicFrame>
        <p:nvGraphicFramePr>
          <p:cNvPr id="22" name="표 21">
            <a:extLst>
              <a:ext uri="{FF2B5EF4-FFF2-40B4-BE49-F238E27FC236}">
                <a16:creationId xmlns:a16="http://schemas.microsoft.com/office/drawing/2014/main" id="{D6CC5FDF-6355-9F64-2689-E6F15DD1D0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3158669"/>
              </p:ext>
            </p:extLst>
          </p:nvPr>
        </p:nvGraphicFramePr>
        <p:xfrm>
          <a:off x="2399413" y="2919884"/>
          <a:ext cx="2244558" cy="1682688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122279">
                  <a:extLst>
                    <a:ext uri="{9D8B030D-6E8A-4147-A177-3AD203B41FA5}">
                      <a16:colId xmlns:a16="http://schemas.microsoft.com/office/drawing/2014/main" val="1553538150"/>
                    </a:ext>
                  </a:extLst>
                </a:gridCol>
                <a:gridCol w="1122279">
                  <a:extLst>
                    <a:ext uri="{9D8B030D-6E8A-4147-A177-3AD203B41FA5}">
                      <a16:colId xmlns:a16="http://schemas.microsoft.com/office/drawing/2014/main" val="445445047"/>
                    </a:ext>
                  </a:extLst>
                </a:gridCol>
              </a:tblGrid>
              <a:tr h="42067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아이디 </a:t>
                      </a:r>
                      <a:endParaRPr lang="en-US" altLang="ko-KR" sz="1000" b="1" u="none" dirty="0">
                        <a:solidFill>
                          <a:srgbClr val="FF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gildong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0268165"/>
                  </a:ext>
                </a:extLst>
              </a:tr>
              <a:tr h="42067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이름 </a:t>
                      </a:r>
                      <a:endParaRPr lang="en-US" altLang="ko-KR" sz="1000" b="1" u="none" dirty="0">
                        <a:solidFill>
                          <a:srgbClr val="FF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홍길동</a:t>
                      </a:r>
                      <a:endParaRPr lang="en-US" altLang="ko-KR" sz="10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1090331"/>
                  </a:ext>
                </a:extLst>
              </a:tr>
              <a:tr h="42067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휴대전화 </a:t>
                      </a:r>
                      <a:r>
                        <a:rPr lang="en-US" altLang="ko-KR" sz="1000" b="1" u="none" dirty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*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1" u="none" dirty="0">
                        <a:solidFill>
                          <a:srgbClr val="FF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0626559"/>
                  </a:ext>
                </a:extLst>
              </a:tr>
              <a:tr h="42067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E-Mail </a:t>
                      </a:r>
                      <a:r>
                        <a:rPr lang="en-US" altLang="ko-KR" sz="1000" b="1" u="none" dirty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*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1" u="none" dirty="0">
                        <a:solidFill>
                          <a:srgbClr val="FF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0662131"/>
                  </a:ext>
                </a:extLst>
              </a:tr>
            </a:tbl>
          </a:graphicData>
        </a:graphic>
      </p:graphicFrame>
      <p:sp>
        <p:nvSpPr>
          <p:cNvPr id="29" name="모서리가 둥근 직사각형 63">
            <a:extLst>
              <a:ext uri="{FF2B5EF4-FFF2-40B4-BE49-F238E27FC236}">
                <a16:creationId xmlns:a16="http://schemas.microsoft.com/office/drawing/2014/main" id="{C9563051-32B1-0086-E228-FEE25D4479E5}"/>
              </a:ext>
            </a:extLst>
          </p:cNvPr>
          <p:cNvSpPr/>
          <p:nvPr/>
        </p:nvSpPr>
        <p:spPr bwMode="auto">
          <a:xfrm>
            <a:off x="4621867" y="4984238"/>
            <a:ext cx="1528420" cy="330783"/>
          </a:xfrm>
          <a:prstGeom prst="roundRect">
            <a:avLst/>
          </a:prstGeom>
          <a:solidFill>
            <a:schemeClr val="tx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000" b="1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확인</a:t>
            </a:r>
          </a:p>
        </p:txBody>
      </p:sp>
      <p:sp>
        <p:nvSpPr>
          <p:cNvPr id="30" name="모서리가 둥근 직사각형 63">
            <a:extLst>
              <a:ext uri="{FF2B5EF4-FFF2-40B4-BE49-F238E27FC236}">
                <a16:creationId xmlns:a16="http://schemas.microsoft.com/office/drawing/2014/main" id="{C9563051-32B1-0086-E228-FEE25D4479E5}"/>
              </a:ext>
            </a:extLst>
          </p:cNvPr>
          <p:cNvSpPr/>
          <p:nvPr/>
        </p:nvSpPr>
        <p:spPr bwMode="auto">
          <a:xfrm>
            <a:off x="2970020" y="4984238"/>
            <a:ext cx="1528420" cy="330783"/>
          </a:xfrm>
          <a:prstGeom prst="roundRect">
            <a:avLst/>
          </a:prstGeom>
          <a:solidFill>
            <a:schemeClr val="bg1">
              <a:lumMod val="50000"/>
            </a:schemeClr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000" b="1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취소</a:t>
            </a:r>
          </a:p>
        </p:txBody>
      </p:sp>
      <p:sp>
        <p:nvSpPr>
          <p:cNvPr id="36" name="직사각형 35"/>
          <p:cNvSpPr/>
          <p:nvPr/>
        </p:nvSpPr>
        <p:spPr>
          <a:xfrm>
            <a:off x="3401305" y="3826244"/>
            <a:ext cx="1097473" cy="27991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010</a:t>
            </a:r>
            <a:endParaRPr lang="ko-KR" altLang="en-US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5885799" y="4214111"/>
            <a:ext cx="1157414" cy="27991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직접입력</a:t>
            </a:r>
          </a:p>
        </p:txBody>
      </p:sp>
      <p:sp>
        <p:nvSpPr>
          <p:cNvPr id="38" name="직사각형 37"/>
          <p:cNvSpPr/>
          <p:nvPr/>
        </p:nvSpPr>
        <p:spPr>
          <a:xfrm>
            <a:off x="4673522" y="3826244"/>
            <a:ext cx="1097473" cy="27991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8888</a:t>
            </a:r>
            <a:endParaRPr lang="ko-KR" altLang="en-US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9" name="직사각형 38"/>
          <p:cNvSpPr/>
          <p:nvPr/>
        </p:nvSpPr>
        <p:spPr>
          <a:xfrm>
            <a:off x="5917240" y="3826244"/>
            <a:ext cx="1097473" cy="27991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9999</a:t>
            </a:r>
            <a:endParaRPr lang="ko-KR" altLang="en-US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4434624" y="3846546"/>
            <a:ext cx="1891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endParaRPr lang="ko-KR" altLang="en-US" sz="14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5713463" y="3827460"/>
            <a:ext cx="1891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endParaRPr lang="ko-KR" altLang="en-US" sz="14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2" name="직사각형 41"/>
          <p:cNvSpPr/>
          <p:nvPr/>
        </p:nvSpPr>
        <p:spPr>
          <a:xfrm>
            <a:off x="3401305" y="3826571"/>
            <a:ext cx="1097473" cy="27991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010</a:t>
            </a:r>
            <a:endParaRPr lang="ko-KR" altLang="en-US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3401305" y="4214111"/>
            <a:ext cx="1097473" cy="27991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gildong</a:t>
            </a:r>
            <a:endParaRPr lang="ko-KR" altLang="en-US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4" name="직사각형 43"/>
          <p:cNvSpPr/>
          <p:nvPr/>
        </p:nvSpPr>
        <p:spPr>
          <a:xfrm>
            <a:off x="4673522" y="3826571"/>
            <a:ext cx="1097473" cy="27991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8888</a:t>
            </a:r>
            <a:endParaRPr lang="ko-KR" altLang="en-US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5" name="직사각형 44"/>
          <p:cNvSpPr/>
          <p:nvPr/>
        </p:nvSpPr>
        <p:spPr>
          <a:xfrm>
            <a:off x="5917240" y="3826571"/>
            <a:ext cx="1097473" cy="27991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9999</a:t>
            </a:r>
            <a:endParaRPr lang="ko-KR" altLang="en-US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4466523" y="3846873"/>
            <a:ext cx="1891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endParaRPr lang="ko-KR" altLang="en-US" sz="14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5713463" y="3827787"/>
            <a:ext cx="1891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endParaRPr lang="ko-KR" altLang="en-US" sz="14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4439413" y="4214111"/>
            <a:ext cx="3335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@</a:t>
            </a:r>
            <a:endParaRPr lang="ko-KR" altLang="en-US" sz="14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6788557" y="4214111"/>
            <a:ext cx="255181" cy="27954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▼</a:t>
            </a:r>
          </a:p>
        </p:txBody>
      </p:sp>
      <p:sp>
        <p:nvSpPr>
          <p:cNvPr id="57" name="직사각형 56"/>
          <p:cNvSpPr/>
          <p:nvPr/>
        </p:nvSpPr>
        <p:spPr>
          <a:xfrm>
            <a:off x="4740369" y="4214111"/>
            <a:ext cx="1097473" cy="27991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abc.co.kr</a:t>
            </a:r>
            <a:endParaRPr lang="ko-KR" altLang="en-US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8" name="Oval 109">
            <a:extLst>
              <a:ext uri="{FF2B5EF4-FFF2-40B4-BE49-F238E27FC236}">
                <a16:creationId xmlns:a16="http://schemas.microsoft.com/office/drawing/2014/main" id="{F78CC73B-BDD0-4299-DB26-520CADEB72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0020" y="4867094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2</a:t>
            </a:r>
          </a:p>
        </p:txBody>
      </p:sp>
      <p:sp>
        <p:nvSpPr>
          <p:cNvPr id="59" name="Oval 109">
            <a:extLst>
              <a:ext uri="{FF2B5EF4-FFF2-40B4-BE49-F238E27FC236}">
                <a16:creationId xmlns:a16="http://schemas.microsoft.com/office/drawing/2014/main" id="{F78CC73B-BDD0-4299-DB26-520CADEB72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22754" y="2787874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1</a:t>
            </a:r>
          </a:p>
        </p:txBody>
      </p:sp>
      <p:sp>
        <p:nvSpPr>
          <p:cNvPr id="60" name="Oval 109">
            <a:extLst>
              <a:ext uri="{FF2B5EF4-FFF2-40B4-BE49-F238E27FC236}">
                <a16:creationId xmlns:a16="http://schemas.microsoft.com/office/drawing/2014/main" id="{F78CC73B-BDD0-4299-DB26-520CADEB72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21867" y="4897838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77257986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AC2EF8-3774-7445-0BC4-5708E30F6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모서리가 둥근 직사각형 30"/>
          <p:cNvSpPr/>
          <p:nvPr/>
        </p:nvSpPr>
        <p:spPr>
          <a:xfrm>
            <a:off x="1744464" y="2827866"/>
            <a:ext cx="5824818" cy="2626636"/>
          </a:xfrm>
          <a:prstGeom prst="roundRect">
            <a:avLst>
              <a:gd name="adj" fmla="val 3334"/>
            </a:avLst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B91E9091-5844-23E8-A837-A227C202A9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4652127"/>
              </p:ext>
            </p:extLst>
          </p:nvPr>
        </p:nvGraphicFramePr>
        <p:xfrm>
          <a:off x="9182101" y="947377"/>
          <a:ext cx="2795588" cy="1847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1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확인 버튼 선택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나의정보 화면으로 이동</a:t>
                      </a: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684046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723838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3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172599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4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290794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5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922450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6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784800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7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0538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8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199337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9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450365"/>
                  </a:ext>
                </a:extLst>
              </a:tr>
            </a:tbl>
          </a:graphicData>
        </a:graphic>
      </p:graphicFrame>
      <p:sp>
        <p:nvSpPr>
          <p:cNvPr id="3" name="직사각형 2"/>
          <p:cNvSpPr/>
          <p:nvPr/>
        </p:nvSpPr>
        <p:spPr>
          <a:xfrm>
            <a:off x="959895" y="375614"/>
            <a:ext cx="1595309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</a:pP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메인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나의정보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나의정보 수정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03996" y="123825"/>
            <a:ext cx="17303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HN_MemInfo_Modi_002P</a:t>
            </a:r>
            <a:endParaRPr lang="ko-KR" altLang="en-US" sz="800" dirty="0"/>
          </a:p>
        </p:txBody>
      </p:sp>
      <p:sp>
        <p:nvSpPr>
          <p:cNvPr id="18" name="TextBox 17"/>
          <p:cNvSpPr txBox="1"/>
          <p:nvPr/>
        </p:nvSpPr>
        <p:spPr>
          <a:xfrm>
            <a:off x="158621" y="1704392"/>
            <a:ext cx="314441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HOME &gt; </a:t>
            </a:r>
            <a:r>
              <a:rPr lang="ko-KR" altLang="en-US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나의정보 </a:t>
            </a:r>
            <a:r>
              <a:rPr lang="en-US" altLang="ko-KR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나의정보 수정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62325" y="1866963"/>
            <a:ext cx="33499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나의정보 수정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pSp>
        <p:nvGrpSpPr>
          <p:cNvPr id="4" name="그룹 3"/>
          <p:cNvGrpSpPr/>
          <p:nvPr/>
        </p:nvGrpSpPr>
        <p:grpSpPr>
          <a:xfrm>
            <a:off x="161925" y="797629"/>
            <a:ext cx="8953500" cy="851943"/>
            <a:chOff x="161925" y="797629"/>
            <a:chExt cx="8953500" cy="851943"/>
          </a:xfrm>
        </p:grpSpPr>
        <p:sp>
          <p:nvSpPr>
            <p:cNvPr id="50" name="직사각형 49"/>
            <p:cNvSpPr/>
            <p:nvPr/>
          </p:nvSpPr>
          <p:spPr>
            <a:xfrm>
              <a:off x="4144448" y="797629"/>
              <a:ext cx="942784" cy="35821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800" b="1" dirty="0">
                  <a:solidFill>
                    <a:srgbClr val="FF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CI</a:t>
              </a:r>
            </a:p>
          </p:txBody>
        </p:sp>
        <p:cxnSp>
          <p:nvCxnSpPr>
            <p:cNvPr id="51" name="직선 연결선 50">
              <a:extLst>
                <a:ext uri="{FF2B5EF4-FFF2-40B4-BE49-F238E27FC236}">
                  <a16:creationId xmlns:a16="http://schemas.microsoft.com/office/drawing/2014/main" id="{C254A2AD-70BC-913B-F5E0-560EF17D3589}"/>
                </a:ext>
              </a:extLst>
            </p:cNvPr>
            <p:cNvCxnSpPr/>
            <p:nvPr/>
          </p:nvCxnSpPr>
          <p:spPr>
            <a:xfrm>
              <a:off x="161925" y="1649572"/>
              <a:ext cx="8953500" cy="0"/>
            </a:xfrm>
            <a:prstGeom prst="line">
              <a:avLst/>
            </a:prstGeom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TextBox 51"/>
            <p:cNvSpPr txBox="1"/>
            <p:nvPr/>
          </p:nvSpPr>
          <p:spPr>
            <a:xfrm>
              <a:off x="2031551" y="1301804"/>
              <a:ext cx="120364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하늘누리소개</a:t>
              </a: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3239720" y="1301804"/>
              <a:ext cx="9144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시설안내</a:t>
              </a: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4158640" y="1301804"/>
              <a:ext cx="9144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분양안내</a:t>
              </a: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5077560" y="1301804"/>
              <a:ext cx="119120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사이버추모관</a:t>
              </a: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6273289" y="1301804"/>
              <a:ext cx="9144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고객센터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7734300" y="804624"/>
              <a:ext cx="79388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비밀번호변경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8472200" y="804624"/>
              <a:ext cx="58783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로그아웃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7203231" y="804624"/>
              <a:ext cx="65313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나의정보</a:t>
              </a:r>
            </a:p>
          </p:txBody>
        </p:sp>
      </p:grpSp>
      <p:graphicFrame>
        <p:nvGraphicFramePr>
          <p:cNvPr id="22" name="표 21">
            <a:extLst>
              <a:ext uri="{FF2B5EF4-FFF2-40B4-BE49-F238E27FC236}">
                <a16:creationId xmlns:a16="http://schemas.microsoft.com/office/drawing/2014/main" id="{D6CC5FDF-6355-9F64-2689-E6F15DD1D0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3158669"/>
              </p:ext>
            </p:extLst>
          </p:nvPr>
        </p:nvGraphicFramePr>
        <p:xfrm>
          <a:off x="2399413" y="2919884"/>
          <a:ext cx="2244558" cy="1682688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122279">
                  <a:extLst>
                    <a:ext uri="{9D8B030D-6E8A-4147-A177-3AD203B41FA5}">
                      <a16:colId xmlns:a16="http://schemas.microsoft.com/office/drawing/2014/main" val="1553538150"/>
                    </a:ext>
                  </a:extLst>
                </a:gridCol>
                <a:gridCol w="1122279">
                  <a:extLst>
                    <a:ext uri="{9D8B030D-6E8A-4147-A177-3AD203B41FA5}">
                      <a16:colId xmlns:a16="http://schemas.microsoft.com/office/drawing/2014/main" val="445445047"/>
                    </a:ext>
                  </a:extLst>
                </a:gridCol>
              </a:tblGrid>
              <a:tr h="42067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아이디 </a:t>
                      </a:r>
                      <a:endParaRPr lang="en-US" altLang="ko-KR" sz="1000" b="1" u="none" dirty="0">
                        <a:solidFill>
                          <a:srgbClr val="FF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gildong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0268165"/>
                  </a:ext>
                </a:extLst>
              </a:tr>
              <a:tr h="42067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이름 </a:t>
                      </a:r>
                      <a:endParaRPr lang="en-US" altLang="ko-KR" sz="1000" b="1" u="none" dirty="0">
                        <a:solidFill>
                          <a:srgbClr val="FF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홍길동</a:t>
                      </a:r>
                      <a:endParaRPr lang="en-US" altLang="ko-KR" sz="10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1090331"/>
                  </a:ext>
                </a:extLst>
              </a:tr>
              <a:tr h="42067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휴대전화 </a:t>
                      </a:r>
                      <a:r>
                        <a:rPr lang="en-US" altLang="ko-KR" sz="1000" b="1" u="none" dirty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*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1" u="none" dirty="0">
                        <a:solidFill>
                          <a:srgbClr val="FF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0626559"/>
                  </a:ext>
                </a:extLst>
              </a:tr>
              <a:tr h="42067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E-Mail </a:t>
                      </a:r>
                      <a:r>
                        <a:rPr lang="en-US" altLang="ko-KR" sz="1000" b="1" u="none" dirty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*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1" u="none" dirty="0">
                        <a:solidFill>
                          <a:srgbClr val="FF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0662131"/>
                  </a:ext>
                </a:extLst>
              </a:tr>
            </a:tbl>
          </a:graphicData>
        </a:graphic>
      </p:graphicFrame>
      <p:sp>
        <p:nvSpPr>
          <p:cNvPr id="29" name="모서리가 둥근 직사각형 63">
            <a:extLst>
              <a:ext uri="{FF2B5EF4-FFF2-40B4-BE49-F238E27FC236}">
                <a16:creationId xmlns:a16="http://schemas.microsoft.com/office/drawing/2014/main" id="{C9563051-32B1-0086-E228-FEE25D4479E5}"/>
              </a:ext>
            </a:extLst>
          </p:cNvPr>
          <p:cNvSpPr/>
          <p:nvPr/>
        </p:nvSpPr>
        <p:spPr bwMode="auto">
          <a:xfrm>
            <a:off x="4621867" y="4984238"/>
            <a:ext cx="1528420" cy="330783"/>
          </a:xfrm>
          <a:prstGeom prst="roundRect">
            <a:avLst/>
          </a:prstGeom>
          <a:solidFill>
            <a:schemeClr val="tx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000" b="1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확인</a:t>
            </a:r>
          </a:p>
        </p:txBody>
      </p:sp>
      <p:sp>
        <p:nvSpPr>
          <p:cNvPr id="30" name="모서리가 둥근 직사각형 63">
            <a:extLst>
              <a:ext uri="{FF2B5EF4-FFF2-40B4-BE49-F238E27FC236}">
                <a16:creationId xmlns:a16="http://schemas.microsoft.com/office/drawing/2014/main" id="{C9563051-32B1-0086-E228-FEE25D4479E5}"/>
              </a:ext>
            </a:extLst>
          </p:cNvPr>
          <p:cNvSpPr/>
          <p:nvPr/>
        </p:nvSpPr>
        <p:spPr bwMode="auto">
          <a:xfrm>
            <a:off x="2970020" y="4984238"/>
            <a:ext cx="1528420" cy="330783"/>
          </a:xfrm>
          <a:prstGeom prst="roundRect">
            <a:avLst/>
          </a:prstGeom>
          <a:solidFill>
            <a:schemeClr val="bg1">
              <a:lumMod val="50000"/>
            </a:schemeClr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000" b="1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취소</a:t>
            </a:r>
          </a:p>
        </p:txBody>
      </p:sp>
      <p:sp>
        <p:nvSpPr>
          <p:cNvPr id="36" name="직사각형 35"/>
          <p:cNvSpPr/>
          <p:nvPr/>
        </p:nvSpPr>
        <p:spPr>
          <a:xfrm>
            <a:off x="3401305" y="3826244"/>
            <a:ext cx="1097473" cy="27991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010</a:t>
            </a:r>
            <a:endParaRPr lang="ko-KR" altLang="en-US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5885799" y="4214111"/>
            <a:ext cx="1157414" cy="27991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직접입력</a:t>
            </a:r>
          </a:p>
        </p:txBody>
      </p:sp>
      <p:sp>
        <p:nvSpPr>
          <p:cNvPr id="38" name="직사각형 37"/>
          <p:cNvSpPr/>
          <p:nvPr/>
        </p:nvSpPr>
        <p:spPr>
          <a:xfrm>
            <a:off x="4673522" y="3826244"/>
            <a:ext cx="1097473" cy="27991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8888</a:t>
            </a:r>
            <a:endParaRPr lang="ko-KR" altLang="en-US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9" name="직사각형 38"/>
          <p:cNvSpPr/>
          <p:nvPr/>
        </p:nvSpPr>
        <p:spPr>
          <a:xfrm>
            <a:off x="5917240" y="3826244"/>
            <a:ext cx="1097473" cy="27991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9999</a:t>
            </a:r>
            <a:endParaRPr lang="ko-KR" altLang="en-US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4434624" y="3846546"/>
            <a:ext cx="1891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endParaRPr lang="ko-KR" altLang="en-US" sz="14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5713463" y="3827460"/>
            <a:ext cx="1891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endParaRPr lang="ko-KR" altLang="en-US" sz="14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2" name="직사각형 41"/>
          <p:cNvSpPr/>
          <p:nvPr/>
        </p:nvSpPr>
        <p:spPr>
          <a:xfrm>
            <a:off x="3401305" y="3826571"/>
            <a:ext cx="1097473" cy="27991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010</a:t>
            </a:r>
            <a:endParaRPr lang="ko-KR" altLang="en-US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3401305" y="4214111"/>
            <a:ext cx="1097473" cy="27991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gildong</a:t>
            </a:r>
            <a:endParaRPr lang="ko-KR" altLang="en-US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4" name="직사각형 43"/>
          <p:cNvSpPr/>
          <p:nvPr/>
        </p:nvSpPr>
        <p:spPr>
          <a:xfrm>
            <a:off x="4673522" y="3826571"/>
            <a:ext cx="1097473" cy="27991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8888</a:t>
            </a:r>
            <a:endParaRPr lang="ko-KR" altLang="en-US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5" name="직사각형 44"/>
          <p:cNvSpPr/>
          <p:nvPr/>
        </p:nvSpPr>
        <p:spPr>
          <a:xfrm>
            <a:off x="5917240" y="3826571"/>
            <a:ext cx="1097473" cy="27991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9999</a:t>
            </a:r>
            <a:endParaRPr lang="ko-KR" altLang="en-US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4466523" y="3846873"/>
            <a:ext cx="1891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endParaRPr lang="ko-KR" altLang="en-US" sz="14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5713463" y="3827787"/>
            <a:ext cx="1891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endParaRPr lang="ko-KR" altLang="en-US" sz="14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4439413" y="4214111"/>
            <a:ext cx="3335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@</a:t>
            </a:r>
            <a:endParaRPr lang="ko-KR" altLang="en-US" sz="14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6788557" y="4214111"/>
            <a:ext cx="255181" cy="27954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▼</a:t>
            </a:r>
          </a:p>
        </p:txBody>
      </p:sp>
      <p:sp>
        <p:nvSpPr>
          <p:cNvPr id="57" name="직사각형 56"/>
          <p:cNvSpPr/>
          <p:nvPr/>
        </p:nvSpPr>
        <p:spPr>
          <a:xfrm>
            <a:off x="4740369" y="4214111"/>
            <a:ext cx="1097473" cy="27991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abc.co.kr</a:t>
            </a:r>
            <a:endParaRPr lang="ko-KR" altLang="en-US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158621" y="710005"/>
            <a:ext cx="8956804" cy="5895190"/>
          </a:xfrm>
          <a:prstGeom prst="rect">
            <a:avLst/>
          </a:prstGeom>
          <a:solidFill>
            <a:schemeClr val="bg1">
              <a:lumMod val="95000"/>
              <a:alpha val="52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pSp>
        <p:nvGrpSpPr>
          <p:cNvPr id="61" name="그룹 60"/>
          <p:cNvGrpSpPr/>
          <p:nvPr/>
        </p:nvGrpSpPr>
        <p:grpSpPr>
          <a:xfrm>
            <a:off x="3035671" y="3031434"/>
            <a:ext cx="3206932" cy="1754154"/>
            <a:chOff x="8387670" y="3663472"/>
            <a:chExt cx="3206932" cy="1754154"/>
          </a:xfrm>
        </p:grpSpPr>
        <p:sp>
          <p:nvSpPr>
            <p:cNvPr id="62" name="모서리가 둥근 직사각형 61"/>
            <p:cNvSpPr/>
            <p:nvPr/>
          </p:nvSpPr>
          <p:spPr>
            <a:xfrm>
              <a:off x="8387670" y="3663472"/>
              <a:ext cx="3206932" cy="1754154"/>
            </a:xfrm>
            <a:prstGeom prst="roundRect">
              <a:avLst>
                <a:gd name="adj" fmla="val 3334"/>
              </a:avLst>
            </a:prstGeom>
            <a:solidFill>
              <a:schemeClr val="bg1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cxnSp>
          <p:nvCxnSpPr>
            <p:cNvPr id="63" name="직선 연결선 62"/>
            <p:cNvCxnSpPr/>
            <p:nvPr/>
          </p:nvCxnSpPr>
          <p:spPr>
            <a:xfrm flipV="1">
              <a:off x="8387670" y="3952720"/>
              <a:ext cx="3206932" cy="9331"/>
            </a:xfrm>
            <a:prstGeom prst="line">
              <a:avLst/>
            </a:prstGeom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TextBox 63"/>
            <p:cNvSpPr txBox="1"/>
            <p:nvPr/>
          </p:nvSpPr>
          <p:spPr>
            <a:xfrm>
              <a:off x="8387670" y="3700374"/>
              <a:ext cx="1024327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9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나의정보 수정</a:t>
              </a:r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11312929" y="3681780"/>
              <a:ext cx="23374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1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X</a:t>
              </a:r>
              <a:endParaRPr lang="ko-KR" altLang="en-US" sz="11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66" name="직사각형 65"/>
            <p:cNvSpPr/>
            <p:nvPr/>
          </p:nvSpPr>
          <p:spPr>
            <a:xfrm>
              <a:off x="8604521" y="4238595"/>
              <a:ext cx="2708408" cy="72182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8928329" y="4491277"/>
              <a:ext cx="2129811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9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정상적으로 나의정보가 수정되었습니다</a:t>
              </a:r>
              <a:r>
                <a:rPr lang="en-US" altLang="ko-KR" sz="9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.</a:t>
              </a:r>
              <a:endParaRPr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68" name="모서리가 둥근 직사각형 63">
              <a:extLst>
                <a:ext uri="{FF2B5EF4-FFF2-40B4-BE49-F238E27FC236}">
                  <a16:creationId xmlns:a16="http://schemas.microsoft.com/office/drawing/2014/main" id="{C9563051-32B1-0086-E228-FEE25D4479E5}"/>
                </a:ext>
              </a:extLst>
            </p:cNvPr>
            <p:cNvSpPr/>
            <p:nvPr/>
          </p:nvSpPr>
          <p:spPr bwMode="auto">
            <a:xfrm>
              <a:off x="9606485" y="5104072"/>
              <a:ext cx="807449" cy="200025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ko-KR" altLang="en-US" sz="800" dirty="0">
                  <a:ln w="0" cmpd="sng">
                    <a:solidFill>
                      <a:schemeClr val="tx2">
                        <a:satMod val="155000"/>
                        <a:alpha val="0"/>
                      </a:schemeClr>
                    </a:solidFill>
                    <a:prstDash val="solid"/>
                    <a:round/>
                  </a:ln>
                  <a:solidFill>
                    <a:schemeClr val="tx1"/>
                  </a:solidFill>
                  <a:latin typeface="나눔고딕" pitchFamily="50" charset="-127"/>
                  <a:ea typeface="나눔고딕" pitchFamily="50" charset="-127"/>
                </a:rPr>
                <a:t>확인</a:t>
              </a:r>
            </a:p>
          </p:txBody>
        </p:sp>
      </p:grpSp>
      <p:sp>
        <p:nvSpPr>
          <p:cNvPr id="69" name="Oval 109">
            <a:extLst>
              <a:ext uri="{FF2B5EF4-FFF2-40B4-BE49-F238E27FC236}">
                <a16:creationId xmlns:a16="http://schemas.microsoft.com/office/drawing/2014/main" id="{F78CC73B-BDD0-4299-DB26-520CADEB72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05822" y="4361472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47479793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AC2EF8-3774-7445-0BC4-5708E30F6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모서리가 둥근 직사각형 30"/>
          <p:cNvSpPr/>
          <p:nvPr/>
        </p:nvSpPr>
        <p:spPr>
          <a:xfrm>
            <a:off x="1744468" y="2827866"/>
            <a:ext cx="5824818" cy="2626636"/>
          </a:xfrm>
          <a:prstGeom prst="roundRect">
            <a:avLst>
              <a:gd name="adj" fmla="val 3334"/>
            </a:avLst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B91E9091-5844-23E8-A837-A227C202A9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8562405"/>
              </p:ext>
            </p:extLst>
          </p:nvPr>
        </p:nvGraphicFramePr>
        <p:xfrm>
          <a:off x="9182101" y="947377"/>
          <a:ext cx="2795588" cy="2700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1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기존 비밀번호 입력</a:t>
                      </a: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684046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변경 비밀번호 입력</a:t>
                      </a: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723838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3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변경할 비밀번호 다시 입력</a:t>
                      </a: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172599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4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취소 버튼 선택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입력 내용을 저장하지 않고 나의 정보 화면으로 이동</a:t>
                      </a: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290794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5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확인 선택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정합성 체크 후 비밀번호 변경 처리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비밀번호가 맞지 않는 경우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Alert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메시지 노출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1.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기존 비밀번호가 맞지 않는 경우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“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기존 비밀번호가 일치하지 않습니다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.”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2.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변경할 비밀번호가 형식에 맞지 않거나 변경비밀번호 확인 번호가 일치하지 않는 경우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“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다시 한번 변경 할 비밀번호를 확인해주시기 바랍니다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.”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922450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6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784800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7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0538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8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199337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9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450365"/>
                  </a:ext>
                </a:extLst>
              </a:tr>
            </a:tbl>
          </a:graphicData>
        </a:graphic>
      </p:graphicFrame>
      <p:sp>
        <p:nvSpPr>
          <p:cNvPr id="3" name="직사각형 2"/>
          <p:cNvSpPr/>
          <p:nvPr/>
        </p:nvSpPr>
        <p:spPr>
          <a:xfrm>
            <a:off x="959895" y="375614"/>
            <a:ext cx="1595309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</a:pP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메인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나의정보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비밀번호 변경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03996" y="123825"/>
            <a:ext cx="17303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HN_MemInfo_Pwmodi_001</a:t>
            </a:r>
            <a:endParaRPr lang="ko-KR" altLang="en-US" sz="800" dirty="0"/>
          </a:p>
        </p:txBody>
      </p:sp>
      <p:sp>
        <p:nvSpPr>
          <p:cNvPr id="18" name="TextBox 17"/>
          <p:cNvSpPr txBox="1"/>
          <p:nvPr/>
        </p:nvSpPr>
        <p:spPr>
          <a:xfrm>
            <a:off x="158621" y="1704392"/>
            <a:ext cx="314441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HOME &gt; </a:t>
            </a:r>
            <a:r>
              <a:rPr lang="ko-KR" altLang="en-US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나의정보 </a:t>
            </a:r>
            <a:r>
              <a:rPr lang="en-US" altLang="ko-KR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비밀번호 변경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62325" y="1866963"/>
            <a:ext cx="33499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비밀번호 변경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pSp>
        <p:nvGrpSpPr>
          <p:cNvPr id="4" name="그룹 3"/>
          <p:cNvGrpSpPr/>
          <p:nvPr/>
        </p:nvGrpSpPr>
        <p:grpSpPr>
          <a:xfrm>
            <a:off x="161925" y="797629"/>
            <a:ext cx="8953500" cy="851943"/>
            <a:chOff x="161925" y="797629"/>
            <a:chExt cx="8953500" cy="851943"/>
          </a:xfrm>
        </p:grpSpPr>
        <p:sp>
          <p:nvSpPr>
            <p:cNvPr id="50" name="직사각형 49"/>
            <p:cNvSpPr/>
            <p:nvPr/>
          </p:nvSpPr>
          <p:spPr>
            <a:xfrm>
              <a:off x="4144448" y="797629"/>
              <a:ext cx="942784" cy="35821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800" b="1" dirty="0">
                  <a:solidFill>
                    <a:srgbClr val="FF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CI</a:t>
              </a:r>
            </a:p>
          </p:txBody>
        </p:sp>
        <p:cxnSp>
          <p:nvCxnSpPr>
            <p:cNvPr id="51" name="직선 연결선 50">
              <a:extLst>
                <a:ext uri="{FF2B5EF4-FFF2-40B4-BE49-F238E27FC236}">
                  <a16:creationId xmlns:a16="http://schemas.microsoft.com/office/drawing/2014/main" id="{C254A2AD-70BC-913B-F5E0-560EF17D3589}"/>
                </a:ext>
              </a:extLst>
            </p:cNvPr>
            <p:cNvCxnSpPr/>
            <p:nvPr/>
          </p:nvCxnSpPr>
          <p:spPr>
            <a:xfrm>
              <a:off x="161925" y="1649572"/>
              <a:ext cx="8953500" cy="0"/>
            </a:xfrm>
            <a:prstGeom prst="line">
              <a:avLst/>
            </a:prstGeom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TextBox 51"/>
            <p:cNvSpPr txBox="1"/>
            <p:nvPr/>
          </p:nvSpPr>
          <p:spPr>
            <a:xfrm>
              <a:off x="2031551" y="1301804"/>
              <a:ext cx="120364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하늘누리소개</a:t>
              </a: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3239720" y="1301804"/>
              <a:ext cx="9144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시설안내</a:t>
              </a: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4158640" y="1301804"/>
              <a:ext cx="9144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분양안내</a:t>
              </a: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5077560" y="1301804"/>
              <a:ext cx="119120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사이버추모관</a:t>
              </a: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6273289" y="1301804"/>
              <a:ext cx="9144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고객센터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7734300" y="804624"/>
              <a:ext cx="79388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비밀번호변경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8472200" y="804624"/>
              <a:ext cx="58783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로그아웃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7203231" y="804624"/>
              <a:ext cx="65313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나의정보</a:t>
              </a:r>
            </a:p>
          </p:txBody>
        </p:sp>
      </p:grpSp>
      <p:sp>
        <p:nvSpPr>
          <p:cNvPr id="29" name="모서리가 둥근 직사각형 63">
            <a:extLst>
              <a:ext uri="{FF2B5EF4-FFF2-40B4-BE49-F238E27FC236}">
                <a16:creationId xmlns:a16="http://schemas.microsoft.com/office/drawing/2014/main" id="{C9563051-32B1-0086-E228-FEE25D4479E5}"/>
              </a:ext>
            </a:extLst>
          </p:cNvPr>
          <p:cNvSpPr/>
          <p:nvPr/>
        </p:nvSpPr>
        <p:spPr bwMode="auto">
          <a:xfrm>
            <a:off x="4621871" y="4984238"/>
            <a:ext cx="1528420" cy="330783"/>
          </a:xfrm>
          <a:prstGeom prst="roundRect">
            <a:avLst/>
          </a:prstGeom>
          <a:solidFill>
            <a:schemeClr val="tx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000" b="1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확인</a:t>
            </a:r>
          </a:p>
        </p:txBody>
      </p:sp>
      <p:sp>
        <p:nvSpPr>
          <p:cNvPr id="30" name="모서리가 둥근 직사각형 63">
            <a:extLst>
              <a:ext uri="{FF2B5EF4-FFF2-40B4-BE49-F238E27FC236}">
                <a16:creationId xmlns:a16="http://schemas.microsoft.com/office/drawing/2014/main" id="{C9563051-32B1-0086-E228-FEE25D4479E5}"/>
              </a:ext>
            </a:extLst>
          </p:cNvPr>
          <p:cNvSpPr/>
          <p:nvPr/>
        </p:nvSpPr>
        <p:spPr bwMode="auto">
          <a:xfrm>
            <a:off x="2970024" y="4984238"/>
            <a:ext cx="1528420" cy="330783"/>
          </a:xfrm>
          <a:prstGeom prst="roundRect">
            <a:avLst/>
          </a:prstGeom>
          <a:solidFill>
            <a:schemeClr val="bg1">
              <a:lumMod val="50000"/>
            </a:schemeClr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000" b="1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취소</a:t>
            </a:r>
          </a:p>
        </p:txBody>
      </p:sp>
      <p:sp>
        <p:nvSpPr>
          <p:cNvPr id="58" name="Oval 109">
            <a:extLst>
              <a:ext uri="{FF2B5EF4-FFF2-40B4-BE49-F238E27FC236}">
                <a16:creationId xmlns:a16="http://schemas.microsoft.com/office/drawing/2014/main" id="{F78CC73B-BDD0-4299-DB26-520CADEB72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0024" y="4867094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4</a:t>
            </a:r>
          </a:p>
        </p:txBody>
      </p:sp>
      <p:sp>
        <p:nvSpPr>
          <p:cNvPr id="60" name="Oval 109">
            <a:extLst>
              <a:ext uri="{FF2B5EF4-FFF2-40B4-BE49-F238E27FC236}">
                <a16:creationId xmlns:a16="http://schemas.microsoft.com/office/drawing/2014/main" id="{F78CC73B-BDD0-4299-DB26-520CADEB72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21871" y="4897838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5</a:t>
            </a:r>
          </a:p>
        </p:txBody>
      </p:sp>
      <p:graphicFrame>
        <p:nvGraphicFramePr>
          <p:cNvPr id="64" name="표 6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2896035"/>
              </p:ext>
            </p:extLst>
          </p:nvPr>
        </p:nvGraphicFramePr>
        <p:xfrm>
          <a:off x="2346292" y="3312212"/>
          <a:ext cx="4128932" cy="1122286"/>
        </p:xfrm>
        <a:graphic>
          <a:graphicData uri="http://schemas.openxmlformats.org/drawingml/2006/table">
            <a:tbl>
              <a:tblPr firstRow="1" bandRow="1"/>
              <a:tblGrid>
                <a:gridCol w="18535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753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4928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b="1" noProof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Segoe UI" panose="020B0502040204020203" pitchFamily="34" charset="0"/>
                        </a:rPr>
                        <a:t>기존비밀번호 </a:t>
                      </a:r>
                      <a:r>
                        <a:rPr lang="en-US" altLang="ko-KR" sz="1000" b="1" noProof="1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Segoe UI" panose="020B0502040204020203" pitchFamily="34" charset="0"/>
                        </a:rPr>
                        <a:t>*</a:t>
                      </a:r>
                    </a:p>
                  </a:txBody>
                  <a:tcPr marL="108000" marR="39000" marT="39000" marB="39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900" b="0" noProof="1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Segoe UI" panose="020B0502040204020203" pitchFamily="34" charset="0"/>
                      </a:endParaRPr>
                    </a:p>
                  </a:txBody>
                  <a:tcPr marL="108000" marR="39000" marT="39000" marB="39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8679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b="1" noProof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Segoe UI" panose="020B0502040204020203" pitchFamily="34" charset="0"/>
                        </a:rPr>
                        <a:t>변경비밀번호 </a:t>
                      </a:r>
                      <a:r>
                        <a:rPr lang="en-US" altLang="ko-KR" sz="1000" b="1" noProof="1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Segoe UI" panose="020B0502040204020203" pitchFamily="34" charset="0"/>
                        </a:rPr>
                        <a:t>*</a:t>
                      </a:r>
                      <a:endParaRPr lang="en-US" sz="1000" b="1" noProof="1">
                        <a:solidFill>
                          <a:srgbClr val="FF000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Segoe UI" panose="020B0502040204020203" pitchFamily="34" charset="0"/>
                      </a:endParaRPr>
                    </a:p>
                  </a:txBody>
                  <a:tcPr marL="108000" marR="39000" marT="39000" marB="39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900" b="0" noProof="1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Segoe UI" panose="020B0502040204020203" pitchFamily="34" charset="0"/>
                      </a:endParaRPr>
                    </a:p>
                  </a:txBody>
                  <a:tcPr marL="108000" marR="39000" marT="39000" marB="39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8679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b="1" noProof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Segoe UI" panose="020B0502040204020203" pitchFamily="34" charset="0"/>
                        </a:rPr>
                        <a:t>변경비밀번호</a:t>
                      </a:r>
                      <a:r>
                        <a:rPr lang="en-US" altLang="ko-KR" sz="1000" b="1" baseline="0" noProof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Segoe UI" panose="020B0502040204020203" pitchFamily="34" charset="0"/>
                        </a:rPr>
                        <a:t> </a:t>
                      </a:r>
                      <a:r>
                        <a:rPr lang="ko-KR" altLang="en-US" sz="1000" b="1" noProof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Segoe UI" panose="020B0502040204020203" pitchFamily="34" charset="0"/>
                        </a:rPr>
                        <a:t>확인 </a:t>
                      </a:r>
                      <a:r>
                        <a:rPr lang="en-US" altLang="ko-KR" sz="1000" b="1" noProof="1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Segoe UI" panose="020B0502040204020203" pitchFamily="34" charset="0"/>
                        </a:rPr>
                        <a:t>*</a:t>
                      </a:r>
                      <a:endParaRPr lang="en-US" sz="1000" b="1" noProof="1">
                        <a:solidFill>
                          <a:srgbClr val="FF000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Segoe UI" panose="020B0502040204020203" pitchFamily="34" charset="0"/>
                      </a:endParaRPr>
                    </a:p>
                  </a:txBody>
                  <a:tcPr marL="108000" marR="39000" marT="39000" marB="39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900" noProof="1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Segoe UI" panose="020B0502040204020203" pitchFamily="34" charset="0"/>
                      </a:endParaRPr>
                    </a:p>
                  </a:txBody>
                  <a:tcPr marL="108000" marR="39000" marT="39000" marB="39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5" name="직사각형 64"/>
          <p:cNvSpPr/>
          <p:nvPr/>
        </p:nvSpPr>
        <p:spPr>
          <a:xfrm>
            <a:off x="3857364" y="3368209"/>
            <a:ext cx="2394575" cy="276691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13488050-6C7A-97A2-1357-6E109BB214F3}"/>
              </a:ext>
            </a:extLst>
          </p:cNvPr>
          <p:cNvSpPr txBox="1"/>
          <p:nvPr/>
        </p:nvSpPr>
        <p:spPr>
          <a:xfrm>
            <a:off x="2353016" y="4527702"/>
            <a:ext cx="429085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* 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비밀번호는 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8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자리 이상 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16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자리 이하 영문 알파벳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숫자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특수기호의 조합으로 입력해주세요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220A05C5-C70A-FBA6-1A32-39A241141DC3}"/>
              </a:ext>
            </a:extLst>
          </p:cNvPr>
          <p:cNvSpPr txBox="1"/>
          <p:nvPr/>
        </p:nvSpPr>
        <p:spPr>
          <a:xfrm>
            <a:off x="3918591" y="3413521"/>
            <a:ext cx="140655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기존 비밀번호를 입력하세요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F8156177-11DF-8543-B571-6492EA637865}"/>
              </a:ext>
            </a:extLst>
          </p:cNvPr>
          <p:cNvSpPr txBox="1"/>
          <p:nvPr/>
        </p:nvSpPr>
        <p:spPr>
          <a:xfrm>
            <a:off x="3918590" y="3796113"/>
            <a:ext cx="140655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변경비밀번호를 입력하세요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9" name="직사각형 78"/>
          <p:cNvSpPr/>
          <p:nvPr/>
        </p:nvSpPr>
        <p:spPr>
          <a:xfrm>
            <a:off x="3857363" y="3753142"/>
            <a:ext cx="2394575" cy="276691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0" name="직사각형 79"/>
          <p:cNvSpPr/>
          <p:nvPr/>
        </p:nvSpPr>
        <p:spPr>
          <a:xfrm>
            <a:off x="3857362" y="4102357"/>
            <a:ext cx="2394575" cy="276691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F8156177-11DF-8543-B571-6492EA637865}"/>
              </a:ext>
            </a:extLst>
          </p:cNvPr>
          <p:cNvSpPr txBox="1"/>
          <p:nvPr/>
        </p:nvSpPr>
        <p:spPr>
          <a:xfrm>
            <a:off x="3925750" y="4137119"/>
            <a:ext cx="140655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변경비밀번호를 입력하세요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9" name="Oval 109">
            <a:extLst>
              <a:ext uri="{FF2B5EF4-FFF2-40B4-BE49-F238E27FC236}">
                <a16:creationId xmlns:a16="http://schemas.microsoft.com/office/drawing/2014/main" id="{F78CC73B-BDD0-4299-DB26-520CADEB72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6461" y="3213275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1</a:t>
            </a:r>
          </a:p>
        </p:txBody>
      </p:sp>
      <p:sp>
        <p:nvSpPr>
          <p:cNvPr id="82" name="Oval 109">
            <a:extLst>
              <a:ext uri="{FF2B5EF4-FFF2-40B4-BE49-F238E27FC236}">
                <a16:creationId xmlns:a16="http://schemas.microsoft.com/office/drawing/2014/main" id="{F78CC73B-BDD0-4299-DB26-520CADEB72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5177" y="3693571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2</a:t>
            </a:r>
          </a:p>
        </p:txBody>
      </p:sp>
      <p:sp>
        <p:nvSpPr>
          <p:cNvPr id="83" name="Oval 109">
            <a:extLst>
              <a:ext uri="{FF2B5EF4-FFF2-40B4-BE49-F238E27FC236}">
                <a16:creationId xmlns:a16="http://schemas.microsoft.com/office/drawing/2014/main" id="{F78CC73B-BDD0-4299-DB26-520CADEB72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5177" y="4087467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6501978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AC2EF8-3774-7445-0BC4-5708E30F6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모서리가 둥근 직사각형 30"/>
          <p:cNvSpPr/>
          <p:nvPr/>
        </p:nvSpPr>
        <p:spPr>
          <a:xfrm>
            <a:off x="1744468" y="2827866"/>
            <a:ext cx="5824818" cy="2626636"/>
          </a:xfrm>
          <a:prstGeom prst="roundRect">
            <a:avLst>
              <a:gd name="adj" fmla="val 3334"/>
            </a:avLst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B91E9091-5844-23E8-A837-A227C202A9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0397660"/>
              </p:ext>
            </p:extLst>
          </p:nvPr>
        </p:nvGraphicFramePr>
        <p:xfrm>
          <a:off x="9182101" y="947377"/>
          <a:ext cx="2795588" cy="1847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1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확인 버튼 선택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메인 화면으로 이동</a:t>
                      </a: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684046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723838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3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172599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4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290794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5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922450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6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784800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7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0538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8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199337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9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450365"/>
                  </a:ext>
                </a:extLst>
              </a:tr>
            </a:tbl>
          </a:graphicData>
        </a:graphic>
      </p:graphicFrame>
      <p:sp>
        <p:nvSpPr>
          <p:cNvPr id="3" name="직사각형 2"/>
          <p:cNvSpPr/>
          <p:nvPr/>
        </p:nvSpPr>
        <p:spPr>
          <a:xfrm>
            <a:off x="959895" y="375614"/>
            <a:ext cx="1595309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</a:pP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메인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나의정보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비밀번호 변경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03996" y="123825"/>
            <a:ext cx="17303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HN_MemInfo_Pwmodi_002P</a:t>
            </a:r>
            <a:endParaRPr lang="ko-KR" altLang="en-US" sz="800" dirty="0"/>
          </a:p>
        </p:txBody>
      </p:sp>
      <p:sp>
        <p:nvSpPr>
          <p:cNvPr id="18" name="TextBox 17"/>
          <p:cNvSpPr txBox="1"/>
          <p:nvPr/>
        </p:nvSpPr>
        <p:spPr>
          <a:xfrm>
            <a:off x="158621" y="1704392"/>
            <a:ext cx="314441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HOME &gt; </a:t>
            </a:r>
            <a:r>
              <a:rPr lang="ko-KR" altLang="en-US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나의정보 </a:t>
            </a:r>
            <a:r>
              <a:rPr lang="en-US" altLang="ko-KR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비밀번호 변경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62325" y="1866963"/>
            <a:ext cx="33499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비밀번호 변경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pSp>
        <p:nvGrpSpPr>
          <p:cNvPr id="4" name="그룹 3"/>
          <p:cNvGrpSpPr/>
          <p:nvPr/>
        </p:nvGrpSpPr>
        <p:grpSpPr>
          <a:xfrm>
            <a:off x="161925" y="797629"/>
            <a:ext cx="8953500" cy="851943"/>
            <a:chOff x="161925" y="797629"/>
            <a:chExt cx="8953500" cy="851943"/>
          </a:xfrm>
        </p:grpSpPr>
        <p:sp>
          <p:nvSpPr>
            <p:cNvPr id="50" name="직사각형 49"/>
            <p:cNvSpPr/>
            <p:nvPr/>
          </p:nvSpPr>
          <p:spPr>
            <a:xfrm>
              <a:off x="4144448" y="797629"/>
              <a:ext cx="942784" cy="35821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800" b="1" dirty="0">
                  <a:solidFill>
                    <a:srgbClr val="FF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CI</a:t>
              </a:r>
            </a:p>
          </p:txBody>
        </p:sp>
        <p:cxnSp>
          <p:nvCxnSpPr>
            <p:cNvPr id="51" name="직선 연결선 50">
              <a:extLst>
                <a:ext uri="{FF2B5EF4-FFF2-40B4-BE49-F238E27FC236}">
                  <a16:creationId xmlns:a16="http://schemas.microsoft.com/office/drawing/2014/main" id="{C254A2AD-70BC-913B-F5E0-560EF17D3589}"/>
                </a:ext>
              </a:extLst>
            </p:cNvPr>
            <p:cNvCxnSpPr/>
            <p:nvPr/>
          </p:nvCxnSpPr>
          <p:spPr>
            <a:xfrm>
              <a:off x="161925" y="1649572"/>
              <a:ext cx="8953500" cy="0"/>
            </a:xfrm>
            <a:prstGeom prst="line">
              <a:avLst/>
            </a:prstGeom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TextBox 51"/>
            <p:cNvSpPr txBox="1"/>
            <p:nvPr/>
          </p:nvSpPr>
          <p:spPr>
            <a:xfrm>
              <a:off x="2031551" y="1301804"/>
              <a:ext cx="120364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하늘누리소개</a:t>
              </a: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3239720" y="1301804"/>
              <a:ext cx="9144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시설안내</a:t>
              </a: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4158640" y="1301804"/>
              <a:ext cx="9144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분양안내</a:t>
              </a: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5077560" y="1301804"/>
              <a:ext cx="119120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사이버추모관</a:t>
              </a: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6273289" y="1301804"/>
              <a:ext cx="9144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고객센터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7734300" y="804624"/>
              <a:ext cx="79388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비밀번호변경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8472200" y="804624"/>
              <a:ext cx="58783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로그아웃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7203231" y="804624"/>
              <a:ext cx="65313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나의정보</a:t>
              </a:r>
            </a:p>
          </p:txBody>
        </p:sp>
      </p:grpSp>
      <p:sp>
        <p:nvSpPr>
          <p:cNvPr id="29" name="모서리가 둥근 직사각형 63">
            <a:extLst>
              <a:ext uri="{FF2B5EF4-FFF2-40B4-BE49-F238E27FC236}">
                <a16:creationId xmlns:a16="http://schemas.microsoft.com/office/drawing/2014/main" id="{C9563051-32B1-0086-E228-FEE25D4479E5}"/>
              </a:ext>
            </a:extLst>
          </p:cNvPr>
          <p:cNvSpPr/>
          <p:nvPr/>
        </p:nvSpPr>
        <p:spPr bwMode="auto">
          <a:xfrm>
            <a:off x="4621871" y="4984238"/>
            <a:ext cx="1528420" cy="330783"/>
          </a:xfrm>
          <a:prstGeom prst="roundRect">
            <a:avLst/>
          </a:prstGeom>
          <a:solidFill>
            <a:schemeClr val="tx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000" b="1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확인</a:t>
            </a:r>
          </a:p>
        </p:txBody>
      </p:sp>
      <p:sp>
        <p:nvSpPr>
          <p:cNvPr id="30" name="모서리가 둥근 직사각형 63">
            <a:extLst>
              <a:ext uri="{FF2B5EF4-FFF2-40B4-BE49-F238E27FC236}">
                <a16:creationId xmlns:a16="http://schemas.microsoft.com/office/drawing/2014/main" id="{C9563051-32B1-0086-E228-FEE25D4479E5}"/>
              </a:ext>
            </a:extLst>
          </p:cNvPr>
          <p:cNvSpPr/>
          <p:nvPr/>
        </p:nvSpPr>
        <p:spPr bwMode="auto">
          <a:xfrm>
            <a:off x="2970024" y="4984238"/>
            <a:ext cx="1528420" cy="330783"/>
          </a:xfrm>
          <a:prstGeom prst="roundRect">
            <a:avLst/>
          </a:prstGeom>
          <a:solidFill>
            <a:schemeClr val="bg1">
              <a:lumMod val="50000"/>
            </a:schemeClr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000" b="1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취소</a:t>
            </a:r>
          </a:p>
        </p:txBody>
      </p:sp>
      <p:graphicFrame>
        <p:nvGraphicFramePr>
          <p:cNvPr id="64" name="표 6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2896035"/>
              </p:ext>
            </p:extLst>
          </p:nvPr>
        </p:nvGraphicFramePr>
        <p:xfrm>
          <a:off x="2346292" y="3312212"/>
          <a:ext cx="4128932" cy="1122286"/>
        </p:xfrm>
        <a:graphic>
          <a:graphicData uri="http://schemas.openxmlformats.org/drawingml/2006/table">
            <a:tbl>
              <a:tblPr firstRow="1" bandRow="1"/>
              <a:tblGrid>
                <a:gridCol w="18535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753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4928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b="1" noProof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Segoe UI" panose="020B0502040204020203" pitchFamily="34" charset="0"/>
                        </a:rPr>
                        <a:t>기존비밀번호 </a:t>
                      </a:r>
                      <a:r>
                        <a:rPr lang="en-US" altLang="ko-KR" sz="1000" b="1" noProof="1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Segoe UI" panose="020B0502040204020203" pitchFamily="34" charset="0"/>
                        </a:rPr>
                        <a:t>*</a:t>
                      </a:r>
                    </a:p>
                  </a:txBody>
                  <a:tcPr marL="108000" marR="39000" marT="39000" marB="39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900" b="0" noProof="1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Segoe UI" panose="020B0502040204020203" pitchFamily="34" charset="0"/>
                      </a:endParaRPr>
                    </a:p>
                  </a:txBody>
                  <a:tcPr marL="108000" marR="39000" marT="39000" marB="39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8679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b="1" noProof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Segoe UI" panose="020B0502040204020203" pitchFamily="34" charset="0"/>
                        </a:rPr>
                        <a:t>변경비밀번호 </a:t>
                      </a:r>
                      <a:r>
                        <a:rPr lang="en-US" altLang="ko-KR" sz="1000" b="1" noProof="1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Segoe UI" panose="020B0502040204020203" pitchFamily="34" charset="0"/>
                        </a:rPr>
                        <a:t>*</a:t>
                      </a:r>
                      <a:endParaRPr lang="en-US" sz="1000" b="1" noProof="1">
                        <a:solidFill>
                          <a:srgbClr val="FF000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Segoe UI" panose="020B0502040204020203" pitchFamily="34" charset="0"/>
                      </a:endParaRPr>
                    </a:p>
                  </a:txBody>
                  <a:tcPr marL="108000" marR="39000" marT="39000" marB="39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900" b="0" noProof="1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Segoe UI" panose="020B0502040204020203" pitchFamily="34" charset="0"/>
                      </a:endParaRPr>
                    </a:p>
                  </a:txBody>
                  <a:tcPr marL="108000" marR="39000" marT="39000" marB="39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8679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b="1" noProof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Segoe UI" panose="020B0502040204020203" pitchFamily="34" charset="0"/>
                        </a:rPr>
                        <a:t>변경비밀번호</a:t>
                      </a:r>
                      <a:r>
                        <a:rPr lang="en-US" altLang="ko-KR" sz="1000" b="1" baseline="0" noProof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Segoe UI" panose="020B0502040204020203" pitchFamily="34" charset="0"/>
                        </a:rPr>
                        <a:t> </a:t>
                      </a:r>
                      <a:r>
                        <a:rPr lang="ko-KR" altLang="en-US" sz="1000" b="1" noProof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Segoe UI" panose="020B0502040204020203" pitchFamily="34" charset="0"/>
                        </a:rPr>
                        <a:t>확인 </a:t>
                      </a:r>
                      <a:r>
                        <a:rPr lang="en-US" altLang="ko-KR" sz="1000" b="1" noProof="1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Segoe UI" panose="020B0502040204020203" pitchFamily="34" charset="0"/>
                        </a:rPr>
                        <a:t>*</a:t>
                      </a:r>
                      <a:endParaRPr lang="en-US" sz="1000" b="1" noProof="1">
                        <a:solidFill>
                          <a:srgbClr val="FF000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Segoe UI" panose="020B0502040204020203" pitchFamily="34" charset="0"/>
                      </a:endParaRPr>
                    </a:p>
                  </a:txBody>
                  <a:tcPr marL="108000" marR="39000" marT="39000" marB="39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900" noProof="1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Segoe UI" panose="020B0502040204020203" pitchFamily="34" charset="0"/>
                      </a:endParaRPr>
                    </a:p>
                  </a:txBody>
                  <a:tcPr marL="108000" marR="39000" marT="39000" marB="39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5" name="직사각형 64"/>
          <p:cNvSpPr/>
          <p:nvPr/>
        </p:nvSpPr>
        <p:spPr>
          <a:xfrm>
            <a:off x="3857364" y="3368209"/>
            <a:ext cx="2394575" cy="276691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13488050-6C7A-97A2-1357-6E109BB214F3}"/>
              </a:ext>
            </a:extLst>
          </p:cNvPr>
          <p:cNvSpPr txBox="1"/>
          <p:nvPr/>
        </p:nvSpPr>
        <p:spPr>
          <a:xfrm>
            <a:off x="2353016" y="4527702"/>
            <a:ext cx="429085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* 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비밀번호는 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8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자리 이상 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16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자리 이하 영문 알파벳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숫자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특수기호의 조합으로 입력해주세요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220A05C5-C70A-FBA6-1A32-39A241141DC3}"/>
              </a:ext>
            </a:extLst>
          </p:cNvPr>
          <p:cNvSpPr txBox="1"/>
          <p:nvPr/>
        </p:nvSpPr>
        <p:spPr>
          <a:xfrm>
            <a:off x="3918591" y="3413521"/>
            <a:ext cx="140655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기존 비밀번호를 입력하세요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F8156177-11DF-8543-B571-6492EA637865}"/>
              </a:ext>
            </a:extLst>
          </p:cNvPr>
          <p:cNvSpPr txBox="1"/>
          <p:nvPr/>
        </p:nvSpPr>
        <p:spPr>
          <a:xfrm>
            <a:off x="3918590" y="3796113"/>
            <a:ext cx="140655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변경비밀번호를 입력하세요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9" name="직사각형 78"/>
          <p:cNvSpPr/>
          <p:nvPr/>
        </p:nvSpPr>
        <p:spPr>
          <a:xfrm>
            <a:off x="3857363" y="3753142"/>
            <a:ext cx="2394575" cy="276691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0" name="직사각형 79"/>
          <p:cNvSpPr/>
          <p:nvPr/>
        </p:nvSpPr>
        <p:spPr>
          <a:xfrm>
            <a:off x="3857362" y="4102357"/>
            <a:ext cx="2394575" cy="276691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F8156177-11DF-8543-B571-6492EA637865}"/>
              </a:ext>
            </a:extLst>
          </p:cNvPr>
          <p:cNvSpPr txBox="1"/>
          <p:nvPr/>
        </p:nvSpPr>
        <p:spPr>
          <a:xfrm>
            <a:off x="3925750" y="4137119"/>
            <a:ext cx="140655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변경비밀번호를 입력하세요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4" name="직사각형 33"/>
          <p:cNvSpPr/>
          <p:nvPr/>
        </p:nvSpPr>
        <p:spPr>
          <a:xfrm>
            <a:off x="158621" y="710005"/>
            <a:ext cx="8956804" cy="5895190"/>
          </a:xfrm>
          <a:prstGeom prst="rect">
            <a:avLst/>
          </a:prstGeom>
          <a:solidFill>
            <a:schemeClr val="bg1">
              <a:lumMod val="95000"/>
              <a:alpha val="52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pSp>
        <p:nvGrpSpPr>
          <p:cNvPr id="36" name="그룹 35"/>
          <p:cNvGrpSpPr/>
          <p:nvPr/>
        </p:nvGrpSpPr>
        <p:grpSpPr>
          <a:xfrm>
            <a:off x="3035671" y="3031434"/>
            <a:ext cx="3206932" cy="1754154"/>
            <a:chOff x="8387670" y="3663472"/>
            <a:chExt cx="3206932" cy="1754154"/>
          </a:xfrm>
        </p:grpSpPr>
        <p:sp>
          <p:nvSpPr>
            <p:cNvPr id="37" name="모서리가 둥근 직사각형 36"/>
            <p:cNvSpPr/>
            <p:nvPr/>
          </p:nvSpPr>
          <p:spPr>
            <a:xfrm>
              <a:off x="8387670" y="3663472"/>
              <a:ext cx="3206932" cy="1754154"/>
            </a:xfrm>
            <a:prstGeom prst="roundRect">
              <a:avLst>
                <a:gd name="adj" fmla="val 3334"/>
              </a:avLst>
            </a:prstGeom>
            <a:solidFill>
              <a:schemeClr val="bg1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cxnSp>
          <p:nvCxnSpPr>
            <p:cNvPr id="38" name="직선 연결선 37"/>
            <p:cNvCxnSpPr/>
            <p:nvPr/>
          </p:nvCxnSpPr>
          <p:spPr>
            <a:xfrm flipV="1">
              <a:off x="8387670" y="3952720"/>
              <a:ext cx="3206932" cy="9331"/>
            </a:xfrm>
            <a:prstGeom prst="line">
              <a:avLst/>
            </a:prstGeom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TextBox 38"/>
            <p:cNvSpPr txBox="1"/>
            <p:nvPr/>
          </p:nvSpPr>
          <p:spPr>
            <a:xfrm>
              <a:off x="8387670" y="3700374"/>
              <a:ext cx="1024327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9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비밀번호 변경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11312929" y="3681780"/>
              <a:ext cx="23374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1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X</a:t>
              </a:r>
              <a:endParaRPr lang="ko-KR" altLang="en-US" sz="11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1" name="직사각형 40"/>
            <p:cNvSpPr/>
            <p:nvPr/>
          </p:nvSpPr>
          <p:spPr>
            <a:xfrm>
              <a:off x="8604521" y="4238595"/>
              <a:ext cx="2708408" cy="72182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8928329" y="4491277"/>
              <a:ext cx="2129811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9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정상적으로 비밀번호가 변경되었습니다</a:t>
              </a:r>
              <a:r>
                <a:rPr lang="en-US" altLang="ko-KR" sz="9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.</a:t>
              </a:r>
              <a:endParaRPr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3" name="모서리가 둥근 직사각형 63">
              <a:extLst>
                <a:ext uri="{FF2B5EF4-FFF2-40B4-BE49-F238E27FC236}">
                  <a16:creationId xmlns:a16="http://schemas.microsoft.com/office/drawing/2014/main" id="{C9563051-32B1-0086-E228-FEE25D4479E5}"/>
                </a:ext>
              </a:extLst>
            </p:cNvPr>
            <p:cNvSpPr/>
            <p:nvPr/>
          </p:nvSpPr>
          <p:spPr bwMode="auto">
            <a:xfrm>
              <a:off x="9606485" y="5104072"/>
              <a:ext cx="807449" cy="200025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ko-KR" altLang="en-US" sz="800" dirty="0">
                  <a:ln w="0" cmpd="sng">
                    <a:solidFill>
                      <a:schemeClr val="tx2">
                        <a:satMod val="155000"/>
                        <a:alpha val="0"/>
                      </a:schemeClr>
                    </a:solidFill>
                    <a:prstDash val="solid"/>
                    <a:round/>
                  </a:ln>
                  <a:solidFill>
                    <a:schemeClr val="tx1"/>
                  </a:solidFill>
                  <a:latin typeface="나눔고딕" pitchFamily="50" charset="-127"/>
                  <a:ea typeface="나눔고딕" pitchFamily="50" charset="-127"/>
                </a:rPr>
                <a:t>확인</a:t>
              </a:r>
            </a:p>
          </p:txBody>
        </p:sp>
      </p:grpSp>
      <p:sp>
        <p:nvSpPr>
          <p:cNvPr id="44" name="Oval 109">
            <a:extLst>
              <a:ext uri="{FF2B5EF4-FFF2-40B4-BE49-F238E27FC236}">
                <a16:creationId xmlns:a16="http://schemas.microsoft.com/office/drawing/2014/main" id="{F78CC73B-BDD0-4299-DB26-520CADEB72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4448" y="4342753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24450774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E64165-732A-09E9-5C19-15132EE002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BAC85FB-899E-BEC8-F8B4-4C2351BA6B13}"/>
              </a:ext>
            </a:extLst>
          </p:cNvPr>
          <p:cNvSpPr txBox="1"/>
          <p:nvPr/>
        </p:nvSpPr>
        <p:spPr>
          <a:xfrm>
            <a:off x="1047750" y="2476500"/>
            <a:ext cx="2390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나눔고딕" pitchFamily="2" charset="-127"/>
                <a:ea typeface="나눔고딕" pitchFamily="2" charset="-127"/>
              </a:rPr>
              <a:t>03. </a:t>
            </a:r>
            <a:r>
              <a:rPr lang="ko-KR" altLang="en-US" b="1" dirty="0">
                <a:latin typeface="나눔고딕" pitchFamily="2" charset="-127"/>
                <a:ea typeface="나눔고딕" pitchFamily="2" charset="-127"/>
              </a:rPr>
              <a:t>하늘누리 소개</a:t>
            </a:r>
          </a:p>
        </p:txBody>
      </p:sp>
    </p:spTree>
    <p:extLst>
      <p:ext uri="{BB962C8B-B14F-4D97-AF65-F5344CB8AC3E}">
        <p14:creationId xmlns:p14="http://schemas.microsoft.com/office/powerpoint/2010/main" val="237710902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6DE8AA-0501-AA94-8E15-4F0543E7DB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A90BA11F-47DD-0923-BE84-9011E236597B}"/>
              </a:ext>
            </a:extLst>
          </p:cNvPr>
          <p:cNvGraphicFramePr>
            <a:graphicFrameLocks noGrp="1"/>
          </p:cNvGraphicFramePr>
          <p:nvPr/>
        </p:nvGraphicFramePr>
        <p:xfrm>
          <a:off x="9182101" y="947377"/>
          <a:ext cx="2795588" cy="1847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1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684046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723838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3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172599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4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290794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5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922450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6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784800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7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0538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8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199337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9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450365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43A50507-0ABE-73CA-E977-5178FD8A8925}"/>
              </a:ext>
            </a:extLst>
          </p:cNvPr>
          <p:cNvSpPr/>
          <p:nvPr/>
        </p:nvSpPr>
        <p:spPr>
          <a:xfrm>
            <a:off x="959895" y="375614"/>
            <a:ext cx="1499128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</a:pP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메인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하늘누리소개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인사말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 </a:t>
            </a:r>
            <a:endParaRPr kumimoji="1" lang="ko-KR" altLang="en-US" sz="800" dirty="0"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EC0693B-6B17-3D31-0E21-6E914D9B006F}"/>
              </a:ext>
            </a:extLst>
          </p:cNvPr>
          <p:cNvSpPr txBox="1"/>
          <p:nvPr/>
        </p:nvSpPr>
        <p:spPr>
          <a:xfrm>
            <a:off x="6003996" y="123825"/>
            <a:ext cx="17303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HN_Introdu_Greeting_001</a:t>
            </a:r>
            <a:endParaRPr lang="ko-KR" altLang="en-US" sz="800" dirty="0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17E121BA-9DF8-2EDF-A342-7D45FD42FB01}"/>
              </a:ext>
            </a:extLst>
          </p:cNvPr>
          <p:cNvGrpSpPr/>
          <p:nvPr/>
        </p:nvGrpSpPr>
        <p:grpSpPr>
          <a:xfrm>
            <a:off x="161925" y="797629"/>
            <a:ext cx="8953500" cy="851943"/>
            <a:chOff x="161925" y="797629"/>
            <a:chExt cx="8953500" cy="851943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DC4E7E2B-2F11-D1A8-A975-AC44FD2B6C57}"/>
                </a:ext>
              </a:extLst>
            </p:cNvPr>
            <p:cNvSpPr/>
            <p:nvPr/>
          </p:nvSpPr>
          <p:spPr>
            <a:xfrm>
              <a:off x="4144448" y="797629"/>
              <a:ext cx="942784" cy="35821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800" b="1" dirty="0">
                  <a:solidFill>
                    <a:srgbClr val="FF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CI</a:t>
              </a:r>
            </a:p>
          </p:txBody>
        </p: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6ADB37BD-5EE6-CC19-67AA-4B1262BD39DB}"/>
                </a:ext>
              </a:extLst>
            </p:cNvPr>
            <p:cNvCxnSpPr/>
            <p:nvPr/>
          </p:nvCxnSpPr>
          <p:spPr>
            <a:xfrm>
              <a:off x="161925" y="1649572"/>
              <a:ext cx="8953500" cy="0"/>
            </a:xfrm>
            <a:prstGeom prst="line">
              <a:avLst/>
            </a:prstGeom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D0348B2-18A8-89DD-B454-9D65DFF1EFF7}"/>
                </a:ext>
              </a:extLst>
            </p:cNvPr>
            <p:cNvSpPr txBox="1"/>
            <p:nvPr/>
          </p:nvSpPr>
          <p:spPr>
            <a:xfrm>
              <a:off x="2031551" y="1301804"/>
              <a:ext cx="120364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하늘누리소개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5088C6C2-941D-93C7-5142-E6E489F29A36}"/>
                </a:ext>
              </a:extLst>
            </p:cNvPr>
            <p:cNvSpPr txBox="1"/>
            <p:nvPr/>
          </p:nvSpPr>
          <p:spPr>
            <a:xfrm>
              <a:off x="3239720" y="1301804"/>
              <a:ext cx="9144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시설안내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A1607BA9-EC4D-75AD-8170-9D07D735B6A7}"/>
                </a:ext>
              </a:extLst>
            </p:cNvPr>
            <p:cNvSpPr txBox="1"/>
            <p:nvPr/>
          </p:nvSpPr>
          <p:spPr>
            <a:xfrm>
              <a:off x="4158640" y="1301804"/>
              <a:ext cx="9144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분양안내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1900E2A0-80B6-E769-19A3-EBF52042B6F9}"/>
                </a:ext>
              </a:extLst>
            </p:cNvPr>
            <p:cNvSpPr txBox="1"/>
            <p:nvPr/>
          </p:nvSpPr>
          <p:spPr>
            <a:xfrm>
              <a:off x="5077560" y="1301804"/>
              <a:ext cx="119120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사이버추모관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78A5682A-4745-2778-57EE-C4B53BAD6B40}"/>
                </a:ext>
              </a:extLst>
            </p:cNvPr>
            <p:cNvSpPr txBox="1"/>
            <p:nvPr/>
          </p:nvSpPr>
          <p:spPr>
            <a:xfrm>
              <a:off x="6273289" y="1301804"/>
              <a:ext cx="9144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고객센터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55EC9A1-37F0-E02F-0E85-266FAA422795}"/>
                </a:ext>
              </a:extLst>
            </p:cNvPr>
            <p:cNvSpPr txBox="1"/>
            <p:nvPr/>
          </p:nvSpPr>
          <p:spPr>
            <a:xfrm>
              <a:off x="7734300" y="817862"/>
              <a:ext cx="79388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b="1">
                  <a:latin typeface="나눔고딕" panose="020D0604000000000000" pitchFamily="50" charset="-127"/>
                  <a:ea typeface="나눔고딕" panose="020D0604000000000000" pitchFamily="50" charset="-127"/>
                </a:rPr>
                <a:t>비밀번호변경</a:t>
              </a:r>
              <a:endParaRPr lang="ko-KR" altLang="en-US" sz="8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43932C73-910D-7D5D-8BFE-49C7936E2A80}"/>
                </a:ext>
              </a:extLst>
            </p:cNvPr>
            <p:cNvSpPr txBox="1"/>
            <p:nvPr/>
          </p:nvSpPr>
          <p:spPr>
            <a:xfrm>
              <a:off x="8472200" y="817862"/>
              <a:ext cx="58783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로그아웃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D116F39-9D37-B039-D317-DFAC9F5766FB}"/>
                </a:ext>
              </a:extLst>
            </p:cNvPr>
            <p:cNvSpPr txBox="1"/>
            <p:nvPr/>
          </p:nvSpPr>
          <p:spPr>
            <a:xfrm>
              <a:off x="7203231" y="817862"/>
              <a:ext cx="65313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나의정보</a:t>
              </a: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B58BFED6-2425-0476-1FF8-4F0E1D805FAA}"/>
              </a:ext>
            </a:extLst>
          </p:cNvPr>
          <p:cNvSpPr txBox="1"/>
          <p:nvPr/>
        </p:nvSpPr>
        <p:spPr>
          <a:xfrm>
            <a:off x="158621" y="1704392"/>
            <a:ext cx="314441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HOME &gt; </a:t>
            </a:r>
            <a:r>
              <a:rPr lang="ko-KR" altLang="en-US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하늘누리소개 </a:t>
            </a:r>
            <a:r>
              <a:rPr lang="en-US" altLang="ko-KR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인사말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2FAA65-50DC-0A2A-4E3E-4391897F8F35}"/>
              </a:ext>
            </a:extLst>
          </p:cNvPr>
          <p:cNvSpPr txBox="1"/>
          <p:nvPr/>
        </p:nvSpPr>
        <p:spPr>
          <a:xfrm>
            <a:off x="2962325" y="1866963"/>
            <a:ext cx="33499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인사말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48E0CC0-DA61-4CDC-0568-136DEC427631}"/>
              </a:ext>
            </a:extLst>
          </p:cNvPr>
          <p:cNvSpPr txBox="1"/>
          <p:nvPr/>
        </p:nvSpPr>
        <p:spPr>
          <a:xfrm>
            <a:off x="2426499" y="5317726"/>
            <a:ext cx="4341855" cy="12453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Aft>
                <a:spcPts val="900"/>
              </a:spcAft>
              <a:buNone/>
            </a:pPr>
            <a:r>
              <a:rPr lang="ko-KR" altLang="en-US" sz="900" b="0" i="0" dirty="0">
                <a:solidFill>
                  <a:srgbClr val="232425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안녕하십니까</a:t>
            </a:r>
            <a:r>
              <a:rPr lang="en-US" altLang="ko-KR" sz="900" b="0" i="0" dirty="0">
                <a:solidFill>
                  <a:srgbClr val="232425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br>
              <a:rPr lang="en-US" altLang="ko-KR" sz="900" b="0" i="0" dirty="0">
                <a:solidFill>
                  <a:srgbClr val="232425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900" b="0" i="0" dirty="0">
                <a:solidFill>
                  <a:srgbClr val="232425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하늘누리 추모공원 홈페이지를 찾아주신 여러분께 진심으로 감사드립니다</a:t>
            </a:r>
            <a:r>
              <a:rPr lang="en-US" altLang="ko-KR" sz="900" b="0" i="0" dirty="0">
                <a:solidFill>
                  <a:srgbClr val="232425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 algn="l">
              <a:lnSpc>
                <a:spcPts val="2100"/>
              </a:lnSpc>
              <a:spcAft>
                <a:spcPts val="900"/>
              </a:spcAft>
              <a:buNone/>
            </a:pPr>
            <a:r>
              <a:rPr lang="ko-KR" altLang="en-US" sz="900" b="0" i="0" dirty="0">
                <a:solidFill>
                  <a:srgbClr val="232425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하늘누리 추모공원은 </a:t>
            </a:r>
            <a:r>
              <a:rPr lang="en-US" altLang="ko-KR" sz="900" b="0" i="0" dirty="0">
                <a:solidFill>
                  <a:srgbClr val="232425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“</a:t>
            </a:r>
            <a:r>
              <a:rPr lang="ko-KR" altLang="en-US" sz="900" b="0" i="0" dirty="0">
                <a:solidFill>
                  <a:srgbClr val="232425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하늘이 내린 평안한 안식처</a:t>
            </a:r>
            <a:r>
              <a:rPr lang="en-US" altLang="ko-KR" sz="900" b="0" i="0" dirty="0">
                <a:solidFill>
                  <a:srgbClr val="232425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”</a:t>
            </a:r>
            <a:r>
              <a:rPr lang="ko-KR" altLang="en-US" sz="900" b="0" i="0" dirty="0">
                <a:solidFill>
                  <a:srgbClr val="232425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라는 의미를 담아</a:t>
            </a:r>
            <a:br>
              <a:rPr lang="ko-KR" altLang="en-US" sz="900" b="0" i="0" dirty="0">
                <a:solidFill>
                  <a:srgbClr val="232425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900" b="0" i="0" dirty="0">
                <a:solidFill>
                  <a:srgbClr val="232425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자연과 하나 되는 아름다운 영면의 공간으로 조성되었습니다</a:t>
            </a:r>
            <a:r>
              <a:rPr lang="en-US" altLang="ko-KR" sz="900" b="0" i="0" dirty="0">
                <a:solidFill>
                  <a:srgbClr val="232425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443CC31-3A2B-C54C-C374-468EB1545CF5}"/>
              </a:ext>
            </a:extLst>
          </p:cNvPr>
          <p:cNvSpPr txBox="1"/>
          <p:nvPr/>
        </p:nvSpPr>
        <p:spPr>
          <a:xfrm>
            <a:off x="2587400" y="2510537"/>
            <a:ext cx="4064449" cy="600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2100"/>
              </a:lnSpc>
              <a:spcAft>
                <a:spcPts val="900"/>
              </a:spcAft>
            </a:pP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하늘누리 추모공원은 </a:t>
            </a:r>
            <a:r>
              <a:rPr lang="en-US" altLang="ko-KR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"</a:t>
            </a:r>
            <a:r>
              <a:rPr lang="ko-KR" altLang="en-US" sz="1200" b="1" dirty="0">
                <a:solidFill>
                  <a:srgbClr val="2324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고인께서는 편안히 영면하실 수 있는 성스러운 안식처</a:t>
            </a:r>
            <a:r>
              <a:rPr lang="en-US" altLang="ko-KR" sz="1200" b="1" dirty="0">
                <a:solidFill>
                  <a:srgbClr val="2324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”</a:t>
            </a:r>
            <a:r>
              <a:rPr lang="ko-KR" altLang="en-US" sz="1200" dirty="0">
                <a:solidFill>
                  <a:srgbClr val="2324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가</a:t>
            </a:r>
            <a:r>
              <a:rPr lang="ko-KR" altLang="en-US" sz="1200" b="1" dirty="0">
                <a:solidFill>
                  <a:srgbClr val="2324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200" dirty="0">
                <a:solidFill>
                  <a:srgbClr val="2324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되고자 합니다</a:t>
            </a:r>
            <a:r>
              <a:rPr lang="en-US" altLang="ko-KR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12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4A6DF1A-9281-F545-AFA1-0521BE65816E}"/>
              </a:ext>
            </a:extLst>
          </p:cNvPr>
          <p:cNvSpPr/>
          <p:nvPr/>
        </p:nvSpPr>
        <p:spPr>
          <a:xfrm>
            <a:off x="259977" y="3218422"/>
            <a:ext cx="8701504" cy="2099299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이미지</a:t>
            </a:r>
          </a:p>
        </p:txBody>
      </p:sp>
    </p:spTree>
    <p:extLst>
      <p:ext uri="{BB962C8B-B14F-4D97-AF65-F5344CB8AC3E}">
        <p14:creationId xmlns:p14="http://schemas.microsoft.com/office/powerpoint/2010/main" val="222423207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BF11BE-689D-18A9-D04D-1CB82EDCB7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EEB708FB-F1F3-19D1-C99E-96A51D89EF37}"/>
              </a:ext>
            </a:extLst>
          </p:cNvPr>
          <p:cNvGraphicFramePr>
            <a:graphicFrameLocks noGrp="1"/>
          </p:cNvGraphicFramePr>
          <p:nvPr/>
        </p:nvGraphicFramePr>
        <p:xfrm>
          <a:off x="9182101" y="947377"/>
          <a:ext cx="2795588" cy="29444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1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아이디 입력 필드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아이디를 입력하지 않거나 정확하게 입력하지 않은 경우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alert ‘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아이디를 정확하게 입력해주세요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”</a:t>
                      </a: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684046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비밀번호 입력 필드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비밀번호를 입력하지 않거나 정확하게 입력하지 않은 경우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alert ‘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비밀번호를 정확하게 입력해주세요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‘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723838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3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아이디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비밀번호를 정확하게 입력 시 로그인 함</a:t>
                      </a: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172599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4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아이디 저장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체크시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다음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접속시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아이디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저정한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상태로 노출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</a:b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*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로그인 시 입금관리 목록화면으로 이동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290794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5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아이디 찾기 선택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아이디 찾기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팝업창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노출</a:t>
                      </a: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922450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6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비밀번호 찾기 선택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바말본호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찾기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팝업창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노출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784800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7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0538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8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199337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9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450365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AB235428-37D4-1BDD-C6DF-16FAB755178E}"/>
              </a:ext>
            </a:extLst>
          </p:cNvPr>
          <p:cNvSpPr/>
          <p:nvPr/>
        </p:nvSpPr>
        <p:spPr>
          <a:xfrm>
            <a:off x="959895" y="375614"/>
            <a:ext cx="1499128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</a:pP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메인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하늘누리소개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인사말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 </a:t>
            </a:r>
            <a:endParaRPr kumimoji="1" lang="ko-KR" altLang="en-US" sz="800" dirty="0"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6245E69-1159-BE25-348B-14CB17AA049A}"/>
              </a:ext>
            </a:extLst>
          </p:cNvPr>
          <p:cNvSpPr txBox="1"/>
          <p:nvPr/>
        </p:nvSpPr>
        <p:spPr>
          <a:xfrm>
            <a:off x="6003996" y="123825"/>
            <a:ext cx="17303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HN_Main_001</a:t>
            </a:r>
            <a:endParaRPr lang="ko-KR" altLang="en-US" sz="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528EB5D-68E8-3EBC-CE8F-55258BC5659E}"/>
              </a:ext>
            </a:extLst>
          </p:cNvPr>
          <p:cNvSpPr txBox="1"/>
          <p:nvPr/>
        </p:nvSpPr>
        <p:spPr>
          <a:xfrm>
            <a:off x="2968644" y="961788"/>
            <a:ext cx="4765655" cy="50540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100"/>
              </a:lnSpc>
              <a:spcAft>
                <a:spcPts val="900"/>
              </a:spcAft>
            </a:pPr>
            <a:r>
              <a:rPr lang="ko-KR" altLang="en-US" sz="900" dirty="0">
                <a:solidFill>
                  <a:srgbClr val="2324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저희 공원은 단순한 장사시설을 넘어</a:t>
            </a:r>
            <a:br>
              <a:rPr lang="ko-KR" altLang="en-US" sz="900" dirty="0">
                <a:solidFill>
                  <a:srgbClr val="2324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900" b="1" dirty="0">
                <a:solidFill>
                  <a:srgbClr val="2324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고인께서는 편안히 영면하실 수 있는 성스러운 안식처</a:t>
            </a:r>
            <a:r>
              <a:rPr lang="ko-KR" altLang="en-US" sz="900" dirty="0">
                <a:solidFill>
                  <a:srgbClr val="2324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이며</a:t>
            </a:r>
            <a:r>
              <a:rPr lang="en-US" altLang="ko-KR" sz="900" dirty="0">
                <a:solidFill>
                  <a:srgbClr val="2324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</a:t>
            </a:r>
            <a:br>
              <a:rPr lang="en-US" altLang="ko-KR" sz="900" dirty="0">
                <a:solidFill>
                  <a:srgbClr val="2324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900" b="1" dirty="0">
                <a:solidFill>
                  <a:srgbClr val="2324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유가족분들께는 사랑하는 이를 추모하며 위안을 얻는 치유의 공간</a:t>
            </a:r>
            <a:r>
              <a:rPr lang="ko-KR" altLang="en-US" sz="900" dirty="0">
                <a:solidFill>
                  <a:srgbClr val="2324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이 되고자 합니다</a:t>
            </a:r>
            <a:r>
              <a:rPr lang="en-US" altLang="ko-KR" sz="900" dirty="0">
                <a:solidFill>
                  <a:srgbClr val="2324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>
              <a:lnSpc>
                <a:spcPts val="2100"/>
              </a:lnSpc>
              <a:spcAft>
                <a:spcPts val="900"/>
              </a:spcAft>
            </a:pPr>
            <a:r>
              <a:rPr lang="ko-KR" altLang="en-US" sz="900" dirty="0">
                <a:solidFill>
                  <a:srgbClr val="2324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천혜의 자연환경 속에 조성된 하늘누리 추모공원은</a:t>
            </a:r>
            <a:br>
              <a:rPr lang="ko-KR" altLang="en-US" sz="900" dirty="0">
                <a:solidFill>
                  <a:srgbClr val="2324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900" dirty="0">
                <a:solidFill>
                  <a:srgbClr val="2324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사계절 아름다운 경관과 잘 가꾸어진 조경으로</a:t>
            </a:r>
            <a:br>
              <a:rPr lang="ko-KR" altLang="en-US" sz="900" dirty="0">
                <a:solidFill>
                  <a:srgbClr val="2324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900" dirty="0">
                <a:solidFill>
                  <a:srgbClr val="2324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후손들이 편안하게 방문하여 고인을 기릴 수 있는 환경을 제공합니다</a:t>
            </a:r>
            <a:r>
              <a:rPr lang="en-US" altLang="ko-KR" sz="900" dirty="0">
                <a:solidFill>
                  <a:srgbClr val="2324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en-US" altLang="ko-KR" sz="900" b="0" i="0" dirty="0">
              <a:solidFill>
                <a:srgbClr val="232425"/>
              </a:solidFill>
              <a:effectLst/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>
              <a:lnSpc>
                <a:spcPts val="2100"/>
              </a:lnSpc>
              <a:spcAft>
                <a:spcPts val="900"/>
              </a:spcAft>
              <a:buNone/>
            </a:pPr>
            <a:r>
              <a:rPr lang="ko-KR" altLang="en-US" sz="900" b="0" i="0" dirty="0">
                <a:solidFill>
                  <a:srgbClr val="232425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또한 </a:t>
            </a:r>
            <a:r>
              <a:rPr lang="ko-KR" altLang="en-US" sz="900" b="1" i="0" dirty="0">
                <a:solidFill>
                  <a:srgbClr val="232425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최신 시설과 친환경 설계</a:t>
            </a:r>
            <a:r>
              <a:rPr lang="ko-KR" altLang="en-US" sz="900" b="0" i="0" dirty="0">
                <a:solidFill>
                  <a:srgbClr val="232425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로 쾌적하고 품격 있는 추모 문화를 선도하며</a:t>
            </a:r>
            <a:r>
              <a:rPr lang="en-US" altLang="ko-KR" sz="900" b="0" i="0" dirty="0">
                <a:solidFill>
                  <a:srgbClr val="232425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,</a:t>
            </a:r>
            <a:br>
              <a:rPr lang="en-US" altLang="ko-KR" sz="900" b="0" i="0" dirty="0">
                <a:solidFill>
                  <a:srgbClr val="232425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900" b="1" i="0" dirty="0">
                <a:solidFill>
                  <a:srgbClr val="232425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재단법인의 안정적 운영 체계</a:t>
            </a:r>
            <a:r>
              <a:rPr lang="ko-KR" altLang="en-US" sz="900" b="0" i="0" dirty="0">
                <a:solidFill>
                  <a:srgbClr val="232425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로 영구적인 관리를 보장합니다</a:t>
            </a:r>
            <a:r>
              <a:rPr lang="en-US" altLang="ko-KR" sz="900" b="0" i="0" dirty="0">
                <a:solidFill>
                  <a:srgbClr val="232425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 algn="l">
              <a:lnSpc>
                <a:spcPts val="2100"/>
              </a:lnSpc>
              <a:spcAft>
                <a:spcPts val="900"/>
              </a:spcAft>
              <a:buNone/>
            </a:pPr>
            <a:r>
              <a:rPr lang="ko-KR" altLang="en-US" sz="900" b="0" i="0" dirty="0">
                <a:solidFill>
                  <a:srgbClr val="232425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저희 하늘누리 추모공원의 모든 임직원은</a:t>
            </a:r>
            <a:br>
              <a:rPr lang="ko-KR" altLang="en-US" sz="900" b="0" i="0" dirty="0">
                <a:solidFill>
                  <a:srgbClr val="232425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900" b="1" i="0" dirty="0">
                <a:solidFill>
                  <a:srgbClr val="232425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내 가족</a:t>
            </a:r>
            <a:r>
              <a:rPr lang="en-US" altLang="ko-KR" sz="900" b="1" i="0" dirty="0">
                <a:solidFill>
                  <a:srgbClr val="232425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900" b="1" i="0" dirty="0">
                <a:solidFill>
                  <a:srgbClr val="232425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내 부모님을 모시는 마음</a:t>
            </a:r>
            <a:r>
              <a:rPr lang="ko-KR" altLang="en-US" sz="900" b="0" i="0" dirty="0">
                <a:solidFill>
                  <a:srgbClr val="232425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으로</a:t>
            </a:r>
            <a:br>
              <a:rPr lang="ko-KR" altLang="en-US" sz="900" b="0" i="0" dirty="0">
                <a:solidFill>
                  <a:srgbClr val="232425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900" b="0" i="0" dirty="0">
                <a:solidFill>
                  <a:srgbClr val="232425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정성을 다해 고인을 봉안하고 관리할 것을 약속드립니다</a:t>
            </a:r>
            <a:r>
              <a:rPr lang="en-US" altLang="ko-KR" sz="900" b="0" i="0" dirty="0">
                <a:solidFill>
                  <a:srgbClr val="232425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 algn="l">
              <a:lnSpc>
                <a:spcPts val="2100"/>
              </a:lnSpc>
              <a:spcAft>
                <a:spcPts val="900"/>
              </a:spcAft>
              <a:buNone/>
            </a:pPr>
            <a:r>
              <a:rPr lang="ko-KR" altLang="en-US" sz="900" b="0" i="0" dirty="0">
                <a:solidFill>
                  <a:srgbClr val="232425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방문하시는 모든 분들께 평안과 위로가 되는 공간이 되도록</a:t>
            </a:r>
            <a:br>
              <a:rPr lang="ko-KR" altLang="en-US" sz="900" b="0" i="0" dirty="0">
                <a:solidFill>
                  <a:srgbClr val="232425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900" b="0" i="0" dirty="0">
                <a:solidFill>
                  <a:srgbClr val="232425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최선을 다하겠습니다</a:t>
            </a:r>
            <a:r>
              <a:rPr lang="en-US" altLang="ko-KR" sz="900" b="0" i="0" dirty="0">
                <a:solidFill>
                  <a:srgbClr val="232425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 algn="l">
              <a:lnSpc>
                <a:spcPts val="2100"/>
              </a:lnSpc>
              <a:spcAft>
                <a:spcPts val="900"/>
              </a:spcAft>
              <a:buNone/>
            </a:pPr>
            <a:r>
              <a:rPr lang="ko-KR" altLang="en-US" sz="900" b="0" i="0" dirty="0">
                <a:solidFill>
                  <a:srgbClr val="232425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감사합니다</a:t>
            </a:r>
            <a:r>
              <a:rPr lang="en-US" altLang="ko-KR" sz="900" b="0" i="0" dirty="0">
                <a:solidFill>
                  <a:srgbClr val="232425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 algn="l">
              <a:lnSpc>
                <a:spcPts val="2100"/>
              </a:lnSpc>
              <a:spcAft>
                <a:spcPts val="900"/>
              </a:spcAft>
              <a:buNone/>
            </a:pPr>
            <a:r>
              <a:rPr lang="ko-KR" altLang="en-US" sz="900" b="1" i="0" dirty="0">
                <a:solidFill>
                  <a:srgbClr val="232425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하늘누리 추모공원 대표 ○○○</a:t>
            </a:r>
            <a:br>
              <a:rPr lang="ko-KR" altLang="en-US" sz="900" b="0" i="0" dirty="0">
                <a:solidFill>
                  <a:srgbClr val="232425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900" b="1" i="0" dirty="0">
                <a:solidFill>
                  <a:srgbClr val="232425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임직원 일동</a:t>
            </a:r>
            <a:endParaRPr lang="ko-KR" altLang="en-US" sz="900" b="0" i="0" dirty="0">
              <a:solidFill>
                <a:srgbClr val="232425"/>
              </a:solidFill>
              <a:effectLst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8B270A9-FAEA-10A8-3B7B-90F58B4C84A7}"/>
              </a:ext>
            </a:extLst>
          </p:cNvPr>
          <p:cNvSpPr/>
          <p:nvPr/>
        </p:nvSpPr>
        <p:spPr>
          <a:xfrm>
            <a:off x="170329" y="6257365"/>
            <a:ext cx="8928847" cy="34095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FOOTER</a:t>
            </a:r>
            <a:endParaRPr lang="ko-KR" altLang="en-US" sz="10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2458340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1FDAAF-46CB-8B29-6E48-F6391E4C6C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943995AC-20FF-4F2E-BAF4-80B5A70A4BC1}"/>
              </a:ext>
            </a:extLst>
          </p:cNvPr>
          <p:cNvGraphicFramePr>
            <a:graphicFrameLocks noGrp="1"/>
          </p:cNvGraphicFramePr>
          <p:nvPr/>
        </p:nvGraphicFramePr>
        <p:xfrm>
          <a:off x="9182101" y="947377"/>
          <a:ext cx="2795588" cy="1847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1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684046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723838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3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172599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4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290794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5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922450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6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784800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7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0538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8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199337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9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450365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ECA0FD6B-D066-9599-3F97-C8FAC6AAB873}"/>
              </a:ext>
            </a:extLst>
          </p:cNvPr>
          <p:cNvSpPr/>
          <p:nvPr/>
        </p:nvSpPr>
        <p:spPr>
          <a:xfrm>
            <a:off x="959895" y="375614"/>
            <a:ext cx="1883849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</a:pP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메인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하늘누리소개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하늘누리 이야기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2CA2735-7424-D429-39EA-4B8B14580CE1}"/>
              </a:ext>
            </a:extLst>
          </p:cNvPr>
          <p:cNvSpPr txBox="1"/>
          <p:nvPr/>
        </p:nvSpPr>
        <p:spPr>
          <a:xfrm>
            <a:off x="6003996" y="123825"/>
            <a:ext cx="17303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HN_Introdu_Hnstory_001</a:t>
            </a:r>
            <a:endParaRPr lang="ko-KR" altLang="en-US" sz="800" dirty="0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D85A7078-82FF-0E40-C1EB-AC71EA124800}"/>
              </a:ext>
            </a:extLst>
          </p:cNvPr>
          <p:cNvGrpSpPr/>
          <p:nvPr/>
        </p:nvGrpSpPr>
        <p:grpSpPr>
          <a:xfrm>
            <a:off x="161925" y="797629"/>
            <a:ext cx="8953500" cy="851943"/>
            <a:chOff x="161925" y="797629"/>
            <a:chExt cx="8953500" cy="851943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888B21B2-FBE7-D7EC-D3FD-7F8A986206AB}"/>
                </a:ext>
              </a:extLst>
            </p:cNvPr>
            <p:cNvSpPr/>
            <p:nvPr/>
          </p:nvSpPr>
          <p:spPr>
            <a:xfrm>
              <a:off x="4144448" y="797629"/>
              <a:ext cx="942784" cy="35821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800" b="1" dirty="0">
                  <a:solidFill>
                    <a:srgbClr val="FF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CI</a:t>
              </a:r>
            </a:p>
          </p:txBody>
        </p: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9E3C6BB1-7ABF-4288-A24A-24A569B2EA3C}"/>
                </a:ext>
              </a:extLst>
            </p:cNvPr>
            <p:cNvCxnSpPr/>
            <p:nvPr/>
          </p:nvCxnSpPr>
          <p:spPr>
            <a:xfrm>
              <a:off x="161925" y="1649572"/>
              <a:ext cx="8953500" cy="0"/>
            </a:xfrm>
            <a:prstGeom prst="line">
              <a:avLst/>
            </a:prstGeom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6CD5CAD-3E15-E430-6FD6-D8533BBB3413}"/>
                </a:ext>
              </a:extLst>
            </p:cNvPr>
            <p:cNvSpPr txBox="1"/>
            <p:nvPr/>
          </p:nvSpPr>
          <p:spPr>
            <a:xfrm>
              <a:off x="2031551" y="1301804"/>
              <a:ext cx="120364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하늘누리소개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CBE68BF1-5A9D-B65E-CD5A-639A7FF33D92}"/>
                </a:ext>
              </a:extLst>
            </p:cNvPr>
            <p:cNvSpPr txBox="1"/>
            <p:nvPr/>
          </p:nvSpPr>
          <p:spPr>
            <a:xfrm>
              <a:off x="3239720" y="1301804"/>
              <a:ext cx="9144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시설안내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312C1040-5FE1-1EA8-BF88-7AE561369472}"/>
                </a:ext>
              </a:extLst>
            </p:cNvPr>
            <p:cNvSpPr txBox="1"/>
            <p:nvPr/>
          </p:nvSpPr>
          <p:spPr>
            <a:xfrm>
              <a:off x="4158640" y="1301804"/>
              <a:ext cx="9144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분양안내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9B5AC16C-9B12-0690-B086-1304BBA106EB}"/>
                </a:ext>
              </a:extLst>
            </p:cNvPr>
            <p:cNvSpPr txBox="1"/>
            <p:nvPr/>
          </p:nvSpPr>
          <p:spPr>
            <a:xfrm>
              <a:off x="5077560" y="1301804"/>
              <a:ext cx="119120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사이버추모관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D2DF6537-2F00-DFBD-003C-35C2DE068183}"/>
                </a:ext>
              </a:extLst>
            </p:cNvPr>
            <p:cNvSpPr txBox="1"/>
            <p:nvPr/>
          </p:nvSpPr>
          <p:spPr>
            <a:xfrm>
              <a:off x="6273289" y="1301804"/>
              <a:ext cx="9144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고객센터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8D0D9CB-9E2E-6B33-A448-33F9A3645761}"/>
                </a:ext>
              </a:extLst>
            </p:cNvPr>
            <p:cNvSpPr txBox="1"/>
            <p:nvPr/>
          </p:nvSpPr>
          <p:spPr>
            <a:xfrm>
              <a:off x="7734300" y="817862"/>
              <a:ext cx="79388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b="1">
                  <a:latin typeface="나눔고딕" panose="020D0604000000000000" pitchFamily="50" charset="-127"/>
                  <a:ea typeface="나눔고딕" panose="020D0604000000000000" pitchFamily="50" charset="-127"/>
                </a:rPr>
                <a:t>비밀번호변경</a:t>
              </a:r>
              <a:endParaRPr lang="ko-KR" altLang="en-US" sz="8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12D7C678-0FC6-E7E9-592F-4974380FAB99}"/>
                </a:ext>
              </a:extLst>
            </p:cNvPr>
            <p:cNvSpPr txBox="1"/>
            <p:nvPr/>
          </p:nvSpPr>
          <p:spPr>
            <a:xfrm>
              <a:off x="8472200" y="817862"/>
              <a:ext cx="58783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로그아웃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8E5CFE48-0B31-FB25-5CC5-A5EC61376EDE}"/>
                </a:ext>
              </a:extLst>
            </p:cNvPr>
            <p:cNvSpPr txBox="1"/>
            <p:nvPr/>
          </p:nvSpPr>
          <p:spPr>
            <a:xfrm>
              <a:off x="7203231" y="817862"/>
              <a:ext cx="65313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나의정보</a:t>
              </a: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B6A9CE55-9E45-25D9-9B64-7ADD4B02341C}"/>
              </a:ext>
            </a:extLst>
          </p:cNvPr>
          <p:cNvSpPr txBox="1"/>
          <p:nvPr/>
        </p:nvSpPr>
        <p:spPr>
          <a:xfrm>
            <a:off x="158621" y="1704392"/>
            <a:ext cx="314441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HOME &gt; </a:t>
            </a:r>
            <a:r>
              <a:rPr lang="ko-KR" altLang="en-US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하늘누리소개 </a:t>
            </a:r>
            <a:r>
              <a:rPr lang="en-US" altLang="ko-KR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하늘누리 이야기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CB08B6-1C09-6663-16BB-85618C714207}"/>
              </a:ext>
            </a:extLst>
          </p:cNvPr>
          <p:cNvSpPr txBox="1"/>
          <p:nvPr/>
        </p:nvSpPr>
        <p:spPr>
          <a:xfrm>
            <a:off x="2791996" y="1866963"/>
            <a:ext cx="36895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하늘누리 이야기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19C908-8637-3994-7F98-05FFB47D58A8}"/>
              </a:ext>
            </a:extLst>
          </p:cNvPr>
          <p:cNvSpPr txBox="1"/>
          <p:nvPr/>
        </p:nvSpPr>
        <p:spPr>
          <a:xfrm>
            <a:off x="158622" y="4076463"/>
            <a:ext cx="4331638" cy="9464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  <a:buNone/>
            </a:pPr>
            <a:r>
              <a:rPr lang="ko-KR" altLang="en-US" sz="1200" b="0" i="0" dirty="0">
                <a:solidFill>
                  <a:srgbClr val="232425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전통적인 매장 문화에서 화장 중심으로 변화하는 시대적 흐름 속에서</a:t>
            </a:r>
            <a:r>
              <a:rPr lang="en-US" altLang="ko-KR" sz="1200" b="0" i="0" dirty="0">
                <a:solidFill>
                  <a:srgbClr val="232425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200" b="0" i="0" dirty="0">
                <a:solidFill>
                  <a:srgbClr val="232425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품격 있고 아름다운 추모 공간의 필요성이 대두되었습니다</a:t>
            </a:r>
            <a:r>
              <a:rPr lang="en-US" altLang="ko-KR" sz="1200" b="0" i="0" dirty="0">
                <a:solidFill>
                  <a:srgbClr val="232425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 algn="l">
              <a:spcAft>
                <a:spcPts val="900"/>
              </a:spcAft>
              <a:buNone/>
            </a:pPr>
            <a:r>
              <a:rPr lang="ko-KR" altLang="en-US" sz="1200" b="0" i="0" dirty="0">
                <a:solidFill>
                  <a:srgbClr val="232425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이에 저희는 </a:t>
            </a:r>
            <a:r>
              <a:rPr lang="en-US" altLang="ko-KR" sz="1200" b="1" i="0" dirty="0">
                <a:solidFill>
                  <a:srgbClr val="232425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"</a:t>
            </a:r>
            <a:r>
              <a:rPr lang="ko-KR" altLang="en-US" sz="1200" b="1" i="0" dirty="0">
                <a:solidFill>
                  <a:srgbClr val="232425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자연으로 돌아가 영면하다</a:t>
            </a:r>
            <a:r>
              <a:rPr lang="en-US" altLang="ko-KR" sz="1200" b="1" i="0" dirty="0">
                <a:solidFill>
                  <a:srgbClr val="232425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"</a:t>
            </a:r>
            <a:r>
              <a:rPr lang="ko-KR" altLang="en-US" sz="1200" b="0" i="0" dirty="0">
                <a:solidFill>
                  <a:srgbClr val="232425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는 철학을 바탕으로 고인과 유가족 모두에게 위안이 되는 공간을 만들고자 하였습니다</a:t>
            </a:r>
            <a:r>
              <a:rPr lang="en-US" altLang="ko-KR" sz="1200" b="0" i="0" dirty="0">
                <a:solidFill>
                  <a:srgbClr val="232425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E80F396-E74E-EE41-A33F-62C3E7681C10}"/>
              </a:ext>
            </a:extLst>
          </p:cNvPr>
          <p:cNvSpPr txBox="1"/>
          <p:nvPr/>
        </p:nvSpPr>
        <p:spPr>
          <a:xfrm>
            <a:off x="2587400" y="2510537"/>
            <a:ext cx="4064449" cy="600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2100"/>
              </a:lnSpc>
              <a:spcAft>
                <a:spcPts val="900"/>
              </a:spcAft>
            </a:pP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하늘누리 추모공원은 </a:t>
            </a:r>
            <a:r>
              <a:rPr lang="en-US" altLang="ko-KR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"</a:t>
            </a:r>
            <a:r>
              <a:rPr lang="ko-KR" altLang="en-US" sz="1200" b="1" dirty="0">
                <a:solidFill>
                  <a:srgbClr val="2324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고인께서는 편안히 영면하실 수 있는 성스러운 안식처</a:t>
            </a:r>
            <a:r>
              <a:rPr lang="en-US" altLang="ko-KR" sz="1200" b="1" dirty="0">
                <a:solidFill>
                  <a:srgbClr val="2324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”</a:t>
            </a:r>
            <a:r>
              <a:rPr lang="ko-KR" altLang="en-US" sz="1200" dirty="0">
                <a:solidFill>
                  <a:srgbClr val="2324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가</a:t>
            </a:r>
            <a:r>
              <a:rPr lang="ko-KR" altLang="en-US" sz="1200" b="1" dirty="0">
                <a:solidFill>
                  <a:srgbClr val="2324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200" dirty="0">
                <a:solidFill>
                  <a:srgbClr val="2324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되고자 합니다</a:t>
            </a:r>
            <a:r>
              <a:rPr lang="en-US" altLang="ko-KR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12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071B97-4612-0C59-FD45-5A1513F9986A}"/>
              </a:ext>
            </a:extLst>
          </p:cNvPr>
          <p:cNvSpPr txBox="1"/>
          <p:nvPr/>
        </p:nvSpPr>
        <p:spPr>
          <a:xfrm>
            <a:off x="4750599" y="5843066"/>
            <a:ext cx="4121234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  <a:buNone/>
            </a:pPr>
            <a:r>
              <a:rPr lang="en-US" altLang="ko-KR" sz="1200" b="0" i="0" dirty="0">
                <a:solidFill>
                  <a:srgbClr val="232425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"</a:t>
            </a:r>
            <a:r>
              <a:rPr lang="ko-KR" altLang="en-US" sz="1200" b="0" i="0" dirty="0">
                <a:solidFill>
                  <a:srgbClr val="232425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하늘누리</a:t>
            </a:r>
            <a:r>
              <a:rPr lang="en-US" altLang="ko-KR" sz="1200" b="0" i="0" dirty="0">
                <a:solidFill>
                  <a:srgbClr val="232425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"</a:t>
            </a:r>
            <a:r>
              <a:rPr lang="ko-KR" altLang="en-US" sz="1200" b="0" i="0" dirty="0">
                <a:solidFill>
                  <a:srgbClr val="232425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는 하늘</a:t>
            </a:r>
            <a:r>
              <a:rPr lang="en-US" altLang="ko-KR" sz="1200" b="0" i="0" dirty="0">
                <a:solidFill>
                  <a:srgbClr val="232425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200" b="0" i="0" dirty="0">
                <a:solidFill>
                  <a:srgbClr val="232425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天</a:t>
            </a:r>
            <a:r>
              <a:rPr lang="en-US" altLang="ko-KR" sz="1200" b="0" i="0" dirty="0">
                <a:solidFill>
                  <a:srgbClr val="232425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) + </a:t>
            </a:r>
            <a:r>
              <a:rPr lang="ko-KR" altLang="en-US" sz="1200" b="0" i="0" dirty="0">
                <a:solidFill>
                  <a:srgbClr val="232425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누리</a:t>
            </a:r>
            <a:r>
              <a:rPr lang="en-US" altLang="ko-KR" sz="1200" b="0" i="0" dirty="0">
                <a:solidFill>
                  <a:srgbClr val="232425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200" b="0" i="0" dirty="0">
                <a:solidFill>
                  <a:srgbClr val="232425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世界</a:t>
            </a:r>
            <a:r>
              <a:rPr lang="en-US" altLang="ko-KR" sz="1200" b="0" i="0" dirty="0">
                <a:solidFill>
                  <a:srgbClr val="232425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sz="1200" b="0" i="0" dirty="0">
                <a:solidFill>
                  <a:srgbClr val="232425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의 합성어로</a:t>
            </a:r>
            <a:r>
              <a:rPr lang="en-US" altLang="ko-KR" sz="1200" b="0" i="0" dirty="0">
                <a:solidFill>
                  <a:srgbClr val="232425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,</a:t>
            </a:r>
          </a:p>
          <a:p>
            <a:pPr algn="l">
              <a:spcAft>
                <a:spcPts val="900"/>
              </a:spcAft>
              <a:buNone/>
            </a:pPr>
            <a:r>
              <a:rPr lang="en-US" altLang="ko-KR" sz="1200" b="0" i="0" dirty="0">
                <a:solidFill>
                  <a:srgbClr val="232425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"</a:t>
            </a:r>
            <a:r>
              <a:rPr lang="ko-KR" altLang="en-US" sz="1200" b="0" i="0" dirty="0">
                <a:solidFill>
                  <a:srgbClr val="232425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하늘이 내린 평화로운 세상</a:t>
            </a:r>
            <a:r>
              <a:rPr lang="en-US" altLang="ko-KR" sz="1200" b="0" i="0" dirty="0">
                <a:solidFill>
                  <a:srgbClr val="232425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"</a:t>
            </a:r>
            <a:r>
              <a:rPr lang="ko-KR" altLang="en-US" sz="1200" b="0" i="0" dirty="0">
                <a:solidFill>
                  <a:srgbClr val="232425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을 뜻합니다</a:t>
            </a:r>
            <a:r>
              <a:rPr lang="en-US" altLang="ko-KR" sz="1200" b="0" i="0" dirty="0">
                <a:solidFill>
                  <a:srgbClr val="232425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D418646-3C38-2AD4-9A04-AF027EF54E20}"/>
              </a:ext>
            </a:extLst>
          </p:cNvPr>
          <p:cNvSpPr/>
          <p:nvPr/>
        </p:nvSpPr>
        <p:spPr>
          <a:xfrm>
            <a:off x="4619625" y="3218423"/>
            <a:ext cx="4341855" cy="1857866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이미지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4C9EAEE-8931-3A7B-59FE-405F7CBF6B82}"/>
              </a:ext>
            </a:extLst>
          </p:cNvPr>
          <p:cNvSpPr txBox="1"/>
          <p:nvPr/>
        </p:nvSpPr>
        <p:spPr>
          <a:xfrm>
            <a:off x="962685" y="3396876"/>
            <a:ext cx="27342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b="1" i="0" dirty="0">
                <a:solidFill>
                  <a:srgbClr val="232425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자연으로 돌아가 영면하다</a:t>
            </a:r>
            <a:endParaRPr lang="ko-KR" altLang="en-US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3A157DAC-3865-52FB-7044-C58E8432D41B}"/>
              </a:ext>
            </a:extLst>
          </p:cNvPr>
          <p:cNvSpPr/>
          <p:nvPr/>
        </p:nvSpPr>
        <p:spPr>
          <a:xfrm>
            <a:off x="273985" y="4993902"/>
            <a:ext cx="4341855" cy="1559427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이미지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F7C1108-53D8-B2DA-FBE3-46C1BFC01F16}"/>
              </a:ext>
            </a:extLst>
          </p:cNvPr>
          <p:cNvSpPr txBox="1"/>
          <p:nvPr/>
        </p:nvSpPr>
        <p:spPr>
          <a:xfrm>
            <a:off x="5472990" y="5251848"/>
            <a:ext cx="23577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b="0" i="0" dirty="0">
                <a:solidFill>
                  <a:srgbClr val="232425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하늘</a:t>
            </a:r>
            <a:r>
              <a:rPr lang="en-US" altLang="ko-KR" sz="1800" b="0" i="0" dirty="0">
                <a:solidFill>
                  <a:srgbClr val="232425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800" b="0" i="0" dirty="0">
                <a:solidFill>
                  <a:srgbClr val="232425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天</a:t>
            </a:r>
            <a:r>
              <a:rPr lang="en-US" altLang="ko-KR" sz="1800" b="0" i="0" dirty="0">
                <a:solidFill>
                  <a:srgbClr val="232425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) + </a:t>
            </a:r>
            <a:r>
              <a:rPr lang="ko-KR" altLang="en-US" sz="1800" b="0" i="0" dirty="0">
                <a:solidFill>
                  <a:srgbClr val="232425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누리</a:t>
            </a:r>
            <a:r>
              <a:rPr lang="en-US" altLang="ko-KR" sz="1800" b="0" i="0" dirty="0">
                <a:solidFill>
                  <a:srgbClr val="232425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800" b="0" i="0" dirty="0">
                <a:solidFill>
                  <a:srgbClr val="232425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世界</a:t>
            </a:r>
            <a:r>
              <a:rPr lang="en-US" altLang="ko-KR" sz="1800" b="0" i="0" dirty="0">
                <a:solidFill>
                  <a:srgbClr val="232425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2777467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97581C-0EF9-36CC-9ABC-3113BF1EE0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2378EB99-9C61-9954-950A-3D6066F8122E}"/>
              </a:ext>
            </a:extLst>
          </p:cNvPr>
          <p:cNvGraphicFramePr>
            <a:graphicFrameLocks noGrp="1"/>
          </p:cNvGraphicFramePr>
          <p:nvPr/>
        </p:nvGraphicFramePr>
        <p:xfrm>
          <a:off x="9182101" y="947377"/>
          <a:ext cx="2795588" cy="1847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1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684046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723838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3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172599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4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290794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5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922450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6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784800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7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0538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8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199337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9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450365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58057C23-DC4B-18D3-3AB0-0B7D031D47BA}"/>
              </a:ext>
            </a:extLst>
          </p:cNvPr>
          <p:cNvSpPr/>
          <p:nvPr/>
        </p:nvSpPr>
        <p:spPr>
          <a:xfrm>
            <a:off x="959895" y="375614"/>
            <a:ext cx="1883849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</a:pP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메인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하늘누리소개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하늘누리 이야기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D3A6326-D1AC-5F18-DC9D-48E77A0EC4A7}"/>
              </a:ext>
            </a:extLst>
          </p:cNvPr>
          <p:cNvSpPr txBox="1"/>
          <p:nvPr/>
        </p:nvSpPr>
        <p:spPr>
          <a:xfrm>
            <a:off x="6003996" y="123825"/>
            <a:ext cx="17303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HN_Introdu_Hnstory_001</a:t>
            </a:r>
            <a:endParaRPr lang="ko-KR" altLang="en-US" sz="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53F512C-71BA-BAEB-C7B0-03E41B8978CD}"/>
              </a:ext>
            </a:extLst>
          </p:cNvPr>
          <p:cNvSpPr txBox="1"/>
          <p:nvPr/>
        </p:nvSpPr>
        <p:spPr>
          <a:xfrm>
            <a:off x="4773561" y="1684088"/>
            <a:ext cx="433163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lang="ko-KR" altLang="en-US" sz="1200" b="0" i="0" dirty="0">
                <a:solidFill>
                  <a:srgbClr val="232425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최고급 시설과 쾌적한 환경으로 고품격 추모 공간 제공하고</a:t>
            </a:r>
            <a:r>
              <a:rPr lang="ko-KR" altLang="en-US" sz="1200" dirty="0">
                <a:solidFill>
                  <a:srgbClr val="2324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200" b="0" i="0" dirty="0">
                <a:solidFill>
                  <a:srgbClr val="232425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현대적 감각의 디자인과 전통의 조화가 어우러져 있습니다</a:t>
            </a:r>
            <a:r>
              <a:rPr lang="en-US" altLang="ko-KR" sz="1200" b="0" i="0" dirty="0">
                <a:solidFill>
                  <a:srgbClr val="232425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1200" b="0" i="0" dirty="0">
              <a:solidFill>
                <a:srgbClr val="232425"/>
              </a:solidFill>
              <a:effectLst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9AACD4B-50ED-6662-D754-2C48ABC068E0}"/>
              </a:ext>
            </a:extLst>
          </p:cNvPr>
          <p:cNvSpPr/>
          <p:nvPr/>
        </p:nvSpPr>
        <p:spPr>
          <a:xfrm>
            <a:off x="214311" y="767995"/>
            <a:ext cx="4341855" cy="564806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이미지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FDB0CA0-4F96-3C59-45EA-5C72A70D22E9}"/>
              </a:ext>
            </a:extLst>
          </p:cNvPr>
          <p:cNvSpPr txBox="1"/>
          <p:nvPr/>
        </p:nvSpPr>
        <p:spPr>
          <a:xfrm>
            <a:off x="4820711" y="1230797"/>
            <a:ext cx="41439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품격 있는 추모 문화 창조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4244A24-90BF-7A83-E4DE-2CA20BAEB779}"/>
              </a:ext>
            </a:extLst>
          </p:cNvPr>
          <p:cNvSpPr txBox="1"/>
          <p:nvPr/>
        </p:nvSpPr>
        <p:spPr>
          <a:xfrm>
            <a:off x="4773561" y="3102859"/>
            <a:ext cx="433163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lang="ko-KR" altLang="en-US" sz="1200" b="0" i="0" dirty="0">
                <a:solidFill>
                  <a:srgbClr val="232425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친환경 수목장과 생태 조경으로 자연과 공존하며 지속 가능한 녹색 추모 문화 실천합니다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EDB34F0-23DD-FB0B-393C-0DDBD60DB30F}"/>
              </a:ext>
            </a:extLst>
          </p:cNvPr>
          <p:cNvSpPr txBox="1"/>
          <p:nvPr/>
        </p:nvSpPr>
        <p:spPr>
          <a:xfrm>
            <a:off x="4820711" y="2508054"/>
            <a:ext cx="41439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자연 친화적 영면 공간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3C23309-7467-9C2C-A61A-05337942B017}"/>
              </a:ext>
            </a:extLst>
          </p:cNvPr>
          <p:cNvSpPr txBox="1"/>
          <p:nvPr/>
        </p:nvSpPr>
        <p:spPr>
          <a:xfrm>
            <a:off x="4744310" y="4672895"/>
            <a:ext cx="433163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lang="ko-KR" altLang="en-US" sz="1200" b="0" i="0" dirty="0">
                <a:solidFill>
                  <a:srgbClr val="232425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넉넉한 주차 공간과 편리한 접근성을 제공하고 쾌적한 참배 공간과 휴게 시설 갖추었습니다</a:t>
            </a:r>
            <a:r>
              <a:rPr lang="en-US" altLang="ko-KR" sz="1200" b="0" i="0" dirty="0">
                <a:solidFill>
                  <a:srgbClr val="232425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1200" b="0" i="0" dirty="0">
              <a:solidFill>
                <a:srgbClr val="232425"/>
              </a:solidFill>
              <a:effectLst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ACCF897-9441-B027-1C03-B053AE8B33E5}"/>
              </a:ext>
            </a:extLst>
          </p:cNvPr>
          <p:cNvSpPr txBox="1"/>
          <p:nvPr/>
        </p:nvSpPr>
        <p:spPr>
          <a:xfrm>
            <a:off x="4791460" y="4078090"/>
            <a:ext cx="41439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유가족 중심의 편의 시설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93D03E2-CA23-4A42-88BE-3EEE0DBD9F8A}"/>
              </a:ext>
            </a:extLst>
          </p:cNvPr>
          <p:cNvSpPr txBox="1"/>
          <p:nvPr/>
        </p:nvSpPr>
        <p:spPr>
          <a:xfrm>
            <a:off x="4744310" y="5954390"/>
            <a:ext cx="433163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lang="ko-KR" altLang="en-US" sz="1200" b="0" i="0" dirty="0">
                <a:solidFill>
                  <a:srgbClr val="232425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재단법인 운영으로 영속성 보장하고 체계적인 관리 시스템과 전문 인력 운영하고 있습니다</a:t>
            </a:r>
            <a:r>
              <a:rPr lang="en-US" altLang="ko-KR" sz="1200" b="0" i="0" dirty="0">
                <a:solidFill>
                  <a:srgbClr val="232425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1200" b="0" i="0" dirty="0">
              <a:solidFill>
                <a:srgbClr val="232425"/>
              </a:solidFill>
              <a:effectLst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EEB57EF-66E0-9BD7-17C1-303867CE6B97}"/>
              </a:ext>
            </a:extLst>
          </p:cNvPr>
          <p:cNvSpPr txBox="1"/>
          <p:nvPr/>
        </p:nvSpPr>
        <p:spPr>
          <a:xfrm>
            <a:off x="4791460" y="5511985"/>
            <a:ext cx="41439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영구적이고 안정적인 관리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B70533-84F8-DCBE-7648-7853A69A5B2D}"/>
              </a:ext>
            </a:extLst>
          </p:cNvPr>
          <p:cNvSpPr txBox="1"/>
          <p:nvPr/>
        </p:nvSpPr>
        <p:spPr>
          <a:xfrm>
            <a:off x="4914522" y="767995"/>
            <a:ext cx="38978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하늘누리 추모공원의 장점은 </a:t>
            </a:r>
          </a:p>
        </p:txBody>
      </p:sp>
    </p:spTree>
    <p:extLst>
      <p:ext uri="{BB962C8B-B14F-4D97-AF65-F5344CB8AC3E}">
        <p14:creationId xmlns:p14="http://schemas.microsoft.com/office/powerpoint/2010/main" val="172170112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910059-6B5D-C1D3-0A30-EAE65A588E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FC823274-9843-E685-137C-3B33BBBA4A90}"/>
              </a:ext>
            </a:extLst>
          </p:cNvPr>
          <p:cNvGraphicFramePr>
            <a:graphicFrameLocks noGrp="1"/>
          </p:cNvGraphicFramePr>
          <p:nvPr/>
        </p:nvGraphicFramePr>
        <p:xfrm>
          <a:off x="9182101" y="947377"/>
          <a:ext cx="2795588" cy="1847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1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684046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723838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3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172599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4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290794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5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922450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6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784800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7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0538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8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199337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9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450365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AE4DB0EA-2821-C75C-F9AF-8EF1484BC251}"/>
              </a:ext>
            </a:extLst>
          </p:cNvPr>
          <p:cNvSpPr/>
          <p:nvPr/>
        </p:nvSpPr>
        <p:spPr>
          <a:xfrm>
            <a:off x="959895" y="375614"/>
            <a:ext cx="1883849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</a:pP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메인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하늘누리소개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하늘누리 이야기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A8CF6AE-48C0-426A-484E-231CA525FE9E}"/>
              </a:ext>
            </a:extLst>
          </p:cNvPr>
          <p:cNvSpPr txBox="1"/>
          <p:nvPr/>
        </p:nvSpPr>
        <p:spPr>
          <a:xfrm>
            <a:off x="6003996" y="123825"/>
            <a:ext cx="17303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HN_Introdu_Hnstory_001</a:t>
            </a:r>
            <a:endParaRPr lang="ko-KR" altLang="en-US" sz="800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99F44C3-2018-F44C-3742-536F78166E44}"/>
              </a:ext>
            </a:extLst>
          </p:cNvPr>
          <p:cNvSpPr/>
          <p:nvPr/>
        </p:nvSpPr>
        <p:spPr>
          <a:xfrm>
            <a:off x="303961" y="806917"/>
            <a:ext cx="4315664" cy="3385704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이미지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EB9F172-5D12-DDE8-7700-242DED5BEFAC}"/>
              </a:ext>
            </a:extLst>
          </p:cNvPr>
          <p:cNvSpPr txBox="1"/>
          <p:nvPr/>
        </p:nvSpPr>
        <p:spPr>
          <a:xfrm>
            <a:off x="4825798" y="1548258"/>
            <a:ext cx="4150129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고인의 존엄을 지키고</a:t>
            </a:r>
          </a:p>
          <a:p>
            <a:pPr algn="ctr"/>
            <a:r>
              <a:rPr lang="ko-KR" altLang="en-US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유가족의 애도를 존중하는 품격 있는 추모 문화를 만들어갑니다</a:t>
            </a:r>
            <a:r>
              <a:rPr lang="en-US" altLang="ko-KR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 algn="ctr"/>
            <a:r>
              <a:rPr lang="en-US" altLang="ko-KR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"</a:t>
            </a:r>
            <a:r>
              <a:rPr lang="ko-KR" altLang="en-US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자연 속에서 편안히 쉬시고</a:t>
            </a:r>
            <a:r>
              <a:rPr lang="en-US" altLang="ko-KR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하늘의 평화를 누리소서</a:t>
            </a:r>
            <a:r>
              <a:rPr lang="en-US" altLang="ko-KR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“</a:t>
            </a:r>
          </a:p>
          <a:p>
            <a:pPr algn="ctr"/>
            <a:endParaRPr lang="en-US" altLang="ko-KR" sz="12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ko-KR" altLang="en-US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이것이 하늘누리 추모공원이 지향하는</a:t>
            </a:r>
          </a:p>
          <a:p>
            <a:pPr algn="ctr"/>
            <a:r>
              <a:rPr lang="ko-KR" altLang="en-US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궁극적인 가치이자 약속입니다</a:t>
            </a:r>
            <a:r>
              <a:rPr lang="en-US" altLang="ko-KR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 algn="ctr"/>
            <a:endParaRPr lang="en-US" altLang="ko-KR" sz="12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ko-KR" altLang="en-US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하늘누리 추모공원은</a:t>
            </a:r>
          </a:p>
          <a:p>
            <a:pPr algn="ctr"/>
            <a:r>
              <a:rPr lang="ko-KR" altLang="en-US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단순히 고인을 모시는 공간이 아닌</a:t>
            </a:r>
            <a:r>
              <a:rPr lang="en-US" altLang="ko-KR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,</a:t>
            </a:r>
          </a:p>
          <a:p>
            <a:pPr algn="ctr"/>
            <a:r>
              <a:rPr lang="ko-KR" altLang="en-US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생명의 소중함을 되새기고</a:t>
            </a:r>
          </a:p>
          <a:p>
            <a:pPr algn="ctr"/>
            <a:r>
              <a:rPr lang="ko-KR" altLang="en-US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가족의 사랑을 기억하는</a:t>
            </a:r>
          </a:p>
          <a:p>
            <a:pPr algn="ctr"/>
            <a:r>
              <a:rPr lang="ko-KR" altLang="en-US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의미 있는 장소가 되고자 합니다</a:t>
            </a:r>
            <a:r>
              <a:rPr lang="en-US" altLang="ko-KR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60E104F-48EA-F611-F13D-897F4A0F256D}"/>
              </a:ext>
            </a:extLst>
          </p:cNvPr>
          <p:cNvSpPr/>
          <p:nvPr/>
        </p:nvSpPr>
        <p:spPr>
          <a:xfrm>
            <a:off x="155201" y="4458217"/>
            <a:ext cx="8928847" cy="34095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FOOTER</a:t>
            </a:r>
            <a:endParaRPr lang="ko-KR" altLang="en-US" sz="10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42D7A33-A9F1-0222-8542-726E5E51FE0F}"/>
              </a:ext>
            </a:extLst>
          </p:cNvPr>
          <p:cNvSpPr txBox="1"/>
          <p:nvPr/>
        </p:nvSpPr>
        <p:spPr>
          <a:xfrm>
            <a:off x="5611455" y="913330"/>
            <a:ext cx="25153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하늘누리 추모공원은</a:t>
            </a:r>
          </a:p>
        </p:txBody>
      </p:sp>
    </p:spTree>
    <p:extLst>
      <p:ext uri="{BB962C8B-B14F-4D97-AF65-F5344CB8AC3E}">
        <p14:creationId xmlns:p14="http://schemas.microsoft.com/office/powerpoint/2010/main" val="103335746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7A019E-1E9F-06D8-B8F0-067CE67EA0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A3A77996-6FB6-1DC6-0EF0-E4709B95FF45}"/>
              </a:ext>
            </a:extLst>
          </p:cNvPr>
          <p:cNvGraphicFramePr>
            <a:graphicFrameLocks noGrp="1"/>
          </p:cNvGraphicFramePr>
          <p:nvPr/>
        </p:nvGraphicFramePr>
        <p:xfrm>
          <a:off x="9182101" y="947377"/>
          <a:ext cx="2795588" cy="1847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1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684046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723838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3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172599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4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290794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5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922450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6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784800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7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0538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8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199337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9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450365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C440C573-E97C-F9E6-9F7F-E6CBC47B24B9}"/>
              </a:ext>
            </a:extLst>
          </p:cNvPr>
          <p:cNvSpPr/>
          <p:nvPr/>
        </p:nvSpPr>
        <p:spPr>
          <a:xfrm>
            <a:off x="959895" y="375614"/>
            <a:ext cx="1826141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</a:pP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메인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하늘누리소개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재단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/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허가 현황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B223DA0-77DE-BB2F-E328-88F8731759E2}"/>
              </a:ext>
            </a:extLst>
          </p:cNvPr>
          <p:cNvSpPr txBox="1"/>
          <p:nvPr/>
        </p:nvSpPr>
        <p:spPr>
          <a:xfrm>
            <a:off x="6003996" y="123825"/>
            <a:ext cx="17303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HN_Introdu_Perarti_001</a:t>
            </a:r>
            <a:endParaRPr lang="ko-KR" altLang="en-US" sz="800" dirty="0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AB86D4D2-6A7F-D1E6-DE5A-80999E709CFE}"/>
              </a:ext>
            </a:extLst>
          </p:cNvPr>
          <p:cNvGrpSpPr/>
          <p:nvPr/>
        </p:nvGrpSpPr>
        <p:grpSpPr>
          <a:xfrm>
            <a:off x="161925" y="797629"/>
            <a:ext cx="8953500" cy="851943"/>
            <a:chOff x="161925" y="797629"/>
            <a:chExt cx="8953500" cy="851943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1D3AE065-D77F-2688-AF93-499722F42581}"/>
                </a:ext>
              </a:extLst>
            </p:cNvPr>
            <p:cNvSpPr/>
            <p:nvPr/>
          </p:nvSpPr>
          <p:spPr>
            <a:xfrm>
              <a:off x="4144448" y="797629"/>
              <a:ext cx="942784" cy="35821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800" b="1" dirty="0">
                  <a:solidFill>
                    <a:srgbClr val="FF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CI</a:t>
              </a:r>
            </a:p>
          </p:txBody>
        </p: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950A707E-8BB3-5D82-E88D-C1D6EF0CA596}"/>
                </a:ext>
              </a:extLst>
            </p:cNvPr>
            <p:cNvCxnSpPr/>
            <p:nvPr/>
          </p:nvCxnSpPr>
          <p:spPr>
            <a:xfrm>
              <a:off x="161925" y="1649572"/>
              <a:ext cx="8953500" cy="0"/>
            </a:xfrm>
            <a:prstGeom prst="line">
              <a:avLst/>
            </a:prstGeom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72EDD82-4561-4AE8-3D77-698D8F5165D2}"/>
                </a:ext>
              </a:extLst>
            </p:cNvPr>
            <p:cNvSpPr txBox="1"/>
            <p:nvPr/>
          </p:nvSpPr>
          <p:spPr>
            <a:xfrm>
              <a:off x="2031551" y="1301804"/>
              <a:ext cx="120364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하늘누리소개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0B26D394-31F0-914E-EF05-3CF175AE7995}"/>
                </a:ext>
              </a:extLst>
            </p:cNvPr>
            <p:cNvSpPr txBox="1"/>
            <p:nvPr/>
          </p:nvSpPr>
          <p:spPr>
            <a:xfrm>
              <a:off x="3239720" y="1301804"/>
              <a:ext cx="9144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시설안내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224C3ADF-1754-509F-317F-667333EFDAEF}"/>
                </a:ext>
              </a:extLst>
            </p:cNvPr>
            <p:cNvSpPr txBox="1"/>
            <p:nvPr/>
          </p:nvSpPr>
          <p:spPr>
            <a:xfrm>
              <a:off x="4158640" y="1301804"/>
              <a:ext cx="9144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분양안내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F71EF059-8FC3-587D-2139-8077B9571DA3}"/>
                </a:ext>
              </a:extLst>
            </p:cNvPr>
            <p:cNvSpPr txBox="1"/>
            <p:nvPr/>
          </p:nvSpPr>
          <p:spPr>
            <a:xfrm>
              <a:off x="5077560" y="1301804"/>
              <a:ext cx="119120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사이버추모관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69CCB7EF-98F2-9111-2DFC-ABE851490438}"/>
                </a:ext>
              </a:extLst>
            </p:cNvPr>
            <p:cNvSpPr txBox="1"/>
            <p:nvPr/>
          </p:nvSpPr>
          <p:spPr>
            <a:xfrm>
              <a:off x="6273289" y="1301804"/>
              <a:ext cx="9144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고객센터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BD380CE-6A96-4D22-A600-F5A7A2ADF6F5}"/>
                </a:ext>
              </a:extLst>
            </p:cNvPr>
            <p:cNvSpPr txBox="1"/>
            <p:nvPr/>
          </p:nvSpPr>
          <p:spPr>
            <a:xfrm>
              <a:off x="7734300" y="817862"/>
              <a:ext cx="79388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b="1">
                  <a:latin typeface="나눔고딕" panose="020D0604000000000000" pitchFamily="50" charset="-127"/>
                  <a:ea typeface="나눔고딕" panose="020D0604000000000000" pitchFamily="50" charset="-127"/>
                </a:rPr>
                <a:t>비밀번호변경</a:t>
              </a:r>
              <a:endParaRPr lang="ko-KR" altLang="en-US" sz="8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F58DED2E-DABD-DBD0-60F3-9B320689A49E}"/>
                </a:ext>
              </a:extLst>
            </p:cNvPr>
            <p:cNvSpPr txBox="1"/>
            <p:nvPr/>
          </p:nvSpPr>
          <p:spPr>
            <a:xfrm>
              <a:off x="8472200" y="817862"/>
              <a:ext cx="58783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로그아웃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9E4B53A4-0D49-8687-5DA0-224240F6C54F}"/>
                </a:ext>
              </a:extLst>
            </p:cNvPr>
            <p:cNvSpPr txBox="1"/>
            <p:nvPr/>
          </p:nvSpPr>
          <p:spPr>
            <a:xfrm>
              <a:off x="7203231" y="817862"/>
              <a:ext cx="65313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나의정보</a:t>
              </a: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E49FD64C-E4B9-5AA9-C35D-BADBD838DC16}"/>
              </a:ext>
            </a:extLst>
          </p:cNvPr>
          <p:cNvSpPr txBox="1"/>
          <p:nvPr/>
        </p:nvSpPr>
        <p:spPr>
          <a:xfrm>
            <a:off x="158621" y="1704392"/>
            <a:ext cx="314441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HOME &gt; </a:t>
            </a:r>
            <a:r>
              <a:rPr lang="ko-KR" altLang="en-US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하늘누리소개 </a:t>
            </a:r>
            <a:r>
              <a:rPr lang="en-US" altLang="ko-KR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재단</a:t>
            </a:r>
            <a:r>
              <a:rPr lang="en-US" altLang="ko-KR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허가 현황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943EC28-3631-7318-7C31-CA0FF7C181DB}"/>
              </a:ext>
            </a:extLst>
          </p:cNvPr>
          <p:cNvSpPr txBox="1"/>
          <p:nvPr/>
        </p:nvSpPr>
        <p:spPr>
          <a:xfrm>
            <a:off x="2791996" y="1866963"/>
            <a:ext cx="36895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재단</a:t>
            </a:r>
            <a:r>
              <a:rPr lang="en-US" altLang="ko-KR" sz="4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4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허가 현황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4AA2EB2-17D8-65D9-E45C-F78A96D72BEA}"/>
              </a:ext>
            </a:extLst>
          </p:cNvPr>
          <p:cNvSpPr txBox="1"/>
          <p:nvPr/>
        </p:nvSpPr>
        <p:spPr>
          <a:xfrm>
            <a:off x="2031550" y="2572116"/>
            <a:ext cx="5543625" cy="9846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2100"/>
              </a:lnSpc>
              <a:spcAft>
                <a:spcPts val="900"/>
              </a:spcAft>
            </a:pPr>
            <a:r>
              <a:rPr lang="en-US" altLang="ko-KR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"</a:t>
            </a:r>
            <a:r>
              <a:rPr lang="ko-KR" altLang="en-US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투명한 인허가 절차를 통해 증명된 준비된 추모 공간</a:t>
            </a:r>
            <a:r>
              <a:rPr lang="en-US" altLang="ko-KR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“  </a:t>
            </a:r>
          </a:p>
          <a:p>
            <a:pPr algn="ctr">
              <a:lnSpc>
                <a:spcPts val="2100"/>
              </a:lnSpc>
              <a:spcAft>
                <a:spcPts val="900"/>
              </a:spcAft>
            </a:pPr>
            <a:r>
              <a:rPr lang="ko-KR" altLang="en-US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하늘누리 추모공원은 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토지 확보부터 도시계획시설 결정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환경영향평가 및 최종 설치 허가에 이르기까지 모든 행정 절차를 적법하게 완수하였습니다</a:t>
            </a:r>
            <a:endParaRPr lang="ko-KR" altLang="en-US" sz="12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033E91-0456-E9C1-D246-B8A104DB99CB}"/>
              </a:ext>
            </a:extLst>
          </p:cNvPr>
          <p:cNvSpPr txBox="1"/>
          <p:nvPr/>
        </p:nvSpPr>
        <p:spPr>
          <a:xfrm>
            <a:off x="4659966" y="3909481"/>
            <a:ext cx="4455459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재단법인 하늘누리</a:t>
            </a:r>
            <a:endParaRPr lang="en-US" altLang="ko-KR" sz="16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endParaRPr lang="en-US" altLang="ko-KR" sz="12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세대를 넘어 이어지는 책임 </a:t>
            </a:r>
            <a:endParaRPr lang="en-US" altLang="ko-KR" sz="12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하늘누리 추모공원은 재단법인으로 운영됩니다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</a:p>
          <a:p>
            <a:pPr algn="ctr"/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재단법인은 일반 기업과 달리                         </a:t>
            </a:r>
          </a:p>
          <a:p>
            <a:pPr algn="ctr"/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"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공익 목적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"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을 위해 설립된 비영리 법인으로           </a:t>
            </a:r>
          </a:p>
          <a:p>
            <a:pPr algn="ctr"/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파산이나 폐업의 위험이 없으며                       </a:t>
            </a:r>
          </a:p>
          <a:p>
            <a:pPr algn="ctr"/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세대를 넘어 영속적으로 운영됩니다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 algn="ctr"/>
            <a:endParaRPr lang="en-US" altLang="ko-KR" sz="1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이는 고객님께서 안치하신 고인을                     </a:t>
            </a:r>
          </a:p>
          <a:p>
            <a:pPr algn="ctr"/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영원히 책임지고 관리하겠다는                        </a:t>
            </a:r>
          </a:p>
          <a:p>
            <a:pPr algn="ctr"/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하늘누리의 약속입니다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 </a:t>
            </a:r>
            <a:endParaRPr lang="ko-KR" altLang="en-US" sz="1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8A5B79C-86E3-2206-1BF1-59BC1C245507}"/>
              </a:ext>
            </a:extLst>
          </p:cNvPr>
          <p:cNvSpPr/>
          <p:nvPr/>
        </p:nvSpPr>
        <p:spPr>
          <a:xfrm>
            <a:off x="321094" y="3644900"/>
            <a:ext cx="4315664" cy="2837486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이미지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A431577-976E-1994-04A5-C02B5D3DCCD2}"/>
              </a:ext>
            </a:extLst>
          </p:cNvPr>
          <p:cNvSpPr txBox="1"/>
          <p:nvPr/>
        </p:nvSpPr>
        <p:spPr>
          <a:xfrm rot="19349954">
            <a:off x="8121464" y="2799879"/>
            <a:ext cx="289416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하늘누리 재단</a:t>
            </a:r>
            <a:r>
              <a:rPr lang="en-US" altLang="ko-KR" sz="32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32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허가 현황 확인 후 수정 필요</a:t>
            </a:r>
          </a:p>
        </p:txBody>
      </p:sp>
    </p:spTree>
    <p:extLst>
      <p:ext uri="{BB962C8B-B14F-4D97-AF65-F5344CB8AC3E}">
        <p14:creationId xmlns:p14="http://schemas.microsoft.com/office/powerpoint/2010/main" val="44316164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12A30D-72A1-FF8F-368E-45B1DFDC81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EE85F1ED-89BC-69DC-F754-A00307BD27C1}"/>
              </a:ext>
            </a:extLst>
          </p:cNvPr>
          <p:cNvGraphicFramePr>
            <a:graphicFrameLocks noGrp="1"/>
          </p:cNvGraphicFramePr>
          <p:nvPr/>
        </p:nvGraphicFramePr>
        <p:xfrm>
          <a:off x="9182101" y="947377"/>
          <a:ext cx="2795588" cy="1847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1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684046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723838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3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172599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4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290794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5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922450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6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784800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7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0538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8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199337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9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450365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F1650473-477D-C822-65D1-33EB79A3CD5D}"/>
              </a:ext>
            </a:extLst>
          </p:cNvPr>
          <p:cNvSpPr/>
          <p:nvPr/>
        </p:nvSpPr>
        <p:spPr>
          <a:xfrm>
            <a:off x="959895" y="375614"/>
            <a:ext cx="1826141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</a:pP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메인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하늘누리소개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재단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/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허가 현황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69E9D72-D590-F59A-F860-A55811B873E4}"/>
              </a:ext>
            </a:extLst>
          </p:cNvPr>
          <p:cNvSpPr txBox="1"/>
          <p:nvPr/>
        </p:nvSpPr>
        <p:spPr>
          <a:xfrm>
            <a:off x="6003996" y="123825"/>
            <a:ext cx="17303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HN_Introdu_Perarti_001</a:t>
            </a:r>
            <a:endParaRPr lang="ko-KR" altLang="en-US" sz="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BB4CF4F-54C3-0A41-41F8-FA6D7227EE97}"/>
              </a:ext>
            </a:extLst>
          </p:cNvPr>
          <p:cNvSpPr txBox="1"/>
          <p:nvPr/>
        </p:nvSpPr>
        <p:spPr>
          <a:xfrm>
            <a:off x="1872964" y="757900"/>
            <a:ext cx="445545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재단정보</a:t>
            </a:r>
            <a:endParaRPr lang="en-US" altLang="ko-KR" sz="16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169E4F-63BA-2CA0-7B7A-5B45A50B8189}"/>
              </a:ext>
            </a:extLst>
          </p:cNvPr>
          <p:cNvSpPr txBox="1"/>
          <p:nvPr/>
        </p:nvSpPr>
        <p:spPr>
          <a:xfrm>
            <a:off x="1872964" y="1178966"/>
            <a:ext cx="2627317" cy="13580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법인명    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재단법인 하늘누리</a:t>
            </a: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설립목적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장사시설의 설치 및 운영을 통한                      </a:t>
            </a:r>
          </a:p>
          <a:p>
            <a:pPr>
              <a:lnSpc>
                <a:spcPct val="150000"/>
              </a:lnSpc>
            </a:pP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                국민 복지 증진 및 추모 문화 발전</a:t>
            </a: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설립인가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20OO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 ○월 ○일              </a:t>
            </a: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                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○○시청 인가 제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2020-○○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호 </a:t>
            </a: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0B9E865-5F24-F888-3D58-8AE9229E7CD7}"/>
              </a:ext>
            </a:extLst>
          </p:cNvPr>
          <p:cNvSpPr txBox="1"/>
          <p:nvPr/>
        </p:nvSpPr>
        <p:spPr>
          <a:xfrm>
            <a:off x="4920964" y="1161036"/>
            <a:ext cx="4043742" cy="11680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법인등록번호    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XXX-XX-XXXXX</a:t>
            </a:r>
          </a:p>
          <a:p>
            <a:pPr>
              <a:lnSpc>
                <a:spcPct val="150000"/>
              </a:lnSpc>
            </a:pPr>
            <a:r>
              <a:rPr lang="ko-KR" altLang="en-US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대표이사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         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OOO</a:t>
            </a:r>
            <a:endParaRPr lang="ko-KR" altLang="en-US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소재지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               경기도 양주시 산북동 산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67-20</a:t>
            </a:r>
          </a:p>
          <a:p>
            <a:pPr>
              <a:lnSpc>
                <a:spcPct val="150000"/>
              </a:lnSpc>
            </a:pPr>
            <a:r>
              <a:rPr lang="ko-KR" altLang="en-US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감독기관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           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OO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시청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보건복지과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C9EAEE6-16F4-26E5-DA30-4E4F7E4AB2C2}"/>
              </a:ext>
            </a:extLst>
          </p:cNvPr>
          <p:cNvSpPr txBox="1"/>
          <p:nvPr/>
        </p:nvSpPr>
        <p:spPr>
          <a:xfrm>
            <a:off x="4810716" y="3189133"/>
            <a:ext cx="445545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재단법인의 법적 특성</a:t>
            </a:r>
            <a:endParaRPr lang="en-US" altLang="ko-KR" sz="16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9C79BF2-6146-A515-BFF8-0307C039E2DE}"/>
              </a:ext>
            </a:extLst>
          </p:cNvPr>
          <p:cNvSpPr txBox="1"/>
          <p:nvPr/>
        </p:nvSpPr>
        <p:spPr>
          <a:xfrm>
            <a:off x="4881291" y="3603769"/>
            <a:ext cx="12281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영속성 보장</a:t>
            </a:r>
            <a:endParaRPr lang="en-US" altLang="ko-KR" sz="12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73501BC-187E-6E46-F94E-0FC773F63179}"/>
              </a:ext>
            </a:extLst>
          </p:cNvPr>
          <p:cNvSpPr txBox="1"/>
          <p:nvPr/>
        </p:nvSpPr>
        <p:spPr>
          <a:xfrm>
            <a:off x="5180281" y="3896459"/>
            <a:ext cx="37844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법적으로 영구적 존속이 보장되며  대표이사 교체와 무관하게 계속 운영됩니다 </a:t>
            </a: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0F6687E-39A3-0736-DFE8-C1EAD9F6CC28}"/>
              </a:ext>
            </a:extLst>
          </p:cNvPr>
          <p:cNvSpPr txBox="1"/>
          <p:nvPr/>
        </p:nvSpPr>
        <p:spPr>
          <a:xfrm>
            <a:off x="4881291" y="4360580"/>
            <a:ext cx="12281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비영리 구조</a:t>
            </a:r>
            <a:endParaRPr lang="en-US" altLang="ko-KR" sz="12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6ADE7DE-7854-E174-1FE3-0B89C5401108}"/>
              </a:ext>
            </a:extLst>
          </p:cNvPr>
          <p:cNvSpPr txBox="1"/>
          <p:nvPr/>
        </p:nvSpPr>
        <p:spPr>
          <a:xfrm>
            <a:off x="5180280" y="4653270"/>
            <a:ext cx="386644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수익금은 주주 배당이 아닌  시설 개선과 서비스 향상에 재투자됩니다</a:t>
            </a: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AE9DC3B-FD75-01C3-99EE-CA1F38B32175}"/>
              </a:ext>
            </a:extLst>
          </p:cNvPr>
          <p:cNvSpPr txBox="1"/>
          <p:nvPr/>
        </p:nvSpPr>
        <p:spPr>
          <a:xfrm>
            <a:off x="4906198" y="4990931"/>
            <a:ext cx="12281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공적 감독 </a:t>
            </a:r>
            <a:endParaRPr lang="en-US" altLang="ko-KR" sz="12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371B760-A3E3-B394-B306-BCA17403AE40}"/>
              </a:ext>
            </a:extLst>
          </p:cNvPr>
          <p:cNvSpPr txBox="1"/>
          <p:nvPr/>
        </p:nvSpPr>
        <p:spPr>
          <a:xfrm>
            <a:off x="5205188" y="5283621"/>
            <a:ext cx="38664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정부 감독기관의 지속적 관리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·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감독을 받으며 투명한 운영이 법적으로 강제됩니다 </a:t>
            </a: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DF0249F-2882-5C34-9E47-6FB20C7DD7B2}"/>
              </a:ext>
            </a:extLst>
          </p:cNvPr>
          <p:cNvSpPr txBox="1"/>
          <p:nvPr/>
        </p:nvSpPr>
        <p:spPr>
          <a:xfrm>
            <a:off x="4906198" y="5747742"/>
            <a:ext cx="12281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자산 보호</a:t>
            </a:r>
            <a:endParaRPr lang="en-US" altLang="ko-KR" sz="12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ECE30D4-523B-DB2D-F5A8-B40A56E78D81}"/>
              </a:ext>
            </a:extLst>
          </p:cNvPr>
          <p:cNvSpPr txBox="1"/>
          <p:nvPr/>
        </p:nvSpPr>
        <p:spPr>
          <a:xfrm>
            <a:off x="5205187" y="6040432"/>
            <a:ext cx="375951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재단 자산은 법적으로 보호되며 임의 처분이 불가능합니다</a:t>
            </a: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35B432A-DA8D-FCD2-2B12-A7C815009750}"/>
              </a:ext>
            </a:extLst>
          </p:cNvPr>
          <p:cNvSpPr/>
          <p:nvPr/>
        </p:nvSpPr>
        <p:spPr>
          <a:xfrm>
            <a:off x="321094" y="2960688"/>
            <a:ext cx="4315664" cy="3521698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이미지</a:t>
            </a:r>
          </a:p>
        </p:txBody>
      </p:sp>
    </p:spTree>
    <p:extLst>
      <p:ext uri="{BB962C8B-B14F-4D97-AF65-F5344CB8AC3E}">
        <p14:creationId xmlns:p14="http://schemas.microsoft.com/office/powerpoint/2010/main" val="251167792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A3777C-E8C1-CF1E-2338-F1723B092F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C97DAF85-54AE-6387-4ACF-10341408C375}"/>
              </a:ext>
            </a:extLst>
          </p:cNvPr>
          <p:cNvGraphicFramePr>
            <a:graphicFrameLocks noGrp="1"/>
          </p:cNvGraphicFramePr>
          <p:nvPr/>
        </p:nvGraphicFramePr>
        <p:xfrm>
          <a:off x="9182101" y="947377"/>
          <a:ext cx="2795588" cy="1847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1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684046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723838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3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172599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4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290794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5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922450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6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784800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7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0538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8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199337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9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450365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5FF9B9F1-7D72-F7E4-A76B-ADE4E820481E}"/>
              </a:ext>
            </a:extLst>
          </p:cNvPr>
          <p:cNvSpPr/>
          <p:nvPr/>
        </p:nvSpPr>
        <p:spPr>
          <a:xfrm>
            <a:off x="959895" y="375614"/>
            <a:ext cx="1826141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</a:pP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메인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하늘누리소개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재단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/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허가 현황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9A875DC-2EF4-314F-CD4A-50C5FEBF4913}"/>
              </a:ext>
            </a:extLst>
          </p:cNvPr>
          <p:cNvSpPr txBox="1"/>
          <p:nvPr/>
        </p:nvSpPr>
        <p:spPr>
          <a:xfrm>
            <a:off x="6003996" y="123825"/>
            <a:ext cx="17303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HN_Introdu_Perarti_001</a:t>
            </a:r>
            <a:endParaRPr lang="ko-KR" altLang="en-US" sz="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B8AAC8B-8D8F-9D69-1F57-7F760C45F58B}"/>
              </a:ext>
            </a:extLst>
          </p:cNvPr>
          <p:cNvSpPr txBox="1"/>
          <p:nvPr/>
        </p:nvSpPr>
        <p:spPr>
          <a:xfrm>
            <a:off x="2266543" y="742998"/>
            <a:ext cx="445545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주요 허가 및 인증</a:t>
            </a:r>
            <a:endParaRPr lang="en-US" altLang="ko-KR" sz="16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5D9E95D-DAC5-9FB2-D331-829661501865}"/>
              </a:ext>
            </a:extLst>
          </p:cNvPr>
          <p:cNvSpPr/>
          <p:nvPr/>
        </p:nvSpPr>
        <p:spPr>
          <a:xfrm>
            <a:off x="4785626" y="1435445"/>
            <a:ext cx="1936377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재단법인 설립허가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A5BA54F-3A92-A061-EBC2-407869CA5757}"/>
              </a:ext>
            </a:extLst>
          </p:cNvPr>
          <p:cNvSpPr/>
          <p:nvPr/>
        </p:nvSpPr>
        <p:spPr>
          <a:xfrm>
            <a:off x="6833401" y="1435445"/>
            <a:ext cx="1936377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봉안시절 설치허가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0F1A0B1-D53B-71B8-332A-CE7044F572F8}"/>
              </a:ext>
            </a:extLst>
          </p:cNvPr>
          <p:cNvSpPr/>
          <p:nvPr/>
        </p:nvSpPr>
        <p:spPr>
          <a:xfrm>
            <a:off x="415423" y="4071430"/>
            <a:ext cx="1936377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자연장지 조성허가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E4716C1-5284-B1E4-ADDD-1ED1B719647A}"/>
              </a:ext>
            </a:extLst>
          </p:cNvPr>
          <p:cNvSpPr/>
          <p:nvPr/>
        </p:nvSpPr>
        <p:spPr>
          <a:xfrm>
            <a:off x="2463198" y="4071430"/>
            <a:ext cx="1936377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건축물 사용승인 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3077306-FAC6-4DF8-92C9-60350179B628}"/>
              </a:ext>
            </a:extLst>
          </p:cNvPr>
          <p:cNvSpPr/>
          <p:nvPr/>
        </p:nvSpPr>
        <p:spPr>
          <a:xfrm>
            <a:off x="4785625" y="1773998"/>
            <a:ext cx="1936377" cy="198853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허가기관</a:t>
            </a:r>
            <a:r>
              <a:rPr lang="en-US" altLang="ko-KR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○○</a:t>
            </a:r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시청</a:t>
            </a:r>
            <a:endParaRPr lang="en-US" altLang="ko-KR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허가번호</a:t>
            </a:r>
            <a:r>
              <a:rPr lang="en-US" altLang="ko-KR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2020-○○</a:t>
            </a:r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호</a:t>
            </a:r>
            <a:endParaRPr lang="en-US" altLang="ko-KR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허가일자</a:t>
            </a:r>
            <a:r>
              <a:rPr lang="en-US" altLang="ko-KR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2020</a:t>
            </a:r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년 ○월 ○일</a:t>
            </a:r>
            <a:endParaRPr lang="en-US" altLang="ko-KR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endParaRPr lang="en-US" altLang="ko-KR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근거법령</a:t>
            </a:r>
            <a:endParaRPr lang="en-US" altLang="ko-KR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민법 제</a:t>
            </a:r>
            <a:r>
              <a:rPr lang="en-US" altLang="ko-KR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32</a:t>
            </a:r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조 </a:t>
            </a:r>
            <a:r>
              <a:rPr lang="en-US" altLang="ko-KR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비영리법인의 설립과 허가</a:t>
            </a:r>
            <a:r>
              <a:rPr lang="en-US" altLang="ko-KR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장사 등에 관한 법률 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5B8B353-464E-47F2-3447-774B3A2F7288}"/>
              </a:ext>
            </a:extLst>
          </p:cNvPr>
          <p:cNvSpPr/>
          <p:nvPr/>
        </p:nvSpPr>
        <p:spPr>
          <a:xfrm>
            <a:off x="6833400" y="1773998"/>
            <a:ext cx="1936377" cy="198853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허가기관</a:t>
            </a:r>
            <a:r>
              <a:rPr lang="en-US" altLang="ko-KR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○○</a:t>
            </a:r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시청</a:t>
            </a:r>
            <a:endParaRPr lang="en-US" altLang="ko-KR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허가번호</a:t>
            </a:r>
            <a:r>
              <a:rPr lang="en-US" altLang="ko-KR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2020-○○</a:t>
            </a:r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호</a:t>
            </a:r>
            <a:endParaRPr lang="en-US" altLang="ko-KR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허가일자</a:t>
            </a:r>
            <a:r>
              <a:rPr lang="en-US" altLang="ko-KR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2020</a:t>
            </a:r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년 ○월 ○일</a:t>
            </a:r>
            <a:endParaRPr lang="en-US" altLang="ko-KR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시설규모</a:t>
            </a:r>
            <a:endParaRPr lang="en-US" altLang="ko-KR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봉안당 </a:t>
            </a:r>
            <a:r>
              <a:rPr lang="en-US" altLang="ko-KR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OOOOO</a:t>
            </a:r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기</a:t>
            </a:r>
            <a:endParaRPr lang="en-US" altLang="ko-KR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수목장 </a:t>
            </a:r>
            <a:r>
              <a:rPr lang="en-US" altLang="ko-KR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OOOOO</a:t>
            </a:r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기</a:t>
            </a:r>
            <a:endParaRPr lang="en-US" altLang="ko-KR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부지면적 </a:t>
            </a:r>
            <a:r>
              <a:rPr lang="en-US" altLang="ko-KR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OO,OOO ㎡</a:t>
            </a:r>
          </a:p>
          <a:p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근거법령</a:t>
            </a:r>
            <a:endParaRPr lang="en-US" altLang="ko-KR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장사 등에 관한 법률 제</a:t>
            </a:r>
            <a:r>
              <a:rPr lang="en-US" altLang="ko-KR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13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조장사시설 설치기준 </a:t>
            </a:r>
            <a:r>
              <a:rPr lang="en-US" altLang="ko-KR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시행령 별표</a:t>
            </a:r>
            <a:r>
              <a:rPr lang="en-US" altLang="ko-KR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3)</a:t>
            </a:r>
            <a:endParaRPr lang="ko-KR" altLang="en-US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FAEC174-8664-A694-C8EF-6E653F8A51C7}"/>
              </a:ext>
            </a:extLst>
          </p:cNvPr>
          <p:cNvSpPr/>
          <p:nvPr/>
        </p:nvSpPr>
        <p:spPr>
          <a:xfrm>
            <a:off x="415423" y="4409983"/>
            <a:ext cx="1936377" cy="198853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허가기관</a:t>
            </a:r>
            <a:r>
              <a:rPr lang="en-US" altLang="ko-KR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○○</a:t>
            </a:r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시청</a:t>
            </a:r>
            <a:endParaRPr lang="en-US" altLang="ko-KR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허가번호</a:t>
            </a:r>
            <a:r>
              <a:rPr lang="en-US" altLang="ko-KR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2020-○○</a:t>
            </a:r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호</a:t>
            </a:r>
            <a:endParaRPr lang="en-US" altLang="ko-KR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허가일자</a:t>
            </a:r>
            <a:r>
              <a:rPr lang="en-US" altLang="ko-KR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2020</a:t>
            </a:r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년 ○월 ○일</a:t>
            </a:r>
            <a:endParaRPr lang="en-US" altLang="ko-KR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시설종류</a:t>
            </a:r>
            <a:endParaRPr lang="en-US" altLang="ko-KR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수목장 </a:t>
            </a:r>
            <a:r>
              <a:rPr lang="en-US" altLang="ko-KR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개인</a:t>
            </a:r>
            <a:r>
              <a:rPr lang="en-US" altLang="ko-KR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가족</a:t>
            </a:r>
            <a:r>
              <a:rPr lang="en-US" altLang="ko-KR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잔디장 </a:t>
            </a:r>
            <a:r>
              <a:rPr lang="en-US" altLang="ko-KR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000" dirty="0" err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평장형</a:t>
            </a:r>
            <a:r>
              <a:rPr lang="en-US" altLang="ko-KR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 </a:t>
            </a:r>
          </a:p>
          <a:p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근거법령</a:t>
            </a:r>
            <a:endParaRPr lang="en-US" altLang="ko-KR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장사 등에 관한 법률 제</a:t>
            </a:r>
            <a:r>
              <a:rPr lang="en-US" altLang="ko-KR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조 제</a:t>
            </a:r>
            <a:r>
              <a:rPr lang="en-US" altLang="ko-KR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9</a:t>
            </a:r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호</a:t>
            </a:r>
            <a:endParaRPr lang="en-US" altLang="ko-KR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자연장지 조성 기준 </a:t>
            </a:r>
            <a:r>
              <a:rPr lang="en-US" altLang="ko-KR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시행령 별표</a:t>
            </a:r>
            <a:r>
              <a:rPr lang="en-US" altLang="ko-KR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4) </a:t>
            </a:r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4D6E9D8-25EC-1CA9-6FA4-62F1AC03ACAA}"/>
              </a:ext>
            </a:extLst>
          </p:cNvPr>
          <p:cNvSpPr/>
          <p:nvPr/>
        </p:nvSpPr>
        <p:spPr>
          <a:xfrm>
            <a:off x="2459956" y="4419711"/>
            <a:ext cx="1936377" cy="198853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허가기관</a:t>
            </a:r>
            <a:r>
              <a:rPr lang="en-US" altLang="ko-KR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○○</a:t>
            </a:r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시청 건축과</a:t>
            </a:r>
            <a:endParaRPr lang="en-US" altLang="ko-KR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승인번호</a:t>
            </a:r>
            <a:r>
              <a:rPr lang="en-US" altLang="ko-KR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건축물대장 ○○○○</a:t>
            </a:r>
            <a:r>
              <a:rPr lang="en-US" altLang="ko-KR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-○○○○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승인일자</a:t>
            </a:r>
            <a:r>
              <a:rPr lang="en-US" altLang="ko-KR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2020</a:t>
            </a:r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년 ○월 ○일</a:t>
            </a:r>
            <a:endParaRPr lang="en-US" altLang="ko-KR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건축물 정보</a:t>
            </a:r>
            <a:endParaRPr lang="en-US" altLang="ko-KR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구조 </a:t>
            </a:r>
            <a:r>
              <a:rPr lang="en-US" altLang="ko-KR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1000" dirty="0" err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철근콘크리드조</a:t>
            </a:r>
            <a:endParaRPr lang="en-US" altLang="ko-KR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규모 </a:t>
            </a:r>
            <a:r>
              <a:rPr lang="en-US" altLang="ko-KR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지하</a:t>
            </a:r>
            <a:r>
              <a:rPr lang="en-US" altLang="ko-KR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층 </a:t>
            </a:r>
            <a:r>
              <a:rPr lang="en-US" altLang="ko-KR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~ </a:t>
            </a:r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지상 </a:t>
            </a:r>
            <a:r>
              <a:rPr lang="en-US" altLang="ko-KR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층</a:t>
            </a:r>
            <a:endParaRPr lang="en-US" altLang="ko-KR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연면적 </a:t>
            </a:r>
            <a:r>
              <a:rPr lang="en-US" altLang="ko-KR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O,OOO ㎡</a:t>
            </a:r>
          </a:p>
          <a:p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근거법령</a:t>
            </a:r>
            <a:endParaRPr lang="en-US" altLang="ko-KR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건축법 제 </a:t>
            </a:r>
            <a:r>
              <a:rPr lang="en-US" altLang="ko-KR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22</a:t>
            </a:r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조</a:t>
            </a:r>
            <a:r>
              <a:rPr lang="en-US" altLang="ko-KR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사용승인</a:t>
            </a:r>
            <a:r>
              <a:rPr lang="en-US" altLang="ko-KR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FCC2ABD-A442-23B2-FA41-F3D82C8A72F6}"/>
              </a:ext>
            </a:extLst>
          </p:cNvPr>
          <p:cNvSpPr txBox="1"/>
          <p:nvPr/>
        </p:nvSpPr>
        <p:spPr>
          <a:xfrm>
            <a:off x="3902322" y="1088369"/>
            <a:ext cx="14007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v"/>
            </a:pPr>
            <a:r>
              <a:rPr lang="ko-KR" altLang="en-US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필수 허가 사항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8D3F1E5-C5EF-547B-3052-5A2F80D10FD9}"/>
              </a:ext>
            </a:extLst>
          </p:cNvPr>
          <p:cNvSpPr/>
          <p:nvPr/>
        </p:nvSpPr>
        <p:spPr>
          <a:xfrm>
            <a:off x="358563" y="1485281"/>
            <a:ext cx="4315664" cy="2302333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이미지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508918A-4E3C-9F04-5D8B-DA190C15A79F}"/>
              </a:ext>
            </a:extLst>
          </p:cNvPr>
          <p:cNvSpPr/>
          <p:nvPr/>
        </p:nvSpPr>
        <p:spPr>
          <a:xfrm>
            <a:off x="4674227" y="4046095"/>
            <a:ext cx="4315664" cy="2302333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이미지</a:t>
            </a:r>
          </a:p>
        </p:txBody>
      </p:sp>
    </p:spTree>
    <p:extLst>
      <p:ext uri="{BB962C8B-B14F-4D97-AF65-F5344CB8AC3E}">
        <p14:creationId xmlns:p14="http://schemas.microsoft.com/office/powerpoint/2010/main" val="423817271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6FAFA9-1F8C-83E1-F75E-E1848E5FB2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AC16AD85-13B4-A373-97D7-5DCEE7D8D2B0}"/>
              </a:ext>
            </a:extLst>
          </p:cNvPr>
          <p:cNvGraphicFramePr>
            <a:graphicFrameLocks noGrp="1"/>
          </p:cNvGraphicFramePr>
          <p:nvPr/>
        </p:nvGraphicFramePr>
        <p:xfrm>
          <a:off x="9182101" y="947377"/>
          <a:ext cx="2795588" cy="1847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1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684046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723838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3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172599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4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290794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5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922450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6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784800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7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0538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8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199337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9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450365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60133578-3CE6-25E0-267F-B440F41D8D10}"/>
              </a:ext>
            </a:extLst>
          </p:cNvPr>
          <p:cNvSpPr/>
          <p:nvPr/>
        </p:nvSpPr>
        <p:spPr>
          <a:xfrm>
            <a:off x="959895" y="375614"/>
            <a:ext cx="1826141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</a:pP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메인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하늘누리소개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재단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/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허가 현황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8398703-56BB-E31C-EB24-98ABB7F67A16}"/>
              </a:ext>
            </a:extLst>
          </p:cNvPr>
          <p:cNvSpPr txBox="1"/>
          <p:nvPr/>
        </p:nvSpPr>
        <p:spPr>
          <a:xfrm>
            <a:off x="6003996" y="123825"/>
            <a:ext cx="17303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HN_Introdu_Perarti_001</a:t>
            </a:r>
            <a:endParaRPr lang="ko-KR" altLang="en-US" sz="8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FFE7771-BCB3-7104-3BE7-DA918F1C44EE}"/>
              </a:ext>
            </a:extLst>
          </p:cNvPr>
          <p:cNvSpPr txBox="1"/>
          <p:nvPr/>
        </p:nvSpPr>
        <p:spPr>
          <a:xfrm>
            <a:off x="3215171" y="851507"/>
            <a:ext cx="28687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ctr">
              <a:buFont typeface="Wingdings" panose="05000000000000000000" pitchFamily="2" charset="2"/>
              <a:buChar char="v"/>
            </a:pPr>
            <a:r>
              <a:rPr lang="ko-KR" altLang="en-US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주요 인증 및 등록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131E500-D189-B0EB-3B34-E8F1D404B027}"/>
              </a:ext>
            </a:extLst>
          </p:cNvPr>
          <p:cNvSpPr txBox="1"/>
          <p:nvPr/>
        </p:nvSpPr>
        <p:spPr>
          <a:xfrm>
            <a:off x="5058382" y="1374972"/>
            <a:ext cx="243191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친환경 건축물 인증</a:t>
            </a:r>
            <a:r>
              <a:rPr lang="en-US" altLang="ko-KR" sz="11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1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그린빌딩</a:t>
            </a:r>
            <a:r>
              <a:rPr lang="en-US" altLang="ko-KR" sz="11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한국건설기술연구원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OOOO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OO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월</a:t>
            </a: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등급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우수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(2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등급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ko-KR" altLang="en-US" sz="11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장애인 편의시설 적합 인증</a:t>
            </a:r>
            <a:endParaRPr lang="en-US" altLang="ko-KR" sz="11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한국장애인개발원 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OOOO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OO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월</a:t>
            </a: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등급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최우수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(BF 1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등급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D5A4152-A01D-F17F-0FA7-C9DE7A279203}"/>
              </a:ext>
            </a:extLst>
          </p:cNvPr>
          <p:cNvSpPr txBox="1"/>
          <p:nvPr/>
        </p:nvSpPr>
        <p:spPr>
          <a:xfrm>
            <a:off x="5109068" y="2794753"/>
            <a:ext cx="252391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소방시설 완비 확인서</a:t>
            </a:r>
            <a:endParaRPr lang="en-US" altLang="ko-KR" sz="11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OO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소방서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OOOO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OO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월</a:t>
            </a: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스프링쿨러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자동화재탐지설비 등</a:t>
            </a: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ko-KR" altLang="en-US" sz="11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정기 안전검사 적합 판정 </a:t>
            </a:r>
            <a:endParaRPr lang="en-US" altLang="ko-KR" sz="11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한국시설안전공단 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OOOO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OO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월</a:t>
            </a: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건축물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전기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소방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기스 등 전 분야 적합</a:t>
            </a: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8B4DFBB-7FF4-50D5-2F5B-6FF6E5429AAE}"/>
              </a:ext>
            </a:extLst>
          </p:cNvPr>
          <p:cNvSpPr txBox="1"/>
          <p:nvPr/>
        </p:nvSpPr>
        <p:spPr>
          <a:xfrm>
            <a:off x="5110487" y="4269115"/>
            <a:ext cx="2523919" cy="569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위생관리등급 우수 평가</a:t>
            </a:r>
            <a:endParaRPr lang="en-US" altLang="ko-KR" sz="11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OO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보건소 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OOOO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OO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월</a:t>
            </a: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식당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카페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화장실 위생 관리 우수</a:t>
            </a: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DE53E6F4-841D-B2A5-9B97-76D9B1369BB9}"/>
              </a:ext>
            </a:extLst>
          </p:cNvPr>
          <p:cNvSpPr/>
          <p:nvPr/>
        </p:nvSpPr>
        <p:spPr>
          <a:xfrm>
            <a:off x="155201" y="5118223"/>
            <a:ext cx="8928847" cy="34095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FOOTER</a:t>
            </a:r>
            <a:endParaRPr lang="ko-KR" altLang="en-US" sz="10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D0A4846-193E-E4A5-CBBA-DD27A6356631}"/>
              </a:ext>
            </a:extLst>
          </p:cNvPr>
          <p:cNvSpPr/>
          <p:nvPr/>
        </p:nvSpPr>
        <p:spPr>
          <a:xfrm>
            <a:off x="358563" y="1485281"/>
            <a:ext cx="4315664" cy="3446642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이미지</a:t>
            </a:r>
          </a:p>
        </p:txBody>
      </p:sp>
    </p:spTree>
    <p:extLst>
      <p:ext uri="{BB962C8B-B14F-4D97-AF65-F5344CB8AC3E}">
        <p14:creationId xmlns:p14="http://schemas.microsoft.com/office/powerpoint/2010/main" val="335472464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C70028-44FB-08E9-37EA-1ECAAC9208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180CA7BE-FA88-F3CF-EEC3-2ABE75D5C44F}"/>
              </a:ext>
            </a:extLst>
          </p:cNvPr>
          <p:cNvGraphicFramePr>
            <a:graphicFrameLocks noGrp="1"/>
          </p:cNvGraphicFramePr>
          <p:nvPr/>
        </p:nvGraphicFramePr>
        <p:xfrm>
          <a:off x="9182101" y="947377"/>
          <a:ext cx="2795588" cy="1847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1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684046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723838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3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172599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4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290794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5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922450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6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784800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7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0538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8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199337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9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450365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158EB7A9-9466-7115-E2A0-81D881321492}"/>
              </a:ext>
            </a:extLst>
          </p:cNvPr>
          <p:cNvSpPr/>
          <p:nvPr/>
        </p:nvSpPr>
        <p:spPr>
          <a:xfrm>
            <a:off x="959895" y="375614"/>
            <a:ext cx="1595309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</a:pP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메인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하늘누리소개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오시는 길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DC32D2C-3FCB-208E-6495-FC626BD7DB8F}"/>
              </a:ext>
            </a:extLst>
          </p:cNvPr>
          <p:cNvSpPr txBox="1"/>
          <p:nvPr/>
        </p:nvSpPr>
        <p:spPr>
          <a:xfrm>
            <a:off x="6003996" y="123825"/>
            <a:ext cx="17303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HN_Introdu_Way_001</a:t>
            </a:r>
            <a:endParaRPr lang="ko-KR" altLang="en-US" sz="800" dirty="0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25B84E74-68EC-0C41-083F-25258897C35C}"/>
              </a:ext>
            </a:extLst>
          </p:cNvPr>
          <p:cNvGrpSpPr/>
          <p:nvPr/>
        </p:nvGrpSpPr>
        <p:grpSpPr>
          <a:xfrm>
            <a:off x="161925" y="797629"/>
            <a:ext cx="8953500" cy="851943"/>
            <a:chOff x="161925" y="797629"/>
            <a:chExt cx="8953500" cy="851943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60A9F52E-90B2-F0C1-4BAB-6C1E48BE4D86}"/>
                </a:ext>
              </a:extLst>
            </p:cNvPr>
            <p:cNvSpPr/>
            <p:nvPr/>
          </p:nvSpPr>
          <p:spPr>
            <a:xfrm>
              <a:off x="4144448" y="797629"/>
              <a:ext cx="942784" cy="35821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800" b="1" dirty="0">
                  <a:solidFill>
                    <a:srgbClr val="FF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CI</a:t>
              </a:r>
            </a:p>
          </p:txBody>
        </p: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A5F28071-67C0-91EC-196F-DD27898C6DD4}"/>
                </a:ext>
              </a:extLst>
            </p:cNvPr>
            <p:cNvCxnSpPr/>
            <p:nvPr/>
          </p:nvCxnSpPr>
          <p:spPr>
            <a:xfrm>
              <a:off x="161925" y="1649572"/>
              <a:ext cx="8953500" cy="0"/>
            </a:xfrm>
            <a:prstGeom prst="line">
              <a:avLst/>
            </a:prstGeom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C65994B-976A-5A11-5C5E-95B53955AD5C}"/>
                </a:ext>
              </a:extLst>
            </p:cNvPr>
            <p:cNvSpPr txBox="1"/>
            <p:nvPr/>
          </p:nvSpPr>
          <p:spPr>
            <a:xfrm>
              <a:off x="2031551" y="1301804"/>
              <a:ext cx="120364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하늘누리소개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7D1E6468-F1AA-53D4-8911-F03FA9169E73}"/>
                </a:ext>
              </a:extLst>
            </p:cNvPr>
            <p:cNvSpPr txBox="1"/>
            <p:nvPr/>
          </p:nvSpPr>
          <p:spPr>
            <a:xfrm>
              <a:off x="3239720" y="1301804"/>
              <a:ext cx="9144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시설안내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B1C9823C-3E60-4B0A-5D24-D861AC9C7E4E}"/>
                </a:ext>
              </a:extLst>
            </p:cNvPr>
            <p:cNvSpPr txBox="1"/>
            <p:nvPr/>
          </p:nvSpPr>
          <p:spPr>
            <a:xfrm>
              <a:off x="4158640" y="1301804"/>
              <a:ext cx="9144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분양안내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8DD5BDBB-5D3E-A1D4-0400-4310C2D8D6D2}"/>
                </a:ext>
              </a:extLst>
            </p:cNvPr>
            <p:cNvSpPr txBox="1"/>
            <p:nvPr/>
          </p:nvSpPr>
          <p:spPr>
            <a:xfrm>
              <a:off x="5077560" y="1301804"/>
              <a:ext cx="119120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사이버추모관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AFF03A2A-CCE6-63F9-EC3F-89F7C3DCB9D1}"/>
                </a:ext>
              </a:extLst>
            </p:cNvPr>
            <p:cNvSpPr txBox="1"/>
            <p:nvPr/>
          </p:nvSpPr>
          <p:spPr>
            <a:xfrm>
              <a:off x="6273289" y="1301804"/>
              <a:ext cx="9144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고객센터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178523-8EBA-9FA3-647D-7909555DBCB4}"/>
                </a:ext>
              </a:extLst>
            </p:cNvPr>
            <p:cNvSpPr txBox="1"/>
            <p:nvPr/>
          </p:nvSpPr>
          <p:spPr>
            <a:xfrm>
              <a:off x="7734300" y="817862"/>
              <a:ext cx="79388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b="1">
                  <a:latin typeface="나눔고딕" panose="020D0604000000000000" pitchFamily="50" charset="-127"/>
                  <a:ea typeface="나눔고딕" panose="020D0604000000000000" pitchFamily="50" charset="-127"/>
                </a:rPr>
                <a:t>비밀번호변경</a:t>
              </a:r>
              <a:endParaRPr lang="ko-KR" altLang="en-US" sz="8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2907D9D-8586-C67D-EF56-68B2EFB0C2C7}"/>
                </a:ext>
              </a:extLst>
            </p:cNvPr>
            <p:cNvSpPr txBox="1"/>
            <p:nvPr/>
          </p:nvSpPr>
          <p:spPr>
            <a:xfrm>
              <a:off x="8472200" y="817862"/>
              <a:ext cx="58783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로그아웃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F42EC890-40F3-E2F2-A54F-4BDF771A29AB}"/>
                </a:ext>
              </a:extLst>
            </p:cNvPr>
            <p:cNvSpPr txBox="1"/>
            <p:nvPr/>
          </p:nvSpPr>
          <p:spPr>
            <a:xfrm>
              <a:off x="7203231" y="817862"/>
              <a:ext cx="65313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나의정보</a:t>
              </a: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2EC27BFC-0D37-5ABE-C735-F5730EE7169F}"/>
              </a:ext>
            </a:extLst>
          </p:cNvPr>
          <p:cNvSpPr txBox="1"/>
          <p:nvPr/>
        </p:nvSpPr>
        <p:spPr>
          <a:xfrm>
            <a:off x="158621" y="1704392"/>
            <a:ext cx="314441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HOME &gt; </a:t>
            </a:r>
            <a:r>
              <a:rPr lang="ko-KR" altLang="en-US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하늘누리소개 </a:t>
            </a:r>
            <a:r>
              <a:rPr lang="en-US" altLang="ko-KR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오시는 길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FBD64DA-40ED-3F40-D78E-4A786264D923}"/>
              </a:ext>
            </a:extLst>
          </p:cNvPr>
          <p:cNvSpPr txBox="1"/>
          <p:nvPr/>
        </p:nvSpPr>
        <p:spPr>
          <a:xfrm>
            <a:off x="2791996" y="1804210"/>
            <a:ext cx="36895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오시는 길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A6FA1CB-5610-57BA-3D5B-F6C51053DA9B}"/>
              </a:ext>
            </a:extLst>
          </p:cNvPr>
          <p:cNvSpPr txBox="1"/>
          <p:nvPr/>
        </p:nvSpPr>
        <p:spPr>
          <a:xfrm>
            <a:off x="2587400" y="2447784"/>
            <a:ext cx="4064449" cy="600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2100"/>
              </a:lnSpc>
              <a:spcAft>
                <a:spcPts val="900"/>
              </a:spcAft>
            </a:pP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하늘누리 추모공원은 </a:t>
            </a:r>
            <a:r>
              <a:rPr lang="en-US" altLang="ko-KR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"</a:t>
            </a:r>
            <a:r>
              <a:rPr lang="ko-KR" altLang="en-US" sz="1200" b="1" dirty="0">
                <a:solidFill>
                  <a:srgbClr val="2324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고인께서는 편안히 영면하실 수 있는 성스러운 안식처</a:t>
            </a:r>
            <a:r>
              <a:rPr lang="en-US" altLang="ko-KR" sz="1200" b="1" dirty="0">
                <a:solidFill>
                  <a:srgbClr val="2324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”</a:t>
            </a:r>
            <a:r>
              <a:rPr lang="ko-KR" altLang="en-US" sz="1200" dirty="0">
                <a:solidFill>
                  <a:srgbClr val="2324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가</a:t>
            </a:r>
            <a:r>
              <a:rPr lang="ko-KR" altLang="en-US" sz="1200" b="1" dirty="0">
                <a:solidFill>
                  <a:srgbClr val="2324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200" dirty="0">
                <a:solidFill>
                  <a:srgbClr val="2324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되고자 합니다</a:t>
            </a:r>
            <a:r>
              <a:rPr lang="en-US" altLang="ko-KR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12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D0464DA-D8D2-8D62-D903-F076386C258B}"/>
              </a:ext>
            </a:extLst>
          </p:cNvPr>
          <p:cNvSpPr/>
          <p:nvPr/>
        </p:nvSpPr>
        <p:spPr>
          <a:xfrm>
            <a:off x="619125" y="3075223"/>
            <a:ext cx="8086725" cy="279840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9F92D397-8919-A5F9-7E0C-3E8B86FC21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126" y="3057295"/>
            <a:ext cx="8086724" cy="279839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128B63D-ED9D-3811-50CF-19C2380E69A6}"/>
              </a:ext>
            </a:extLst>
          </p:cNvPr>
          <p:cNvSpPr txBox="1"/>
          <p:nvPr/>
        </p:nvSpPr>
        <p:spPr>
          <a:xfrm>
            <a:off x="619126" y="5912826"/>
            <a:ext cx="39052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운영시간 </a:t>
            </a:r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연중무휴 오전 </a:t>
            </a:r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09:00 ~ </a:t>
            </a:r>
            <a:r>
              <a:rPr lang="ko-KR" altLang="en-US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오후 </a:t>
            </a:r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18 :00</a:t>
            </a:r>
          </a:p>
          <a:p>
            <a:r>
              <a:rPr lang="ko-KR" altLang="en-US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주소 </a:t>
            </a:r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경기도 양주시 산북동 산</a:t>
            </a:r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67-20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BFF384DB-219F-B236-98E3-8064EB58A019}"/>
              </a:ext>
            </a:extLst>
          </p:cNvPr>
          <p:cNvSpPr/>
          <p:nvPr/>
        </p:nvSpPr>
        <p:spPr>
          <a:xfrm>
            <a:off x="4619624" y="5936808"/>
            <a:ext cx="4086225" cy="528007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대표전화   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031-999-9999</a:t>
            </a:r>
          </a:p>
        </p:txBody>
      </p:sp>
      <p:sp>
        <p:nvSpPr>
          <p:cNvPr id="17" name="Oval 109">
            <a:extLst>
              <a:ext uri="{FF2B5EF4-FFF2-40B4-BE49-F238E27FC236}">
                <a16:creationId xmlns:a16="http://schemas.microsoft.com/office/drawing/2014/main" id="{8B32E7A7-81E9-7A94-ADC4-D7E503009F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3033" y="2243700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69478397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BCA54A-26BF-C7C5-F9BF-0102DFB402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A9813CA8-640D-9BF3-ECD4-10E33049B3B3}"/>
              </a:ext>
            </a:extLst>
          </p:cNvPr>
          <p:cNvGraphicFramePr>
            <a:graphicFrameLocks noGrp="1"/>
          </p:cNvGraphicFramePr>
          <p:nvPr/>
        </p:nvGraphicFramePr>
        <p:xfrm>
          <a:off x="9182101" y="947377"/>
          <a:ext cx="2795588" cy="1847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1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684046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723838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3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172599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4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290794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5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922450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6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784800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7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0538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8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199337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9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450365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7E9BA83A-D4F5-5C49-C943-07ED0C1A6CA7}"/>
              </a:ext>
            </a:extLst>
          </p:cNvPr>
          <p:cNvSpPr/>
          <p:nvPr/>
        </p:nvSpPr>
        <p:spPr>
          <a:xfrm>
            <a:off x="959895" y="375614"/>
            <a:ext cx="1595309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</a:pP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메인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하늘누리소개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오시는 길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AACA879-8DCF-F56D-1C33-743977C02EB4}"/>
              </a:ext>
            </a:extLst>
          </p:cNvPr>
          <p:cNvSpPr txBox="1"/>
          <p:nvPr/>
        </p:nvSpPr>
        <p:spPr>
          <a:xfrm>
            <a:off x="6003996" y="123825"/>
            <a:ext cx="17303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HN_Introdu_Way_001</a:t>
            </a:r>
            <a:endParaRPr lang="ko-KR" altLang="en-US" sz="800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E4C2E98E-924E-31A9-1CDF-A7E3EDE9B284}"/>
              </a:ext>
            </a:extLst>
          </p:cNvPr>
          <p:cNvSpPr/>
          <p:nvPr/>
        </p:nvSpPr>
        <p:spPr>
          <a:xfrm>
            <a:off x="155201" y="2366021"/>
            <a:ext cx="8928847" cy="34095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FOOTER</a:t>
            </a:r>
            <a:endParaRPr lang="ko-KR" altLang="en-US" sz="10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00F9907-0490-B0DB-0C01-6487E99E4279}"/>
              </a:ext>
            </a:extLst>
          </p:cNvPr>
          <p:cNvSpPr txBox="1"/>
          <p:nvPr/>
        </p:nvSpPr>
        <p:spPr>
          <a:xfrm>
            <a:off x="1381126" y="763883"/>
            <a:ext cx="6630760" cy="12911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대중교통 이용방법</a:t>
            </a:r>
            <a:endParaRPr lang="en-US" altLang="ko-KR" sz="14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endParaRPr lang="en-US" altLang="ko-KR" sz="12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호선 양주역 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번 출구 길 건너편 버스 정류장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양주역 역전 정류장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마을 버스 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3-3, 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일반버스 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7, 31, 35 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승차하여 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“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산북동 천주교 묘지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“ 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또는 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“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샘내고개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” 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정류장 하차</a:t>
            </a:r>
            <a:endParaRPr lang="en-US" altLang="ko-KR" sz="1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추모공원까지 도보로 이동하시거나 셔틀버스를 이용해주시기 바랍니다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8494233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93E49B-8F68-8F6E-662A-ECF646505B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1D574FF-4B84-DAAF-F8C4-773D2DE33247}"/>
              </a:ext>
            </a:extLst>
          </p:cNvPr>
          <p:cNvSpPr txBox="1"/>
          <p:nvPr/>
        </p:nvSpPr>
        <p:spPr>
          <a:xfrm>
            <a:off x="1047750" y="2476500"/>
            <a:ext cx="2390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나눔고딕" pitchFamily="2" charset="-127"/>
                <a:ea typeface="나눔고딕" pitchFamily="2" charset="-127"/>
              </a:rPr>
              <a:t>04. </a:t>
            </a:r>
            <a:r>
              <a:rPr lang="ko-KR" altLang="en-US" b="1" dirty="0">
                <a:latin typeface="나눔고딕" pitchFamily="2" charset="-127"/>
                <a:ea typeface="나눔고딕" pitchFamily="2" charset="-127"/>
              </a:rPr>
              <a:t>시설안내</a:t>
            </a:r>
          </a:p>
        </p:txBody>
      </p:sp>
    </p:spTree>
    <p:extLst>
      <p:ext uri="{BB962C8B-B14F-4D97-AF65-F5344CB8AC3E}">
        <p14:creationId xmlns:p14="http://schemas.microsoft.com/office/powerpoint/2010/main" val="171413369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2630E8-7CD3-A23F-D17E-A5819A515D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CD31A6F5-44C3-2E22-290A-B1A3E14ECB83}"/>
              </a:ext>
            </a:extLst>
          </p:cNvPr>
          <p:cNvGraphicFramePr>
            <a:graphicFrameLocks noGrp="1"/>
          </p:cNvGraphicFramePr>
          <p:nvPr/>
        </p:nvGraphicFramePr>
        <p:xfrm>
          <a:off x="9182101" y="947377"/>
          <a:ext cx="2795588" cy="1847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1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684046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723838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3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172599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4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290794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5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922450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6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784800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7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0538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8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199337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9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450365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8AE107C0-1F70-18D3-BDB5-96EF083470C9}"/>
              </a:ext>
            </a:extLst>
          </p:cNvPr>
          <p:cNvSpPr/>
          <p:nvPr/>
        </p:nvSpPr>
        <p:spPr>
          <a:xfrm>
            <a:off x="959895" y="375614"/>
            <a:ext cx="1832553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</a:pP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메인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시설안내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봉안당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(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하늘누리관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)</a:t>
            </a:r>
            <a:endParaRPr kumimoji="1" lang="ko-KR" altLang="en-US" sz="800" dirty="0"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F1458F8-B74C-6A98-8A9C-E3DEE5DEF8DD}"/>
              </a:ext>
            </a:extLst>
          </p:cNvPr>
          <p:cNvSpPr txBox="1"/>
          <p:nvPr/>
        </p:nvSpPr>
        <p:spPr>
          <a:xfrm>
            <a:off x="6003996" y="123825"/>
            <a:ext cx="17303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HN_Facil_Bongan_001</a:t>
            </a:r>
            <a:endParaRPr lang="ko-KR" altLang="en-US" sz="800" dirty="0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7F5E730D-D9F1-82E8-FFA5-84CF8E98A0AB}"/>
              </a:ext>
            </a:extLst>
          </p:cNvPr>
          <p:cNvGrpSpPr/>
          <p:nvPr/>
        </p:nvGrpSpPr>
        <p:grpSpPr>
          <a:xfrm>
            <a:off x="161925" y="797629"/>
            <a:ext cx="8953500" cy="851943"/>
            <a:chOff x="161925" y="797629"/>
            <a:chExt cx="8953500" cy="851943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7615A2C9-5242-D0A1-DA35-C5A14EA90F93}"/>
                </a:ext>
              </a:extLst>
            </p:cNvPr>
            <p:cNvSpPr/>
            <p:nvPr/>
          </p:nvSpPr>
          <p:spPr>
            <a:xfrm>
              <a:off x="4144448" y="797629"/>
              <a:ext cx="942784" cy="35821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800" b="1" dirty="0">
                  <a:solidFill>
                    <a:srgbClr val="FF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CI</a:t>
              </a:r>
            </a:p>
          </p:txBody>
        </p: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F3471F78-5538-ECE9-24EC-F01198AE38D9}"/>
                </a:ext>
              </a:extLst>
            </p:cNvPr>
            <p:cNvCxnSpPr/>
            <p:nvPr/>
          </p:nvCxnSpPr>
          <p:spPr>
            <a:xfrm>
              <a:off x="161925" y="1649572"/>
              <a:ext cx="8953500" cy="0"/>
            </a:xfrm>
            <a:prstGeom prst="line">
              <a:avLst/>
            </a:prstGeom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F61C6EA-6494-A36E-683D-4C4521B02599}"/>
                </a:ext>
              </a:extLst>
            </p:cNvPr>
            <p:cNvSpPr txBox="1"/>
            <p:nvPr/>
          </p:nvSpPr>
          <p:spPr>
            <a:xfrm>
              <a:off x="2031551" y="1301804"/>
              <a:ext cx="120364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하늘누리소개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A374C1CF-7986-16ED-D260-A603D1B8C7FC}"/>
                </a:ext>
              </a:extLst>
            </p:cNvPr>
            <p:cNvSpPr txBox="1"/>
            <p:nvPr/>
          </p:nvSpPr>
          <p:spPr>
            <a:xfrm>
              <a:off x="3239720" y="1301804"/>
              <a:ext cx="9144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시설안내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B577AB0E-74CC-EDAA-C48F-51FE7DCAA122}"/>
                </a:ext>
              </a:extLst>
            </p:cNvPr>
            <p:cNvSpPr txBox="1"/>
            <p:nvPr/>
          </p:nvSpPr>
          <p:spPr>
            <a:xfrm>
              <a:off x="4158640" y="1301804"/>
              <a:ext cx="9144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분양안내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25D6D710-BBE7-24D9-9756-FB27B5A2A6C0}"/>
                </a:ext>
              </a:extLst>
            </p:cNvPr>
            <p:cNvSpPr txBox="1"/>
            <p:nvPr/>
          </p:nvSpPr>
          <p:spPr>
            <a:xfrm>
              <a:off x="5077560" y="1301804"/>
              <a:ext cx="119120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사이버추모관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3C0DF739-1251-C174-08A6-E86AD2979B48}"/>
                </a:ext>
              </a:extLst>
            </p:cNvPr>
            <p:cNvSpPr txBox="1"/>
            <p:nvPr/>
          </p:nvSpPr>
          <p:spPr>
            <a:xfrm>
              <a:off x="6273289" y="1301804"/>
              <a:ext cx="9144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고객센터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34B93B1-A4DC-A8F2-D978-036D13862C3D}"/>
                </a:ext>
              </a:extLst>
            </p:cNvPr>
            <p:cNvSpPr txBox="1"/>
            <p:nvPr/>
          </p:nvSpPr>
          <p:spPr>
            <a:xfrm>
              <a:off x="7734300" y="817862"/>
              <a:ext cx="79388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b="1">
                  <a:latin typeface="나눔고딕" panose="020D0604000000000000" pitchFamily="50" charset="-127"/>
                  <a:ea typeface="나눔고딕" panose="020D0604000000000000" pitchFamily="50" charset="-127"/>
                </a:rPr>
                <a:t>비밀번호변경</a:t>
              </a:r>
              <a:endParaRPr lang="ko-KR" altLang="en-US" sz="8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17FE5629-E959-191C-5ED1-812C110B6AAD}"/>
                </a:ext>
              </a:extLst>
            </p:cNvPr>
            <p:cNvSpPr txBox="1"/>
            <p:nvPr/>
          </p:nvSpPr>
          <p:spPr>
            <a:xfrm>
              <a:off x="8472200" y="817862"/>
              <a:ext cx="58783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로그아웃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DD327F29-30B6-F30D-D7E8-B0EB04A675E6}"/>
                </a:ext>
              </a:extLst>
            </p:cNvPr>
            <p:cNvSpPr txBox="1"/>
            <p:nvPr/>
          </p:nvSpPr>
          <p:spPr>
            <a:xfrm>
              <a:off x="7203231" y="817862"/>
              <a:ext cx="65313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나의정보</a:t>
              </a: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8FBABA14-F320-75F9-A936-5E4E41EE25D5}"/>
              </a:ext>
            </a:extLst>
          </p:cNvPr>
          <p:cNvSpPr txBox="1"/>
          <p:nvPr/>
        </p:nvSpPr>
        <p:spPr>
          <a:xfrm>
            <a:off x="158621" y="1704392"/>
            <a:ext cx="314441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HOME &gt; </a:t>
            </a:r>
            <a:r>
              <a:rPr lang="ko-KR" altLang="en-US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시설안내 </a:t>
            </a:r>
            <a:r>
              <a:rPr lang="en-US" altLang="ko-KR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봉안당</a:t>
            </a:r>
            <a:r>
              <a:rPr lang="en-US" altLang="ko-KR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하늘누리관</a:t>
            </a:r>
            <a:r>
              <a:rPr lang="en-US" altLang="ko-KR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8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CA1E63-A693-AF4F-2C97-B754216BB1B2}"/>
              </a:ext>
            </a:extLst>
          </p:cNvPr>
          <p:cNvSpPr txBox="1"/>
          <p:nvPr/>
        </p:nvSpPr>
        <p:spPr>
          <a:xfrm>
            <a:off x="2791996" y="1866963"/>
            <a:ext cx="368952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봉안당</a:t>
            </a:r>
            <a:endParaRPr lang="en-US" altLang="ko-KR" sz="4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en-US" altLang="ko-KR" sz="4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4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하늘누리관</a:t>
            </a:r>
            <a:r>
              <a:rPr lang="en-US" altLang="ko-KR" sz="4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E5872AA-B2F0-B499-8D36-0314872D85F2}"/>
              </a:ext>
            </a:extLst>
          </p:cNvPr>
          <p:cNvSpPr txBox="1"/>
          <p:nvPr/>
        </p:nvSpPr>
        <p:spPr>
          <a:xfrm>
            <a:off x="2566204" y="3308178"/>
            <a:ext cx="4341855" cy="484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900"/>
              </a:spcAft>
              <a:buNone/>
            </a:pPr>
            <a:r>
              <a:rPr lang="ko-KR" altLang="en-US" sz="900" b="1" i="0" dirty="0">
                <a:solidFill>
                  <a:srgbClr val="232425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하늘누리관은 최고급 건축 자재와 현대적 설계로 조성된 품격 있는 봉안 공간입니다</a:t>
            </a:r>
            <a:r>
              <a:rPr lang="en-US" altLang="ko-KR" sz="900" b="1" i="0" dirty="0">
                <a:solidFill>
                  <a:srgbClr val="232425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 algn="ctr">
              <a:spcAft>
                <a:spcPts val="900"/>
              </a:spcAft>
              <a:buNone/>
            </a:pPr>
            <a:r>
              <a:rPr lang="ko-KR" altLang="en-US" sz="900" b="1" i="0" dirty="0">
                <a:solidFill>
                  <a:srgbClr val="232425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자연 채광과 쾌적한 환경으로 고인을 편안하게 모실 수 있습니다</a:t>
            </a:r>
            <a:r>
              <a:rPr lang="en-US" altLang="ko-KR" sz="900" b="1" i="0" dirty="0">
                <a:solidFill>
                  <a:srgbClr val="232425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BED98490-7BB2-C7D1-89D8-D7F5487E21D5}"/>
              </a:ext>
            </a:extLst>
          </p:cNvPr>
          <p:cNvCxnSpPr>
            <a:cxnSpLocks/>
          </p:cNvCxnSpPr>
          <p:nvPr/>
        </p:nvCxnSpPr>
        <p:spPr>
          <a:xfrm>
            <a:off x="4745625" y="4796415"/>
            <a:ext cx="4077151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ABE043F7-D5C7-E424-43C5-1EF109538CCC}"/>
              </a:ext>
            </a:extLst>
          </p:cNvPr>
          <p:cNvSpPr txBox="1"/>
          <p:nvPr/>
        </p:nvSpPr>
        <p:spPr>
          <a:xfrm>
            <a:off x="4784375" y="4513242"/>
            <a:ext cx="12261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건물구조</a:t>
            </a:r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C781F36C-AADB-057D-551E-54DF02B4AC59}"/>
              </a:ext>
            </a:extLst>
          </p:cNvPr>
          <p:cNvCxnSpPr/>
          <p:nvPr/>
        </p:nvCxnSpPr>
        <p:spPr>
          <a:xfrm>
            <a:off x="4745625" y="5147680"/>
            <a:ext cx="4077151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62BB542B-BC0F-8319-CCAA-B9AAC4A83E0B}"/>
              </a:ext>
            </a:extLst>
          </p:cNvPr>
          <p:cNvSpPr txBox="1"/>
          <p:nvPr/>
        </p:nvSpPr>
        <p:spPr>
          <a:xfrm>
            <a:off x="4784375" y="4864507"/>
            <a:ext cx="12261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총 안치 가능 기수</a:t>
            </a:r>
          </a:p>
        </p:txBody>
      </p: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8156CD64-CA58-170A-FD21-E2172E751B15}"/>
              </a:ext>
            </a:extLst>
          </p:cNvPr>
          <p:cNvCxnSpPr/>
          <p:nvPr/>
        </p:nvCxnSpPr>
        <p:spPr>
          <a:xfrm>
            <a:off x="4745625" y="5520104"/>
            <a:ext cx="4077151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D77227FB-6113-AFDC-C745-5B6262CE201E}"/>
              </a:ext>
            </a:extLst>
          </p:cNvPr>
          <p:cNvSpPr txBox="1"/>
          <p:nvPr/>
        </p:nvSpPr>
        <p:spPr>
          <a:xfrm>
            <a:off x="4784375" y="5236931"/>
            <a:ext cx="12261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건축 자재</a:t>
            </a:r>
          </a:p>
        </p:txBody>
      </p: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728E92D0-7EDB-0754-D831-7EA8B9500258}"/>
              </a:ext>
            </a:extLst>
          </p:cNvPr>
          <p:cNvCxnSpPr/>
          <p:nvPr/>
        </p:nvCxnSpPr>
        <p:spPr>
          <a:xfrm>
            <a:off x="4745625" y="6211838"/>
            <a:ext cx="4077151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60117130-8A84-FFA7-5EE7-62BCDFA56FD8}"/>
              </a:ext>
            </a:extLst>
          </p:cNvPr>
          <p:cNvSpPr txBox="1"/>
          <p:nvPr/>
        </p:nvSpPr>
        <p:spPr>
          <a:xfrm>
            <a:off x="4784375" y="5588196"/>
            <a:ext cx="12261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층별 구성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2D6D356-66FB-42C9-EEBB-689816592D08}"/>
              </a:ext>
            </a:extLst>
          </p:cNvPr>
          <p:cNvSpPr txBox="1"/>
          <p:nvPr/>
        </p:nvSpPr>
        <p:spPr>
          <a:xfrm>
            <a:off x="6731474" y="4531718"/>
            <a:ext cx="187400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지하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층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~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지상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층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7CF6AC3-16D0-822E-5BAB-1EB2C85BA4FB}"/>
              </a:ext>
            </a:extLst>
          </p:cNvPr>
          <p:cNvSpPr txBox="1"/>
          <p:nvPr/>
        </p:nvSpPr>
        <p:spPr>
          <a:xfrm>
            <a:off x="6731473" y="4882982"/>
            <a:ext cx="187400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약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OOOO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7240F49-EE95-2EDF-49F2-7E3EFC987269}"/>
              </a:ext>
            </a:extLst>
          </p:cNvPr>
          <p:cNvSpPr txBox="1"/>
          <p:nvPr/>
        </p:nvSpPr>
        <p:spPr>
          <a:xfrm>
            <a:off x="6731473" y="5246747"/>
            <a:ext cx="187400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최고급 인조대리석 및 화강석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CA7788D-F4D6-B699-958D-5770615C579D}"/>
              </a:ext>
            </a:extLst>
          </p:cNvPr>
          <p:cNvSpPr txBox="1"/>
          <p:nvPr/>
        </p:nvSpPr>
        <p:spPr>
          <a:xfrm>
            <a:off x="6731473" y="5588195"/>
            <a:ext cx="220661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지하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층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가족 봉안실</a:t>
            </a: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층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일반봉안실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안내데스크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로비</a:t>
            </a: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층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프리미엄 봉안실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8D39E7A-C5DC-23DC-3986-92A3F15597F5}"/>
              </a:ext>
            </a:extLst>
          </p:cNvPr>
          <p:cNvSpPr/>
          <p:nvPr/>
        </p:nvSpPr>
        <p:spPr>
          <a:xfrm>
            <a:off x="277770" y="3910703"/>
            <a:ext cx="4341855" cy="2595592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IMAGE</a:t>
            </a:r>
            <a:endParaRPr lang="ko-KR" altLang="en-US" sz="28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2F8188C-12FD-F765-932A-0D82E2101C56}"/>
              </a:ext>
            </a:extLst>
          </p:cNvPr>
          <p:cNvSpPr txBox="1"/>
          <p:nvPr/>
        </p:nvSpPr>
        <p:spPr>
          <a:xfrm>
            <a:off x="505838" y="4105072"/>
            <a:ext cx="37743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“</a:t>
            </a:r>
            <a:r>
              <a:rPr lang="ko-KR" altLang="en-US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하늘과 맞닿은 가장 가까운 안식</a:t>
            </a:r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하늘누리관</a:t>
            </a:r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”</a:t>
            </a:r>
            <a:endParaRPr lang="ko-KR" altLang="en-US" sz="14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1DBA52-7DA4-92C6-1786-40ED7988574F}"/>
              </a:ext>
            </a:extLst>
          </p:cNvPr>
          <p:cNvSpPr txBox="1"/>
          <p:nvPr/>
        </p:nvSpPr>
        <p:spPr>
          <a:xfrm rot="19349954">
            <a:off x="6486004" y="2384462"/>
            <a:ext cx="267148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하늘누리 시설안내 확인 후 수정 필요</a:t>
            </a:r>
          </a:p>
        </p:txBody>
      </p:sp>
    </p:spTree>
    <p:extLst>
      <p:ext uri="{BB962C8B-B14F-4D97-AF65-F5344CB8AC3E}">
        <p14:creationId xmlns:p14="http://schemas.microsoft.com/office/powerpoint/2010/main" val="203107790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710D6E-AB15-0E54-9F6D-A74D559796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8B4548B5-4A5E-BCF9-20EB-63FB157E5594}"/>
              </a:ext>
            </a:extLst>
          </p:cNvPr>
          <p:cNvSpPr/>
          <p:nvPr/>
        </p:nvSpPr>
        <p:spPr>
          <a:xfrm>
            <a:off x="4619625" y="3772558"/>
            <a:ext cx="4339549" cy="2657425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A919DBE5-C07C-0D3C-D9AB-489662C044BF}"/>
              </a:ext>
            </a:extLst>
          </p:cNvPr>
          <p:cNvGraphicFramePr>
            <a:graphicFrameLocks noGrp="1"/>
          </p:cNvGraphicFramePr>
          <p:nvPr/>
        </p:nvGraphicFramePr>
        <p:xfrm>
          <a:off x="9182101" y="947377"/>
          <a:ext cx="2795588" cy="1847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1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684046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723838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3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172599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4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290794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5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922450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6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784800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7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0538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8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199337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9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450365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2DCD8345-0492-460A-9A28-95A7CE072E4F}"/>
              </a:ext>
            </a:extLst>
          </p:cNvPr>
          <p:cNvSpPr/>
          <p:nvPr/>
        </p:nvSpPr>
        <p:spPr>
          <a:xfrm>
            <a:off x="959895" y="375614"/>
            <a:ext cx="1832553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</a:pP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메인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시설안내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봉안당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(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하늘누리관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)</a:t>
            </a:r>
            <a:endParaRPr kumimoji="1" lang="ko-KR" altLang="en-US" sz="800" dirty="0"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F6CD6D8-5F41-ACA3-CCF4-58968FD77331}"/>
              </a:ext>
            </a:extLst>
          </p:cNvPr>
          <p:cNvSpPr txBox="1"/>
          <p:nvPr/>
        </p:nvSpPr>
        <p:spPr>
          <a:xfrm>
            <a:off x="6003996" y="123825"/>
            <a:ext cx="17303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HN_Facil_Bongan_001</a:t>
            </a:r>
            <a:endParaRPr lang="ko-KR" altLang="en-US" sz="800" dirty="0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8CD22B44-5EA3-C519-D434-F24C516CB3AA}"/>
              </a:ext>
            </a:extLst>
          </p:cNvPr>
          <p:cNvSpPr/>
          <p:nvPr/>
        </p:nvSpPr>
        <p:spPr>
          <a:xfrm>
            <a:off x="4925527" y="3772558"/>
            <a:ext cx="3887239" cy="2441643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ko-KR" altLang="en-US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규격</a:t>
            </a:r>
            <a:r>
              <a:rPr lang="en-US" altLang="ko-KR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가로 </a:t>
            </a:r>
            <a:r>
              <a:rPr lang="en-US" altLang="ko-KR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30cm × </a:t>
            </a:r>
            <a:r>
              <a:rPr lang="ko-KR" altLang="en-US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세로 </a:t>
            </a:r>
            <a:r>
              <a:rPr lang="en-US" altLang="ko-KR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30cm × </a:t>
            </a:r>
            <a:r>
              <a:rPr lang="ko-KR" altLang="en-US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깊이 </a:t>
            </a:r>
            <a:r>
              <a:rPr lang="en-US" altLang="ko-KR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40cm</a:t>
            </a:r>
          </a:p>
          <a:p>
            <a:pPr>
              <a:lnSpc>
                <a:spcPct val="150000"/>
              </a:lnSpc>
            </a:pPr>
            <a:r>
              <a:rPr lang="ko-KR" altLang="en-US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안치 위수</a:t>
            </a:r>
            <a:r>
              <a:rPr lang="en-US" altLang="ko-KR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1</a:t>
            </a:r>
            <a:r>
              <a:rPr lang="ko-KR" altLang="en-US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위</a:t>
            </a:r>
          </a:p>
          <a:p>
            <a:pPr>
              <a:lnSpc>
                <a:spcPct val="150000"/>
              </a:lnSpc>
            </a:pPr>
            <a:r>
              <a:rPr lang="ko-KR" altLang="en-US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위치</a:t>
            </a:r>
            <a:r>
              <a:rPr lang="en-US" altLang="ko-KR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1</a:t>
            </a:r>
            <a:r>
              <a:rPr lang="ko-KR" altLang="en-US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층</a:t>
            </a:r>
            <a:r>
              <a:rPr lang="en-US" altLang="ko-KR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~3</a:t>
            </a:r>
            <a:r>
              <a:rPr lang="ko-KR" altLang="en-US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층 전 층</a:t>
            </a:r>
          </a:p>
          <a:p>
            <a:pPr>
              <a:lnSpc>
                <a:spcPct val="150000"/>
              </a:lnSpc>
            </a:pPr>
            <a:r>
              <a:rPr lang="ko-KR" altLang="en-US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특징</a:t>
            </a:r>
            <a:r>
              <a:rPr lang="en-US" altLang="ko-KR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</a:t>
            </a:r>
          </a:p>
          <a:p>
            <a:pPr>
              <a:lnSpc>
                <a:spcPct val="150000"/>
              </a:lnSpc>
            </a:pPr>
            <a:r>
              <a:rPr lang="ko-KR" altLang="en-US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투명 유리문으로 고인 유품 및 사진 안치 가능</a:t>
            </a:r>
          </a:p>
          <a:p>
            <a:pPr>
              <a:lnSpc>
                <a:spcPct val="150000"/>
              </a:lnSpc>
            </a:pPr>
            <a:r>
              <a:rPr lang="ko-KR" altLang="en-US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단 구분</a:t>
            </a:r>
            <a:r>
              <a:rPr lang="en-US" altLang="ko-KR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1~9</a:t>
            </a:r>
            <a:r>
              <a:rPr lang="ko-KR" altLang="en-US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단 </a:t>
            </a:r>
            <a:r>
              <a:rPr lang="en-US" altLang="ko-KR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눈높이 </a:t>
            </a:r>
            <a:r>
              <a:rPr lang="en-US" altLang="ko-KR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4~5</a:t>
            </a:r>
            <a:r>
              <a:rPr lang="ko-KR" altLang="en-US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단 프리미엄</a:t>
            </a:r>
            <a:r>
              <a:rPr lang="en-US" altLang="ko-KR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ko-KR" altLang="en-US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개별 명패 부착일반 봉안실</a:t>
            </a:r>
            <a:r>
              <a:rPr lang="en-US" altLang="ko-KR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개인형</a:t>
            </a:r>
            <a:r>
              <a:rPr lang="en-US" altLang="ko-KR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ko-KR" altLang="en-US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가격대</a:t>
            </a:r>
            <a:r>
              <a:rPr lang="en-US" altLang="ko-KR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150</a:t>
            </a:r>
            <a:r>
              <a:rPr lang="ko-KR" altLang="en-US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만원 </a:t>
            </a:r>
            <a:r>
              <a:rPr lang="en-US" altLang="ko-KR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~ 800</a:t>
            </a:r>
            <a:r>
              <a:rPr lang="ko-KR" altLang="en-US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만원 </a:t>
            </a:r>
            <a:r>
              <a:rPr lang="en-US" altLang="ko-KR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위치별 차등</a:t>
            </a:r>
            <a:r>
              <a:rPr lang="en-US" altLang="ko-KR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1100" b="1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52FE2DC-B9F0-9F7D-69DD-55CC1993665F}"/>
              </a:ext>
            </a:extLst>
          </p:cNvPr>
          <p:cNvSpPr/>
          <p:nvPr/>
        </p:nvSpPr>
        <p:spPr>
          <a:xfrm>
            <a:off x="112399" y="718716"/>
            <a:ext cx="8934324" cy="2926184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IMAGE</a:t>
            </a:r>
            <a:endParaRPr lang="ko-KR" altLang="en-US" sz="28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A6F131-43B2-7339-8708-1B958017FDC6}"/>
              </a:ext>
            </a:extLst>
          </p:cNvPr>
          <p:cNvSpPr txBox="1"/>
          <p:nvPr/>
        </p:nvSpPr>
        <p:spPr>
          <a:xfrm>
            <a:off x="515566" y="4993379"/>
            <a:ext cx="36673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일반 봉안실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개인형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711FAE5-B673-4E0A-4219-268A636411AD}"/>
              </a:ext>
            </a:extLst>
          </p:cNvPr>
          <p:cNvSpPr txBox="1"/>
          <p:nvPr/>
        </p:nvSpPr>
        <p:spPr>
          <a:xfrm>
            <a:off x="2792448" y="947377"/>
            <a:ext cx="37743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“</a:t>
            </a:r>
            <a:r>
              <a:rPr lang="ko-KR" altLang="en-US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이곳의 시간은 고귀한 기억으로 흐릅니다</a:t>
            </a:r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.”</a:t>
            </a:r>
            <a:endParaRPr lang="ko-KR" altLang="en-US" sz="14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2404243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896CBB-67D1-9F0A-E84C-27C675266A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9619A526-F52B-761B-BE33-1D406EC1167E}"/>
              </a:ext>
            </a:extLst>
          </p:cNvPr>
          <p:cNvSpPr/>
          <p:nvPr/>
        </p:nvSpPr>
        <p:spPr>
          <a:xfrm>
            <a:off x="4646639" y="3801757"/>
            <a:ext cx="4339549" cy="2657425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AAA1F878-603F-A40F-7710-25995F3317AE}"/>
              </a:ext>
            </a:extLst>
          </p:cNvPr>
          <p:cNvGraphicFramePr>
            <a:graphicFrameLocks noGrp="1"/>
          </p:cNvGraphicFramePr>
          <p:nvPr/>
        </p:nvGraphicFramePr>
        <p:xfrm>
          <a:off x="9182101" y="947377"/>
          <a:ext cx="2795588" cy="1847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1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684046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723838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3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172599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4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290794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5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922450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6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784800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7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0538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8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199337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9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450365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ED0E26B2-9560-B0F1-A120-33161EB3BDB2}"/>
              </a:ext>
            </a:extLst>
          </p:cNvPr>
          <p:cNvSpPr/>
          <p:nvPr/>
        </p:nvSpPr>
        <p:spPr>
          <a:xfrm>
            <a:off x="959895" y="375614"/>
            <a:ext cx="1832553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</a:pP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메인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시설안내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봉안당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(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하늘누리관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)</a:t>
            </a:r>
            <a:endParaRPr kumimoji="1" lang="ko-KR" altLang="en-US" sz="800" dirty="0"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DF4F6F7-EE15-03BB-F2F6-20323DE64D4F}"/>
              </a:ext>
            </a:extLst>
          </p:cNvPr>
          <p:cNvSpPr txBox="1"/>
          <p:nvPr/>
        </p:nvSpPr>
        <p:spPr>
          <a:xfrm>
            <a:off x="6003996" y="123825"/>
            <a:ext cx="17303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HN_Facil_Bongan_001</a:t>
            </a:r>
            <a:endParaRPr lang="ko-KR" altLang="en-US" sz="800" dirty="0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D3D1EE66-23D3-6DD1-AF18-1FBA74481AD8}"/>
              </a:ext>
            </a:extLst>
          </p:cNvPr>
          <p:cNvSpPr/>
          <p:nvPr/>
        </p:nvSpPr>
        <p:spPr>
          <a:xfrm>
            <a:off x="4646639" y="3860125"/>
            <a:ext cx="2567609" cy="2441643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ko-KR" altLang="en-US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종류</a:t>
            </a:r>
            <a:r>
              <a:rPr lang="en-US" altLang="ko-KR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</a:t>
            </a:r>
          </a:p>
          <a:p>
            <a:pPr>
              <a:lnSpc>
                <a:spcPct val="150000"/>
              </a:lnSpc>
            </a:pPr>
            <a:r>
              <a:rPr lang="en-US" altLang="ko-KR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r>
            <a:r>
              <a:rPr lang="ko-KR" altLang="en-US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위용</a:t>
            </a:r>
            <a:r>
              <a:rPr lang="en-US" altLang="ko-KR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가로 </a:t>
            </a:r>
            <a:r>
              <a:rPr lang="en-US" altLang="ko-KR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60cm × </a:t>
            </a:r>
            <a:r>
              <a:rPr lang="ko-KR" altLang="en-US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세로 </a:t>
            </a:r>
            <a:r>
              <a:rPr lang="en-US" altLang="ko-KR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60cm</a:t>
            </a:r>
          </a:p>
          <a:p>
            <a:pPr>
              <a:lnSpc>
                <a:spcPct val="150000"/>
              </a:lnSpc>
            </a:pPr>
            <a:r>
              <a:rPr lang="en-US" altLang="ko-KR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6</a:t>
            </a:r>
            <a:r>
              <a:rPr lang="ko-KR" altLang="en-US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위용</a:t>
            </a:r>
            <a:r>
              <a:rPr lang="en-US" altLang="ko-KR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가로 </a:t>
            </a:r>
            <a:r>
              <a:rPr lang="en-US" altLang="ko-KR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90cm × </a:t>
            </a:r>
            <a:r>
              <a:rPr lang="ko-KR" altLang="en-US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세로 </a:t>
            </a:r>
            <a:r>
              <a:rPr lang="en-US" altLang="ko-KR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60cm</a:t>
            </a:r>
          </a:p>
          <a:p>
            <a:pPr>
              <a:lnSpc>
                <a:spcPct val="150000"/>
              </a:lnSpc>
            </a:pPr>
            <a:r>
              <a:rPr lang="en-US" altLang="ko-KR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12</a:t>
            </a:r>
            <a:r>
              <a:rPr lang="ko-KR" altLang="en-US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위용</a:t>
            </a:r>
            <a:r>
              <a:rPr lang="en-US" altLang="ko-KR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가로 </a:t>
            </a:r>
            <a:r>
              <a:rPr lang="en-US" altLang="ko-KR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120cm × </a:t>
            </a:r>
            <a:r>
              <a:rPr lang="ko-KR" altLang="en-US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세로 </a:t>
            </a:r>
            <a:r>
              <a:rPr lang="en-US" altLang="ko-KR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90cm</a:t>
            </a:r>
          </a:p>
          <a:p>
            <a:pPr>
              <a:lnSpc>
                <a:spcPct val="150000"/>
              </a:lnSpc>
            </a:pPr>
            <a:r>
              <a:rPr lang="ko-KR" altLang="en-US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특징</a:t>
            </a:r>
            <a:r>
              <a:rPr lang="en-US" altLang="ko-KR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</a:t>
            </a:r>
          </a:p>
          <a:p>
            <a:pPr>
              <a:lnSpc>
                <a:spcPct val="150000"/>
              </a:lnSpc>
            </a:pPr>
            <a:r>
              <a:rPr lang="ko-KR" altLang="en-US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가족 단위 영구 안치 공간</a:t>
            </a:r>
          </a:p>
          <a:p>
            <a:pPr>
              <a:lnSpc>
                <a:spcPct val="150000"/>
              </a:lnSpc>
            </a:pPr>
            <a:r>
              <a:rPr lang="ko-KR" altLang="en-US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고급 대리석 마감</a:t>
            </a:r>
          </a:p>
          <a:p>
            <a:pPr>
              <a:lnSpc>
                <a:spcPct val="150000"/>
              </a:lnSpc>
            </a:pPr>
            <a:r>
              <a:rPr lang="ko-KR" altLang="en-US" sz="1100" b="1" dirty="0" err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가족명</a:t>
            </a:r>
            <a:r>
              <a:rPr lang="ko-KR" altLang="en-US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통합 명패 제공</a:t>
            </a:r>
          </a:p>
          <a:p>
            <a:pPr>
              <a:lnSpc>
                <a:spcPct val="150000"/>
              </a:lnSpc>
            </a:pPr>
            <a:r>
              <a:rPr lang="ko-KR" altLang="en-US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내부 인테리어 맞춤 가능</a:t>
            </a:r>
          </a:p>
          <a:p>
            <a:pPr>
              <a:lnSpc>
                <a:spcPct val="150000"/>
              </a:lnSpc>
            </a:pPr>
            <a:endParaRPr lang="ko-KR" altLang="en-US" sz="1100" b="1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128F15E-C15B-4D84-ECC1-C6DEC03BEA6A}"/>
              </a:ext>
            </a:extLst>
          </p:cNvPr>
          <p:cNvSpPr/>
          <p:nvPr/>
        </p:nvSpPr>
        <p:spPr>
          <a:xfrm>
            <a:off x="112399" y="718716"/>
            <a:ext cx="8934324" cy="2926184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IMAGE</a:t>
            </a:r>
            <a:endParaRPr lang="ko-KR" altLang="en-US" sz="28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C7649F-49F8-0EE9-2D5B-749166752256}"/>
              </a:ext>
            </a:extLst>
          </p:cNvPr>
          <p:cNvSpPr txBox="1"/>
          <p:nvPr/>
        </p:nvSpPr>
        <p:spPr>
          <a:xfrm>
            <a:off x="525294" y="4930414"/>
            <a:ext cx="36673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가족 봉안실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20208C-01BD-B8BB-91F8-E38504566886}"/>
              </a:ext>
            </a:extLst>
          </p:cNvPr>
          <p:cNvSpPr txBox="1"/>
          <p:nvPr/>
        </p:nvSpPr>
        <p:spPr>
          <a:xfrm>
            <a:off x="6873962" y="3801757"/>
            <a:ext cx="2172762" cy="10783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가격대</a:t>
            </a:r>
            <a:r>
              <a:rPr lang="en-US" altLang="ko-KR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</a:t>
            </a:r>
          </a:p>
          <a:p>
            <a:pPr>
              <a:lnSpc>
                <a:spcPct val="150000"/>
              </a:lnSpc>
            </a:pPr>
            <a:r>
              <a:rPr lang="en-US" altLang="ko-KR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r>
            <a:r>
              <a:rPr lang="ko-KR" altLang="en-US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위용</a:t>
            </a:r>
            <a:r>
              <a:rPr lang="en-US" altLang="ko-KR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600</a:t>
            </a:r>
            <a:r>
              <a:rPr lang="ko-KR" altLang="en-US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만원 </a:t>
            </a:r>
            <a:r>
              <a:rPr lang="en-US" altLang="ko-KR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~ 1,200</a:t>
            </a:r>
            <a:r>
              <a:rPr lang="ko-KR" altLang="en-US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만원</a:t>
            </a:r>
          </a:p>
          <a:p>
            <a:pPr>
              <a:lnSpc>
                <a:spcPct val="150000"/>
              </a:lnSpc>
            </a:pPr>
            <a:r>
              <a:rPr lang="en-US" altLang="ko-KR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6</a:t>
            </a:r>
            <a:r>
              <a:rPr lang="ko-KR" altLang="en-US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위용</a:t>
            </a:r>
            <a:r>
              <a:rPr lang="en-US" altLang="ko-KR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900</a:t>
            </a:r>
            <a:r>
              <a:rPr lang="ko-KR" altLang="en-US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만원 </a:t>
            </a:r>
            <a:r>
              <a:rPr lang="en-US" altLang="ko-KR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~ 1,800</a:t>
            </a:r>
            <a:r>
              <a:rPr lang="ko-KR" altLang="en-US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만원</a:t>
            </a:r>
          </a:p>
          <a:p>
            <a:pPr>
              <a:lnSpc>
                <a:spcPct val="150000"/>
              </a:lnSpc>
            </a:pPr>
            <a:r>
              <a:rPr lang="en-US" altLang="ko-KR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12</a:t>
            </a:r>
            <a:r>
              <a:rPr lang="ko-KR" altLang="en-US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위용</a:t>
            </a:r>
            <a:r>
              <a:rPr lang="en-US" altLang="ko-KR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1,500</a:t>
            </a:r>
            <a:r>
              <a:rPr lang="ko-KR" altLang="en-US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만원 </a:t>
            </a:r>
            <a:r>
              <a:rPr lang="en-US" altLang="ko-KR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~ 3,000</a:t>
            </a:r>
            <a:r>
              <a:rPr lang="ko-KR" altLang="en-US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만원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205FC27-50F0-DB30-DDF8-34FA8F959A8F}"/>
              </a:ext>
            </a:extLst>
          </p:cNvPr>
          <p:cNvSpPr txBox="1"/>
          <p:nvPr/>
        </p:nvSpPr>
        <p:spPr>
          <a:xfrm>
            <a:off x="2792448" y="947377"/>
            <a:ext cx="37743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“</a:t>
            </a:r>
            <a:r>
              <a:rPr lang="ko-KR" altLang="en-US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당신의 그리움이 별이 되어 머무는 공간</a:t>
            </a:r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”</a:t>
            </a:r>
            <a:endParaRPr lang="ko-KR" altLang="en-US" sz="14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7938958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DC061-6A60-0CBB-5058-981CFCA790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E2A0B835-959F-701F-4138-BE01E2467CF1}"/>
              </a:ext>
            </a:extLst>
          </p:cNvPr>
          <p:cNvSpPr/>
          <p:nvPr/>
        </p:nvSpPr>
        <p:spPr>
          <a:xfrm>
            <a:off x="4646639" y="3801757"/>
            <a:ext cx="4339549" cy="2657425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434ABB50-4D02-06D2-CA9D-C415F513205A}"/>
              </a:ext>
            </a:extLst>
          </p:cNvPr>
          <p:cNvGraphicFramePr>
            <a:graphicFrameLocks noGrp="1"/>
          </p:cNvGraphicFramePr>
          <p:nvPr/>
        </p:nvGraphicFramePr>
        <p:xfrm>
          <a:off x="9182101" y="947377"/>
          <a:ext cx="2795588" cy="1847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1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684046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723838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3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172599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4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290794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5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922450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6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784800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7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0538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8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199337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9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450365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F80CA650-89BE-EDB1-CFF2-6037162BB88B}"/>
              </a:ext>
            </a:extLst>
          </p:cNvPr>
          <p:cNvSpPr/>
          <p:nvPr/>
        </p:nvSpPr>
        <p:spPr>
          <a:xfrm>
            <a:off x="959895" y="375614"/>
            <a:ext cx="1832553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</a:pP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메인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시설안내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봉안당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(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하늘누리관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)</a:t>
            </a:r>
            <a:endParaRPr kumimoji="1" lang="ko-KR" altLang="en-US" sz="800" dirty="0"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1A27E48-F89C-A057-CA47-A4238217E2B6}"/>
              </a:ext>
            </a:extLst>
          </p:cNvPr>
          <p:cNvSpPr txBox="1"/>
          <p:nvPr/>
        </p:nvSpPr>
        <p:spPr>
          <a:xfrm>
            <a:off x="6003996" y="123825"/>
            <a:ext cx="17303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HN_Facil_Bongan_001</a:t>
            </a:r>
            <a:endParaRPr lang="ko-KR" altLang="en-US" sz="800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DE65ABC-D7C9-0889-476E-28E67B1A38DB}"/>
              </a:ext>
            </a:extLst>
          </p:cNvPr>
          <p:cNvSpPr/>
          <p:nvPr/>
        </p:nvSpPr>
        <p:spPr>
          <a:xfrm>
            <a:off x="112399" y="718716"/>
            <a:ext cx="8934324" cy="2926184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IMAGE</a:t>
            </a:r>
            <a:endParaRPr lang="ko-KR" altLang="en-US" sz="28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27300D-C971-845A-B448-75A74D658293}"/>
              </a:ext>
            </a:extLst>
          </p:cNvPr>
          <p:cNvSpPr txBox="1"/>
          <p:nvPr/>
        </p:nvSpPr>
        <p:spPr>
          <a:xfrm>
            <a:off x="408561" y="4930414"/>
            <a:ext cx="36673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프리미엄 봉안실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977E738-4715-06DA-7848-94655E02545E}"/>
              </a:ext>
            </a:extLst>
          </p:cNvPr>
          <p:cNvSpPr/>
          <p:nvPr/>
        </p:nvSpPr>
        <p:spPr>
          <a:xfrm>
            <a:off x="4925527" y="3772558"/>
            <a:ext cx="3887239" cy="2441643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ko-KR" altLang="en-US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위치</a:t>
            </a:r>
            <a:r>
              <a:rPr lang="en-US" altLang="ko-KR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3</a:t>
            </a:r>
            <a:r>
              <a:rPr lang="ko-KR" altLang="en-US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층 전망대 인접</a:t>
            </a:r>
          </a:p>
          <a:p>
            <a:pPr>
              <a:lnSpc>
                <a:spcPct val="150000"/>
              </a:lnSpc>
            </a:pPr>
            <a:r>
              <a:rPr lang="ko-KR" altLang="en-US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특징</a:t>
            </a:r>
            <a:r>
              <a:rPr lang="en-US" altLang="ko-KR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</a:t>
            </a:r>
          </a:p>
          <a:p>
            <a:pPr>
              <a:lnSpc>
                <a:spcPct val="150000"/>
              </a:lnSpc>
            </a:pPr>
            <a:r>
              <a:rPr lang="ko-KR" altLang="en-US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자연 채광이 풍부한 공간</a:t>
            </a:r>
          </a:p>
          <a:p>
            <a:pPr>
              <a:lnSpc>
                <a:spcPct val="150000"/>
              </a:lnSpc>
            </a:pPr>
            <a:r>
              <a:rPr lang="ko-KR" altLang="en-US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주변 산세와 풍광을 조망</a:t>
            </a:r>
          </a:p>
          <a:p>
            <a:pPr>
              <a:lnSpc>
                <a:spcPct val="150000"/>
              </a:lnSpc>
            </a:pPr>
            <a:r>
              <a:rPr lang="ko-KR" altLang="en-US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독립적이고 </a:t>
            </a:r>
            <a:r>
              <a:rPr lang="ko-KR" altLang="en-US" sz="1100" b="1" dirty="0" err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프라이빗한</a:t>
            </a:r>
            <a:r>
              <a:rPr lang="ko-KR" altLang="en-US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환경</a:t>
            </a:r>
          </a:p>
          <a:p>
            <a:pPr>
              <a:lnSpc>
                <a:spcPct val="150000"/>
              </a:lnSpc>
            </a:pPr>
            <a:r>
              <a:rPr lang="ko-KR" altLang="en-US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특별 설계 인테리어</a:t>
            </a:r>
          </a:p>
          <a:p>
            <a:pPr>
              <a:lnSpc>
                <a:spcPct val="150000"/>
              </a:lnSpc>
            </a:pPr>
            <a:r>
              <a:rPr lang="ko-KR" altLang="en-US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가격대</a:t>
            </a:r>
            <a:r>
              <a:rPr lang="en-US" altLang="ko-KR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1,000</a:t>
            </a:r>
            <a:r>
              <a:rPr lang="ko-KR" altLang="en-US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만원 </a:t>
            </a:r>
            <a:r>
              <a:rPr lang="en-US" altLang="ko-KR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~ 2,500</a:t>
            </a:r>
            <a:r>
              <a:rPr lang="ko-KR" altLang="en-US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만원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6F456A9-B7BE-0575-151A-A13C6DEC5172}"/>
              </a:ext>
            </a:extLst>
          </p:cNvPr>
          <p:cNvSpPr txBox="1"/>
          <p:nvPr/>
        </p:nvSpPr>
        <p:spPr>
          <a:xfrm>
            <a:off x="2753536" y="947377"/>
            <a:ext cx="37743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“</a:t>
            </a:r>
            <a:r>
              <a:rPr lang="ko-KR" altLang="en-US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가족의 사랑을 담은</a:t>
            </a:r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단 하나의 프리미엄 에디션</a:t>
            </a:r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”</a:t>
            </a:r>
            <a:endParaRPr lang="ko-KR" altLang="en-US" sz="14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642662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660F39-3294-CCAC-34C0-D3A9F55991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E480E4B9-9E56-FE67-D93D-8F160F8BF6E3}"/>
              </a:ext>
            </a:extLst>
          </p:cNvPr>
          <p:cNvGraphicFramePr>
            <a:graphicFrameLocks noGrp="1"/>
          </p:cNvGraphicFramePr>
          <p:nvPr/>
        </p:nvGraphicFramePr>
        <p:xfrm>
          <a:off x="9182101" y="947377"/>
          <a:ext cx="2795588" cy="1847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1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684046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723838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3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172599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4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290794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5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922450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6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784800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7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0538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8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199337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9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450365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BBF5FA0A-FCDC-CD12-A48B-419369BEA4DD}"/>
              </a:ext>
            </a:extLst>
          </p:cNvPr>
          <p:cNvSpPr/>
          <p:nvPr/>
        </p:nvSpPr>
        <p:spPr>
          <a:xfrm>
            <a:off x="959895" y="375614"/>
            <a:ext cx="1832553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</a:pP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메인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시설안내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봉안당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(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하늘누리관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)</a:t>
            </a:r>
            <a:endParaRPr kumimoji="1" lang="ko-KR" altLang="en-US" sz="800" dirty="0"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63BB3EE-88D8-EF27-F1A7-3ADB6A07095F}"/>
              </a:ext>
            </a:extLst>
          </p:cNvPr>
          <p:cNvSpPr txBox="1"/>
          <p:nvPr/>
        </p:nvSpPr>
        <p:spPr>
          <a:xfrm>
            <a:off x="6003996" y="123825"/>
            <a:ext cx="17303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HN_Facil_Bongan_001</a:t>
            </a:r>
            <a:endParaRPr lang="ko-KR" altLang="en-US" sz="800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DA465D1-7465-9CD3-E456-EF3F59015A07}"/>
              </a:ext>
            </a:extLst>
          </p:cNvPr>
          <p:cNvSpPr/>
          <p:nvPr/>
        </p:nvSpPr>
        <p:spPr>
          <a:xfrm>
            <a:off x="112399" y="718716"/>
            <a:ext cx="8934324" cy="2926184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IMAGE</a:t>
            </a:r>
            <a:endParaRPr lang="ko-KR" altLang="en-US" sz="28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8141681-5262-BE5A-5D6E-BB5FF565CA49}"/>
              </a:ext>
            </a:extLst>
          </p:cNvPr>
          <p:cNvSpPr txBox="1"/>
          <p:nvPr/>
        </p:nvSpPr>
        <p:spPr>
          <a:xfrm>
            <a:off x="379379" y="4865282"/>
            <a:ext cx="36673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하늘누리관 특별 서비스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F022B7E-23E9-637D-451D-D2F8E3395054}"/>
              </a:ext>
            </a:extLst>
          </p:cNvPr>
          <p:cNvSpPr/>
          <p:nvPr/>
        </p:nvSpPr>
        <p:spPr>
          <a:xfrm>
            <a:off x="4698205" y="3715063"/>
            <a:ext cx="4348519" cy="276519"/>
          </a:xfrm>
          <a:prstGeom prst="rect">
            <a:avLst/>
          </a:prstGeom>
          <a:solidFill>
            <a:schemeClr val="tx1"/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E-</a:t>
            </a:r>
            <a:r>
              <a:rPr lang="ko-KR" altLang="en-US" sz="10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추모 시스템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88A7254-8E10-B0BA-1D97-6DE543AC27E8}"/>
              </a:ext>
            </a:extLst>
          </p:cNvPr>
          <p:cNvSpPr/>
          <p:nvPr/>
        </p:nvSpPr>
        <p:spPr>
          <a:xfrm>
            <a:off x="4698206" y="3991583"/>
            <a:ext cx="4348517" cy="469756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ko-KR" altLang="en-US" sz="1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웹사이트</a:t>
            </a:r>
            <a:r>
              <a:rPr lang="en-US" altLang="ko-KR" sz="1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1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모바일 사이트를 통한 고인 검색</a:t>
            </a:r>
            <a:endParaRPr lang="en-US" altLang="ko-KR" sz="1000" b="1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고인 추모글을 쓸 수 있는 하늘편지 서비스</a:t>
            </a:r>
            <a:endParaRPr lang="en-US" altLang="ko-KR" sz="1000" b="1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FB84F60-1F93-EE13-F39F-8618F314094E}"/>
              </a:ext>
            </a:extLst>
          </p:cNvPr>
          <p:cNvSpPr/>
          <p:nvPr/>
        </p:nvSpPr>
        <p:spPr>
          <a:xfrm>
            <a:off x="4698205" y="4497097"/>
            <a:ext cx="4348519" cy="276519"/>
          </a:xfrm>
          <a:prstGeom prst="rect">
            <a:avLst/>
          </a:prstGeom>
          <a:solidFill>
            <a:schemeClr val="tx1"/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b="1" dirty="0" err="1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제례실</a:t>
            </a:r>
            <a:endParaRPr lang="ko-KR" altLang="en-US" sz="10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BE1C4F8-7308-D80B-B172-F6DA6E5E3CCD}"/>
              </a:ext>
            </a:extLst>
          </p:cNvPr>
          <p:cNvSpPr/>
          <p:nvPr/>
        </p:nvSpPr>
        <p:spPr>
          <a:xfrm>
            <a:off x="4698206" y="4773617"/>
            <a:ext cx="4348517" cy="664142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ko-KR" altLang="en-US" sz="1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각 층별 </a:t>
            </a:r>
            <a:r>
              <a:rPr lang="en-US" altLang="ko-KR" sz="1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1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개소 배치</a:t>
            </a:r>
          </a:p>
          <a:p>
            <a:pPr>
              <a:lnSpc>
                <a:spcPct val="150000"/>
              </a:lnSpc>
            </a:pPr>
            <a:r>
              <a:rPr lang="ko-KR" altLang="en-US" sz="1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전통 제례상 및 제수용품 준비 가능</a:t>
            </a:r>
          </a:p>
          <a:p>
            <a:pPr>
              <a:lnSpc>
                <a:spcPct val="150000"/>
              </a:lnSpc>
            </a:pPr>
            <a:r>
              <a:rPr lang="ko-KR" altLang="en-US" sz="1000" b="1" dirty="0" err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예약제</a:t>
            </a:r>
            <a:r>
              <a:rPr lang="ko-KR" altLang="en-US" sz="1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운영 </a:t>
            </a:r>
            <a:r>
              <a:rPr lang="en-US" altLang="ko-KR" sz="1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무료 이용</a:t>
            </a:r>
            <a:r>
              <a:rPr lang="en-US" altLang="ko-KR" sz="1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B0FAA5C5-843E-4BE7-8C45-43A150A57435}"/>
              </a:ext>
            </a:extLst>
          </p:cNvPr>
          <p:cNvSpPr/>
          <p:nvPr/>
        </p:nvSpPr>
        <p:spPr>
          <a:xfrm>
            <a:off x="4700605" y="5488037"/>
            <a:ext cx="4346119" cy="276519"/>
          </a:xfrm>
          <a:prstGeom prst="rect">
            <a:avLst/>
          </a:prstGeom>
          <a:solidFill>
            <a:schemeClr val="tx1"/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참배편의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57AACF1-BFA4-2A66-312A-A13D49767559}"/>
              </a:ext>
            </a:extLst>
          </p:cNvPr>
          <p:cNvSpPr/>
          <p:nvPr/>
        </p:nvSpPr>
        <p:spPr>
          <a:xfrm>
            <a:off x="4700606" y="5764556"/>
            <a:ext cx="4346117" cy="71442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ko-KR" altLang="en-US" sz="1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계단 및 엘리베이터 완비</a:t>
            </a:r>
          </a:p>
          <a:p>
            <a:pPr>
              <a:lnSpc>
                <a:spcPct val="150000"/>
              </a:lnSpc>
            </a:pPr>
            <a:r>
              <a:rPr lang="ko-KR" altLang="en-US" sz="1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휠체어 접근 가능한 </a:t>
            </a:r>
            <a:r>
              <a:rPr lang="ko-KR" altLang="en-US" sz="1000" b="1" dirty="0" err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무장애</a:t>
            </a:r>
            <a:r>
              <a:rPr lang="ko-KR" altLang="en-US" sz="1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설계</a:t>
            </a:r>
          </a:p>
          <a:p>
            <a:pPr>
              <a:lnSpc>
                <a:spcPct val="150000"/>
              </a:lnSpc>
            </a:pPr>
            <a:r>
              <a:rPr lang="ko-KR" altLang="en-US" sz="1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각 층 휴게 공간 및 화장실 배치</a:t>
            </a:r>
            <a:endParaRPr lang="en-US" altLang="ko-KR" sz="1000" b="1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DCAC7C7-2376-B1A5-2F2C-4CA76A12F820}"/>
              </a:ext>
            </a:extLst>
          </p:cNvPr>
          <p:cNvSpPr txBox="1"/>
          <p:nvPr/>
        </p:nvSpPr>
        <p:spPr>
          <a:xfrm>
            <a:off x="2753536" y="947377"/>
            <a:ext cx="37743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“</a:t>
            </a:r>
            <a:r>
              <a:rPr lang="ko-KR" altLang="en-US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생의 끝에서도 빛나는 단 하나의 명예</a:t>
            </a:r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”</a:t>
            </a:r>
            <a:endParaRPr lang="ko-KR" altLang="en-US" sz="14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6B86D937-1536-4905-9F8C-51614CBB9B2D}"/>
              </a:ext>
            </a:extLst>
          </p:cNvPr>
          <p:cNvSpPr/>
          <p:nvPr/>
        </p:nvSpPr>
        <p:spPr>
          <a:xfrm>
            <a:off x="155201" y="6539202"/>
            <a:ext cx="8928847" cy="34095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FOOTER</a:t>
            </a:r>
            <a:endParaRPr lang="ko-KR" altLang="en-US" sz="10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9757743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A741C2-A768-FAAE-AD16-25DBF9478D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0D6D2915-F33C-5CC8-EEC4-5411989B8F6C}"/>
              </a:ext>
            </a:extLst>
          </p:cNvPr>
          <p:cNvGraphicFramePr>
            <a:graphicFrameLocks noGrp="1"/>
          </p:cNvGraphicFramePr>
          <p:nvPr/>
        </p:nvGraphicFramePr>
        <p:xfrm>
          <a:off x="9182101" y="947377"/>
          <a:ext cx="2795588" cy="1847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1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684046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723838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3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172599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4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290794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5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922450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6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784800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7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0538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8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199337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9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450365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B5F18A47-5F7F-A430-C4E3-C50A11FAFC64}"/>
              </a:ext>
            </a:extLst>
          </p:cNvPr>
          <p:cNvSpPr/>
          <p:nvPr/>
        </p:nvSpPr>
        <p:spPr>
          <a:xfrm>
            <a:off x="959895" y="375614"/>
            <a:ext cx="1640193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</a:pP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메인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시설안내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수목장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(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자연장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)</a:t>
            </a:r>
            <a:endParaRPr kumimoji="1" lang="ko-KR" altLang="en-US" sz="800" dirty="0"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6441207-AAD5-E8D5-F5AB-595446411F66}"/>
              </a:ext>
            </a:extLst>
          </p:cNvPr>
          <p:cNvSpPr txBox="1"/>
          <p:nvPr/>
        </p:nvSpPr>
        <p:spPr>
          <a:xfrm>
            <a:off x="6003996" y="123825"/>
            <a:ext cx="17303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HN_Facil_Naburial_001</a:t>
            </a:r>
            <a:endParaRPr lang="ko-KR" altLang="en-US" sz="800" dirty="0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31118FB1-13C1-7CC2-ABD5-7959144A9450}"/>
              </a:ext>
            </a:extLst>
          </p:cNvPr>
          <p:cNvGrpSpPr/>
          <p:nvPr/>
        </p:nvGrpSpPr>
        <p:grpSpPr>
          <a:xfrm>
            <a:off x="161925" y="797629"/>
            <a:ext cx="8953500" cy="851943"/>
            <a:chOff x="161925" y="797629"/>
            <a:chExt cx="8953500" cy="851943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23A8B534-F3DC-7A46-E9BD-FB36C2B8C14F}"/>
                </a:ext>
              </a:extLst>
            </p:cNvPr>
            <p:cNvSpPr/>
            <p:nvPr/>
          </p:nvSpPr>
          <p:spPr>
            <a:xfrm>
              <a:off x="4144448" y="797629"/>
              <a:ext cx="942784" cy="35821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800" b="1" dirty="0">
                  <a:solidFill>
                    <a:srgbClr val="FF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CI</a:t>
              </a:r>
            </a:p>
          </p:txBody>
        </p: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AE19E513-86A5-6C93-9F02-2BB8211B546C}"/>
                </a:ext>
              </a:extLst>
            </p:cNvPr>
            <p:cNvCxnSpPr/>
            <p:nvPr/>
          </p:nvCxnSpPr>
          <p:spPr>
            <a:xfrm>
              <a:off x="161925" y="1649572"/>
              <a:ext cx="8953500" cy="0"/>
            </a:xfrm>
            <a:prstGeom prst="line">
              <a:avLst/>
            </a:prstGeom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E7DAD54-7683-D22F-92B6-94FEBFE38552}"/>
                </a:ext>
              </a:extLst>
            </p:cNvPr>
            <p:cNvSpPr txBox="1"/>
            <p:nvPr/>
          </p:nvSpPr>
          <p:spPr>
            <a:xfrm>
              <a:off x="2031551" y="1301804"/>
              <a:ext cx="120364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하늘누리소개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5381A1A0-4254-F3B1-14D5-B26F6F24F0B4}"/>
                </a:ext>
              </a:extLst>
            </p:cNvPr>
            <p:cNvSpPr txBox="1"/>
            <p:nvPr/>
          </p:nvSpPr>
          <p:spPr>
            <a:xfrm>
              <a:off x="3239720" y="1301804"/>
              <a:ext cx="9144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시설안내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FF794922-372D-ABD3-37CF-016D57887693}"/>
                </a:ext>
              </a:extLst>
            </p:cNvPr>
            <p:cNvSpPr txBox="1"/>
            <p:nvPr/>
          </p:nvSpPr>
          <p:spPr>
            <a:xfrm>
              <a:off x="4158640" y="1301804"/>
              <a:ext cx="9144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분양안내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ACAB9325-A987-3822-A2DB-CB84AAD1CECB}"/>
                </a:ext>
              </a:extLst>
            </p:cNvPr>
            <p:cNvSpPr txBox="1"/>
            <p:nvPr/>
          </p:nvSpPr>
          <p:spPr>
            <a:xfrm>
              <a:off x="5077560" y="1301804"/>
              <a:ext cx="119120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사이버추모관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ED88FFAE-AECD-8555-56E0-EAF8A6622172}"/>
                </a:ext>
              </a:extLst>
            </p:cNvPr>
            <p:cNvSpPr txBox="1"/>
            <p:nvPr/>
          </p:nvSpPr>
          <p:spPr>
            <a:xfrm>
              <a:off x="6273289" y="1301804"/>
              <a:ext cx="9144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고객센터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331A10B-DE15-49B2-C9A2-7F4B13907FED}"/>
                </a:ext>
              </a:extLst>
            </p:cNvPr>
            <p:cNvSpPr txBox="1"/>
            <p:nvPr/>
          </p:nvSpPr>
          <p:spPr>
            <a:xfrm>
              <a:off x="7734300" y="817862"/>
              <a:ext cx="79388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b="1">
                  <a:latin typeface="나눔고딕" panose="020D0604000000000000" pitchFamily="50" charset="-127"/>
                  <a:ea typeface="나눔고딕" panose="020D0604000000000000" pitchFamily="50" charset="-127"/>
                </a:rPr>
                <a:t>비밀번호변경</a:t>
              </a:r>
              <a:endParaRPr lang="ko-KR" altLang="en-US" sz="8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72431B90-00F5-BFF5-1312-8D9223031631}"/>
                </a:ext>
              </a:extLst>
            </p:cNvPr>
            <p:cNvSpPr txBox="1"/>
            <p:nvPr/>
          </p:nvSpPr>
          <p:spPr>
            <a:xfrm>
              <a:off x="8472200" y="817862"/>
              <a:ext cx="58783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로그아웃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F48A07C5-505A-67BC-DE1B-E68765E43F25}"/>
                </a:ext>
              </a:extLst>
            </p:cNvPr>
            <p:cNvSpPr txBox="1"/>
            <p:nvPr/>
          </p:nvSpPr>
          <p:spPr>
            <a:xfrm>
              <a:off x="7203231" y="817862"/>
              <a:ext cx="65313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나의정보</a:t>
              </a: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E3DA9FEC-E0C6-887E-6A45-13D1715A4568}"/>
              </a:ext>
            </a:extLst>
          </p:cNvPr>
          <p:cNvSpPr txBox="1"/>
          <p:nvPr/>
        </p:nvSpPr>
        <p:spPr>
          <a:xfrm>
            <a:off x="158621" y="1704392"/>
            <a:ext cx="314441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HOME &gt; </a:t>
            </a:r>
            <a:r>
              <a:rPr lang="ko-KR" altLang="en-US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시설안내 </a:t>
            </a:r>
            <a:r>
              <a:rPr lang="en-US" altLang="ko-KR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수목장</a:t>
            </a:r>
            <a:r>
              <a:rPr lang="en-US" altLang="ko-KR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자영장</a:t>
            </a:r>
            <a:r>
              <a:rPr lang="en-US" altLang="ko-KR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8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7E33AA-7B81-11A8-FBA5-134656EBC7B7}"/>
              </a:ext>
            </a:extLst>
          </p:cNvPr>
          <p:cNvSpPr txBox="1"/>
          <p:nvPr/>
        </p:nvSpPr>
        <p:spPr>
          <a:xfrm>
            <a:off x="2791996" y="1866963"/>
            <a:ext cx="368952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수목장</a:t>
            </a:r>
            <a:endParaRPr lang="en-US" altLang="ko-KR" sz="4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en-US" altLang="ko-KR" sz="4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4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자연장</a:t>
            </a:r>
            <a:r>
              <a:rPr lang="en-US" altLang="ko-KR" sz="4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E7AD301-9B54-7721-D172-182718D88AD2}"/>
              </a:ext>
            </a:extLst>
          </p:cNvPr>
          <p:cNvSpPr txBox="1"/>
          <p:nvPr/>
        </p:nvSpPr>
        <p:spPr>
          <a:xfrm>
            <a:off x="2566204" y="3308178"/>
            <a:ext cx="4341855" cy="484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900"/>
              </a:spcAft>
              <a:buNone/>
            </a:pPr>
            <a:r>
              <a:rPr lang="ko-KR" altLang="en-US" sz="900" b="1" i="0" dirty="0">
                <a:solidFill>
                  <a:srgbClr val="232425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자연과 하나 되어 영면하는 친환경 안장 공간입니다</a:t>
            </a:r>
            <a:r>
              <a:rPr lang="en-US" altLang="ko-KR" sz="900" b="1" i="0" dirty="0">
                <a:solidFill>
                  <a:srgbClr val="232425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 algn="ctr">
              <a:spcAft>
                <a:spcPts val="900"/>
              </a:spcAft>
              <a:buNone/>
            </a:pPr>
            <a:r>
              <a:rPr lang="ko-KR" altLang="en-US" sz="900" b="1" i="0" dirty="0">
                <a:solidFill>
                  <a:srgbClr val="232425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화장 후 유골을 자연 분해 용기에 담아 나무 아래 안치합니다</a:t>
            </a:r>
            <a:r>
              <a:rPr lang="en-US" altLang="ko-KR" sz="900" b="1" i="0" dirty="0">
                <a:solidFill>
                  <a:srgbClr val="232425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A6108850-2111-3A15-D4B6-F7FB66C5C88A}"/>
              </a:ext>
            </a:extLst>
          </p:cNvPr>
          <p:cNvCxnSpPr>
            <a:cxnSpLocks/>
          </p:cNvCxnSpPr>
          <p:nvPr/>
        </p:nvCxnSpPr>
        <p:spPr>
          <a:xfrm>
            <a:off x="4745625" y="4572679"/>
            <a:ext cx="4077151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0FEB8C9B-D9E1-A127-8F4B-3EA144D84335}"/>
              </a:ext>
            </a:extLst>
          </p:cNvPr>
          <p:cNvSpPr txBox="1"/>
          <p:nvPr/>
        </p:nvSpPr>
        <p:spPr>
          <a:xfrm>
            <a:off x="4784375" y="4289506"/>
            <a:ext cx="12261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건물구조</a:t>
            </a:r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BC0AF0E2-5D22-E969-BEE5-7F6961BB6FF0}"/>
              </a:ext>
            </a:extLst>
          </p:cNvPr>
          <p:cNvCxnSpPr/>
          <p:nvPr/>
        </p:nvCxnSpPr>
        <p:spPr>
          <a:xfrm>
            <a:off x="4745625" y="4923944"/>
            <a:ext cx="4077151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5159E792-49B0-EEB1-D286-9DEB6AA929BB}"/>
              </a:ext>
            </a:extLst>
          </p:cNvPr>
          <p:cNvSpPr txBox="1"/>
          <p:nvPr/>
        </p:nvSpPr>
        <p:spPr>
          <a:xfrm>
            <a:off x="4784375" y="4640771"/>
            <a:ext cx="12261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총 안치 가능 기수</a:t>
            </a:r>
          </a:p>
        </p:txBody>
      </p: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7E2A47EC-D6B5-505C-4681-94F19700CC82}"/>
              </a:ext>
            </a:extLst>
          </p:cNvPr>
          <p:cNvCxnSpPr/>
          <p:nvPr/>
        </p:nvCxnSpPr>
        <p:spPr>
          <a:xfrm>
            <a:off x="4745625" y="5296368"/>
            <a:ext cx="4077151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5B743976-E24C-D277-79D8-27E8693CC690}"/>
              </a:ext>
            </a:extLst>
          </p:cNvPr>
          <p:cNvSpPr txBox="1"/>
          <p:nvPr/>
        </p:nvSpPr>
        <p:spPr>
          <a:xfrm>
            <a:off x="4784375" y="5013195"/>
            <a:ext cx="12261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건축 자재</a:t>
            </a:r>
          </a:p>
        </p:txBody>
      </p: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AB33C705-CF2E-9788-F180-E8191F6D1C90}"/>
              </a:ext>
            </a:extLst>
          </p:cNvPr>
          <p:cNvCxnSpPr/>
          <p:nvPr/>
        </p:nvCxnSpPr>
        <p:spPr>
          <a:xfrm>
            <a:off x="4745625" y="5988102"/>
            <a:ext cx="4077151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409E3324-A3E9-2896-8CC8-FD7A6149450E}"/>
              </a:ext>
            </a:extLst>
          </p:cNvPr>
          <p:cNvSpPr txBox="1"/>
          <p:nvPr/>
        </p:nvSpPr>
        <p:spPr>
          <a:xfrm>
            <a:off x="4784375" y="5364460"/>
            <a:ext cx="12261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층별 구성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8FC1B86-A243-EFDA-B749-D447E7683295}"/>
              </a:ext>
            </a:extLst>
          </p:cNvPr>
          <p:cNvSpPr txBox="1"/>
          <p:nvPr/>
        </p:nvSpPr>
        <p:spPr>
          <a:xfrm>
            <a:off x="6731474" y="4307982"/>
            <a:ext cx="187400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지하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층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~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지상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층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D6DCB56-F533-B893-C6FD-0E0A59210AC8}"/>
              </a:ext>
            </a:extLst>
          </p:cNvPr>
          <p:cNvSpPr txBox="1"/>
          <p:nvPr/>
        </p:nvSpPr>
        <p:spPr>
          <a:xfrm>
            <a:off x="6731473" y="4659246"/>
            <a:ext cx="187400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약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OOOO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B572E31-0F90-15BC-660B-AA213DD2898C}"/>
              </a:ext>
            </a:extLst>
          </p:cNvPr>
          <p:cNvSpPr txBox="1"/>
          <p:nvPr/>
        </p:nvSpPr>
        <p:spPr>
          <a:xfrm>
            <a:off x="6731473" y="5023011"/>
            <a:ext cx="187400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최고급 인조대리석 및 화강석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37DA977-7E4C-25CC-9B18-4695931A0923}"/>
              </a:ext>
            </a:extLst>
          </p:cNvPr>
          <p:cNvSpPr txBox="1"/>
          <p:nvPr/>
        </p:nvSpPr>
        <p:spPr>
          <a:xfrm>
            <a:off x="6731473" y="5364459"/>
            <a:ext cx="220661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지하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층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가족 봉안실</a:t>
            </a: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층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일반봉안실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안내데스크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로비</a:t>
            </a: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층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프리미엄 봉안실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DB0C4DC-2B8E-A8A0-670D-508FAC103359}"/>
              </a:ext>
            </a:extLst>
          </p:cNvPr>
          <p:cNvSpPr/>
          <p:nvPr/>
        </p:nvSpPr>
        <p:spPr>
          <a:xfrm>
            <a:off x="277770" y="3910703"/>
            <a:ext cx="4341855" cy="2595592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IMAGE</a:t>
            </a:r>
            <a:endParaRPr lang="ko-KR" altLang="en-US" sz="28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582111B-5CAE-6F06-9C94-CA7D225DA0F6}"/>
              </a:ext>
            </a:extLst>
          </p:cNvPr>
          <p:cNvSpPr txBox="1"/>
          <p:nvPr/>
        </p:nvSpPr>
        <p:spPr>
          <a:xfrm>
            <a:off x="606555" y="4134529"/>
            <a:ext cx="368428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"</a:t>
            </a:r>
            <a:r>
              <a:rPr lang="ko-KR" altLang="en-US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그리울 때마다 찾아오는 당신의 숲이 되겠습니다</a:t>
            </a:r>
            <a:r>
              <a:rPr lang="en-US" altLang="ko-KR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"</a:t>
            </a:r>
            <a:r>
              <a:rPr lang="ko-KR" altLang="en-US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D9600FE-67C8-1793-BC83-344BB0701F76}"/>
              </a:ext>
            </a:extLst>
          </p:cNvPr>
          <p:cNvSpPr txBox="1"/>
          <p:nvPr/>
        </p:nvSpPr>
        <p:spPr>
          <a:xfrm rot="19349954">
            <a:off x="6486004" y="2384462"/>
            <a:ext cx="267148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하늘누리 시설안내 확인 후 수정 필요</a:t>
            </a:r>
          </a:p>
        </p:txBody>
      </p:sp>
    </p:spTree>
    <p:extLst>
      <p:ext uri="{BB962C8B-B14F-4D97-AF65-F5344CB8AC3E}">
        <p14:creationId xmlns:p14="http://schemas.microsoft.com/office/powerpoint/2010/main" val="99930966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025C23-D5B9-B4B6-1A9D-EC49499634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024F66DB-A690-3E33-F359-4492E70C65AB}"/>
              </a:ext>
            </a:extLst>
          </p:cNvPr>
          <p:cNvSpPr/>
          <p:nvPr/>
        </p:nvSpPr>
        <p:spPr>
          <a:xfrm>
            <a:off x="4619625" y="3772558"/>
            <a:ext cx="4339549" cy="2657425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823269AC-EDB5-31DC-5C3E-EA72A02B9F08}"/>
              </a:ext>
            </a:extLst>
          </p:cNvPr>
          <p:cNvGraphicFramePr>
            <a:graphicFrameLocks noGrp="1"/>
          </p:cNvGraphicFramePr>
          <p:nvPr/>
        </p:nvGraphicFramePr>
        <p:xfrm>
          <a:off x="9182101" y="947377"/>
          <a:ext cx="2795588" cy="1847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1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684046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723838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3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172599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4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290794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5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922450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6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784800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7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0538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8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199337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9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450365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06B43F4C-9837-DEBD-23D9-C90FDCABEB72}"/>
              </a:ext>
            </a:extLst>
          </p:cNvPr>
          <p:cNvSpPr/>
          <p:nvPr/>
        </p:nvSpPr>
        <p:spPr>
          <a:xfrm>
            <a:off x="959895" y="375614"/>
            <a:ext cx="1640193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</a:pP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메인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시설안내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수목장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(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자연장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)</a:t>
            </a:r>
            <a:endParaRPr kumimoji="1" lang="ko-KR" altLang="en-US" sz="800" dirty="0"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1733CEB-5B05-C059-83E5-B804D14749E7}"/>
              </a:ext>
            </a:extLst>
          </p:cNvPr>
          <p:cNvSpPr txBox="1"/>
          <p:nvPr/>
        </p:nvSpPr>
        <p:spPr>
          <a:xfrm>
            <a:off x="6003996" y="123825"/>
            <a:ext cx="17303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HN_Facil_Naburial_001</a:t>
            </a:r>
            <a:endParaRPr lang="ko-KR" altLang="en-US" sz="800" dirty="0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27F8338F-3628-CF65-4046-961E1B007B41}"/>
              </a:ext>
            </a:extLst>
          </p:cNvPr>
          <p:cNvSpPr/>
          <p:nvPr/>
        </p:nvSpPr>
        <p:spPr>
          <a:xfrm>
            <a:off x="4925527" y="3772558"/>
            <a:ext cx="3887239" cy="2441643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ko-KR" altLang="en-US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규격</a:t>
            </a:r>
            <a:r>
              <a:rPr lang="en-US" altLang="ko-KR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30㎡</a:t>
            </a:r>
            <a:r>
              <a:rPr lang="ko-KR" altLang="en-US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이하</a:t>
            </a:r>
            <a:endParaRPr lang="en-US" altLang="ko-KR" sz="1100" b="1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안치 </a:t>
            </a:r>
            <a:r>
              <a:rPr lang="en-US" altLang="ko-KR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1</a:t>
            </a:r>
            <a:r>
              <a:rPr lang="ko-KR" altLang="en-US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위</a:t>
            </a:r>
          </a:p>
          <a:p>
            <a:pPr>
              <a:lnSpc>
                <a:spcPct val="150000"/>
              </a:lnSpc>
            </a:pPr>
            <a:r>
              <a:rPr lang="ko-KR" altLang="en-US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수종</a:t>
            </a:r>
            <a:r>
              <a:rPr lang="en-US" altLang="ko-KR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소나무</a:t>
            </a:r>
            <a:r>
              <a:rPr lang="en-US" altLang="ko-KR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느티나무</a:t>
            </a:r>
            <a:r>
              <a:rPr lang="en-US" altLang="ko-KR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100" b="1" dirty="0" err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단품나무</a:t>
            </a:r>
            <a:endParaRPr lang="en-US" altLang="ko-KR" sz="1100" b="1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특징</a:t>
            </a:r>
            <a:r>
              <a:rPr lang="en-US" altLang="ko-KR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1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개별 표석 </a:t>
            </a:r>
            <a:r>
              <a:rPr lang="en-US" altLang="ko-KR" sz="11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1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화강석</a:t>
            </a:r>
            <a:r>
              <a:rPr lang="en-US" altLang="ko-KR" sz="11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20cm × 30cm)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1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수목 번호패 부착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1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개인 추모 공간</a:t>
            </a:r>
            <a:endParaRPr lang="en-US" altLang="ko-KR" sz="11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가격</a:t>
            </a:r>
            <a:r>
              <a:rPr lang="en-US" altLang="ko-KR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300</a:t>
            </a:r>
            <a:r>
              <a:rPr lang="ko-KR" altLang="en-US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만원 </a:t>
            </a:r>
            <a:r>
              <a:rPr lang="en-US" altLang="ko-KR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~ 500</a:t>
            </a:r>
            <a:r>
              <a:rPr lang="ko-KR" altLang="en-US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만원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275551B-0543-6D68-C3AB-98E8D8922E31}"/>
              </a:ext>
            </a:extLst>
          </p:cNvPr>
          <p:cNvSpPr/>
          <p:nvPr/>
        </p:nvSpPr>
        <p:spPr>
          <a:xfrm>
            <a:off x="112399" y="718716"/>
            <a:ext cx="8934324" cy="2926184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IMAGE</a:t>
            </a:r>
            <a:endParaRPr lang="ko-KR" altLang="en-US" sz="28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0BF9BD-E24E-3678-F747-23C325E5F1B1}"/>
              </a:ext>
            </a:extLst>
          </p:cNvPr>
          <p:cNvSpPr txBox="1"/>
          <p:nvPr/>
        </p:nvSpPr>
        <p:spPr>
          <a:xfrm>
            <a:off x="554477" y="4793324"/>
            <a:ext cx="36673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개인 수목장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07C29C-56B2-0B6A-9F5C-8D13DAB1B72D}"/>
              </a:ext>
            </a:extLst>
          </p:cNvPr>
          <p:cNvSpPr txBox="1"/>
          <p:nvPr/>
        </p:nvSpPr>
        <p:spPr>
          <a:xfrm>
            <a:off x="2792448" y="947377"/>
            <a:ext cx="37743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“</a:t>
            </a:r>
            <a:r>
              <a:rPr lang="ko-KR" altLang="en-US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이곳의 시간은 고귀한 기억으로 흐릅니다</a:t>
            </a:r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.”</a:t>
            </a:r>
            <a:endParaRPr lang="ko-KR" altLang="en-US" sz="14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5160692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A9E50-09C4-0EC3-6C10-871361179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09710568-555A-944A-96D7-BA3C1332F5E4}"/>
              </a:ext>
            </a:extLst>
          </p:cNvPr>
          <p:cNvSpPr/>
          <p:nvPr/>
        </p:nvSpPr>
        <p:spPr>
          <a:xfrm>
            <a:off x="4619625" y="3772558"/>
            <a:ext cx="4339549" cy="2657425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2AEAA766-001C-C688-817B-F43C862FF3EF}"/>
              </a:ext>
            </a:extLst>
          </p:cNvPr>
          <p:cNvGraphicFramePr>
            <a:graphicFrameLocks noGrp="1"/>
          </p:cNvGraphicFramePr>
          <p:nvPr/>
        </p:nvGraphicFramePr>
        <p:xfrm>
          <a:off x="9182101" y="947377"/>
          <a:ext cx="2795588" cy="1847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1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684046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723838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3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172599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4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290794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5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922450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6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784800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7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0538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8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199337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9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450365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12C46E9B-2429-09FF-7A2F-3EC1ED1C7CC1}"/>
              </a:ext>
            </a:extLst>
          </p:cNvPr>
          <p:cNvSpPr/>
          <p:nvPr/>
        </p:nvSpPr>
        <p:spPr>
          <a:xfrm>
            <a:off x="959895" y="375614"/>
            <a:ext cx="1640193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</a:pP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메인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시설안내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수목장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(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자연장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)</a:t>
            </a:r>
            <a:endParaRPr kumimoji="1" lang="ko-KR" altLang="en-US" sz="800" dirty="0"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07CDCEC-8046-60BD-0201-CC4DFAF8E22B}"/>
              </a:ext>
            </a:extLst>
          </p:cNvPr>
          <p:cNvSpPr txBox="1"/>
          <p:nvPr/>
        </p:nvSpPr>
        <p:spPr>
          <a:xfrm>
            <a:off x="6003996" y="123825"/>
            <a:ext cx="17303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HN_Facil_Naburial_001</a:t>
            </a:r>
            <a:endParaRPr lang="ko-KR" altLang="en-US" sz="800" dirty="0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4F343B8C-E902-FF42-29AC-8DD041E6B53B}"/>
              </a:ext>
            </a:extLst>
          </p:cNvPr>
          <p:cNvSpPr/>
          <p:nvPr/>
        </p:nvSpPr>
        <p:spPr>
          <a:xfrm>
            <a:off x="4925527" y="3772558"/>
            <a:ext cx="3887239" cy="2441643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ko-KR" altLang="en-US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규격</a:t>
            </a:r>
            <a:r>
              <a:rPr lang="en-US" altLang="ko-KR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100㎡</a:t>
            </a:r>
            <a:r>
              <a:rPr lang="ko-KR" altLang="en-US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이하</a:t>
            </a:r>
            <a:endParaRPr lang="en-US" altLang="ko-KR" sz="1100" b="1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안치 </a:t>
            </a:r>
            <a:r>
              <a:rPr lang="en-US" altLang="ko-KR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2~4</a:t>
            </a:r>
            <a:r>
              <a:rPr lang="ko-KR" altLang="en-US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위</a:t>
            </a:r>
          </a:p>
          <a:p>
            <a:pPr>
              <a:lnSpc>
                <a:spcPct val="150000"/>
              </a:lnSpc>
            </a:pPr>
            <a:r>
              <a:rPr lang="ko-KR" altLang="en-US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수종</a:t>
            </a:r>
            <a:r>
              <a:rPr lang="en-US" altLang="ko-KR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소나무</a:t>
            </a:r>
            <a:r>
              <a:rPr lang="en-US" altLang="ko-KR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느티나무</a:t>
            </a:r>
            <a:r>
              <a:rPr lang="en-US" altLang="ko-KR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100" b="1" dirty="0" err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단품나무</a:t>
            </a:r>
            <a:r>
              <a:rPr lang="ko-KR" altLang="en-US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등 </a:t>
            </a:r>
            <a:r>
              <a:rPr lang="ko-KR" altLang="en-US" sz="1100" b="1" dirty="0" err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대형수목</a:t>
            </a:r>
            <a:endParaRPr lang="en-US" altLang="ko-KR" sz="1100" b="1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특징</a:t>
            </a:r>
            <a:r>
              <a:rPr lang="en-US" altLang="ko-KR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1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가족 통합 표석 </a:t>
            </a:r>
            <a:r>
              <a:rPr lang="en-US" altLang="ko-KR" sz="11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1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화강석</a:t>
            </a:r>
            <a:r>
              <a:rPr lang="en-US" altLang="ko-KR" sz="11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40cm × 60cm)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100" dirty="0" err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가족명</a:t>
            </a:r>
            <a:r>
              <a:rPr lang="ko-KR" altLang="en-US" sz="11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새김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100" dirty="0" err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조경석</a:t>
            </a:r>
            <a:r>
              <a:rPr lang="ko-KR" altLang="en-US" sz="11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및 벤치 설치 가능</a:t>
            </a:r>
            <a:endParaRPr lang="en-US" altLang="ko-KR" sz="11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가격</a:t>
            </a:r>
            <a:r>
              <a:rPr lang="en-US" altLang="ko-KR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600</a:t>
            </a:r>
            <a:r>
              <a:rPr lang="ko-KR" altLang="en-US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만원 </a:t>
            </a:r>
            <a:r>
              <a:rPr lang="en-US" altLang="ko-KR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~ 1200</a:t>
            </a:r>
            <a:r>
              <a:rPr lang="ko-KR" altLang="en-US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만원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4B61D57-46E2-1C21-E294-7B867EB6A55D}"/>
              </a:ext>
            </a:extLst>
          </p:cNvPr>
          <p:cNvSpPr/>
          <p:nvPr/>
        </p:nvSpPr>
        <p:spPr>
          <a:xfrm>
            <a:off x="112399" y="718716"/>
            <a:ext cx="8934324" cy="2926184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IMAGE</a:t>
            </a:r>
            <a:endParaRPr lang="ko-KR" altLang="en-US" sz="28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24A8C4-32D1-3D0C-5523-B87AF94C2C35}"/>
              </a:ext>
            </a:extLst>
          </p:cNvPr>
          <p:cNvSpPr txBox="1"/>
          <p:nvPr/>
        </p:nvSpPr>
        <p:spPr>
          <a:xfrm>
            <a:off x="632297" y="4993379"/>
            <a:ext cx="36673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부부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가족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수목장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710040E-EA7B-0A7B-E135-903636B3EC46}"/>
              </a:ext>
            </a:extLst>
          </p:cNvPr>
          <p:cNvSpPr txBox="1"/>
          <p:nvPr/>
        </p:nvSpPr>
        <p:spPr>
          <a:xfrm>
            <a:off x="2792448" y="947377"/>
            <a:ext cx="37743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“</a:t>
            </a:r>
            <a:r>
              <a:rPr lang="ko-KR" altLang="en-US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하늘 아래 뿌리 내린 고결한 기억</a:t>
            </a:r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세월이 흐를수록 깊어집니다</a:t>
            </a:r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.”</a:t>
            </a:r>
            <a:endParaRPr lang="ko-KR" altLang="en-US" sz="14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534176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CD100C-2FE5-C498-62F2-177C3AAF92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6EA5B87E-C1E5-DD32-9DB6-BB86466A8B49}"/>
              </a:ext>
            </a:extLst>
          </p:cNvPr>
          <p:cNvSpPr/>
          <p:nvPr/>
        </p:nvSpPr>
        <p:spPr>
          <a:xfrm>
            <a:off x="4619625" y="3772558"/>
            <a:ext cx="4339549" cy="2657425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A6B8E628-BE9C-5FC0-63C3-070E208CAEC8}"/>
              </a:ext>
            </a:extLst>
          </p:cNvPr>
          <p:cNvGraphicFramePr>
            <a:graphicFrameLocks noGrp="1"/>
          </p:cNvGraphicFramePr>
          <p:nvPr/>
        </p:nvGraphicFramePr>
        <p:xfrm>
          <a:off x="9182101" y="947377"/>
          <a:ext cx="2795588" cy="1847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1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684046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723838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3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172599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4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290794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5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922450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6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784800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7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0538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8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199337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9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450365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9A015ADE-6C08-A9EB-2D8D-C943B8E234C8}"/>
              </a:ext>
            </a:extLst>
          </p:cNvPr>
          <p:cNvSpPr/>
          <p:nvPr/>
        </p:nvSpPr>
        <p:spPr>
          <a:xfrm>
            <a:off x="959895" y="375614"/>
            <a:ext cx="1640193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</a:pP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메인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시설안내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수목장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(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자연장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)</a:t>
            </a:r>
            <a:endParaRPr kumimoji="1" lang="ko-KR" altLang="en-US" sz="800" dirty="0"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A20CC85-B769-CE7D-AEB9-819BC708311C}"/>
              </a:ext>
            </a:extLst>
          </p:cNvPr>
          <p:cNvSpPr txBox="1"/>
          <p:nvPr/>
        </p:nvSpPr>
        <p:spPr>
          <a:xfrm>
            <a:off x="6003996" y="123825"/>
            <a:ext cx="17303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HN_Facil_Naburial_001</a:t>
            </a:r>
            <a:endParaRPr lang="ko-KR" altLang="en-US" sz="800" dirty="0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887A2CD2-6DA0-A5A1-E931-B498AA9A72FE}"/>
              </a:ext>
            </a:extLst>
          </p:cNvPr>
          <p:cNvSpPr/>
          <p:nvPr/>
        </p:nvSpPr>
        <p:spPr>
          <a:xfrm>
            <a:off x="4925527" y="3772558"/>
            <a:ext cx="3887239" cy="2441643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ko-KR" altLang="en-US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특징</a:t>
            </a:r>
            <a:r>
              <a:rPr lang="en-US" altLang="ko-KR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1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여러 위를 한 그루 나무 아래 안치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1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경제적 선택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1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공동 추모비에 이름 새김</a:t>
            </a:r>
            <a:endParaRPr lang="en-US" altLang="ko-KR" sz="11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가격</a:t>
            </a:r>
            <a:r>
              <a:rPr lang="en-US" altLang="ko-KR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150</a:t>
            </a:r>
            <a:r>
              <a:rPr lang="ko-KR" altLang="en-US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만원 </a:t>
            </a:r>
            <a:r>
              <a:rPr lang="en-US" altLang="ko-KR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~ 250</a:t>
            </a:r>
            <a:r>
              <a:rPr lang="ko-KR" altLang="en-US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만원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74404DE-8288-20FA-A218-4EC2F73E4303}"/>
              </a:ext>
            </a:extLst>
          </p:cNvPr>
          <p:cNvSpPr/>
          <p:nvPr/>
        </p:nvSpPr>
        <p:spPr>
          <a:xfrm>
            <a:off x="112399" y="718716"/>
            <a:ext cx="8934324" cy="2926184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IMAGE</a:t>
            </a:r>
            <a:endParaRPr lang="ko-KR" altLang="en-US" sz="28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D11A85A-29D4-97AC-AD47-0FC86F1764A9}"/>
              </a:ext>
            </a:extLst>
          </p:cNvPr>
          <p:cNvSpPr txBox="1"/>
          <p:nvPr/>
        </p:nvSpPr>
        <p:spPr>
          <a:xfrm>
            <a:off x="642025" y="4901215"/>
            <a:ext cx="36673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공동 수목장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BD4855C-49DE-6256-AB69-39B8D3B5DCBB}"/>
              </a:ext>
            </a:extLst>
          </p:cNvPr>
          <p:cNvSpPr txBox="1"/>
          <p:nvPr/>
        </p:nvSpPr>
        <p:spPr>
          <a:xfrm>
            <a:off x="2792448" y="947377"/>
            <a:ext cx="37743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“</a:t>
            </a:r>
            <a:r>
              <a:rPr lang="ko-KR" altLang="en-US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자연이 빚은 마지막 명당</a:t>
            </a:r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하늘누리 수목장</a:t>
            </a:r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”</a:t>
            </a:r>
            <a:endParaRPr lang="ko-KR" altLang="en-US" sz="14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2405555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463147-0FDB-7570-9D68-609D2F54C2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119F50FF-64BA-22FA-1B80-8A791886ED24}"/>
              </a:ext>
            </a:extLst>
          </p:cNvPr>
          <p:cNvGraphicFramePr>
            <a:graphicFrameLocks noGrp="1"/>
          </p:cNvGraphicFramePr>
          <p:nvPr/>
        </p:nvGraphicFramePr>
        <p:xfrm>
          <a:off x="9182101" y="947377"/>
          <a:ext cx="2795588" cy="1847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1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684046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723838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3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172599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4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290794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5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922450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6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784800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7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0538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8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199337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9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450365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DFF60ADC-8939-C571-DDF7-E309C121D9FA}"/>
              </a:ext>
            </a:extLst>
          </p:cNvPr>
          <p:cNvSpPr/>
          <p:nvPr/>
        </p:nvSpPr>
        <p:spPr>
          <a:xfrm>
            <a:off x="959895" y="375614"/>
            <a:ext cx="1640193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</a:pP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메인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시설안내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수목장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(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자연장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)</a:t>
            </a:r>
            <a:endParaRPr kumimoji="1" lang="ko-KR" altLang="en-US" sz="800" dirty="0"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B329FCB-B1D5-2396-A6CE-DBF14F31B744}"/>
              </a:ext>
            </a:extLst>
          </p:cNvPr>
          <p:cNvSpPr txBox="1"/>
          <p:nvPr/>
        </p:nvSpPr>
        <p:spPr>
          <a:xfrm>
            <a:off x="6003996" y="123825"/>
            <a:ext cx="17303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HN_Facil_Naburial_001</a:t>
            </a:r>
            <a:endParaRPr lang="ko-KR" altLang="en-US" sz="800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A9236C8-761F-2635-95AE-031616DBA199}"/>
              </a:ext>
            </a:extLst>
          </p:cNvPr>
          <p:cNvSpPr/>
          <p:nvPr/>
        </p:nvSpPr>
        <p:spPr>
          <a:xfrm>
            <a:off x="112399" y="718716"/>
            <a:ext cx="8934324" cy="2710284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IMAGE</a:t>
            </a:r>
            <a:endParaRPr lang="ko-KR" altLang="en-US" sz="28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6510D8-FD0B-99F9-E28B-2EB33DFBBD5C}"/>
              </a:ext>
            </a:extLst>
          </p:cNvPr>
          <p:cNvSpPr txBox="1"/>
          <p:nvPr/>
        </p:nvSpPr>
        <p:spPr>
          <a:xfrm>
            <a:off x="-234812" y="4170160"/>
            <a:ext cx="36673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수목장 관리서비스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C720D82-F855-45F6-C7D1-4DE05CA6264E}"/>
              </a:ext>
            </a:extLst>
          </p:cNvPr>
          <p:cNvSpPr txBox="1"/>
          <p:nvPr/>
        </p:nvSpPr>
        <p:spPr>
          <a:xfrm>
            <a:off x="2792448" y="947377"/>
            <a:ext cx="37743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“</a:t>
            </a:r>
            <a:r>
              <a:rPr lang="ko-KR" altLang="en-US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조경 전문가의 손길로 사계절 내내 푸른 기억을 약속합니다</a:t>
            </a:r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.”</a:t>
            </a:r>
            <a:endParaRPr lang="ko-KR" altLang="en-US" sz="14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FD64888-D036-D8BF-FB0B-9FFE793791D1}"/>
              </a:ext>
            </a:extLst>
          </p:cNvPr>
          <p:cNvSpPr/>
          <p:nvPr/>
        </p:nvSpPr>
        <p:spPr>
          <a:xfrm>
            <a:off x="3179423" y="3661656"/>
            <a:ext cx="1771447" cy="400109"/>
          </a:xfrm>
          <a:prstGeom prst="rect">
            <a:avLst/>
          </a:prstGeom>
          <a:solidFill>
            <a:schemeClr val="tx1"/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정기관리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F123314-6995-F0C6-17FB-C4EBB53832A3}"/>
              </a:ext>
            </a:extLst>
          </p:cNvPr>
          <p:cNvSpPr/>
          <p:nvPr/>
        </p:nvSpPr>
        <p:spPr>
          <a:xfrm>
            <a:off x="3179425" y="4061765"/>
            <a:ext cx="1771446" cy="1289577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분기별 제초 및 조경 관리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수목 병충해 방제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계절별 꽃 식재</a:t>
            </a:r>
            <a:endParaRPr lang="en-US" altLang="ko-KR" sz="1000" b="1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F5EB2A7-1960-1BD8-1AD1-08F5F56A1899}"/>
              </a:ext>
            </a:extLst>
          </p:cNvPr>
          <p:cNvSpPr/>
          <p:nvPr/>
        </p:nvSpPr>
        <p:spPr>
          <a:xfrm>
            <a:off x="5056862" y="3661656"/>
            <a:ext cx="1771447" cy="400109"/>
          </a:xfrm>
          <a:prstGeom prst="rect">
            <a:avLst/>
          </a:prstGeom>
          <a:solidFill>
            <a:schemeClr val="tx1"/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명절 특별관리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E4864AE-5DF8-3AD4-FA8B-A5851F85AB16}"/>
              </a:ext>
            </a:extLst>
          </p:cNvPr>
          <p:cNvSpPr/>
          <p:nvPr/>
        </p:nvSpPr>
        <p:spPr>
          <a:xfrm>
            <a:off x="5056864" y="4061765"/>
            <a:ext cx="1771446" cy="1289577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설날</a:t>
            </a:r>
            <a:r>
              <a:rPr lang="en-US" altLang="ko-KR" sz="1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추석 전 집중 정비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표석 청소 및 주변 정리</a:t>
            </a:r>
            <a:endParaRPr lang="en-US" altLang="ko-KR" sz="1000" b="1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FC4A112-BC67-49F3-2D6B-E57D6638DB6F}"/>
              </a:ext>
            </a:extLst>
          </p:cNvPr>
          <p:cNvSpPr/>
          <p:nvPr/>
        </p:nvSpPr>
        <p:spPr>
          <a:xfrm>
            <a:off x="6934300" y="3661656"/>
            <a:ext cx="1771447" cy="400109"/>
          </a:xfrm>
          <a:prstGeom prst="rect">
            <a:avLst/>
          </a:prstGeom>
          <a:solidFill>
            <a:schemeClr val="tx1"/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영구 보장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64E795CB-4ED6-5D9B-6254-34A741176FAC}"/>
              </a:ext>
            </a:extLst>
          </p:cNvPr>
          <p:cNvSpPr/>
          <p:nvPr/>
        </p:nvSpPr>
        <p:spPr>
          <a:xfrm>
            <a:off x="6934302" y="4061765"/>
            <a:ext cx="1771446" cy="1289577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재단법인 운영으로 영구 관리 보장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관리비 별도 없음 </a:t>
            </a:r>
            <a:r>
              <a:rPr lang="en-US" altLang="ko-KR" sz="1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최초 </a:t>
            </a:r>
            <a:r>
              <a:rPr lang="en-US" altLang="ko-KR" sz="1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1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회 납부 시 포함</a:t>
            </a:r>
            <a:r>
              <a:rPr lang="en-US" altLang="ko-KR" sz="1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96F3CEF-AA0C-9C15-6838-8A425CE974D5}"/>
              </a:ext>
            </a:extLst>
          </p:cNvPr>
          <p:cNvSpPr/>
          <p:nvPr/>
        </p:nvSpPr>
        <p:spPr>
          <a:xfrm>
            <a:off x="155201" y="5478886"/>
            <a:ext cx="8928847" cy="34095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FOOTER</a:t>
            </a:r>
            <a:endParaRPr lang="ko-KR" altLang="en-US" sz="10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6241722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AEEFBE-D906-96C2-70C2-6C3AA9E046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5AB63A2F-2A2D-7C91-F4A1-00D51DD3A74A}"/>
              </a:ext>
            </a:extLst>
          </p:cNvPr>
          <p:cNvGraphicFramePr>
            <a:graphicFrameLocks noGrp="1"/>
          </p:cNvGraphicFramePr>
          <p:nvPr/>
        </p:nvGraphicFramePr>
        <p:xfrm>
          <a:off x="9182101" y="947377"/>
          <a:ext cx="2795588" cy="1847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1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684046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723838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3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172599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4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290794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5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922450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6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784800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7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0538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8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199337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9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450365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E91D91F1-732B-3DDD-9386-22BE847E7392}"/>
              </a:ext>
            </a:extLst>
          </p:cNvPr>
          <p:cNvSpPr/>
          <p:nvPr/>
        </p:nvSpPr>
        <p:spPr>
          <a:xfrm>
            <a:off x="959895" y="375614"/>
            <a:ext cx="1374094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</a:pP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메인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시설안내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부대시설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A7253B3-3C57-4657-9F96-20C4E6074931}"/>
              </a:ext>
            </a:extLst>
          </p:cNvPr>
          <p:cNvSpPr txBox="1"/>
          <p:nvPr/>
        </p:nvSpPr>
        <p:spPr>
          <a:xfrm>
            <a:off x="6003996" y="123825"/>
            <a:ext cx="17303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HN_Facil_Aditinal_001</a:t>
            </a:r>
            <a:endParaRPr lang="ko-KR" altLang="en-US" sz="800" dirty="0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FE7CA4DF-ABA2-A166-DA50-CCF4CDA36DDE}"/>
              </a:ext>
            </a:extLst>
          </p:cNvPr>
          <p:cNvGrpSpPr/>
          <p:nvPr/>
        </p:nvGrpSpPr>
        <p:grpSpPr>
          <a:xfrm>
            <a:off x="161925" y="797629"/>
            <a:ext cx="8953500" cy="851943"/>
            <a:chOff x="161925" y="797629"/>
            <a:chExt cx="8953500" cy="851943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72CBDAE0-9B9E-7CDC-E8C9-301D551D3BF8}"/>
                </a:ext>
              </a:extLst>
            </p:cNvPr>
            <p:cNvSpPr/>
            <p:nvPr/>
          </p:nvSpPr>
          <p:spPr>
            <a:xfrm>
              <a:off x="4144448" y="797629"/>
              <a:ext cx="942784" cy="35821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800" b="1" dirty="0">
                  <a:solidFill>
                    <a:srgbClr val="FF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CI</a:t>
              </a:r>
            </a:p>
          </p:txBody>
        </p: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94614476-EB9B-B13A-934A-0302CFA825D6}"/>
                </a:ext>
              </a:extLst>
            </p:cNvPr>
            <p:cNvCxnSpPr/>
            <p:nvPr/>
          </p:nvCxnSpPr>
          <p:spPr>
            <a:xfrm>
              <a:off x="161925" y="1649572"/>
              <a:ext cx="8953500" cy="0"/>
            </a:xfrm>
            <a:prstGeom prst="line">
              <a:avLst/>
            </a:prstGeom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F429EF1-B91B-596D-E675-96AFD0A33EB6}"/>
                </a:ext>
              </a:extLst>
            </p:cNvPr>
            <p:cNvSpPr txBox="1"/>
            <p:nvPr/>
          </p:nvSpPr>
          <p:spPr>
            <a:xfrm>
              <a:off x="2031551" y="1301804"/>
              <a:ext cx="120364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하늘누리소개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E86A0C58-5E43-0C66-0642-6F170E9DF5EC}"/>
                </a:ext>
              </a:extLst>
            </p:cNvPr>
            <p:cNvSpPr txBox="1"/>
            <p:nvPr/>
          </p:nvSpPr>
          <p:spPr>
            <a:xfrm>
              <a:off x="3239720" y="1301804"/>
              <a:ext cx="9144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시설안내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BBC80909-F5DF-D74C-F3AE-920230744549}"/>
                </a:ext>
              </a:extLst>
            </p:cNvPr>
            <p:cNvSpPr txBox="1"/>
            <p:nvPr/>
          </p:nvSpPr>
          <p:spPr>
            <a:xfrm>
              <a:off x="4158640" y="1301804"/>
              <a:ext cx="9144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분양안내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923BDD0D-43C4-6344-7194-6C64E90F903C}"/>
                </a:ext>
              </a:extLst>
            </p:cNvPr>
            <p:cNvSpPr txBox="1"/>
            <p:nvPr/>
          </p:nvSpPr>
          <p:spPr>
            <a:xfrm>
              <a:off x="5077560" y="1301804"/>
              <a:ext cx="119120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사이버추모관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D820DA6C-4B6E-01E2-86AF-DA1CFEA7CF1E}"/>
                </a:ext>
              </a:extLst>
            </p:cNvPr>
            <p:cNvSpPr txBox="1"/>
            <p:nvPr/>
          </p:nvSpPr>
          <p:spPr>
            <a:xfrm>
              <a:off x="6273289" y="1301804"/>
              <a:ext cx="9144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고객센터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45FF968-9DE9-C4FE-9FF0-AA61AC4879E2}"/>
                </a:ext>
              </a:extLst>
            </p:cNvPr>
            <p:cNvSpPr txBox="1"/>
            <p:nvPr/>
          </p:nvSpPr>
          <p:spPr>
            <a:xfrm>
              <a:off x="7734300" y="817862"/>
              <a:ext cx="79388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b="1">
                  <a:latin typeface="나눔고딕" panose="020D0604000000000000" pitchFamily="50" charset="-127"/>
                  <a:ea typeface="나눔고딕" panose="020D0604000000000000" pitchFamily="50" charset="-127"/>
                </a:rPr>
                <a:t>비밀번호변경</a:t>
              </a:r>
              <a:endParaRPr lang="ko-KR" altLang="en-US" sz="8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48B652F5-9B07-26C6-E8C3-5CC1D4B860C1}"/>
                </a:ext>
              </a:extLst>
            </p:cNvPr>
            <p:cNvSpPr txBox="1"/>
            <p:nvPr/>
          </p:nvSpPr>
          <p:spPr>
            <a:xfrm>
              <a:off x="8472200" y="817862"/>
              <a:ext cx="58783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로그아웃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15563326-519E-8C07-767E-DBEE627F5CBD}"/>
                </a:ext>
              </a:extLst>
            </p:cNvPr>
            <p:cNvSpPr txBox="1"/>
            <p:nvPr/>
          </p:nvSpPr>
          <p:spPr>
            <a:xfrm>
              <a:off x="7203231" y="817862"/>
              <a:ext cx="65313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나의정보</a:t>
              </a: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7235BFEE-3AB3-986D-37A4-8DC9BE2E8E11}"/>
              </a:ext>
            </a:extLst>
          </p:cNvPr>
          <p:cNvSpPr txBox="1"/>
          <p:nvPr/>
        </p:nvSpPr>
        <p:spPr>
          <a:xfrm>
            <a:off x="158621" y="1704392"/>
            <a:ext cx="314441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HOME &gt; </a:t>
            </a:r>
            <a:r>
              <a:rPr lang="ko-KR" altLang="en-US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시설안내 </a:t>
            </a:r>
            <a:r>
              <a:rPr lang="en-US" altLang="ko-KR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수목장</a:t>
            </a:r>
            <a:r>
              <a:rPr lang="en-US" altLang="ko-KR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자영장</a:t>
            </a:r>
            <a:r>
              <a:rPr lang="en-US" altLang="ko-KR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8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C583FA5-F8B6-5864-2191-C1F4ED660E21}"/>
              </a:ext>
            </a:extLst>
          </p:cNvPr>
          <p:cNvSpPr txBox="1"/>
          <p:nvPr/>
        </p:nvSpPr>
        <p:spPr>
          <a:xfrm>
            <a:off x="2791996" y="1866963"/>
            <a:ext cx="36895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부대시설</a:t>
            </a:r>
            <a:endParaRPr lang="en-US" altLang="ko-KR" sz="4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8AD1E2B-B018-8A93-B100-A8DBE2A5B303}"/>
              </a:ext>
            </a:extLst>
          </p:cNvPr>
          <p:cNvSpPr txBox="1"/>
          <p:nvPr/>
        </p:nvSpPr>
        <p:spPr>
          <a:xfrm>
            <a:off x="2442345" y="2668095"/>
            <a:ext cx="4341855" cy="484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900"/>
              </a:spcAft>
              <a:buNone/>
            </a:pPr>
            <a:r>
              <a:rPr lang="ko-KR" altLang="en-US" sz="900" b="1" i="0" dirty="0">
                <a:solidFill>
                  <a:srgbClr val="232425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자연과 하나 되어 영면하는 친환경 안장 공간입니다</a:t>
            </a:r>
            <a:r>
              <a:rPr lang="en-US" altLang="ko-KR" sz="900" b="1" i="0" dirty="0">
                <a:solidFill>
                  <a:srgbClr val="232425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 algn="ctr">
              <a:spcAft>
                <a:spcPts val="900"/>
              </a:spcAft>
              <a:buNone/>
            </a:pPr>
            <a:r>
              <a:rPr lang="ko-KR" altLang="en-US" sz="900" b="1" i="0" dirty="0">
                <a:solidFill>
                  <a:srgbClr val="232425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화장 후 유골을 자연 분해 용기에 담아 나무 아래 안치합니다</a:t>
            </a:r>
            <a:r>
              <a:rPr lang="en-US" altLang="ko-KR" sz="900" b="1" i="0" dirty="0">
                <a:solidFill>
                  <a:srgbClr val="232425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AE57E7D-A3BA-B053-7A81-A3F1D15B3A78}"/>
              </a:ext>
            </a:extLst>
          </p:cNvPr>
          <p:cNvSpPr/>
          <p:nvPr/>
        </p:nvSpPr>
        <p:spPr>
          <a:xfrm>
            <a:off x="247777" y="3411018"/>
            <a:ext cx="4341855" cy="3071367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IMAGE</a:t>
            </a:r>
            <a:endParaRPr lang="ko-KR" altLang="en-US" sz="28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06434E2-CC5A-F2DB-8BC4-C8784F88FE0A}"/>
              </a:ext>
            </a:extLst>
          </p:cNvPr>
          <p:cNvSpPr txBox="1"/>
          <p:nvPr/>
        </p:nvSpPr>
        <p:spPr>
          <a:xfrm>
            <a:off x="4898416" y="3799689"/>
            <a:ext cx="32782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>
                <a:latin typeface="나눔고딕" panose="020D0604000000000000" pitchFamily="50" charset="-127"/>
                <a:ea typeface="나눔고딕" panose="020D0604000000000000" pitchFamily="50" charset="-127"/>
              </a:rPr>
              <a:t>주차시설</a:t>
            </a:r>
          </a:p>
        </p:txBody>
      </p:sp>
      <p:graphicFrame>
        <p:nvGraphicFramePr>
          <p:cNvPr id="34" name="표 33">
            <a:extLst>
              <a:ext uri="{FF2B5EF4-FFF2-40B4-BE49-F238E27FC236}">
                <a16:creationId xmlns:a16="http://schemas.microsoft.com/office/drawing/2014/main" id="{FC08FDEB-CEB2-DF23-66DE-46FE707A00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3935015"/>
              </p:ext>
            </p:extLst>
          </p:nvPr>
        </p:nvGraphicFramePr>
        <p:xfrm>
          <a:off x="4898416" y="4184999"/>
          <a:ext cx="4015362" cy="21033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173641">
                  <a:extLst>
                    <a:ext uri="{9D8B030D-6E8A-4147-A177-3AD203B41FA5}">
                      <a16:colId xmlns:a16="http://schemas.microsoft.com/office/drawing/2014/main" val="1553538150"/>
                    </a:ext>
                  </a:extLst>
                </a:gridCol>
                <a:gridCol w="1452164">
                  <a:extLst>
                    <a:ext uri="{9D8B030D-6E8A-4147-A177-3AD203B41FA5}">
                      <a16:colId xmlns:a16="http://schemas.microsoft.com/office/drawing/2014/main" val="1005073696"/>
                    </a:ext>
                  </a:extLst>
                </a:gridCol>
                <a:gridCol w="1389557">
                  <a:extLst>
                    <a:ext uri="{9D8B030D-6E8A-4147-A177-3AD203B41FA5}">
                      <a16:colId xmlns:a16="http://schemas.microsoft.com/office/drawing/2014/main" val="3197437344"/>
                    </a:ext>
                  </a:extLst>
                </a:gridCol>
              </a:tblGrid>
              <a:tr h="42067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지상 주차장</a:t>
                      </a:r>
                      <a:endParaRPr lang="en-US" altLang="ko-KR" sz="10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300</a:t>
                      </a:r>
                      <a:r>
                        <a:rPr lang="ko-KR" altLang="en-US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대</a:t>
                      </a:r>
                      <a:endParaRPr lang="en-US" altLang="ko-KR" sz="10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일반 차량</a:t>
                      </a:r>
                      <a:endParaRPr lang="en-US" altLang="ko-KR" sz="10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0268165"/>
                  </a:ext>
                </a:extLst>
              </a:tr>
              <a:tr h="42067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지하 주차장</a:t>
                      </a:r>
                      <a:endParaRPr lang="en-US" altLang="ko-KR" sz="10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200</a:t>
                      </a:r>
                      <a:r>
                        <a:rPr lang="ko-KR" altLang="en-US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대</a:t>
                      </a:r>
                      <a:endParaRPr lang="en-US" altLang="ko-KR" sz="10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봉안당 직접 연결</a:t>
                      </a:r>
                      <a:endParaRPr lang="en-US" altLang="ko-KR" sz="10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1090331"/>
                  </a:ext>
                </a:extLst>
              </a:tr>
              <a:tr h="42067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장애인 전용</a:t>
                      </a:r>
                      <a:endParaRPr lang="en-US" altLang="ko-KR" sz="10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</a:t>
                      </a:r>
                      <a:r>
                        <a:rPr lang="ko-KR" altLang="en-US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대</a:t>
                      </a:r>
                      <a:endParaRPr lang="en-US" altLang="ko-KR" sz="10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출입구 인접 배치</a:t>
                      </a:r>
                      <a:endParaRPr lang="en-US" altLang="ko-KR" sz="10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0626559"/>
                  </a:ext>
                </a:extLst>
              </a:tr>
              <a:tr h="42067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대형 버스</a:t>
                      </a:r>
                      <a:endParaRPr lang="en-US" altLang="ko-KR" sz="10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10</a:t>
                      </a:r>
                      <a:r>
                        <a:rPr lang="ko-KR" altLang="en-US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대</a:t>
                      </a:r>
                      <a:endParaRPr lang="en-US" altLang="ko-KR" sz="10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단체 참배 지원</a:t>
                      </a:r>
                      <a:endParaRPr lang="en-US" altLang="ko-KR" sz="10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0662131"/>
                  </a:ext>
                </a:extLst>
              </a:tr>
              <a:tr h="42067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총 규모</a:t>
                      </a:r>
                      <a:endParaRPr lang="en-US" altLang="ko-KR" sz="10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530</a:t>
                      </a:r>
                      <a:r>
                        <a:rPr lang="ko-KR" altLang="en-US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대</a:t>
                      </a:r>
                      <a:endParaRPr lang="en-US" altLang="ko-KR" sz="10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무료 이용</a:t>
                      </a:r>
                      <a:endParaRPr lang="en-US" altLang="ko-KR" sz="10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0649130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3822FB3F-35ED-2E32-7DD8-E074318FB521}"/>
              </a:ext>
            </a:extLst>
          </p:cNvPr>
          <p:cNvSpPr txBox="1"/>
          <p:nvPr/>
        </p:nvSpPr>
        <p:spPr>
          <a:xfrm rot="19349954">
            <a:off x="6486004" y="2384462"/>
            <a:ext cx="267148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임시 컨텐츠</a:t>
            </a:r>
            <a:endParaRPr lang="en-US" altLang="ko-KR" sz="32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en-US" altLang="ko-KR" sz="32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32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컨텐츠 교체 필요</a:t>
            </a:r>
            <a:r>
              <a:rPr lang="en-US" altLang="ko-KR" sz="32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32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0982368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2C12D7-A1A7-EA50-0AE8-C0F90CA6A9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B9CB585A-85F2-2611-C18D-0B3643DDCE68}"/>
              </a:ext>
            </a:extLst>
          </p:cNvPr>
          <p:cNvGraphicFramePr>
            <a:graphicFrameLocks noGrp="1"/>
          </p:cNvGraphicFramePr>
          <p:nvPr/>
        </p:nvGraphicFramePr>
        <p:xfrm>
          <a:off x="9182101" y="947377"/>
          <a:ext cx="2795588" cy="1847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1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684046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723838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3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172599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4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290794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5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922450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6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784800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7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0538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8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199337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9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450365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CB852155-8633-E509-557C-C8DB455A5172}"/>
              </a:ext>
            </a:extLst>
          </p:cNvPr>
          <p:cNvSpPr/>
          <p:nvPr/>
        </p:nvSpPr>
        <p:spPr>
          <a:xfrm>
            <a:off x="959895" y="375614"/>
            <a:ext cx="1374094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</a:pP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메인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시설안내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부대시설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A5794B1-F036-590E-47BB-71971E1629A3}"/>
              </a:ext>
            </a:extLst>
          </p:cNvPr>
          <p:cNvSpPr txBox="1"/>
          <p:nvPr/>
        </p:nvSpPr>
        <p:spPr>
          <a:xfrm>
            <a:off x="6003996" y="123825"/>
            <a:ext cx="17303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HN_Facil_Aditinal_001</a:t>
            </a:r>
            <a:endParaRPr lang="ko-KR" altLang="en-US" sz="800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13CBF48-B4E0-C74F-E493-3808F1228E4C}"/>
              </a:ext>
            </a:extLst>
          </p:cNvPr>
          <p:cNvSpPr/>
          <p:nvPr/>
        </p:nvSpPr>
        <p:spPr>
          <a:xfrm>
            <a:off x="4698219" y="728323"/>
            <a:ext cx="4341855" cy="2700677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IMAGE</a:t>
            </a:r>
            <a:endParaRPr lang="ko-KR" altLang="en-US" sz="28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DCF501F-687B-3A3B-5B99-CFD608BF59FD}"/>
              </a:ext>
            </a:extLst>
          </p:cNvPr>
          <p:cNvSpPr txBox="1"/>
          <p:nvPr/>
        </p:nvSpPr>
        <p:spPr>
          <a:xfrm>
            <a:off x="287505" y="778100"/>
            <a:ext cx="32782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레스토랑 </a:t>
            </a:r>
            <a:r>
              <a:rPr lang="en-US" altLang="ko-KR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“</a:t>
            </a:r>
            <a:r>
              <a:rPr lang="ko-KR" altLang="en-US" sz="16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하늘정</a:t>
            </a:r>
            <a:r>
              <a:rPr lang="en-US" altLang="ko-KR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＂</a:t>
            </a:r>
            <a:endParaRPr lang="ko-KR" altLang="en-US" sz="16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34" name="표 33">
            <a:extLst>
              <a:ext uri="{FF2B5EF4-FFF2-40B4-BE49-F238E27FC236}">
                <a16:creationId xmlns:a16="http://schemas.microsoft.com/office/drawing/2014/main" id="{C24BE389-E122-E640-3A78-3AEEE1B95E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9889785"/>
              </p:ext>
            </p:extLst>
          </p:nvPr>
        </p:nvGraphicFramePr>
        <p:xfrm>
          <a:off x="336547" y="1189453"/>
          <a:ext cx="4015362" cy="2278458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356064">
                  <a:extLst>
                    <a:ext uri="{9D8B030D-6E8A-4147-A177-3AD203B41FA5}">
                      <a16:colId xmlns:a16="http://schemas.microsoft.com/office/drawing/2014/main" val="1553538150"/>
                    </a:ext>
                  </a:extLst>
                </a:gridCol>
                <a:gridCol w="2659298">
                  <a:extLst>
                    <a:ext uri="{9D8B030D-6E8A-4147-A177-3AD203B41FA5}">
                      <a16:colId xmlns:a16="http://schemas.microsoft.com/office/drawing/2014/main" val="1005073696"/>
                    </a:ext>
                  </a:extLst>
                </a:gridCol>
              </a:tblGrid>
              <a:tr h="379743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위치</a:t>
                      </a:r>
                      <a:endParaRPr lang="en-US" altLang="ko-KR" sz="10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관리동 </a:t>
                      </a:r>
                      <a:r>
                        <a:rPr lang="en-US" altLang="ko-KR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</a:t>
                      </a:r>
                      <a:r>
                        <a:rPr lang="ko-KR" altLang="en-US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층</a:t>
                      </a:r>
                      <a:endParaRPr lang="en-US" altLang="ko-KR" sz="10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0268165"/>
                  </a:ext>
                </a:extLst>
              </a:tr>
              <a:tr h="37974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규모</a:t>
                      </a:r>
                      <a:endParaRPr lang="en-US" altLang="ko-KR" sz="10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120 </a:t>
                      </a:r>
                      <a:r>
                        <a:rPr lang="ko-KR" altLang="en-US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석</a:t>
                      </a:r>
                      <a:r>
                        <a:rPr lang="en-US" altLang="ko-KR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1000" b="0" u="none" dirty="0" err="1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단체석</a:t>
                      </a:r>
                      <a:r>
                        <a:rPr lang="ko-KR" altLang="en-US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별도 운영</a:t>
                      </a:r>
                      <a:r>
                        <a:rPr lang="en-US" altLang="ko-KR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1090331"/>
                  </a:ext>
                </a:extLst>
              </a:tr>
              <a:tr h="37974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메뉴</a:t>
                      </a:r>
                      <a:endParaRPr lang="en-US" altLang="ko-KR" sz="10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u="none" dirty="0" err="1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우거지탕</a:t>
                      </a:r>
                      <a:r>
                        <a:rPr lang="en-US" altLang="ko-KR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육개장</a:t>
                      </a:r>
                      <a:r>
                        <a:rPr lang="en-US" altLang="ko-KR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비빔밥</a:t>
                      </a:r>
                      <a:r>
                        <a:rPr lang="en-US" altLang="ko-KR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불고기 정식</a:t>
                      </a:r>
                      <a:endParaRPr lang="en-US" altLang="ko-KR" sz="10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0626559"/>
                  </a:ext>
                </a:extLst>
              </a:tr>
              <a:tr h="37974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가격대</a:t>
                      </a:r>
                      <a:endParaRPr lang="en-US" altLang="ko-KR" sz="10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8,000</a:t>
                      </a:r>
                      <a:r>
                        <a:rPr lang="ko-KR" altLang="en-US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원 </a:t>
                      </a:r>
                      <a:r>
                        <a:rPr lang="en-US" altLang="ko-KR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~ 15,000</a:t>
                      </a:r>
                      <a:r>
                        <a:rPr lang="ko-KR" altLang="en-US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원</a:t>
                      </a:r>
                      <a:endParaRPr lang="en-US" altLang="ko-KR" sz="10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0662131"/>
                  </a:ext>
                </a:extLst>
              </a:tr>
              <a:tr h="37974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운영시간</a:t>
                      </a:r>
                      <a:endParaRPr lang="en-US" altLang="ko-KR" sz="10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09:00~18:00 (</a:t>
                      </a:r>
                      <a:r>
                        <a:rPr lang="ko-KR" altLang="en-US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연중무휴</a:t>
                      </a:r>
                      <a:r>
                        <a:rPr lang="en-US" altLang="ko-KR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0649130"/>
                  </a:ext>
                </a:extLst>
              </a:tr>
              <a:tr h="37974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전화</a:t>
                      </a:r>
                      <a:endParaRPr lang="en-US" altLang="ko-KR" sz="10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031-777-6666</a:t>
                      </a: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8261619"/>
                  </a:ext>
                </a:extLst>
              </a:tr>
            </a:tbl>
          </a:graphicData>
        </a:graphic>
      </p:graphicFrame>
      <p:sp>
        <p:nvSpPr>
          <p:cNvPr id="9" name="직사각형 8">
            <a:extLst>
              <a:ext uri="{FF2B5EF4-FFF2-40B4-BE49-F238E27FC236}">
                <a16:creationId xmlns:a16="http://schemas.microsoft.com/office/drawing/2014/main" id="{42341507-8A42-439A-DB99-C2CB1C3C2F05}"/>
              </a:ext>
            </a:extLst>
          </p:cNvPr>
          <p:cNvSpPr/>
          <p:nvPr/>
        </p:nvSpPr>
        <p:spPr>
          <a:xfrm>
            <a:off x="183209" y="3550596"/>
            <a:ext cx="4341855" cy="2822273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IMAGE</a:t>
            </a:r>
            <a:endParaRPr lang="ko-KR" altLang="en-US" sz="28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C3344D6-F2EE-E737-77C8-6F80BE348A26}"/>
              </a:ext>
            </a:extLst>
          </p:cNvPr>
          <p:cNvSpPr txBox="1"/>
          <p:nvPr/>
        </p:nvSpPr>
        <p:spPr>
          <a:xfrm>
            <a:off x="4698219" y="3569002"/>
            <a:ext cx="32782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카페 </a:t>
            </a:r>
            <a:r>
              <a:rPr lang="en-US" altLang="ko-KR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“</a:t>
            </a:r>
            <a:r>
              <a:rPr lang="ko-KR" altLang="en-US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하늘쉼</a:t>
            </a:r>
            <a:r>
              <a:rPr lang="en-US" altLang="ko-KR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＂</a:t>
            </a:r>
            <a:endParaRPr lang="ko-KR" altLang="en-US" sz="16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4ACF020C-1130-C881-A044-3DEBB6F93C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4361130"/>
              </p:ext>
            </p:extLst>
          </p:nvPr>
        </p:nvGraphicFramePr>
        <p:xfrm>
          <a:off x="4747261" y="3980355"/>
          <a:ext cx="4015362" cy="2278458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356064">
                  <a:extLst>
                    <a:ext uri="{9D8B030D-6E8A-4147-A177-3AD203B41FA5}">
                      <a16:colId xmlns:a16="http://schemas.microsoft.com/office/drawing/2014/main" val="1553538150"/>
                    </a:ext>
                  </a:extLst>
                </a:gridCol>
                <a:gridCol w="2659298">
                  <a:extLst>
                    <a:ext uri="{9D8B030D-6E8A-4147-A177-3AD203B41FA5}">
                      <a16:colId xmlns:a16="http://schemas.microsoft.com/office/drawing/2014/main" val="1005073696"/>
                    </a:ext>
                  </a:extLst>
                </a:gridCol>
              </a:tblGrid>
              <a:tr h="379743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위치</a:t>
                      </a:r>
                      <a:endParaRPr lang="en-US" altLang="ko-KR" sz="10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봉안당 </a:t>
                      </a:r>
                      <a:r>
                        <a:rPr lang="en-US" altLang="ko-KR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r>
                        <a:rPr lang="ko-KR" altLang="en-US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층 로비</a:t>
                      </a:r>
                      <a:endParaRPr lang="en-US" altLang="ko-KR" sz="10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0268165"/>
                  </a:ext>
                </a:extLst>
              </a:tr>
              <a:tr h="37974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메뉴</a:t>
                      </a:r>
                      <a:endParaRPr lang="en-US" altLang="ko-KR" sz="10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Coffee : </a:t>
                      </a:r>
                      <a:r>
                        <a:rPr lang="ko-KR" altLang="en-US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아메리카노</a:t>
                      </a:r>
                      <a:r>
                        <a:rPr lang="en-US" altLang="ko-KR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카푸치노</a:t>
                      </a:r>
                      <a:r>
                        <a:rPr lang="en-US" altLang="ko-KR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카페라떼</a:t>
                      </a:r>
                      <a:endParaRPr lang="en-US" altLang="ko-KR" sz="10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1090331"/>
                  </a:ext>
                </a:extLst>
              </a:tr>
              <a:tr h="37974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Tea : </a:t>
                      </a:r>
                      <a:r>
                        <a:rPr lang="ko-KR" altLang="en-US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유자차</a:t>
                      </a:r>
                      <a:r>
                        <a:rPr lang="en-US" altLang="ko-KR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생강차</a:t>
                      </a:r>
                      <a:r>
                        <a:rPr lang="en-US" altLang="ko-KR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인삼차</a:t>
                      </a:r>
                      <a:r>
                        <a:rPr lang="en-US" altLang="ko-KR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1000" b="0" u="none" dirty="0" err="1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허브티</a:t>
                      </a:r>
                      <a:endParaRPr lang="en-US" altLang="ko-KR" sz="10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0626559"/>
                  </a:ext>
                </a:extLst>
              </a:tr>
              <a:tr h="37974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Beverage : </a:t>
                      </a:r>
                      <a:r>
                        <a:rPr lang="ko-KR" altLang="en-US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과일주스</a:t>
                      </a:r>
                      <a:r>
                        <a:rPr lang="en-US" altLang="ko-KR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에이드</a:t>
                      </a:r>
                      <a:endParaRPr lang="en-US" altLang="ko-KR" sz="10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0662131"/>
                  </a:ext>
                </a:extLst>
              </a:tr>
              <a:tr h="37974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Dessert : </a:t>
                      </a:r>
                      <a:r>
                        <a:rPr lang="ko-KR" altLang="en-US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쿠키</a:t>
                      </a:r>
                      <a:r>
                        <a:rPr lang="en-US" altLang="ko-KR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샌드위치</a:t>
                      </a:r>
                      <a:endParaRPr lang="en-US" altLang="ko-KR" sz="10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0649130"/>
                  </a:ext>
                </a:extLst>
              </a:tr>
              <a:tr h="37974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운영시간</a:t>
                      </a:r>
                      <a:endParaRPr lang="en-US" altLang="ko-KR" sz="10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08:00 ~ 19:00</a:t>
                      </a: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8261619"/>
                  </a:ext>
                </a:extLst>
              </a:tr>
            </a:tbl>
          </a:graphicData>
        </a:graphic>
      </p:graphicFrame>
      <p:sp>
        <p:nvSpPr>
          <p:cNvPr id="17" name="직사각형 16">
            <a:extLst>
              <a:ext uri="{FF2B5EF4-FFF2-40B4-BE49-F238E27FC236}">
                <a16:creationId xmlns:a16="http://schemas.microsoft.com/office/drawing/2014/main" id="{C9BF0261-26C8-6FEE-45A2-8EA553F6BF3B}"/>
              </a:ext>
            </a:extLst>
          </p:cNvPr>
          <p:cNvSpPr/>
          <p:nvPr/>
        </p:nvSpPr>
        <p:spPr>
          <a:xfrm>
            <a:off x="155201" y="6451654"/>
            <a:ext cx="8928847" cy="34095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FOOTER</a:t>
            </a:r>
            <a:endParaRPr lang="ko-KR" altLang="en-US" sz="10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3480131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AC2EF8-3774-7445-0BC4-5708E30F6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B91E9091-5844-23E8-A837-A227C202A9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5983899"/>
              </p:ext>
            </p:extLst>
          </p:nvPr>
        </p:nvGraphicFramePr>
        <p:xfrm>
          <a:off x="9182101" y="947377"/>
          <a:ext cx="2795588" cy="1847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1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684046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723838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3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172599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4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290794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5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922450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6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784800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7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0538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8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199337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9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450365"/>
                  </a:ext>
                </a:extLst>
              </a:tr>
            </a:tbl>
          </a:graphicData>
        </a:graphic>
      </p:graphicFrame>
      <p:sp>
        <p:nvSpPr>
          <p:cNvPr id="3" name="직사각형 2"/>
          <p:cNvSpPr/>
          <p:nvPr/>
        </p:nvSpPr>
        <p:spPr>
          <a:xfrm>
            <a:off x="959895" y="375614"/>
            <a:ext cx="1566454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</a:pP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메인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시설안내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 err="1">
                <a:latin typeface="나눔고딕" pitchFamily="50" charset="-127"/>
                <a:ea typeface="나눔고딕" pitchFamily="50" charset="-127"/>
              </a:rPr>
              <a:t>주변돌러보기</a:t>
            </a:r>
            <a:endParaRPr kumimoji="1" lang="ko-KR" altLang="en-US" sz="800" dirty="0"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003996" y="123825"/>
            <a:ext cx="17303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HN_Facil_Surround_001</a:t>
            </a:r>
            <a:endParaRPr lang="ko-KR" altLang="en-US" sz="800" dirty="0"/>
          </a:p>
        </p:txBody>
      </p:sp>
      <p:grpSp>
        <p:nvGrpSpPr>
          <p:cNvPr id="6" name="그룹 5"/>
          <p:cNvGrpSpPr/>
          <p:nvPr/>
        </p:nvGrpSpPr>
        <p:grpSpPr>
          <a:xfrm>
            <a:off x="161925" y="797629"/>
            <a:ext cx="8953500" cy="851943"/>
            <a:chOff x="161925" y="797629"/>
            <a:chExt cx="8953500" cy="851943"/>
          </a:xfrm>
        </p:grpSpPr>
        <p:sp>
          <p:nvSpPr>
            <p:cNvPr id="5" name="직사각형 4"/>
            <p:cNvSpPr/>
            <p:nvPr/>
          </p:nvSpPr>
          <p:spPr>
            <a:xfrm>
              <a:off x="4144448" y="797629"/>
              <a:ext cx="942784" cy="35821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800" b="1" dirty="0">
                  <a:solidFill>
                    <a:srgbClr val="FF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CI</a:t>
              </a:r>
            </a:p>
          </p:txBody>
        </p: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C254A2AD-70BC-913B-F5E0-560EF17D3589}"/>
                </a:ext>
              </a:extLst>
            </p:cNvPr>
            <p:cNvCxnSpPr/>
            <p:nvPr/>
          </p:nvCxnSpPr>
          <p:spPr>
            <a:xfrm>
              <a:off x="161925" y="1649572"/>
              <a:ext cx="8953500" cy="0"/>
            </a:xfrm>
            <a:prstGeom prst="line">
              <a:avLst/>
            </a:prstGeom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/>
            <p:cNvSpPr txBox="1"/>
            <p:nvPr/>
          </p:nvSpPr>
          <p:spPr>
            <a:xfrm>
              <a:off x="2031551" y="1301804"/>
              <a:ext cx="120364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하늘누리소개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3239720" y="1301804"/>
              <a:ext cx="9144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시설안내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4158640" y="1301804"/>
              <a:ext cx="9144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분양안내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5077560" y="1301804"/>
              <a:ext cx="119120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사이버추모관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6273289" y="1301804"/>
              <a:ext cx="9144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고객센터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7734300" y="817862"/>
              <a:ext cx="79388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b="1">
                  <a:latin typeface="나눔고딕" panose="020D0604000000000000" pitchFamily="50" charset="-127"/>
                  <a:ea typeface="나눔고딕" panose="020D0604000000000000" pitchFamily="50" charset="-127"/>
                </a:rPr>
                <a:t>비밀번호변경</a:t>
              </a:r>
              <a:endParaRPr lang="ko-KR" altLang="en-US" sz="8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8472200" y="817862"/>
              <a:ext cx="58783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로그아웃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7203231" y="817862"/>
              <a:ext cx="65313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나의정보</a:t>
              </a:r>
            </a:p>
          </p:txBody>
        </p:sp>
      </p:grpSp>
      <p:sp>
        <p:nvSpPr>
          <p:cNvPr id="18" name="TextBox 17"/>
          <p:cNvSpPr txBox="1"/>
          <p:nvPr/>
        </p:nvSpPr>
        <p:spPr>
          <a:xfrm>
            <a:off x="158621" y="1704392"/>
            <a:ext cx="314441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HOME &gt; </a:t>
            </a:r>
            <a:r>
              <a:rPr lang="ko-KR" altLang="en-US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시설안내 </a:t>
            </a:r>
            <a:r>
              <a:rPr lang="en-US" altLang="ko-KR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주변둘러보기</a:t>
            </a:r>
            <a:endParaRPr lang="ko-KR" altLang="en-US" sz="8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7DF635-2CDE-6A1A-76B0-122DDB9A44A1}"/>
              </a:ext>
            </a:extLst>
          </p:cNvPr>
          <p:cNvSpPr txBox="1"/>
          <p:nvPr/>
        </p:nvSpPr>
        <p:spPr>
          <a:xfrm>
            <a:off x="2791996" y="1866963"/>
            <a:ext cx="36895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주변 둘러보기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485BE7-E259-E48B-F2A3-100C9FA3C45C}"/>
              </a:ext>
            </a:extLst>
          </p:cNvPr>
          <p:cNvSpPr txBox="1"/>
          <p:nvPr/>
        </p:nvSpPr>
        <p:spPr>
          <a:xfrm>
            <a:off x="1730829" y="2547785"/>
            <a:ext cx="5768660" cy="9821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2100"/>
              </a:lnSpc>
              <a:spcAft>
                <a:spcPts val="900"/>
              </a:spcAft>
            </a:pPr>
            <a:r>
              <a:rPr lang="en-US" altLang="ko-KR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"</a:t>
            </a:r>
            <a:r>
              <a:rPr lang="ko-KR" altLang="en-US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하늘과 맞닿은 풍경</a:t>
            </a:r>
            <a:r>
              <a:rPr lang="en-US" altLang="ko-KR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사계절이 그려내는 찬란한 안식처</a:t>
            </a:r>
            <a:r>
              <a:rPr lang="en-US" altLang="ko-KR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“</a:t>
            </a:r>
          </a:p>
          <a:p>
            <a:pPr algn="ctr">
              <a:lnSpc>
                <a:spcPts val="2100"/>
              </a:lnSpc>
              <a:spcAft>
                <a:spcPts val="900"/>
              </a:spcAft>
            </a:pPr>
            <a:r>
              <a:rPr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탁 트인 조망과 양주시의 수려한 자연경관이 한눈에 들어오는 명당</a:t>
            </a:r>
            <a:r>
              <a:rPr lang="en-US" altLang="ko-KR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계절마다 옷을 갈아입는 하늘누리의 풍경은 고인에게는 평안을</a:t>
            </a:r>
            <a:r>
              <a:rPr lang="en-US" altLang="ko-KR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유족에게는 한 폭의 그림 같은 위안을 선사합니다</a:t>
            </a:r>
            <a:r>
              <a:rPr lang="en-US" altLang="ko-KR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11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0AFCE6A-9A03-38C7-22DC-3A93D8BDEA81}"/>
              </a:ext>
            </a:extLst>
          </p:cNvPr>
          <p:cNvSpPr/>
          <p:nvPr/>
        </p:nvSpPr>
        <p:spPr>
          <a:xfrm>
            <a:off x="158621" y="3858089"/>
            <a:ext cx="8841440" cy="2700677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8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숲 </a:t>
            </a:r>
            <a:r>
              <a:rPr lang="en-US" altLang="ko-KR" sz="28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IMAGE</a:t>
            </a:r>
            <a:endParaRPr lang="ko-KR" altLang="en-US" sz="28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F95BE2F-F493-53C9-FB34-7E91B29A106C}"/>
              </a:ext>
            </a:extLst>
          </p:cNvPr>
          <p:cNvSpPr txBox="1"/>
          <p:nvPr/>
        </p:nvSpPr>
        <p:spPr>
          <a:xfrm>
            <a:off x="2360564" y="4072299"/>
            <a:ext cx="455238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"</a:t>
            </a:r>
            <a:r>
              <a:rPr lang="ko-KR" altLang="en-US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하늘이 아끼고 숲이 품은</a:t>
            </a:r>
            <a:r>
              <a:rPr lang="en-US" altLang="ko-KR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생의 마지막 보금자리</a:t>
            </a:r>
            <a:r>
              <a:rPr lang="en-US" altLang="ko-KR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"</a:t>
            </a:r>
            <a:endParaRPr lang="ko-KR" altLang="en-US" sz="12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24CC259-8CE3-2CB8-0709-EDF2EDC0B7A4}"/>
              </a:ext>
            </a:extLst>
          </p:cNvPr>
          <p:cNvSpPr txBox="1"/>
          <p:nvPr/>
        </p:nvSpPr>
        <p:spPr>
          <a:xfrm rot="19349954">
            <a:off x="6486004" y="2384462"/>
            <a:ext cx="267148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임시 컨텐츠</a:t>
            </a:r>
            <a:endParaRPr lang="en-US" altLang="ko-KR" sz="32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en-US" altLang="ko-KR" sz="32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32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컨텐츠 교체 필요</a:t>
            </a:r>
            <a:r>
              <a:rPr lang="en-US" altLang="ko-KR" sz="32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32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0796912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2ABB11-11AD-3C25-C563-A02F9F9746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03003462-7CA2-5544-BBF4-CD97D662DF2D}"/>
              </a:ext>
            </a:extLst>
          </p:cNvPr>
          <p:cNvGraphicFramePr>
            <a:graphicFrameLocks noGrp="1"/>
          </p:cNvGraphicFramePr>
          <p:nvPr/>
        </p:nvGraphicFramePr>
        <p:xfrm>
          <a:off x="9182101" y="947377"/>
          <a:ext cx="2795588" cy="1847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1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684046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723838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3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172599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4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290794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5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922450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6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784800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7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0538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8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199337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9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450365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DE410173-B1EA-E853-E104-7B23ED682060}"/>
              </a:ext>
            </a:extLst>
          </p:cNvPr>
          <p:cNvSpPr/>
          <p:nvPr/>
        </p:nvSpPr>
        <p:spPr>
          <a:xfrm>
            <a:off x="959895" y="375614"/>
            <a:ext cx="1566454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</a:pP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메인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시설안내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 err="1">
                <a:latin typeface="나눔고딕" pitchFamily="50" charset="-127"/>
                <a:ea typeface="나눔고딕" pitchFamily="50" charset="-127"/>
              </a:rPr>
              <a:t>주변돌러보기</a:t>
            </a:r>
            <a:endParaRPr kumimoji="1" lang="ko-KR" altLang="en-US" sz="800" dirty="0"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304C423-2322-3C1C-9D40-359C2E45AC74}"/>
              </a:ext>
            </a:extLst>
          </p:cNvPr>
          <p:cNvSpPr txBox="1"/>
          <p:nvPr/>
        </p:nvSpPr>
        <p:spPr>
          <a:xfrm>
            <a:off x="6003996" y="123825"/>
            <a:ext cx="17303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HN_Facil_Surround_001</a:t>
            </a:r>
            <a:endParaRPr lang="ko-KR" altLang="en-US" sz="800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53244A5-87D9-BAF5-4A03-342BC7B6C78B}"/>
              </a:ext>
            </a:extLst>
          </p:cNvPr>
          <p:cNvSpPr/>
          <p:nvPr/>
        </p:nvSpPr>
        <p:spPr>
          <a:xfrm>
            <a:off x="198904" y="2543782"/>
            <a:ext cx="8841440" cy="2700677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8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전망대 </a:t>
            </a:r>
            <a:r>
              <a:rPr lang="en-US" altLang="ko-KR" sz="28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IMAGE</a:t>
            </a:r>
            <a:endParaRPr lang="ko-KR" altLang="en-US" sz="28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21DAB2-51E1-B167-26E6-29C6DB223B03}"/>
              </a:ext>
            </a:extLst>
          </p:cNvPr>
          <p:cNvSpPr txBox="1"/>
          <p:nvPr/>
        </p:nvSpPr>
        <p:spPr>
          <a:xfrm>
            <a:off x="2980514" y="778100"/>
            <a:ext cx="32782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추모의 숲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5412122-0922-5446-5A8E-804A7EEB63A0}"/>
              </a:ext>
            </a:extLst>
          </p:cNvPr>
          <p:cNvSpPr txBox="1"/>
          <p:nvPr/>
        </p:nvSpPr>
        <p:spPr>
          <a:xfrm>
            <a:off x="2489497" y="1145310"/>
            <a:ext cx="4299626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위치</a:t>
            </a:r>
            <a:r>
              <a:rPr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endParaRPr lang="en-US" altLang="ko-KR" sz="11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en-US" altLang="ko-KR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수목장지 주변</a:t>
            </a:r>
            <a:endParaRPr lang="en-US" altLang="ko-KR" sz="11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endParaRPr lang="en-US" altLang="ko-KR" sz="11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ko-KR" altLang="en-US" sz="11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특징</a:t>
            </a:r>
            <a:endParaRPr lang="en-US" altLang="ko-KR" sz="11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산책로 조성</a:t>
            </a:r>
            <a:r>
              <a:rPr lang="en-US" altLang="ko-KR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총 </a:t>
            </a:r>
            <a:r>
              <a:rPr lang="en-US" altLang="ko-KR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1.2km)</a:t>
            </a:r>
          </a:p>
          <a:p>
            <a:pPr algn="ctr"/>
            <a:r>
              <a:rPr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사계절</a:t>
            </a:r>
            <a:r>
              <a:rPr lang="en-US" altLang="ko-KR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꽃과 나무 감상</a:t>
            </a:r>
            <a:endParaRPr lang="en-US" altLang="ko-KR" sz="11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벤치 및 쉽터 </a:t>
            </a:r>
            <a:r>
              <a:rPr lang="en-US" altLang="ko-KR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10</a:t>
            </a:r>
            <a:r>
              <a:rPr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개소</a:t>
            </a:r>
            <a:endParaRPr lang="en-US" altLang="ko-KR" sz="11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C2406F7-13EB-CE6A-9BF3-7A1F2499B641}"/>
              </a:ext>
            </a:extLst>
          </p:cNvPr>
          <p:cNvSpPr txBox="1"/>
          <p:nvPr/>
        </p:nvSpPr>
        <p:spPr>
          <a:xfrm>
            <a:off x="2978458" y="5365658"/>
            <a:ext cx="32782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전망대 </a:t>
            </a:r>
            <a:r>
              <a:rPr lang="en-US" altLang="ko-KR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“</a:t>
            </a:r>
            <a:r>
              <a:rPr lang="ko-KR" altLang="en-US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하늘누리 뷰</a:t>
            </a:r>
            <a:r>
              <a:rPr lang="en-US" altLang="ko-KR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＂</a:t>
            </a:r>
            <a:endParaRPr lang="ko-KR" altLang="en-US" sz="16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610F1FA-C3BA-AC3D-03E9-BBBFED74880C}"/>
              </a:ext>
            </a:extLst>
          </p:cNvPr>
          <p:cNvSpPr txBox="1"/>
          <p:nvPr/>
        </p:nvSpPr>
        <p:spPr>
          <a:xfrm>
            <a:off x="2487441" y="5732868"/>
            <a:ext cx="4299626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위치</a:t>
            </a:r>
            <a:r>
              <a:rPr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endParaRPr lang="en-US" altLang="ko-KR" sz="11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en-US" altLang="ko-KR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공원최상단부</a:t>
            </a:r>
            <a:endParaRPr lang="en-US" altLang="ko-KR" sz="11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endParaRPr lang="en-US" altLang="ko-KR" sz="11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ko-KR" altLang="en-US" sz="11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높이</a:t>
            </a:r>
            <a:endParaRPr lang="en-US" altLang="ko-KR" sz="11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해발 </a:t>
            </a:r>
            <a:r>
              <a:rPr lang="en-US" altLang="ko-KR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000m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A037741-AB4E-3ED9-7FAC-E2FC8F168542}"/>
              </a:ext>
            </a:extLst>
          </p:cNvPr>
          <p:cNvSpPr txBox="1"/>
          <p:nvPr/>
        </p:nvSpPr>
        <p:spPr>
          <a:xfrm>
            <a:off x="2073785" y="2811493"/>
            <a:ext cx="50875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"</a:t>
            </a:r>
            <a:r>
              <a:rPr lang="ko-KR" altLang="en-US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발아래 펼쳐진 사계절의 품</a:t>
            </a:r>
            <a:r>
              <a:rPr lang="en-US" altLang="ko-KR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슬픔조차 풍경이 되는 시간</a:t>
            </a:r>
            <a:r>
              <a:rPr lang="en-US" altLang="ko-KR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"</a:t>
            </a:r>
            <a:endParaRPr lang="ko-KR" altLang="en-US" sz="12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5101092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4867C9-D74B-0360-5E59-179F117389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ED11D859-80AA-BFCA-0A29-9C732926287C}"/>
              </a:ext>
            </a:extLst>
          </p:cNvPr>
          <p:cNvGraphicFramePr>
            <a:graphicFrameLocks noGrp="1"/>
          </p:cNvGraphicFramePr>
          <p:nvPr/>
        </p:nvGraphicFramePr>
        <p:xfrm>
          <a:off x="9182101" y="947377"/>
          <a:ext cx="2795588" cy="1847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1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684046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723838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3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172599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4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290794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5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922450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6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784800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7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0538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8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199337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9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450365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13F9455E-6D3D-FF69-12AC-88E412252AEF}"/>
              </a:ext>
            </a:extLst>
          </p:cNvPr>
          <p:cNvSpPr/>
          <p:nvPr/>
        </p:nvSpPr>
        <p:spPr>
          <a:xfrm>
            <a:off x="959895" y="375614"/>
            <a:ext cx="1566454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</a:pP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메인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시설안내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 err="1">
                <a:latin typeface="나눔고딕" pitchFamily="50" charset="-127"/>
                <a:ea typeface="나눔고딕" pitchFamily="50" charset="-127"/>
              </a:rPr>
              <a:t>주변돌러보기</a:t>
            </a:r>
            <a:endParaRPr kumimoji="1" lang="ko-KR" altLang="en-US" sz="800" dirty="0"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E21228D-3455-DED4-AEC8-B00A500E0232}"/>
              </a:ext>
            </a:extLst>
          </p:cNvPr>
          <p:cNvSpPr txBox="1"/>
          <p:nvPr/>
        </p:nvSpPr>
        <p:spPr>
          <a:xfrm>
            <a:off x="6003996" y="123825"/>
            <a:ext cx="17303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HN_Facil_Surround_001</a:t>
            </a:r>
            <a:endParaRPr lang="ko-KR" altLang="en-US" sz="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C8CCC6D-0679-2E8B-A657-C908AB0F5875}"/>
              </a:ext>
            </a:extLst>
          </p:cNvPr>
          <p:cNvSpPr txBox="1"/>
          <p:nvPr/>
        </p:nvSpPr>
        <p:spPr>
          <a:xfrm>
            <a:off x="2489497" y="697837"/>
            <a:ext cx="4299626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조망</a:t>
            </a:r>
            <a:r>
              <a:rPr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endParaRPr lang="en-US" altLang="ko-KR" sz="11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en-US" altLang="ko-KR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서울</a:t>
            </a:r>
            <a:r>
              <a:rPr lang="en-US" altLang="ko-KR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경기 도심 조망</a:t>
            </a:r>
            <a:endParaRPr lang="en-US" altLang="ko-KR" sz="11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주변 산세 파노라마 뷰</a:t>
            </a:r>
            <a:endParaRPr lang="en-US" altLang="ko-KR" sz="11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일출</a:t>
            </a:r>
            <a:r>
              <a:rPr lang="en-US" altLang="ko-KR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일몰 명소</a:t>
            </a:r>
            <a:endParaRPr lang="en-US" altLang="ko-KR" sz="11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endParaRPr lang="en-US" altLang="ko-KR" sz="11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ko-KR" altLang="en-US" sz="11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시설</a:t>
            </a:r>
            <a:endParaRPr lang="en-US" altLang="ko-KR" sz="11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전망 </a:t>
            </a:r>
            <a:r>
              <a:rPr lang="ko-KR" altLang="en-US" sz="11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데크</a:t>
            </a:r>
            <a:endParaRPr lang="en-US" altLang="ko-KR" sz="11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망원경 </a:t>
            </a:r>
            <a:r>
              <a:rPr lang="en-US" altLang="ko-KR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r>
              <a:rPr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대</a:t>
            </a:r>
            <a:endParaRPr lang="en-US" altLang="ko-KR" sz="11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A999394-2B48-740E-13F3-5D001C94761F}"/>
              </a:ext>
            </a:extLst>
          </p:cNvPr>
          <p:cNvSpPr/>
          <p:nvPr/>
        </p:nvSpPr>
        <p:spPr>
          <a:xfrm>
            <a:off x="174886" y="2332480"/>
            <a:ext cx="8928847" cy="34095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FOOTER</a:t>
            </a:r>
            <a:endParaRPr lang="ko-KR" altLang="en-US" sz="10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0761714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7E9FD8-8693-386E-0232-E94528EA16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ADBC47D-6041-9F36-30DD-8646BD583F40}"/>
              </a:ext>
            </a:extLst>
          </p:cNvPr>
          <p:cNvSpPr txBox="1"/>
          <p:nvPr/>
        </p:nvSpPr>
        <p:spPr>
          <a:xfrm>
            <a:off x="1047750" y="2476500"/>
            <a:ext cx="2390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나눔고딕" pitchFamily="2" charset="-127"/>
                <a:ea typeface="나눔고딕" pitchFamily="2" charset="-127"/>
              </a:rPr>
              <a:t>05. </a:t>
            </a:r>
            <a:r>
              <a:rPr lang="ko-KR" altLang="en-US" b="1" dirty="0">
                <a:latin typeface="나눔고딕" pitchFamily="2" charset="-127"/>
                <a:ea typeface="나눔고딕" pitchFamily="2" charset="-127"/>
              </a:rPr>
              <a:t>분양안내</a:t>
            </a:r>
          </a:p>
        </p:txBody>
      </p:sp>
    </p:spTree>
    <p:extLst>
      <p:ext uri="{BB962C8B-B14F-4D97-AF65-F5344CB8AC3E}">
        <p14:creationId xmlns:p14="http://schemas.microsoft.com/office/powerpoint/2010/main" val="113961549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A4FD3F-09F9-7EF8-FBCF-082379EBEE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34481E82-4F71-9354-3E3D-0F5F2BB0DA18}"/>
              </a:ext>
            </a:extLst>
          </p:cNvPr>
          <p:cNvSpPr/>
          <p:nvPr/>
        </p:nvSpPr>
        <p:spPr>
          <a:xfrm>
            <a:off x="738750" y="4796659"/>
            <a:ext cx="1234577" cy="1068107"/>
          </a:xfrm>
          <a:prstGeom prst="roundRect">
            <a:avLst/>
          </a:prstGeom>
          <a:solidFill>
            <a:srgbClr val="002060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봉안실 타입 </a:t>
            </a:r>
            <a:endParaRPr lang="en-US" altLang="ko-KR" sz="12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ko-KR" altLang="en-US" sz="12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선택</a:t>
            </a:r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FF8C24B9-39D5-C9B5-2B41-66F88BC418E8}"/>
              </a:ext>
            </a:extLst>
          </p:cNvPr>
          <p:cNvSpPr/>
          <p:nvPr/>
        </p:nvSpPr>
        <p:spPr>
          <a:xfrm>
            <a:off x="2387733" y="4796659"/>
            <a:ext cx="1234577" cy="1068107"/>
          </a:xfrm>
          <a:prstGeom prst="roundRect">
            <a:avLst/>
          </a:prstGeom>
          <a:solidFill>
            <a:srgbClr val="002060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 err="1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봉안단</a:t>
            </a:r>
            <a:r>
              <a:rPr lang="ko-KR" altLang="en-US" sz="12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타입</a:t>
            </a:r>
            <a:endParaRPr lang="en-US" altLang="ko-KR" sz="12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ko-KR" altLang="en-US" sz="12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선택</a:t>
            </a:r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282D9B4E-1AB0-F5CB-D038-01BE8940BCDB}"/>
              </a:ext>
            </a:extLst>
          </p:cNvPr>
          <p:cNvSpPr/>
          <p:nvPr/>
        </p:nvSpPr>
        <p:spPr>
          <a:xfrm>
            <a:off x="4036716" y="4796659"/>
            <a:ext cx="1234577" cy="1068107"/>
          </a:xfrm>
          <a:prstGeom prst="roundRect">
            <a:avLst/>
          </a:prstGeom>
          <a:solidFill>
            <a:srgbClr val="002060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단 위치</a:t>
            </a:r>
            <a:endParaRPr lang="en-US" altLang="ko-KR" sz="12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ko-KR" altLang="en-US" sz="12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선택</a:t>
            </a:r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A31DFC6B-5A0F-307D-59B6-7353685436CE}"/>
              </a:ext>
            </a:extLst>
          </p:cNvPr>
          <p:cNvSpPr/>
          <p:nvPr/>
        </p:nvSpPr>
        <p:spPr>
          <a:xfrm>
            <a:off x="5685699" y="4796659"/>
            <a:ext cx="1234577" cy="1068107"/>
          </a:xfrm>
          <a:prstGeom prst="roundRect">
            <a:avLst/>
          </a:prstGeom>
          <a:solidFill>
            <a:srgbClr val="002060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사용권</a:t>
            </a:r>
            <a:endParaRPr lang="en-US" altLang="ko-KR" sz="12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ko-KR" altLang="en-US" sz="12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</a:t>
            </a:r>
          </a:p>
        </p:txBody>
      </p: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3D381F6D-CC07-E8A6-04C8-49E2851104D1}"/>
              </a:ext>
            </a:extLst>
          </p:cNvPr>
          <p:cNvSpPr/>
          <p:nvPr/>
        </p:nvSpPr>
        <p:spPr>
          <a:xfrm>
            <a:off x="7334683" y="4796659"/>
            <a:ext cx="1234577" cy="1068107"/>
          </a:xfrm>
          <a:prstGeom prst="roundRect">
            <a:avLst/>
          </a:prstGeom>
          <a:solidFill>
            <a:srgbClr val="002060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관리비</a:t>
            </a:r>
            <a:endParaRPr lang="en-US" altLang="ko-KR" sz="12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ko-KR" altLang="en-US" sz="12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납부</a:t>
            </a: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E8964489-205A-6F8F-44E8-2246DE038A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297031"/>
              </p:ext>
            </p:extLst>
          </p:nvPr>
        </p:nvGraphicFramePr>
        <p:xfrm>
          <a:off x="9182101" y="947377"/>
          <a:ext cx="2795588" cy="1847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1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선택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봉인실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타입 선택 부분으로 이동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684046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선택 시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졸랑단타입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 선택 부분으로 이동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723838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3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선택 시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단위치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 선택 부분으로 이동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172599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4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선택 시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사용권 계약 부분으로 이동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290794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5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선택 시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관리비 납부 부분으로 이동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922450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6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784800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7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0538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8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199337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9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450365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087862F1-C7C5-3937-4946-CB57C9A56311}"/>
              </a:ext>
            </a:extLst>
          </p:cNvPr>
          <p:cNvSpPr/>
          <p:nvPr/>
        </p:nvSpPr>
        <p:spPr>
          <a:xfrm>
            <a:off x="959895" y="375614"/>
            <a:ext cx="1374094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</a:pP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메인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분양안내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분양절차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A3923F4-8ABF-378B-F9DE-556C9B78490C}"/>
              </a:ext>
            </a:extLst>
          </p:cNvPr>
          <p:cNvSpPr txBox="1"/>
          <p:nvPr/>
        </p:nvSpPr>
        <p:spPr>
          <a:xfrm>
            <a:off x="6003996" y="123825"/>
            <a:ext cx="17303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HN_DistriInfo_Distriproce_001</a:t>
            </a:r>
            <a:endParaRPr lang="ko-KR" altLang="en-US" sz="800" dirty="0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70DC1186-06E9-4F8F-FDA3-ECCEC53EF6F4}"/>
              </a:ext>
            </a:extLst>
          </p:cNvPr>
          <p:cNvGrpSpPr/>
          <p:nvPr/>
        </p:nvGrpSpPr>
        <p:grpSpPr>
          <a:xfrm>
            <a:off x="161925" y="797629"/>
            <a:ext cx="8953500" cy="851943"/>
            <a:chOff x="161925" y="797629"/>
            <a:chExt cx="8953500" cy="851943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1569D1DC-5CC0-4E3C-6E31-D2DC5E0735C8}"/>
                </a:ext>
              </a:extLst>
            </p:cNvPr>
            <p:cNvSpPr/>
            <p:nvPr/>
          </p:nvSpPr>
          <p:spPr>
            <a:xfrm>
              <a:off x="4144448" y="797629"/>
              <a:ext cx="942784" cy="35821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800" b="1" dirty="0">
                  <a:solidFill>
                    <a:srgbClr val="FF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CI</a:t>
              </a:r>
            </a:p>
          </p:txBody>
        </p: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43859C40-DFB9-E0A1-A8C1-7E27089FF46F}"/>
                </a:ext>
              </a:extLst>
            </p:cNvPr>
            <p:cNvCxnSpPr/>
            <p:nvPr/>
          </p:nvCxnSpPr>
          <p:spPr>
            <a:xfrm>
              <a:off x="161925" y="1649572"/>
              <a:ext cx="8953500" cy="0"/>
            </a:xfrm>
            <a:prstGeom prst="line">
              <a:avLst/>
            </a:prstGeom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8534CAE-6E0C-FF72-2F77-ED4ABE69C680}"/>
                </a:ext>
              </a:extLst>
            </p:cNvPr>
            <p:cNvSpPr txBox="1"/>
            <p:nvPr/>
          </p:nvSpPr>
          <p:spPr>
            <a:xfrm>
              <a:off x="2031551" y="1301804"/>
              <a:ext cx="120364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하늘누리소개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0DAB4EC2-FB01-CA6E-8FC5-4A3CA5B5DA31}"/>
                </a:ext>
              </a:extLst>
            </p:cNvPr>
            <p:cNvSpPr txBox="1"/>
            <p:nvPr/>
          </p:nvSpPr>
          <p:spPr>
            <a:xfrm>
              <a:off x="3239720" y="1301804"/>
              <a:ext cx="9144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시설안내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A24C76B0-FE99-7EEE-76B1-315911ECB890}"/>
                </a:ext>
              </a:extLst>
            </p:cNvPr>
            <p:cNvSpPr txBox="1"/>
            <p:nvPr/>
          </p:nvSpPr>
          <p:spPr>
            <a:xfrm>
              <a:off x="4158640" y="1301804"/>
              <a:ext cx="9144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분양안내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BA53DAE5-2F65-3A10-2129-3194AEAA882F}"/>
                </a:ext>
              </a:extLst>
            </p:cNvPr>
            <p:cNvSpPr txBox="1"/>
            <p:nvPr/>
          </p:nvSpPr>
          <p:spPr>
            <a:xfrm>
              <a:off x="5077560" y="1301804"/>
              <a:ext cx="119120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사이버추모관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F1809DDD-87AB-03A6-5EF8-E13D596C6B61}"/>
                </a:ext>
              </a:extLst>
            </p:cNvPr>
            <p:cNvSpPr txBox="1"/>
            <p:nvPr/>
          </p:nvSpPr>
          <p:spPr>
            <a:xfrm>
              <a:off x="6273289" y="1301804"/>
              <a:ext cx="9144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고객센터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B9A165B-4006-5B40-79A7-69541F3FCC94}"/>
                </a:ext>
              </a:extLst>
            </p:cNvPr>
            <p:cNvSpPr txBox="1"/>
            <p:nvPr/>
          </p:nvSpPr>
          <p:spPr>
            <a:xfrm>
              <a:off x="7734300" y="817862"/>
              <a:ext cx="79388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b="1">
                  <a:latin typeface="나눔고딕" panose="020D0604000000000000" pitchFamily="50" charset="-127"/>
                  <a:ea typeface="나눔고딕" panose="020D0604000000000000" pitchFamily="50" charset="-127"/>
                </a:rPr>
                <a:t>비밀번호변경</a:t>
              </a:r>
              <a:endParaRPr lang="ko-KR" altLang="en-US" sz="8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E1994240-6469-1F96-5072-3F1BDCF90AE1}"/>
                </a:ext>
              </a:extLst>
            </p:cNvPr>
            <p:cNvSpPr txBox="1"/>
            <p:nvPr/>
          </p:nvSpPr>
          <p:spPr>
            <a:xfrm>
              <a:off x="8472200" y="817862"/>
              <a:ext cx="58783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로그아웃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156A5365-F5A9-5403-649B-76890BACBD14}"/>
                </a:ext>
              </a:extLst>
            </p:cNvPr>
            <p:cNvSpPr txBox="1"/>
            <p:nvPr/>
          </p:nvSpPr>
          <p:spPr>
            <a:xfrm>
              <a:off x="7203231" y="817862"/>
              <a:ext cx="65313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나의정보</a:t>
              </a: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DD9DED2A-93B3-BAB3-98D6-05956C76624E}"/>
              </a:ext>
            </a:extLst>
          </p:cNvPr>
          <p:cNvSpPr txBox="1"/>
          <p:nvPr/>
        </p:nvSpPr>
        <p:spPr>
          <a:xfrm>
            <a:off x="158621" y="1704392"/>
            <a:ext cx="314441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HOME &gt; </a:t>
            </a:r>
            <a:r>
              <a:rPr lang="ko-KR" altLang="en-US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분양안내 </a:t>
            </a:r>
            <a:r>
              <a:rPr lang="en-US" altLang="ko-KR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분양절차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7ACB22-8B9C-D7A7-1DF1-ED4228DE0474}"/>
              </a:ext>
            </a:extLst>
          </p:cNvPr>
          <p:cNvSpPr txBox="1"/>
          <p:nvPr/>
        </p:nvSpPr>
        <p:spPr>
          <a:xfrm>
            <a:off x="2791996" y="1866963"/>
            <a:ext cx="36895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분양 절차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447F434-29F2-8234-05FB-F0A4A85D7CD0}"/>
              </a:ext>
            </a:extLst>
          </p:cNvPr>
          <p:cNvSpPr txBox="1"/>
          <p:nvPr/>
        </p:nvSpPr>
        <p:spPr>
          <a:xfrm>
            <a:off x="1730829" y="2547785"/>
            <a:ext cx="5768660" cy="9821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2100"/>
              </a:lnSpc>
              <a:spcAft>
                <a:spcPts val="900"/>
              </a:spcAft>
            </a:pPr>
            <a:r>
              <a:rPr lang="en-US" altLang="ko-KR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"</a:t>
            </a:r>
            <a:r>
              <a:rPr lang="ko-KR" altLang="en-US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가장 소중한 마지막 준비</a:t>
            </a:r>
            <a:r>
              <a:rPr lang="en-US" altLang="ko-KR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하늘누리가 정성을 다해 동행하겠습니다</a:t>
            </a:r>
            <a:r>
              <a:rPr lang="en-US" altLang="ko-KR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.“</a:t>
            </a:r>
          </a:p>
          <a:p>
            <a:pPr algn="ctr">
              <a:lnSpc>
                <a:spcPts val="2100"/>
              </a:lnSpc>
              <a:spcAft>
                <a:spcPts val="900"/>
              </a:spcAft>
            </a:pPr>
            <a:r>
              <a:rPr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복잡하고 어려운 절차는 저희에게 맡기세요</a:t>
            </a:r>
            <a:r>
              <a:rPr lang="en-US" altLang="ko-KR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유족의 마음으로 하나하나 세밀하게 살펴</a:t>
            </a:r>
            <a:r>
              <a:rPr lang="en-US" altLang="ko-KR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고인을 모시는 길이 오직 평온한 추억으로만 기억되도록 돕겠습니다</a:t>
            </a:r>
            <a:r>
              <a:rPr lang="en-US" altLang="ko-KR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11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4C75A897-6794-670F-34A9-71B984D1F1BC}"/>
              </a:ext>
            </a:extLst>
          </p:cNvPr>
          <p:cNvGrpSpPr/>
          <p:nvPr/>
        </p:nvGrpSpPr>
        <p:grpSpPr>
          <a:xfrm>
            <a:off x="959895" y="3644901"/>
            <a:ext cx="7806220" cy="463039"/>
            <a:chOff x="959895" y="3644901"/>
            <a:chExt cx="7806220" cy="463039"/>
          </a:xfrm>
        </p:grpSpPr>
        <p:cxnSp>
          <p:nvCxnSpPr>
            <p:cNvPr id="10" name="Line 1">
              <a:extLst>
                <a:ext uri="{FF2B5EF4-FFF2-40B4-BE49-F238E27FC236}">
                  <a16:creationId xmlns:a16="http://schemas.microsoft.com/office/drawing/2014/main" id="{AA5B1AA6-63D4-EF6B-FF2F-50DE5F4CACA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59895" y="4070774"/>
              <a:ext cx="670300" cy="0"/>
            </a:xfrm>
            <a:prstGeom prst="line">
              <a:avLst/>
            </a:prstGeom>
            <a:solidFill>
              <a:srgbClr val="FFFFFF"/>
            </a:solidFill>
            <a:ln w="12700">
              <a:solidFill>
                <a:srgbClr val="80808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Line 2">
              <a:extLst>
                <a:ext uri="{FF2B5EF4-FFF2-40B4-BE49-F238E27FC236}">
                  <a16:creationId xmlns:a16="http://schemas.microsoft.com/office/drawing/2014/main" id="{D16F0F2C-9FE6-83E4-0644-E291260F8ADD}"/>
                </a:ext>
              </a:extLst>
            </p:cNvPr>
            <p:cNvCxnSpPr>
              <a:cxnSpLocks/>
            </p:cNvCxnSpPr>
            <p:nvPr/>
          </p:nvCxnSpPr>
          <p:spPr>
            <a:xfrm>
              <a:off x="3992453" y="4098904"/>
              <a:ext cx="4773662" cy="9036"/>
            </a:xfrm>
            <a:prstGeom prst="line">
              <a:avLst/>
            </a:prstGeom>
            <a:solidFill>
              <a:srgbClr val="FFFFFF"/>
            </a:solidFill>
            <a:ln w="12700">
              <a:solidFill>
                <a:srgbClr val="80808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ab Selected">
              <a:extLst>
                <a:ext uri="{FF2B5EF4-FFF2-40B4-BE49-F238E27FC236}">
                  <a16:creationId xmlns:a16="http://schemas.microsoft.com/office/drawing/2014/main" id="{023793A3-BA31-3074-06E2-925A2B6FEF47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9528" y="3644901"/>
              <a:ext cx="2382925" cy="433856"/>
            </a:xfrm>
            <a:custGeom>
              <a:avLst/>
              <a:gdLst>
                <a:gd name="T0" fmla="*/ 0 w 2218"/>
                <a:gd name="T1" fmla="*/ 670 h 670"/>
                <a:gd name="T2" fmla="*/ 0 w 2218"/>
                <a:gd name="T3" fmla="*/ 0 h 670"/>
                <a:gd name="T4" fmla="*/ 2218 w 2218"/>
                <a:gd name="T5" fmla="*/ 0 h 670"/>
                <a:gd name="T6" fmla="*/ 2218 w 2218"/>
                <a:gd name="T7" fmla="*/ 670 h 6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218" h="670">
                  <a:moveTo>
                    <a:pt x="0" y="670"/>
                  </a:moveTo>
                  <a:lnTo>
                    <a:pt x="0" y="0"/>
                  </a:lnTo>
                  <a:lnTo>
                    <a:pt x="2218" y="0"/>
                  </a:lnTo>
                  <a:lnTo>
                    <a:pt x="2218" y="670"/>
                  </a:lnTo>
                </a:path>
              </a:pathLst>
            </a:custGeom>
            <a:solidFill>
              <a:schemeClr val="bg1"/>
            </a:solidFill>
            <a:ln w="6350" cap="sq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90000"/>
                </a:lnSpc>
                <a:defRPr/>
              </a:pPr>
              <a:r>
                <a:rPr lang="ko-KR" altLang="en-US" sz="1600" b="1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Segoe UI" panose="020B0502040204020203" pitchFamily="34" charset="0"/>
                </a:rPr>
                <a:t>봉안당</a:t>
              </a:r>
              <a:r>
                <a:rPr lang="en-US" altLang="ko-KR" sz="1600" b="1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Segoe UI" panose="020B0502040204020203" pitchFamily="34" charset="0"/>
                </a:rPr>
                <a:t>(</a:t>
              </a:r>
              <a:r>
                <a:rPr lang="ko-KR" altLang="en-US" sz="1600" b="1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Segoe UI" panose="020B0502040204020203" pitchFamily="34" charset="0"/>
                </a:rPr>
                <a:t>하늘누리관</a:t>
              </a:r>
              <a:r>
                <a:rPr lang="en-US" altLang="ko-KR" sz="1600" b="1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Segoe UI" panose="020B0502040204020203" pitchFamily="34" charset="0"/>
                </a:rPr>
                <a:t>)</a:t>
              </a:r>
            </a:p>
          </p:txBody>
        </p:sp>
        <p:sp>
          <p:nvSpPr>
            <p:cNvPr id="16" name="Tab">
              <a:extLst>
                <a:ext uri="{FF2B5EF4-FFF2-40B4-BE49-F238E27FC236}">
                  <a16:creationId xmlns:a16="http://schemas.microsoft.com/office/drawing/2014/main" id="{8836BEB4-F50A-FD63-95B2-C45695094C9A}"/>
                </a:ext>
              </a:extLst>
            </p:cNvPr>
            <p:cNvSpPr/>
            <p:nvPr/>
          </p:nvSpPr>
          <p:spPr>
            <a:xfrm>
              <a:off x="3992453" y="3665049"/>
              <a:ext cx="2410851" cy="43385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90000"/>
                </a:lnSpc>
                <a:defRPr/>
              </a:pPr>
              <a:r>
                <a:rPr lang="ko-KR" altLang="en-US" sz="16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Segoe UI" panose="020B0502040204020203" pitchFamily="34" charset="0"/>
                </a:rPr>
                <a:t>수목장</a:t>
              </a:r>
              <a:r>
                <a:rPr lang="en-US" altLang="ko-KR" sz="16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Segoe UI" panose="020B0502040204020203" pitchFamily="34" charset="0"/>
                </a:rPr>
                <a:t>(</a:t>
              </a:r>
              <a:r>
                <a:rPr lang="ko-KR" altLang="en-US" sz="16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Segoe UI" panose="020B0502040204020203" pitchFamily="34" charset="0"/>
                </a:rPr>
                <a:t>자연장</a:t>
              </a:r>
              <a:r>
                <a:rPr lang="en-US" altLang="ko-KR" sz="16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Segoe UI" panose="020B0502040204020203" pitchFamily="34" charset="0"/>
                </a:rPr>
                <a:t>)</a:t>
              </a:r>
              <a:endParaRPr lang="en-US" sz="16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Segoe UI" panose="020B0502040204020203" pitchFamily="34" charset="0"/>
              </a:endParaRPr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FD5F9943-4495-1AB9-CB15-649660651F95}"/>
              </a:ext>
            </a:extLst>
          </p:cNvPr>
          <p:cNvSpPr txBox="1"/>
          <p:nvPr/>
        </p:nvSpPr>
        <p:spPr>
          <a:xfrm>
            <a:off x="473483" y="4315714"/>
            <a:ext cx="108949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en-US" altLang="ko-KR" sz="4000" b="1" baseline="30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st</a:t>
            </a:r>
            <a:endParaRPr lang="en-US" altLang="ko-KR" sz="4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E7F37E3-36CF-74AB-1577-A70305F6887C}"/>
              </a:ext>
            </a:extLst>
          </p:cNvPr>
          <p:cNvSpPr txBox="1"/>
          <p:nvPr/>
        </p:nvSpPr>
        <p:spPr>
          <a:xfrm>
            <a:off x="1973326" y="4362328"/>
            <a:ext cx="108949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r>
              <a:rPr lang="en-US" altLang="ko-KR" sz="4000" b="1" baseline="30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nd</a:t>
            </a:r>
            <a:endParaRPr lang="en-US" altLang="ko-KR" sz="4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E302507-350A-5BC5-7616-611BC2125DA1}"/>
              </a:ext>
            </a:extLst>
          </p:cNvPr>
          <p:cNvSpPr txBox="1"/>
          <p:nvPr/>
        </p:nvSpPr>
        <p:spPr>
          <a:xfrm>
            <a:off x="3687249" y="4362328"/>
            <a:ext cx="108949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r>
              <a:rPr lang="en-US" altLang="ko-KR" sz="4000" b="1" baseline="30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rd</a:t>
            </a:r>
            <a:endParaRPr lang="en-US" altLang="ko-KR" sz="4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F651AE4-DB15-C1C5-5C46-A04BF6060F8C}"/>
              </a:ext>
            </a:extLst>
          </p:cNvPr>
          <p:cNvSpPr txBox="1"/>
          <p:nvPr/>
        </p:nvSpPr>
        <p:spPr>
          <a:xfrm>
            <a:off x="5300767" y="4364312"/>
            <a:ext cx="108949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r>
            <a:r>
              <a:rPr lang="en-US" altLang="ko-KR" sz="4000" b="1" baseline="30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th</a:t>
            </a:r>
            <a:endParaRPr lang="en-US" altLang="ko-KR" sz="4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260F579-A2E5-AAC8-DEAB-B677975757F5}"/>
              </a:ext>
            </a:extLst>
          </p:cNvPr>
          <p:cNvSpPr txBox="1"/>
          <p:nvPr/>
        </p:nvSpPr>
        <p:spPr>
          <a:xfrm>
            <a:off x="6956697" y="4364312"/>
            <a:ext cx="108949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5</a:t>
            </a:r>
            <a:r>
              <a:rPr lang="en-US" altLang="ko-KR" sz="4000" b="1" baseline="30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th</a:t>
            </a:r>
            <a:endParaRPr lang="en-US" altLang="ko-KR" sz="4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355246F-0A80-B48F-543F-BAFFABCC1FE9}"/>
              </a:ext>
            </a:extLst>
          </p:cNvPr>
          <p:cNvSpPr txBox="1"/>
          <p:nvPr/>
        </p:nvSpPr>
        <p:spPr>
          <a:xfrm>
            <a:off x="921585" y="5980182"/>
            <a:ext cx="86890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" panose="020D0604000000000000" pitchFamily="50" charset="-127"/>
                <a:ea typeface="나눔고딕" panose="020D0604000000000000" pitchFamily="50" charset="-127"/>
              </a:rPr>
              <a:t>More</a:t>
            </a:r>
            <a:endParaRPr lang="ko-KR" altLang="en-US" sz="9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CC94212-5209-8AA1-C15C-101143F0DD7E}"/>
              </a:ext>
            </a:extLst>
          </p:cNvPr>
          <p:cNvSpPr txBox="1"/>
          <p:nvPr/>
        </p:nvSpPr>
        <p:spPr>
          <a:xfrm>
            <a:off x="2573639" y="5980182"/>
            <a:ext cx="86890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" panose="020D0604000000000000" pitchFamily="50" charset="-127"/>
                <a:ea typeface="나눔고딕" panose="020D0604000000000000" pitchFamily="50" charset="-127"/>
              </a:rPr>
              <a:t>More</a:t>
            </a:r>
            <a:endParaRPr lang="ko-KR" altLang="en-US" sz="9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700C4E6-B496-58A6-D4E1-E810173E6B8C}"/>
              </a:ext>
            </a:extLst>
          </p:cNvPr>
          <p:cNvSpPr txBox="1"/>
          <p:nvPr/>
        </p:nvSpPr>
        <p:spPr>
          <a:xfrm>
            <a:off x="4225693" y="5980182"/>
            <a:ext cx="86890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" panose="020D0604000000000000" pitchFamily="50" charset="-127"/>
                <a:ea typeface="나눔고딕" panose="020D0604000000000000" pitchFamily="50" charset="-127"/>
              </a:rPr>
              <a:t>More</a:t>
            </a:r>
            <a:endParaRPr lang="ko-KR" altLang="en-US" sz="9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AF35499-4341-AA90-29B0-70100F386D8F}"/>
              </a:ext>
            </a:extLst>
          </p:cNvPr>
          <p:cNvSpPr txBox="1"/>
          <p:nvPr/>
        </p:nvSpPr>
        <p:spPr>
          <a:xfrm>
            <a:off x="5877747" y="5980182"/>
            <a:ext cx="86890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" panose="020D0604000000000000" pitchFamily="50" charset="-127"/>
                <a:ea typeface="나눔고딕" panose="020D0604000000000000" pitchFamily="50" charset="-127"/>
              </a:rPr>
              <a:t>More</a:t>
            </a:r>
            <a:endParaRPr lang="ko-KR" altLang="en-US" sz="9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C1ABDF6-2174-2B53-9510-FCB48BCBD35A}"/>
              </a:ext>
            </a:extLst>
          </p:cNvPr>
          <p:cNvSpPr txBox="1"/>
          <p:nvPr/>
        </p:nvSpPr>
        <p:spPr>
          <a:xfrm>
            <a:off x="7529800" y="5980182"/>
            <a:ext cx="86890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" panose="020D0604000000000000" pitchFamily="50" charset="-127"/>
                <a:ea typeface="나눔고딕" panose="020D0604000000000000" pitchFamily="50" charset="-127"/>
              </a:rPr>
              <a:t>More</a:t>
            </a:r>
            <a:endParaRPr lang="ko-KR" altLang="en-US" sz="9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" name="Oval 109">
            <a:extLst>
              <a:ext uri="{FF2B5EF4-FFF2-40B4-BE49-F238E27FC236}">
                <a16:creationId xmlns:a16="http://schemas.microsoft.com/office/drawing/2014/main" id="{FE289056-92A3-6A57-004D-B1C0EB3A0C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1832" y="5922798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1</a:t>
            </a:r>
          </a:p>
        </p:txBody>
      </p:sp>
      <p:sp>
        <p:nvSpPr>
          <p:cNvPr id="17" name="Oval 109">
            <a:extLst>
              <a:ext uri="{FF2B5EF4-FFF2-40B4-BE49-F238E27FC236}">
                <a16:creationId xmlns:a16="http://schemas.microsoft.com/office/drawing/2014/main" id="{F3AF4D24-BDB1-FB2D-BB01-4C315CFF13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3375" y="5922798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2</a:t>
            </a:r>
          </a:p>
        </p:txBody>
      </p:sp>
      <p:sp>
        <p:nvSpPr>
          <p:cNvPr id="19" name="Oval 109">
            <a:extLst>
              <a:ext uri="{FF2B5EF4-FFF2-40B4-BE49-F238E27FC236}">
                <a16:creationId xmlns:a16="http://schemas.microsoft.com/office/drawing/2014/main" id="{03B9A787-FE88-4C6C-B44B-CA93C95513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5561" y="5922798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3</a:t>
            </a:r>
          </a:p>
        </p:txBody>
      </p:sp>
      <p:sp>
        <p:nvSpPr>
          <p:cNvPr id="20" name="Oval 109">
            <a:extLst>
              <a:ext uri="{FF2B5EF4-FFF2-40B4-BE49-F238E27FC236}">
                <a16:creationId xmlns:a16="http://schemas.microsoft.com/office/drawing/2014/main" id="{5CC20E0E-BCED-D939-777A-1DDA388118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72785" y="5922798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4</a:t>
            </a:r>
          </a:p>
        </p:txBody>
      </p:sp>
      <p:sp>
        <p:nvSpPr>
          <p:cNvPr id="21" name="Oval 109">
            <a:extLst>
              <a:ext uri="{FF2B5EF4-FFF2-40B4-BE49-F238E27FC236}">
                <a16:creationId xmlns:a16="http://schemas.microsoft.com/office/drawing/2014/main" id="{01B19A50-CBF5-9227-07D0-312151FDE6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90841" y="5922798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66C6AA9-FAC2-29C0-4665-28AD02448647}"/>
              </a:ext>
            </a:extLst>
          </p:cNvPr>
          <p:cNvSpPr txBox="1"/>
          <p:nvPr/>
        </p:nvSpPr>
        <p:spPr>
          <a:xfrm rot="19349954">
            <a:off x="6486004" y="2384462"/>
            <a:ext cx="267148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하늘누리 분양안내 </a:t>
            </a:r>
            <a:r>
              <a:rPr lang="ko-KR" altLang="en-US" sz="32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확인 후 수정 필요</a:t>
            </a:r>
          </a:p>
        </p:txBody>
      </p:sp>
    </p:spTree>
    <p:extLst>
      <p:ext uri="{BB962C8B-B14F-4D97-AF65-F5344CB8AC3E}">
        <p14:creationId xmlns:p14="http://schemas.microsoft.com/office/powerpoint/2010/main" val="122974273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E8D7C0-ECF5-16A2-8D8E-B7B46FFF9F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6F6E8935-E27D-1573-F70B-8C3E59CE7617}"/>
              </a:ext>
            </a:extLst>
          </p:cNvPr>
          <p:cNvGraphicFramePr>
            <a:graphicFrameLocks noGrp="1"/>
          </p:cNvGraphicFramePr>
          <p:nvPr/>
        </p:nvGraphicFramePr>
        <p:xfrm>
          <a:off x="9182101" y="947377"/>
          <a:ext cx="2795588" cy="1847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1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684046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723838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3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172599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4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290794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5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922450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6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784800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7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0538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8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199337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9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450365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AF130048-0B18-02AC-D896-1C643F2A18DA}"/>
              </a:ext>
            </a:extLst>
          </p:cNvPr>
          <p:cNvSpPr/>
          <p:nvPr/>
        </p:nvSpPr>
        <p:spPr>
          <a:xfrm>
            <a:off x="959895" y="375614"/>
            <a:ext cx="1374094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</a:pP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메인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분양안내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분양절차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7CEF2F4-0377-4BBC-E644-20F9C3A861C5}"/>
              </a:ext>
            </a:extLst>
          </p:cNvPr>
          <p:cNvSpPr txBox="1"/>
          <p:nvPr/>
        </p:nvSpPr>
        <p:spPr>
          <a:xfrm>
            <a:off x="6003996" y="123825"/>
            <a:ext cx="17303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HN_DistriInfo_Distriproce_001</a:t>
            </a:r>
            <a:endParaRPr lang="ko-KR" altLang="en-US" sz="8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15B2D0B-50D0-9203-09B8-0525F85B4F6F}"/>
              </a:ext>
            </a:extLst>
          </p:cNvPr>
          <p:cNvSpPr txBox="1"/>
          <p:nvPr/>
        </p:nvSpPr>
        <p:spPr>
          <a:xfrm>
            <a:off x="3566570" y="2782002"/>
            <a:ext cx="6260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en-US" altLang="ko-KR" sz="2000" b="1" baseline="30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st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9994A5D-0C12-ACEE-18A8-5A594AA5710E}"/>
              </a:ext>
            </a:extLst>
          </p:cNvPr>
          <p:cNvSpPr txBox="1"/>
          <p:nvPr/>
        </p:nvSpPr>
        <p:spPr>
          <a:xfrm>
            <a:off x="4094536" y="2843557"/>
            <a:ext cx="14113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봉안실 타입 선택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57961CA-9C11-2CAE-F44F-7AA0C4012A1C}"/>
              </a:ext>
            </a:extLst>
          </p:cNvPr>
          <p:cNvSpPr txBox="1"/>
          <p:nvPr/>
        </p:nvSpPr>
        <p:spPr>
          <a:xfrm>
            <a:off x="1884411" y="3182111"/>
            <a:ext cx="54704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하늘누리 봉안당은 지하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층부터 지상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층까지 다양한 타입의 봉안실을 갖추고 있습니다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 algn="ctr"/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고인의 성향과 가족의 추모 방식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예산에 맞춰 가장 적합한 공간을 선택하실 수 있습니다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D2172282-816F-8A0B-04C2-9CFFD58FC237}"/>
              </a:ext>
            </a:extLst>
          </p:cNvPr>
          <p:cNvSpPr/>
          <p:nvPr/>
        </p:nvSpPr>
        <p:spPr>
          <a:xfrm>
            <a:off x="228090" y="808384"/>
            <a:ext cx="8841440" cy="1847376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IMAGE</a:t>
            </a:r>
            <a:endParaRPr lang="ko-KR" altLang="en-US" sz="28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20" name="표 19">
            <a:extLst>
              <a:ext uri="{FF2B5EF4-FFF2-40B4-BE49-F238E27FC236}">
                <a16:creationId xmlns:a16="http://schemas.microsoft.com/office/drawing/2014/main" id="{8DAE836D-CB91-594C-519A-5D5803D314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569190"/>
              </p:ext>
            </p:extLst>
          </p:nvPr>
        </p:nvGraphicFramePr>
        <p:xfrm>
          <a:off x="743152" y="3815921"/>
          <a:ext cx="7752945" cy="1231584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020271">
                  <a:extLst>
                    <a:ext uri="{9D8B030D-6E8A-4147-A177-3AD203B41FA5}">
                      <a16:colId xmlns:a16="http://schemas.microsoft.com/office/drawing/2014/main" val="1553538150"/>
                    </a:ext>
                  </a:extLst>
                </a:gridCol>
                <a:gridCol w="1020271">
                  <a:extLst>
                    <a:ext uri="{9D8B030D-6E8A-4147-A177-3AD203B41FA5}">
                      <a16:colId xmlns:a16="http://schemas.microsoft.com/office/drawing/2014/main" val="1005073696"/>
                    </a:ext>
                  </a:extLst>
                </a:gridCol>
                <a:gridCol w="2142351">
                  <a:extLst>
                    <a:ext uri="{9D8B030D-6E8A-4147-A177-3AD203B41FA5}">
                      <a16:colId xmlns:a16="http://schemas.microsoft.com/office/drawing/2014/main" val="2912823855"/>
                    </a:ext>
                  </a:extLst>
                </a:gridCol>
                <a:gridCol w="2062264">
                  <a:extLst>
                    <a:ext uri="{9D8B030D-6E8A-4147-A177-3AD203B41FA5}">
                      <a16:colId xmlns:a16="http://schemas.microsoft.com/office/drawing/2014/main" val="420109590"/>
                    </a:ext>
                  </a:extLst>
                </a:gridCol>
                <a:gridCol w="1507788">
                  <a:extLst>
                    <a:ext uri="{9D8B030D-6E8A-4147-A177-3AD203B41FA5}">
                      <a16:colId xmlns:a16="http://schemas.microsoft.com/office/drawing/2014/main" val="21308472"/>
                    </a:ext>
                  </a:extLst>
                </a:gridCol>
              </a:tblGrid>
              <a:tr h="30789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타입</a:t>
                      </a:r>
                      <a:endParaRPr lang="en-US" altLang="ko-KR" sz="10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위치</a:t>
                      </a:r>
                      <a:endParaRPr lang="en-US" altLang="ko-KR" sz="10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특징</a:t>
                      </a:r>
                      <a:endParaRPr lang="en-US" altLang="ko-KR" sz="10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적합한 분</a:t>
                      </a:r>
                      <a:endParaRPr lang="en-US" altLang="ko-KR" sz="10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가격대</a:t>
                      </a:r>
                      <a:endParaRPr lang="en-US" altLang="ko-KR" sz="10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0268165"/>
                  </a:ext>
                </a:extLst>
              </a:tr>
              <a:tr h="307896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일반 봉안실</a:t>
                      </a:r>
                      <a:endParaRPr lang="en-US" altLang="ko-KR" sz="10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1~3 </a:t>
                      </a:r>
                      <a:r>
                        <a:rPr lang="ko-KR" altLang="en-US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층</a:t>
                      </a:r>
                      <a:endParaRPr lang="en-US" altLang="ko-KR" sz="10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개인형 </a:t>
                      </a:r>
                      <a:r>
                        <a:rPr lang="en-US" altLang="ko-KR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(1</a:t>
                      </a:r>
                      <a:r>
                        <a:rPr lang="ko-KR" altLang="en-US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위</a:t>
                      </a:r>
                      <a:r>
                        <a:rPr lang="en-US" altLang="ko-KR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 </a:t>
                      </a:r>
                      <a:r>
                        <a:rPr lang="ko-KR" altLang="en-US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투명 유리문 자연 채광</a:t>
                      </a:r>
                      <a:endParaRPr lang="en-US" altLang="ko-KR" sz="10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개인 안치를 원하시는 분</a:t>
                      </a:r>
                      <a:endParaRPr lang="en-US" altLang="ko-KR" sz="10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200 </a:t>
                      </a:r>
                      <a:r>
                        <a:rPr lang="ko-KR" altLang="en-US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만원 </a:t>
                      </a:r>
                      <a:r>
                        <a:rPr lang="en-US" altLang="ko-KR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~ 800 </a:t>
                      </a:r>
                      <a:r>
                        <a:rPr lang="ko-KR" altLang="en-US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만원</a:t>
                      </a:r>
                      <a:endParaRPr lang="en-US" altLang="ko-KR" sz="10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1090331"/>
                  </a:ext>
                </a:extLst>
              </a:tr>
              <a:tr h="307896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가족 봉안실</a:t>
                      </a:r>
                      <a:endParaRPr lang="en-US" altLang="ko-KR" sz="10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지하 </a:t>
                      </a:r>
                      <a:r>
                        <a:rPr lang="en-US" altLang="ko-KR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r>
                        <a:rPr lang="ko-KR" altLang="en-US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층</a:t>
                      </a:r>
                      <a:r>
                        <a:rPr lang="en-US" altLang="ko-KR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~3</a:t>
                      </a:r>
                      <a:r>
                        <a:rPr lang="ko-KR" altLang="en-US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층</a:t>
                      </a:r>
                      <a:endParaRPr lang="en-US" altLang="ko-KR" sz="10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</a:t>
                      </a:r>
                      <a:r>
                        <a:rPr lang="ko-KR" altLang="en-US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위</a:t>
                      </a:r>
                      <a:r>
                        <a:rPr lang="en-US" altLang="ko-KR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/6</a:t>
                      </a:r>
                      <a:r>
                        <a:rPr lang="ko-KR" altLang="en-US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위</a:t>
                      </a:r>
                      <a:r>
                        <a:rPr lang="en-US" altLang="ko-KR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ko-KR" altLang="en-US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가족 통합 공간 맞춤 인테리어</a:t>
                      </a:r>
                      <a:endParaRPr lang="en-US" altLang="ko-KR" sz="10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가족 함께 모시고 싶은 분</a:t>
                      </a:r>
                      <a:endParaRPr lang="en-US" altLang="ko-KR" sz="10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600 </a:t>
                      </a:r>
                      <a:r>
                        <a:rPr lang="ko-KR" altLang="en-US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만원 </a:t>
                      </a:r>
                      <a:r>
                        <a:rPr lang="en-US" altLang="ko-KR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~ 3,000 </a:t>
                      </a:r>
                      <a:r>
                        <a:rPr lang="ko-KR" altLang="en-US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만원</a:t>
                      </a:r>
                      <a:endParaRPr lang="en-US" altLang="ko-KR" sz="10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0626559"/>
                  </a:ext>
                </a:extLst>
              </a:tr>
              <a:tr h="307896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프리미엄 봉안실</a:t>
                      </a:r>
                      <a:endParaRPr lang="en-US" altLang="ko-KR" sz="10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</a:t>
                      </a:r>
                      <a:r>
                        <a:rPr lang="ko-KR" altLang="en-US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층</a:t>
                      </a:r>
                      <a:endParaRPr lang="en-US" altLang="ko-KR" sz="10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u="none" dirty="0" err="1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스카이뷰</a:t>
                      </a:r>
                      <a:r>
                        <a:rPr lang="ko-KR" altLang="en-US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최상층 전망 독립 공간</a:t>
                      </a:r>
                      <a:endParaRPr lang="en-US" altLang="ko-KR" sz="10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품격과 전망을 중시하는 분</a:t>
                      </a:r>
                      <a:endParaRPr lang="en-US" altLang="ko-KR" sz="10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1,000 </a:t>
                      </a:r>
                      <a:r>
                        <a:rPr lang="ko-KR" altLang="en-US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만원 </a:t>
                      </a:r>
                      <a:r>
                        <a:rPr lang="en-US" altLang="ko-KR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~ 2,500 </a:t>
                      </a:r>
                      <a:r>
                        <a:rPr lang="ko-KR" altLang="en-US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만원</a:t>
                      </a:r>
                      <a:endParaRPr lang="en-US" altLang="ko-KR" sz="10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0662131"/>
                  </a:ext>
                </a:extLst>
              </a:tr>
            </a:tbl>
          </a:graphicData>
        </a:graphic>
      </p:graphicFrame>
      <p:sp>
        <p:nvSpPr>
          <p:cNvPr id="21" name="직사각형 20">
            <a:extLst>
              <a:ext uri="{FF2B5EF4-FFF2-40B4-BE49-F238E27FC236}">
                <a16:creationId xmlns:a16="http://schemas.microsoft.com/office/drawing/2014/main" id="{FD5B02FB-D4F6-EC1B-B5CA-D66EC09FAF85}"/>
              </a:ext>
            </a:extLst>
          </p:cNvPr>
          <p:cNvSpPr/>
          <p:nvPr/>
        </p:nvSpPr>
        <p:spPr>
          <a:xfrm>
            <a:off x="314626" y="5250800"/>
            <a:ext cx="4304999" cy="123158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IMAGE</a:t>
            </a:r>
            <a:endParaRPr lang="ko-KR" altLang="en-US" sz="28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37B49A9-C132-93D5-2894-96D83BF93FFB}"/>
              </a:ext>
            </a:extLst>
          </p:cNvPr>
          <p:cNvSpPr txBox="1"/>
          <p:nvPr/>
        </p:nvSpPr>
        <p:spPr>
          <a:xfrm>
            <a:off x="5505856" y="5250800"/>
            <a:ext cx="22868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일반 봉안실</a:t>
            </a:r>
            <a:r>
              <a:rPr lang="en-US" altLang="ko-KR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(Standard)</a:t>
            </a:r>
            <a:endParaRPr lang="ko-KR" altLang="en-US" sz="12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B07B325-D2A6-07B2-3C00-361C48B91DAE}"/>
              </a:ext>
            </a:extLst>
          </p:cNvPr>
          <p:cNvSpPr txBox="1"/>
          <p:nvPr/>
        </p:nvSpPr>
        <p:spPr>
          <a:xfrm>
            <a:off x="5184844" y="5524498"/>
            <a:ext cx="331125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개인형 안치단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(1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위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  <a:p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투명 유리문으로 고인 사진 및 유품 안치 가능</a:t>
            </a:r>
          </a:p>
          <a:p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자연 채광이 스며드는 쾌적한 공간</a:t>
            </a:r>
          </a:p>
          <a:p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화강석 또는 대리석 명패</a:t>
            </a:r>
          </a:p>
          <a:p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1~9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단 높이별 선택 가능</a:t>
            </a:r>
          </a:p>
          <a:p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층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2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층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3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층 층별 선택</a:t>
            </a:r>
          </a:p>
        </p:txBody>
      </p:sp>
    </p:spTree>
    <p:extLst>
      <p:ext uri="{BB962C8B-B14F-4D97-AF65-F5344CB8AC3E}">
        <p14:creationId xmlns:p14="http://schemas.microsoft.com/office/powerpoint/2010/main" val="124178469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B243EF-9053-F730-1199-1FC10F0E4D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3DD7FE85-AC57-2CAC-114B-A6F0E163956D}"/>
              </a:ext>
            </a:extLst>
          </p:cNvPr>
          <p:cNvGraphicFramePr>
            <a:graphicFrameLocks noGrp="1"/>
          </p:cNvGraphicFramePr>
          <p:nvPr/>
        </p:nvGraphicFramePr>
        <p:xfrm>
          <a:off x="9182101" y="947377"/>
          <a:ext cx="2795588" cy="1847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1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684046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723838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3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172599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4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290794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5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922450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6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784800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7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0538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8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199337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9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450365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40AD7968-A82A-2552-AC29-A5185EC125ED}"/>
              </a:ext>
            </a:extLst>
          </p:cNvPr>
          <p:cNvSpPr/>
          <p:nvPr/>
        </p:nvSpPr>
        <p:spPr>
          <a:xfrm>
            <a:off x="959895" y="375614"/>
            <a:ext cx="1374094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</a:pP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메인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분양안내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분양절차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5B64C18-6E8A-5B03-F342-9BB144FE36AC}"/>
              </a:ext>
            </a:extLst>
          </p:cNvPr>
          <p:cNvSpPr txBox="1"/>
          <p:nvPr/>
        </p:nvSpPr>
        <p:spPr>
          <a:xfrm>
            <a:off x="6003996" y="123825"/>
            <a:ext cx="17303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HN_DistriInfo_Distriproce_001</a:t>
            </a:r>
            <a:endParaRPr lang="ko-KR" altLang="en-US" sz="800" dirty="0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8FD460D4-3A8D-E580-14EA-D9EB3D844A67}"/>
              </a:ext>
            </a:extLst>
          </p:cNvPr>
          <p:cNvSpPr/>
          <p:nvPr/>
        </p:nvSpPr>
        <p:spPr>
          <a:xfrm>
            <a:off x="4716647" y="795532"/>
            <a:ext cx="4304999" cy="15340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IMAGE</a:t>
            </a:r>
            <a:endParaRPr lang="ko-KR" altLang="en-US" sz="28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D900DC2-6C1F-C5FD-55A6-8493599DE8C2}"/>
              </a:ext>
            </a:extLst>
          </p:cNvPr>
          <p:cNvSpPr txBox="1"/>
          <p:nvPr/>
        </p:nvSpPr>
        <p:spPr>
          <a:xfrm>
            <a:off x="1280907" y="795532"/>
            <a:ext cx="22868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가족 봉안실</a:t>
            </a:r>
            <a:r>
              <a:rPr lang="en-US" altLang="ko-KR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(Family)</a:t>
            </a:r>
            <a:endParaRPr lang="ko-KR" altLang="en-US" sz="12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CF1FD8E-E386-8CD9-F4C4-A53B6AEAD782}"/>
              </a:ext>
            </a:extLst>
          </p:cNvPr>
          <p:cNvSpPr txBox="1"/>
          <p:nvPr/>
        </p:nvSpPr>
        <p:spPr>
          <a:xfrm>
            <a:off x="959895" y="1069230"/>
            <a:ext cx="331125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가족 통합 안치단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(4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위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/6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위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  <a:p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가족 통합 명패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가족 이름 모두 새김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  <a:p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내부 인테리어 맞춤 가능</a:t>
            </a:r>
          </a:p>
          <a:p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독립 참배 공간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일부 구역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  <a:p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넓고 깊은 여유로운 설계</a:t>
            </a:r>
          </a:p>
          <a:p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</a:t>
            </a:r>
            <a:r>
              <a:rPr lang="ko-KR" altLang="en-US" sz="1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프라이빗한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추모 공간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1301CEA-DD4C-C777-4A93-64B45AA01023}"/>
              </a:ext>
            </a:extLst>
          </p:cNvPr>
          <p:cNvSpPr/>
          <p:nvPr/>
        </p:nvSpPr>
        <p:spPr>
          <a:xfrm>
            <a:off x="271811" y="2329532"/>
            <a:ext cx="4304999" cy="1709882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IMAGE</a:t>
            </a:r>
            <a:endParaRPr lang="ko-KR" altLang="en-US" sz="28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F4089B-2396-0A7D-A9F2-F62A32625939}"/>
              </a:ext>
            </a:extLst>
          </p:cNvPr>
          <p:cNvSpPr txBox="1"/>
          <p:nvPr/>
        </p:nvSpPr>
        <p:spPr>
          <a:xfrm>
            <a:off x="5629170" y="2442277"/>
            <a:ext cx="22868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프리미엄 봉안실</a:t>
            </a:r>
            <a:r>
              <a:rPr lang="en-US" altLang="ko-KR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(Fremium)</a:t>
            </a:r>
            <a:endParaRPr lang="ko-KR" altLang="en-US" sz="12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224D97C-231C-2922-3386-1D5BF733E852}"/>
              </a:ext>
            </a:extLst>
          </p:cNvPr>
          <p:cNvSpPr txBox="1"/>
          <p:nvPr/>
        </p:nvSpPr>
        <p:spPr>
          <a:xfrm>
            <a:off x="5308158" y="2715975"/>
            <a:ext cx="331125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층 최상층 위치</a:t>
            </a:r>
          </a:p>
          <a:p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전망대 인접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하늘누리 전경 조망</a:t>
            </a:r>
          </a:p>
          <a:p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자연 채광 극대화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천장 채광창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  <a:p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독립된 </a:t>
            </a:r>
            <a:r>
              <a:rPr lang="ko-KR" altLang="en-US" sz="1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프라이빗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공간</a:t>
            </a:r>
          </a:p>
          <a:p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맞춤형 인테리어 디자인 가능</a:t>
            </a:r>
          </a:p>
          <a:p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VIP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유족 대기실 우선 이용</a:t>
            </a:r>
          </a:p>
          <a:p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천연 대리석 명패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프리미엄 재질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  <a:p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전용 주차 공간 배정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1AB00C-1EB2-0371-6019-75BFE64F983A}"/>
              </a:ext>
            </a:extLst>
          </p:cNvPr>
          <p:cNvSpPr txBox="1"/>
          <p:nvPr/>
        </p:nvSpPr>
        <p:spPr>
          <a:xfrm>
            <a:off x="3523755" y="4152159"/>
            <a:ext cx="6260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r>
              <a:rPr lang="en-US" altLang="ko-KR" sz="2000" b="1" baseline="30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nd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D4D5736-8017-9BBA-F2F7-E242A3709EDA}"/>
              </a:ext>
            </a:extLst>
          </p:cNvPr>
          <p:cNvSpPr txBox="1"/>
          <p:nvPr/>
        </p:nvSpPr>
        <p:spPr>
          <a:xfrm>
            <a:off x="4051721" y="4213714"/>
            <a:ext cx="14113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봉안단 타입 선택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F25C8E7-F20C-263C-F45E-6FF968784013}"/>
              </a:ext>
            </a:extLst>
          </p:cNvPr>
          <p:cNvSpPr txBox="1"/>
          <p:nvPr/>
        </p:nvSpPr>
        <p:spPr>
          <a:xfrm>
            <a:off x="1230717" y="4552268"/>
            <a:ext cx="677781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하늘누리 봉안당의 안치단은 일반 봉안당보다 넓고 깊게 설계되어 여유로운 공간을 제공합니다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 algn="ctr"/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모든 안치단은 영구적인 견고성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완벽한 방습과 항균성을 갖춘 특허 소재로 제작되어 유골을 원형 그대로 영구 보존합니다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756EE616-91EF-6050-65D7-B6B058A609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5465677"/>
              </p:ext>
            </p:extLst>
          </p:nvPr>
        </p:nvGraphicFramePr>
        <p:xfrm>
          <a:off x="743152" y="5204867"/>
          <a:ext cx="7752944" cy="923688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854155">
                  <a:extLst>
                    <a:ext uri="{9D8B030D-6E8A-4147-A177-3AD203B41FA5}">
                      <a16:colId xmlns:a16="http://schemas.microsoft.com/office/drawing/2014/main" val="1553538150"/>
                    </a:ext>
                  </a:extLst>
                </a:gridCol>
                <a:gridCol w="854155">
                  <a:extLst>
                    <a:ext uri="{9D8B030D-6E8A-4147-A177-3AD203B41FA5}">
                      <a16:colId xmlns:a16="http://schemas.microsoft.com/office/drawing/2014/main" val="1005073696"/>
                    </a:ext>
                  </a:extLst>
                </a:gridCol>
                <a:gridCol w="1793544">
                  <a:extLst>
                    <a:ext uri="{9D8B030D-6E8A-4147-A177-3AD203B41FA5}">
                      <a16:colId xmlns:a16="http://schemas.microsoft.com/office/drawing/2014/main" val="2912823855"/>
                    </a:ext>
                  </a:extLst>
                </a:gridCol>
                <a:gridCol w="1726496">
                  <a:extLst>
                    <a:ext uri="{9D8B030D-6E8A-4147-A177-3AD203B41FA5}">
                      <a16:colId xmlns:a16="http://schemas.microsoft.com/office/drawing/2014/main" val="420109590"/>
                    </a:ext>
                  </a:extLst>
                </a:gridCol>
                <a:gridCol w="1262297">
                  <a:extLst>
                    <a:ext uri="{9D8B030D-6E8A-4147-A177-3AD203B41FA5}">
                      <a16:colId xmlns:a16="http://schemas.microsoft.com/office/drawing/2014/main" val="21308472"/>
                    </a:ext>
                  </a:extLst>
                </a:gridCol>
                <a:gridCol w="1262297">
                  <a:extLst>
                    <a:ext uri="{9D8B030D-6E8A-4147-A177-3AD203B41FA5}">
                      <a16:colId xmlns:a16="http://schemas.microsoft.com/office/drawing/2014/main" val="2322345466"/>
                    </a:ext>
                  </a:extLst>
                </a:gridCol>
              </a:tblGrid>
              <a:tr h="30789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구분</a:t>
                      </a:r>
                      <a:endParaRPr lang="en-US" altLang="ko-KR" sz="10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안치가능</a:t>
                      </a:r>
                      <a:endParaRPr lang="en-US" altLang="ko-KR" sz="10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공간</a:t>
                      </a:r>
                      <a:endParaRPr lang="en-US" altLang="ko-KR" sz="10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명패</a:t>
                      </a:r>
                      <a:endParaRPr lang="en-US" altLang="ko-KR" sz="10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추모방식</a:t>
                      </a:r>
                      <a:endParaRPr lang="en-US" altLang="ko-KR" sz="10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가격</a:t>
                      </a:r>
                      <a:endParaRPr lang="en-US" altLang="ko-KR" sz="10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0268165"/>
                  </a:ext>
                </a:extLst>
              </a:tr>
              <a:tr h="307896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개인단</a:t>
                      </a:r>
                      <a:endParaRPr lang="en-US" altLang="ko-KR" sz="10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r>
                        <a:rPr lang="ko-KR" altLang="en-US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위</a:t>
                      </a:r>
                      <a:endParaRPr lang="en-US" altLang="ko-KR" sz="10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독립형 개인 공간</a:t>
                      </a:r>
                      <a:endParaRPr lang="en-US" altLang="ko-KR" sz="10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개인 명패</a:t>
                      </a:r>
                      <a:endParaRPr lang="en-US" altLang="ko-KR" sz="10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개인 중심 추모</a:t>
                      </a:r>
                      <a:endParaRPr lang="en-US" altLang="ko-KR" sz="10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단일 가격</a:t>
                      </a:r>
                      <a:endParaRPr lang="en-US" altLang="ko-KR" sz="10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1090331"/>
                  </a:ext>
                </a:extLst>
              </a:tr>
              <a:tr h="307896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부부단</a:t>
                      </a:r>
                      <a:endParaRPr lang="en-US" altLang="ko-KR" sz="10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</a:t>
                      </a:r>
                      <a:r>
                        <a:rPr lang="ko-KR" altLang="en-US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위</a:t>
                      </a:r>
                      <a:endParaRPr lang="en-US" altLang="ko-KR" sz="10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부부 함께 공간</a:t>
                      </a:r>
                      <a:endParaRPr lang="en-US" altLang="ko-KR" sz="10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부부 통합 명패</a:t>
                      </a:r>
                      <a:endParaRPr lang="en-US" altLang="ko-KR" sz="10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부부 함께 추모</a:t>
                      </a:r>
                      <a:endParaRPr lang="en-US" altLang="ko-KR" sz="10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개인단 </a:t>
                      </a:r>
                      <a:r>
                        <a:rPr lang="en-US" altLang="ko-KR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* 2</a:t>
                      </a:r>
                      <a:r>
                        <a:rPr lang="ko-KR" altLang="en-US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배</a:t>
                      </a:r>
                      <a:endParaRPr lang="en-US" altLang="ko-KR" sz="10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06265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6548717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6F9CCD-7D8E-0620-3C13-CEE4387EBC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953439D6-9351-BE94-D65C-28579E50D067}"/>
              </a:ext>
            </a:extLst>
          </p:cNvPr>
          <p:cNvGraphicFramePr>
            <a:graphicFrameLocks noGrp="1"/>
          </p:cNvGraphicFramePr>
          <p:nvPr/>
        </p:nvGraphicFramePr>
        <p:xfrm>
          <a:off x="9182101" y="947377"/>
          <a:ext cx="2795588" cy="1847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1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684046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723838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3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172599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4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290794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5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922450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6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784800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7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0538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8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199337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9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450365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3A6FE128-CA27-7641-731D-4054E8E836D9}"/>
              </a:ext>
            </a:extLst>
          </p:cNvPr>
          <p:cNvSpPr/>
          <p:nvPr/>
        </p:nvSpPr>
        <p:spPr>
          <a:xfrm>
            <a:off x="959895" y="375614"/>
            <a:ext cx="1374094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</a:pP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메인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분양안내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분양절차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93D7A23-AFD8-9580-CEB0-62402E4EA8BC}"/>
              </a:ext>
            </a:extLst>
          </p:cNvPr>
          <p:cNvSpPr txBox="1"/>
          <p:nvPr/>
        </p:nvSpPr>
        <p:spPr>
          <a:xfrm>
            <a:off x="6003996" y="123825"/>
            <a:ext cx="17303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HN_DistriInfo_Distriproce_001</a:t>
            </a:r>
            <a:endParaRPr lang="ko-KR" altLang="en-US" sz="800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3ECFF4D-7A04-2A1D-827D-426F0C595D87}"/>
              </a:ext>
            </a:extLst>
          </p:cNvPr>
          <p:cNvSpPr/>
          <p:nvPr/>
        </p:nvSpPr>
        <p:spPr>
          <a:xfrm>
            <a:off x="271811" y="821742"/>
            <a:ext cx="4304999" cy="1970096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IMAGE</a:t>
            </a:r>
            <a:endParaRPr lang="ko-KR" altLang="en-US" sz="28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E598177-48C7-7132-67A2-4D2ABBAAB5D6}"/>
              </a:ext>
            </a:extLst>
          </p:cNvPr>
          <p:cNvSpPr/>
          <p:nvPr/>
        </p:nvSpPr>
        <p:spPr>
          <a:xfrm>
            <a:off x="4716647" y="2848071"/>
            <a:ext cx="4304999" cy="1821206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IMAGE</a:t>
            </a:r>
            <a:endParaRPr lang="ko-KR" altLang="en-US" sz="28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FB33F93-75F1-C19C-6CED-578BBFA6FD0F}"/>
              </a:ext>
            </a:extLst>
          </p:cNvPr>
          <p:cNvSpPr txBox="1"/>
          <p:nvPr/>
        </p:nvSpPr>
        <p:spPr>
          <a:xfrm>
            <a:off x="5609715" y="821742"/>
            <a:ext cx="22868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개인단</a:t>
            </a:r>
            <a:r>
              <a:rPr lang="en-US" altLang="ko-KR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(Individual)</a:t>
            </a:r>
            <a:endParaRPr lang="ko-KR" altLang="en-US" sz="12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76A5EC1-0EB6-21B9-A93B-03676DCFDDA8}"/>
              </a:ext>
            </a:extLst>
          </p:cNvPr>
          <p:cNvSpPr txBox="1"/>
          <p:nvPr/>
        </p:nvSpPr>
        <p:spPr>
          <a:xfrm>
            <a:off x="5645383" y="1286289"/>
            <a:ext cx="3311253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고인의 평온한 영면을 위한 독립형 공간</a:t>
            </a:r>
          </a:p>
          <a:p>
            <a:endParaRPr lang="ko-KR" altLang="en-US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위 전용 안치</a:t>
            </a:r>
          </a:p>
          <a:p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인접 단의 간섭 없이 독립적</a:t>
            </a:r>
          </a:p>
          <a:p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조용히 추모에 집중할 수 있는 공간</a:t>
            </a:r>
          </a:p>
          <a:p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개인 명패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이름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생몰년월일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호 등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  <a:p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유품 및 사진 배치 가능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투명 유리문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2CA0F12-E6FA-9A88-6B81-DB334CDF0FE9}"/>
              </a:ext>
            </a:extLst>
          </p:cNvPr>
          <p:cNvSpPr txBox="1"/>
          <p:nvPr/>
        </p:nvSpPr>
        <p:spPr>
          <a:xfrm>
            <a:off x="924227" y="3035179"/>
            <a:ext cx="22868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부부단</a:t>
            </a:r>
            <a:r>
              <a:rPr lang="en-US" altLang="ko-KR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(Couple)</a:t>
            </a:r>
            <a:endParaRPr lang="ko-KR" altLang="en-US" sz="12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11D44CE-75E9-B5AA-4081-02A242FE6660}"/>
              </a:ext>
            </a:extLst>
          </p:cNvPr>
          <p:cNvSpPr txBox="1"/>
          <p:nvPr/>
        </p:nvSpPr>
        <p:spPr>
          <a:xfrm>
            <a:off x="959895" y="3499726"/>
            <a:ext cx="3311253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사랑하는 이와 함께 안식하실 수 있는 </a:t>
            </a:r>
            <a:r>
              <a:rPr lang="ko-KR" altLang="en-US" sz="1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프라이빗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공간</a:t>
            </a:r>
          </a:p>
          <a:p>
            <a:endParaRPr lang="ko-KR" altLang="en-US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위 함께 안치</a:t>
            </a:r>
          </a:p>
          <a:p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부부 통합 명패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두 분 이름 함께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  <a:p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평온한 분위기 속 함께 추모</a:t>
            </a:r>
          </a:p>
          <a:p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좌우 배치로 나란히 모심</a:t>
            </a:r>
          </a:p>
          <a:p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가족이 한 곳에서 참배 가능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7CCFD4B-A6E0-C436-F981-84FED1D902EA}"/>
              </a:ext>
            </a:extLst>
          </p:cNvPr>
          <p:cNvSpPr txBox="1"/>
          <p:nvPr/>
        </p:nvSpPr>
        <p:spPr>
          <a:xfrm>
            <a:off x="3533483" y="4979011"/>
            <a:ext cx="6260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r>
              <a:rPr lang="en-US" altLang="ko-KR" sz="2000" b="1" baseline="30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rd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FD292B8-6209-06F5-7B4A-13B982581D55}"/>
              </a:ext>
            </a:extLst>
          </p:cNvPr>
          <p:cNvSpPr txBox="1"/>
          <p:nvPr/>
        </p:nvSpPr>
        <p:spPr>
          <a:xfrm>
            <a:off x="4061449" y="5040566"/>
            <a:ext cx="14113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단</a:t>
            </a:r>
            <a:r>
              <a:rPr lang="en-US" altLang="ko-KR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위치 선택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08348C1-6C6F-484D-D8F4-860D38C7B0C6}"/>
              </a:ext>
            </a:extLst>
          </p:cNvPr>
          <p:cNvSpPr txBox="1"/>
          <p:nvPr/>
        </p:nvSpPr>
        <p:spPr>
          <a:xfrm>
            <a:off x="1240445" y="5379120"/>
            <a:ext cx="677781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안당 내에서도 층별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단별 위치에 따라 참배 편의성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채광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분위기가 달라집니다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 algn="ctr"/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하늘누리는 모든 안치단이 고급 소재로 제작되며 위치에 따른 차등 가격으로 선택의 폭을 넓혔습니다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11376655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4D5484-95CE-145B-DA13-9EEE68B5D5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4DB6364E-F375-DC8A-C10C-7A69853DC0C9}"/>
              </a:ext>
            </a:extLst>
          </p:cNvPr>
          <p:cNvGraphicFramePr>
            <a:graphicFrameLocks noGrp="1"/>
          </p:cNvGraphicFramePr>
          <p:nvPr/>
        </p:nvGraphicFramePr>
        <p:xfrm>
          <a:off x="9182101" y="947377"/>
          <a:ext cx="2795588" cy="1847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1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684046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723838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3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172599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4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290794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5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922450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6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784800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7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0538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8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199337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9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450365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CD97F312-8756-097B-F24E-8BA286B9875A}"/>
              </a:ext>
            </a:extLst>
          </p:cNvPr>
          <p:cNvSpPr/>
          <p:nvPr/>
        </p:nvSpPr>
        <p:spPr>
          <a:xfrm>
            <a:off x="959895" y="375614"/>
            <a:ext cx="1374094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</a:pP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메인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분양안내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분양절차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51DBD36-F495-FECB-E2D7-76B19BD71E7C}"/>
              </a:ext>
            </a:extLst>
          </p:cNvPr>
          <p:cNvSpPr txBox="1"/>
          <p:nvPr/>
        </p:nvSpPr>
        <p:spPr>
          <a:xfrm>
            <a:off x="6003996" y="123825"/>
            <a:ext cx="17303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HN_DistriInfo_Distriproce_001</a:t>
            </a:r>
            <a:endParaRPr lang="ko-KR" altLang="en-US" sz="800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559B78D2-94F9-6F59-3496-6C4DCA75A8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7630312"/>
              </p:ext>
            </p:extLst>
          </p:nvPr>
        </p:nvGraphicFramePr>
        <p:xfrm>
          <a:off x="743153" y="837148"/>
          <a:ext cx="8079835" cy="30789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063289">
                  <a:extLst>
                    <a:ext uri="{9D8B030D-6E8A-4147-A177-3AD203B41FA5}">
                      <a16:colId xmlns:a16="http://schemas.microsoft.com/office/drawing/2014/main" val="1553538150"/>
                    </a:ext>
                  </a:extLst>
                </a:gridCol>
                <a:gridCol w="1063289">
                  <a:extLst>
                    <a:ext uri="{9D8B030D-6E8A-4147-A177-3AD203B41FA5}">
                      <a16:colId xmlns:a16="http://schemas.microsoft.com/office/drawing/2014/main" val="1005073696"/>
                    </a:ext>
                  </a:extLst>
                </a:gridCol>
                <a:gridCol w="2232680">
                  <a:extLst>
                    <a:ext uri="{9D8B030D-6E8A-4147-A177-3AD203B41FA5}">
                      <a16:colId xmlns:a16="http://schemas.microsoft.com/office/drawing/2014/main" val="2912823855"/>
                    </a:ext>
                  </a:extLst>
                </a:gridCol>
                <a:gridCol w="2149216">
                  <a:extLst>
                    <a:ext uri="{9D8B030D-6E8A-4147-A177-3AD203B41FA5}">
                      <a16:colId xmlns:a16="http://schemas.microsoft.com/office/drawing/2014/main" val="420109590"/>
                    </a:ext>
                  </a:extLst>
                </a:gridCol>
                <a:gridCol w="1571361">
                  <a:extLst>
                    <a:ext uri="{9D8B030D-6E8A-4147-A177-3AD203B41FA5}">
                      <a16:colId xmlns:a16="http://schemas.microsoft.com/office/drawing/2014/main" val="21308472"/>
                    </a:ext>
                  </a:extLst>
                </a:gridCol>
              </a:tblGrid>
              <a:tr h="30789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단</a:t>
                      </a:r>
                      <a:endParaRPr lang="en-US" altLang="ko-KR" sz="10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높이 특징</a:t>
                      </a:r>
                      <a:endParaRPr lang="en-US" altLang="ko-KR" sz="10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참배 편의성</a:t>
                      </a:r>
                      <a:endParaRPr lang="en-US" altLang="ko-KR" sz="10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가격</a:t>
                      </a:r>
                      <a:r>
                        <a:rPr lang="en-US" altLang="ko-KR" sz="10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10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개인단</a:t>
                      </a:r>
                      <a:r>
                        <a:rPr lang="en-US" altLang="ko-KR" sz="10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가격</a:t>
                      </a:r>
                      <a:r>
                        <a:rPr lang="en-US" altLang="ko-KR" sz="10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10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부부단</a:t>
                      </a:r>
                      <a:r>
                        <a:rPr lang="en-US" altLang="ko-KR" sz="10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0268165"/>
                  </a:ext>
                </a:extLst>
              </a:tr>
              <a:tr h="307896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9</a:t>
                      </a:r>
                      <a:r>
                        <a:rPr lang="ko-KR" altLang="en-US" sz="10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단</a:t>
                      </a:r>
                      <a:endParaRPr lang="en-US" altLang="ko-KR" sz="10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최상단</a:t>
                      </a:r>
                      <a:endParaRPr lang="en-US" altLang="ko-KR" sz="10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고개 들어 참배</a:t>
                      </a:r>
                      <a:endParaRPr lang="en-US" altLang="ko-KR" sz="10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200 </a:t>
                      </a:r>
                      <a:r>
                        <a:rPr lang="ko-KR" altLang="en-US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만원</a:t>
                      </a:r>
                      <a:endParaRPr lang="en-US" altLang="ko-KR" sz="10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400 </a:t>
                      </a:r>
                      <a:r>
                        <a:rPr lang="ko-KR" altLang="en-US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만원</a:t>
                      </a:r>
                      <a:endParaRPr lang="en-US" altLang="ko-KR" sz="10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1090331"/>
                  </a:ext>
                </a:extLst>
              </a:tr>
              <a:tr h="307896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8</a:t>
                      </a:r>
                      <a:r>
                        <a:rPr lang="ko-KR" altLang="en-US" sz="10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단</a:t>
                      </a:r>
                      <a:endParaRPr lang="en-US" altLang="ko-KR" sz="10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상단</a:t>
                      </a:r>
                      <a:endParaRPr lang="en-US" altLang="ko-KR" sz="10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약간 위</a:t>
                      </a:r>
                      <a:endParaRPr lang="en-US" altLang="ko-KR" sz="10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250 </a:t>
                      </a:r>
                      <a:r>
                        <a:rPr lang="ko-KR" altLang="en-US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만원</a:t>
                      </a:r>
                      <a:endParaRPr lang="en-US" altLang="ko-KR" sz="10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500 </a:t>
                      </a:r>
                      <a:r>
                        <a:rPr lang="ko-KR" altLang="en-US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만원</a:t>
                      </a:r>
                      <a:endParaRPr lang="en-US" altLang="ko-KR" sz="10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0626559"/>
                  </a:ext>
                </a:extLst>
              </a:tr>
              <a:tr h="307896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7</a:t>
                      </a:r>
                      <a:r>
                        <a:rPr lang="ko-KR" altLang="en-US" sz="10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단</a:t>
                      </a:r>
                      <a:endParaRPr lang="en-US" altLang="ko-KR" sz="10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상단</a:t>
                      </a:r>
                      <a:endParaRPr lang="en-US" altLang="ko-KR" sz="10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편안한 높이</a:t>
                      </a:r>
                      <a:endParaRPr lang="en-US" altLang="ko-KR" sz="10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300 </a:t>
                      </a:r>
                      <a:r>
                        <a:rPr lang="ko-KR" altLang="en-US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만원</a:t>
                      </a:r>
                      <a:endParaRPr lang="en-US" altLang="ko-KR" sz="10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600 </a:t>
                      </a:r>
                      <a:r>
                        <a:rPr lang="ko-KR" altLang="en-US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만원</a:t>
                      </a:r>
                      <a:endParaRPr lang="en-US" altLang="ko-KR" sz="10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424428"/>
                  </a:ext>
                </a:extLst>
              </a:tr>
              <a:tr h="307896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6</a:t>
                      </a:r>
                      <a:r>
                        <a:rPr lang="ko-KR" altLang="en-US" sz="10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단</a:t>
                      </a:r>
                      <a:endParaRPr lang="en-US" altLang="ko-KR" sz="10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중단</a:t>
                      </a:r>
                      <a:endParaRPr lang="en-US" altLang="ko-KR" sz="10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눈높이</a:t>
                      </a:r>
                      <a:r>
                        <a:rPr lang="en-US" altLang="ko-KR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인기</a:t>
                      </a:r>
                      <a:r>
                        <a:rPr lang="en-US" altLang="ko-KR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400 </a:t>
                      </a:r>
                      <a:r>
                        <a:rPr lang="ko-KR" altLang="en-US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만원</a:t>
                      </a:r>
                      <a:endParaRPr lang="en-US" altLang="ko-KR" sz="10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800 </a:t>
                      </a:r>
                      <a:r>
                        <a:rPr lang="ko-KR" altLang="en-US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만원</a:t>
                      </a:r>
                      <a:endParaRPr lang="en-US" altLang="ko-KR" sz="10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2495770"/>
                  </a:ext>
                </a:extLst>
              </a:tr>
              <a:tr h="307896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</a:t>
                      </a:r>
                      <a:r>
                        <a:rPr lang="ko-KR" altLang="en-US" sz="10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단</a:t>
                      </a:r>
                      <a:endParaRPr lang="en-US" altLang="ko-KR" sz="10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중단</a:t>
                      </a:r>
                      <a:endParaRPr lang="en-US" altLang="ko-KR" sz="10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최적높이</a:t>
                      </a:r>
                      <a:r>
                        <a:rPr lang="en-US" altLang="ko-KR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인기</a:t>
                      </a:r>
                      <a:r>
                        <a:rPr lang="en-US" altLang="ko-KR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450 </a:t>
                      </a:r>
                      <a:r>
                        <a:rPr lang="ko-KR" altLang="en-US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만원</a:t>
                      </a:r>
                      <a:endParaRPr lang="en-US" altLang="ko-KR" sz="10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900 </a:t>
                      </a:r>
                      <a:r>
                        <a:rPr lang="ko-KR" altLang="en-US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만원</a:t>
                      </a:r>
                      <a:endParaRPr lang="en-US" altLang="ko-KR" sz="10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5299836"/>
                  </a:ext>
                </a:extLst>
              </a:tr>
              <a:tr h="307896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</a:t>
                      </a:r>
                      <a:r>
                        <a:rPr lang="ko-KR" altLang="en-US" sz="10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단</a:t>
                      </a:r>
                      <a:endParaRPr lang="en-US" altLang="ko-KR" sz="10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중단</a:t>
                      </a:r>
                      <a:endParaRPr lang="en-US" altLang="ko-KR" sz="10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편안한 높이</a:t>
                      </a:r>
                      <a:r>
                        <a:rPr lang="en-US" altLang="ko-KR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인기</a:t>
                      </a:r>
                      <a:r>
                        <a:rPr lang="en-US" altLang="ko-KR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400 </a:t>
                      </a:r>
                      <a:r>
                        <a:rPr lang="ko-KR" altLang="en-US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만원</a:t>
                      </a:r>
                      <a:endParaRPr lang="en-US" altLang="ko-KR" sz="10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800 </a:t>
                      </a:r>
                      <a:r>
                        <a:rPr lang="ko-KR" altLang="en-US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만원</a:t>
                      </a:r>
                      <a:endParaRPr lang="en-US" altLang="ko-KR" sz="10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0306300"/>
                  </a:ext>
                </a:extLst>
              </a:tr>
              <a:tr h="307896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</a:t>
                      </a:r>
                      <a:r>
                        <a:rPr lang="ko-KR" altLang="en-US" sz="10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단</a:t>
                      </a:r>
                      <a:endParaRPr lang="en-US" altLang="ko-KR" sz="10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하단</a:t>
                      </a:r>
                      <a:endParaRPr lang="en-US" altLang="ko-KR" sz="10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약간 낮음</a:t>
                      </a:r>
                      <a:endParaRPr lang="en-US" altLang="ko-KR" sz="10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300 </a:t>
                      </a:r>
                      <a:r>
                        <a:rPr lang="ko-KR" altLang="en-US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만원</a:t>
                      </a:r>
                      <a:endParaRPr lang="en-US" altLang="ko-KR" sz="10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600 </a:t>
                      </a:r>
                      <a:r>
                        <a:rPr lang="ko-KR" altLang="en-US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만원</a:t>
                      </a:r>
                      <a:endParaRPr lang="en-US" altLang="ko-KR" sz="10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2544402"/>
                  </a:ext>
                </a:extLst>
              </a:tr>
              <a:tr h="307896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</a:t>
                      </a:r>
                      <a:r>
                        <a:rPr lang="ko-KR" altLang="en-US" sz="10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단</a:t>
                      </a:r>
                      <a:endParaRPr lang="en-US" altLang="ko-KR" sz="10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하단</a:t>
                      </a:r>
                      <a:endParaRPr lang="en-US" altLang="ko-KR" sz="10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허리 숙임</a:t>
                      </a:r>
                      <a:endParaRPr lang="en-US" altLang="ko-KR" sz="10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250 </a:t>
                      </a:r>
                      <a:r>
                        <a:rPr lang="ko-KR" altLang="en-US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만원</a:t>
                      </a:r>
                      <a:endParaRPr lang="en-US" altLang="ko-KR" sz="10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500 </a:t>
                      </a:r>
                      <a:r>
                        <a:rPr lang="ko-KR" altLang="en-US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만원</a:t>
                      </a:r>
                      <a:endParaRPr lang="en-US" altLang="ko-KR" sz="10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7094939"/>
                  </a:ext>
                </a:extLst>
              </a:tr>
              <a:tr h="307896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r>
                        <a:rPr lang="ko-KR" altLang="en-US" sz="10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단</a:t>
                      </a:r>
                      <a:endParaRPr lang="en-US" altLang="ko-KR" sz="10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최하단</a:t>
                      </a:r>
                      <a:endParaRPr lang="en-US" altLang="ko-KR" sz="10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앉아서 참배</a:t>
                      </a:r>
                      <a:endParaRPr lang="en-US" altLang="ko-KR" sz="10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200 </a:t>
                      </a:r>
                      <a:r>
                        <a:rPr lang="ko-KR" altLang="en-US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만원</a:t>
                      </a:r>
                      <a:endParaRPr lang="en-US" altLang="ko-KR" sz="10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400 </a:t>
                      </a:r>
                      <a:r>
                        <a:rPr lang="ko-KR" altLang="en-US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만원</a:t>
                      </a:r>
                      <a:endParaRPr lang="en-US" altLang="ko-KR" sz="10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6145677"/>
                  </a:ext>
                </a:extLst>
              </a:tr>
            </a:tbl>
          </a:graphicData>
        </a:graphic>
      </p:graphicFrame>
      <p:sp>
        <p:nvSpPr>
          <p:cNvPr id="5" name="직사각형 4">
            <a:extLst>
              <a:ext uri="{FF2B5EF4-FFF2-40B4-BE49-F238E27FC236}">
                <a16:creationId xmlns:a16="http://schemas.microsoft.com/office/drawing/2014/main" id="{0AFAF406-789D-0987-18F3-CD667EA3994E}"/>
              </a:ext>
            </a:extLst>
          </p:cNvPr>
          <p:cNvSpPr/>
          <p:nvPr/>
        </p:nvSpPr>
        <p:spPr>
          <a:xfrm>
            <a:off x="730183" y="4015389"/>
            <a:ext cx="8079835" cy="2365955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IMAGE</a:t>
            </a:r>
            <a:endParaRPr lang="ko-KR" altLang="en-US" sz="28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23114513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AA5F2A-DE81-A25F-9B31-110AE7132E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09E7A099-FE7C-2E9A-7A7B-8C698F1A50CA}"/>
              </a:ext>
            </a:extLst>
          </p:cNvPr>
          <p:cNvGraphicFramePr>
            <a:graphicFrameLocks noGrp="1"/>
          </p:cNvGraphicFramePr>
          <p:nvPr/>
        </p:nvGraphicFramePr>
        <p:xfrm>
          <a:off x="9182101" y="947377"/>
          <a:ext cx="2795588" cy="1847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1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684046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723838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3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172599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4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290794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5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922450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6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784800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7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0538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8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199337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9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450365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7FEECADF-2A3F-B5F3-00ED-27D375D0C808}"/>
              </a:ext>
            </a:extLst>
          </p:cNvPr>
          <p:cNvSpPr/>
          <p:nvPr/>
        </p:nvSpPr>
        <p:spPr>
          <a:xfrm>
            <a:off x="959895" y="375614"/>
            <a:ext cx="1374094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</a:pP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메인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분양안내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분양절차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3DFFF2F-C037-C336-4D5A-4CE72EB69F8D}"/>
              </a:ext>
            </a:extLst>
          </p:cNvPr>
          <p:cNvSpPr txBox="1"/>
          <p:nvPr/>
        </p:nvSpPr>
        <p:spPr>
          <a:xfrm>
            <a:off x="6003996" y="123825"/>
            <a:ext cx="17303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HN_DistriInfo_Distriproce_001</a:t>
            </a:r>
            <a:endParaRPr lang="ko-KR" altLang="en-US" sz="800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2F76BAC-B1CB-BAEA-41E4-5F2D98FB2E0C}"/>
              </a:ext>
            </a:extLst>
          </p:cNvPr>
          <p:cNvSpPr/>
          <p:nvPr/>
        </p:nvSpPr>
        <p:spPr>
          <a:xfrm>
            <a:off x="282102" y="3644900"/>
            <a:ext cx="4169264" cy="2365955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IMAGE</a:t>
            </a:r>
            <a:endParaRPr lang="ko-KR" altLang="en-US" sz="28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2E107E-2639-803D-3804-5577EC332389}"/>
              </a:ext>
            </a:extLst>
          </p:cNvPr>
          <p:cNvSpPr txBox="1"/>
          <p:nvPr/>
        </p:nvSpPr>
        <p:spPr>
          <a:xfrm>
            <a:off x="924227" y="972677"/>
            <a:ext cx="22868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참배 편의성 우선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6368D4-6F3C-565B-CC85-1127E1C15367}"/>
              </a:ext>
            </a:extLst>
          </p:cNvPr>
          <p:cNvSpPr txBox="1"/>
          <p:nvPr/>
        </p:nvSpPr>
        <p:spPr>
          <a:xfrm>
            <a:off x="924227" y="1437224"/>
            <a:ext cx="247396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추천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4~6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단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중단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  <a:p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서서 자연스러운 눈높이</a:t>
            </a:r>
          </a:p>
          <a:p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허리 굽히지 않고 참배 가능</a:t>
            </a:r>
          </a:p>
          <a:p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고령 유족도 편안하게 참배</a:t>
            </a:r>
          </a:p>
          <a:p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가장 많이 선호되는 구간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B4344A5-E4C0-E86C-495B-6D7F66AB9240}"/>
              </a:ext>
            </a:extLst>
          </p:cNvPr>
          <p:cNvSpPr txBox="1"/>
          <p:nvPr/>
        </p:nvSpPr>
        <p:spPr>
          <a:xfrm>
            <a:off x="3530027" y="972677"/>
            <a:ext cx="22868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가격 효율성 측면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51F0325-6995-D875-7BB0-F134021DFCBA}"/>
              </a:ext>
            </a:extLst>
          </p:cNvPr>
          <p:cNvSpPr txBox="1"/>
          <p:nvPr/>
        </p:nvSpPr>
        <p:spPr>
          <a:xfrm>
            <a:off x="3530027" y="1437224"/>
            <a:ext cx="247396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추천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1~3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단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하단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또는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7~9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단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상단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  <a:p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중단 대비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20~40%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저렴</a:t>
            </a:r>
          </a:p>
          <a:p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동일한 시설과 관리</a:t>
            </a:r>
          </a:p>
          <a:p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앉아서 또는 고개 들어 참배</a:t>
            </a:r>
          </a:p>
          <a:p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예산 절감 효과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F838245-C64F-851B-89D3-FAEA47C6554D}"/>
              </a:ext>
            </a:extLst>
          </p:cNvPr>
          <p:cNvSpPr txBox="1"/>
          <p:nvPr/>
        </p:nvSpPr>
        <p:spPr>
          <a:xfrm>
            <a:off x="6188006" y="972677"/>
            <a:ext cx="22868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채광 및 분위기 측면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BE7307F-D63E-73A9-0BFA-0C9907ED2E62}"/>
              </a:ext>
            </a:extLst>
          </p:cNvPr>
          <p:cNvSpPr txBox="1"/>
          <p:nvPr/>
        </p:nvSpPr>
        <p:spPr>
          <a:xfrm>
            <a:off x="6188006" y="1437224"/>
            <a:ext cx="247396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추천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2~3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층 고단</a:t>
            </a:r>
          </a:p>
          <a:p>
            <a:endParaRPr lang="ko-KR" altLang="en-US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자연 채광 최대</a:t>
            </a:r>
          </a:p>
          <a:p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밝고 쾌적한 분위기</a:t>
            </a:r>
          </a:p>
          <a:p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하늘과 가까운 느낌</a:t>
            </a:r>
          </a:p>
          <a:p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프리미엄 공간감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6F99565-1579-69AE-1368-02915DDB9A2A}"/>
              </a:ext>
            </a:extLst>
          </p:cNvPr>
          <p:cNvSpPr txBox="1"/>
          <p:nvPr/>
        </p:nvSpPr>
        <p:spPr>
          <a:xfrm>
            <a:off x="3825313" y="2474893"/>
            <a:ext cx="6260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r>
            <a:r>
              <a:rPr lang="en-US" altLang="ko-KR" sz="2000" b="1" baseline="30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th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E8279CB-0FF8-3D2B-DCC0-DAE30927159E}"/>
              </a:ext>
            </a:extLst>
          </p:cNvPr>
          <p:cNvSpPr txBox="1"/>
          <p:nvPr/>
        </p:nvSpPr>
        <p:spPr>
          <a:xfrm>
            <a:off x="4353279" y="2536448"/>
            <a:ext cx="14113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사용권 계약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A09C03A-7C32-8C04-154A-CC09ED489157}"/>
              </a:ext>
            </a:extLst>
          </p:cNvPr>
          <p:cNvSpPr txBox="1"/>
          <p:nvPr/>
        </p:nvSpPr>
        <p:spPr>
          <a:xfrm>
            <a:off x="1532275" y="2875002"/>
            <a:ext cx="677781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하늘누리는 재단법인 운영으로 법률 검토를 마친 표준 계약서를 사용합니다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 algn="ctr"/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전용 상담실에서 편안하게 계약을 진행하며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모든 조항을 명확히 설명해드립니다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40B19CF-305C-7559-9A18-0C4307369064}"/>
              </a:ext>
            </a:extLst>
          </p:cNvPr>
          <p:cNvSpPr txBox="1"/>
          <p:nvPr/>
        </p:nvSpPr>
        <p:spPr>
          <a:xfrm>
            <a:off x="5434617" y="3716599"/>
            <a:ext cx="22868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계약관련 필요 서류</a:t>
            </a:r>
          </a:p>
        </p:txBody>
      </p:sp>
      <p:graphicFrame>
        <p:nvGraphicFramePr>
          <p:cNvPr id="17" name="표 16">
            <a:extLst>
              <a:ext uri="{FF2B5EF4-FFF2-40B4-BE49-F238E27FC236}">
                <a16:creationId xmlns:a16="http://schemas.microsoft.com/office/drawing/2014/main" id="{FE7775F0-A5AD-C08D-3D9B-2D8CA913DC16}"/>
              </a:ext>
            </a:extLst>
          </p:cNvPr>
          <p:cNvGraphicFramePr>
            <a:graphicFrameLocks noGrp="1"/>
          </p:cNvGraphicFramePr>
          <p:nvPr/>
        </p:nvGraphicFramePr>
        <p:xfrm>
          <a:off x="4921182" y="4029410"/>
          <a:ext cx="3960170" cy="19184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965945">
                  <a:extLst>
                    <a:ext uri="{9D8B030D-6E8A-4147-A177-3AD203B41FA5}">
                      <a16:colId xmlns:a16="http://schemas.microsoft.com/office/drawing/2014/main" val="1553538150"/>
                    </a:ext>
                  </a:extLst>
                </a:gridCol>
                <a:gridCol w="1606578">
                  <a:extLst>
                    <a:ext uri="{9D8B030D-6E8A-4147-A177-3AD203B41FA5}">
                      <a16:colId xmlns:a16="http://schemas.microsoft.com/office/drawing/2014/main" val="1005073696"/>
                    </a:ext>
                  </a:extLst>
                </a:gridCol>
                <a:gridCol w="1387647">
                  <a:extLst>
                    <a:ext uri="{9D8B030D-6E8A-4147-A177-3AD203B41FA5}">
                      <a16:colId xmlns:a16="http://schemas.microsoft.com/office/drawing/2014/main" val="2912823855"/>
                    </a:ext>
                  </a:extLst>
                </a:gridCol>
              </a:tblGrid>
              <a:tr h="27599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구분</a:t>
                      </a:r>
                      <a:endParaRPr lang="en-US" altLang="ko-KR" sz="10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필수서류</a:t>
                      </a:r>
                      <a:endParaRPr lang="en-US" altLang="ko-KR" sz="10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비고</a:t>
                      </a:r>
                      <a:endParaRPr lang="en-US" altLang="ko-KR" sz="10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0268165"/>
                  </a:ext>
                </a:extLst>
              </a:tr>
              <a:tr h="41372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개인 계약</a:t>
                      </a:r>
                      <a:endParaRPr lang="en-US" altLang="ko-KR" sz="10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• </a:t>
                      </a:r>
                      <a:r>
                        <a:rPr lang="ko-KR" altLang="en-US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신분증 원본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• </a:t>
                      </a:r>
                      <a:r>
                        <a:rPr lang="ko-KR" altLang="en-US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도장 또는 서명</a:t>
                      </a:r>
                      <a:endParaRPr lang="en-US" altLang="ko-KR" sz="10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본인 계약 시</a:t>
                      </a:r>
                      <a:endParaRPr lang="en-US" altLang="ko-KR" sz="10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1090331"/>
                  </a:ext>
                </a:extLst>
              </a:tr>
              <a:tr h="61435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대리인 계약</a:t>
                      </a:r>
                      <a:endParaRPr lang="en-US" altLang="ko-KR" sz="10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• </a:t>
                      </a:r>
                      <a:r>
                        <a:rPr lang="ko-KR" altLang="en-US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위임장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• </a:t>
                      </a:r>
                      <a:r>
                        <a:rPr lang="ko-KR" altLang="en-US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대리인 신분증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• </a:t>
                      </a:r>
                      <a:r>
                        <a:rPr lang="ko-KR" altLang="en-US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계약자 신분증 사본</a:t>
                      </a:r>
                      <a:endParaRPr lang="en-US" altLang="ko-KR" sz="10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대리 계약 시</a:t>
                      </a:r>
                      <a:endParaRPr lang="en-US" altLang="ko-KR" sz="10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0626559"/>
                  </a:ext>
                </a:extLst>
              </a:tr>
              <a:tr h="61435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법인 계약</a:t>
                      </a:r>
                      <a:endParaRPr lang="en-US" altLang="ko-KR" sz="10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• </a:t>
                      </a:r>
                      <a:r>
                        <a:rPr lang="ko-KR" altLang="en-US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사업자등록증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• </a:t>
                      </a:r>
                      <a:r>
                        <a:rPr lang="ko-KR" altLang="en-US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법인인감증명서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• </a:t>
                      </a:r>
                      <a:r>
                        <a:rPr lang="ko-KR" altLang="en-US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대표자 신분증</a:t>
                      </a:r>
                      <a:endParaRPr lang="en-US" altLang="ko-KR" sz="10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법인 명의 시</a:t>
                      </a:r>
                      <a:endParaRPr lang="en-US" altLang="ko-KR" sz="10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4697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20603601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D2AB9D-8714-13CA-BC77-4A753D8915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0ABB257A-92BC-717A-D719-67D7C472824F}"/>
              </a:ext>
            </a:extLst>
          </p:cNvPr>
          <p:cNvGraphicFramePr>
            <a:graphicFrameLocks noGrp="1"/>
          </p:cNvGraphicFramePr>
          <p:nvPr/>
        </p:nvGraphicFramePr>
        <p:xfrm>
          <a:off x="9182101" y="947377"/>
          <a:ext cx="2795588" cy="1847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1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684046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723838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3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172599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4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290794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5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922450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6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784800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7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0538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8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199337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9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450365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7FC56115-D97F-A072-377E-29C5BD0AA876}"/>
              </a:ext>
            </a:extLst>
          </p:cNvPr>
          <p:cNvSpPr/>
          <p:nvPr/>
        </p:nvSpPr>
        <p:spPr>
          <a:xfrm>
            <a:off x="959895" y="375614"/>
            <a:ext cx="1374094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</a:pP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메인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분양안내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분양절차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AB0C45D-6BC1-E596-F271-4C369EFB1209}"/>
              </a:ext>
            </a:extLst>
          </p:cNvPr>
          <p:cNvSpPr txBox="1"/>
          <p:nvPr/>
        </p:nvSpPr>
        <p:spPr>
          <a:xfrm>
            <a:off x="6003996" y="123825"/>
            <a:ext cx="17303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HN_DistriInfo_Distriproce_001</a:t>
            </a:r>
            <a:endParaRPr lang="ko-KR" altLang="en-US" sz="800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49294D0-6503-44F7-CCC8-DFF5EA24568E}"/>
              </a:ext>
            </a:extLst>
          </p:cNvPr>
          <p:cNvSpPr/>
          <p:nvPr/>
        </p:nvSpPr>
        <p:spPr>
          <a:xfrm>
            <a:off x="4712088" y="776079"/>
            <a:ext cx="4169264" cy="2519843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IMAGE</a:t>
            </a:r>
            <a:endParaRPr lang="ko-KR" altLang="en-US" sz="28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68C5889-2120-A62A-D688-183D37C9DA15}"/>
              </a:ext>
            </a:extLst>
          </p:cNvPr>
          <p:cNvSpPr txBox="1"/>
          <p:nvPr/>
        </p:nvSpPr>
        <p:spPr>
          <a:xfrm>
            <a:off x="1131500" y="808877"/>
            <a:ext cx="22868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계약관련 필요 서류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2DC2D832-1A4F-C090-B1F3-044DEA6E3C1C}"/>
              </a:ext>
            </a:extLst>
          </p:cNvPr>
          <p:cNvSpPr/>
          <p:nvPr/>
        </p:nvSpPr>
        <p:spPr>
          <a:xfrm>
            <a:off x="389106" y="1585609"/>
            <a:ext cx="856034" cy="1070042"/>
          </a:xfrm>
          <a:prstGeom prst="roundRect">
            <a:avLst/>
          </a:prstGeom>
          <a:solidFill>
            <a:srgbClr val="002060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 내용 최종 확인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F038B695-CE34-7CFA-2D27-5BB41F38E0B1}"/>
              </a:ext>
            </a:extLst>
          </p:cNvPr>
          <p:cNvSpPr/>
          <p:nvPr/>
        </p:nvSpPr>
        <p:spPr>
          <a:xfrm>
            <a:off x="1465084" y="1585609"/>
            <a:ext cx="856034" cy="1070042"/>
          </a:xfrm>
          <a:prstGeom prst="roundRect">
            <a:avLst/>
          </a:prstGeom>
          <a:solidFill>
            <a:srgbClr val="002060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계약서    설명 및   작성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C0F4AD82-1289-2D33-CA78-62B59D465FBB}"/>
              </a:ext>
            </a:extLst>
          </p:cNvPr>
          <p:cNvSpPr/>
          <p:nvPr/>
        </p:nvSpPr>
        <p:spPr>
          <a:xfrm>
            <a:off x="2505050" y="1585609"/>
            <a:ext cx="856034" cy="1070042"/>
          </a:xfrm>
          <a:prstGeom prst="roundRect">
            <a:avLst/>
          </a:prstGeom>
          <a:solidFill>
            <a:srgbClr val="002060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계약금</a:t>
            </a:r>
            <a:endParaRPr lang="en-US" altLang="ko-KR" sz="11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ko-KR" altLang="en-US" sz="11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납부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E2E5C322-3AAA-08F5-FA05-5669A184251A}"/>
              </a:ext>
            </a:extLst>
          </p:cNvPr>
          <p:cNvSpPr/>
          <p:nvPr/>
        </p:nvSpPr>
        <p:spPr>
          <a:xfrm>
            <a:off x="3581028" y="1585609"/>
            <a:ext cx="856034" cy="1070042"/>
          </a:xfrm>
          <a:prstGeom prst="roundRect">
            <a:avLst/>
          </a:prstGeom>
          <a:solidFill>
            <a:srgbClr val="002060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향후 일정 </a:t>
            </a:r>
            <a:endParaRPr lang="en-US" altLang="ko-KR" sz="11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ko-KR" altLang="en-US" sz="11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안내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E38BFB7-2FBC-644B-443B-2198E77E26E2}"/>
              </a:ext>
            </a:extLst>
          </p:cNvPr>
          <p:cNvSpPr txBox="1"/>
          <p:nvPr/>
        </p:nvSpPr>
        <p:spPr>
          <a:xfrm>
            <a:off x="1579442" y="1284051"/>
            <a:ext cx="6159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r>
              <a:rPr lang="ko-KR" altLang="en-US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단계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D0DCAC6-9992-88CA-7F71-58ACF8BC977A}"/>
              </a:ext>
            </a:extLst>
          </p:cNvPr>
          <p:cNvSpPr txBox="1"/>
          <p:nvPr/>
        </p:nvSpPr>
        <p:spPr>
          <a:xfrm>
            <a:off x="510859" y="1284051"/>
            <a:ext cx="6159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단계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20ACC78-B047-A592-D53C-65F5046DD350}"/>
              </a:ext>
            </a:extLst>
          </p:cNvPr>
          <p:cNvSpPr txBox="1"/>
          <p:nvPr/>
        </p:nvSpPr>
        <p:spPr>
          <a:xfrm>
            <a:off x="3716609" y="1284051"/>
            <a:ext cx="6159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r>
            <a:r>
              <a:rPr lang="ko-KR" altLang="en-US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단계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07FB772-59DA-993E-2D35-7EB4CD29164A}"/>
              </a:ext>
            </a:extLst>
          </p:cNvPr>
          <p:cNvSpPr txBox="1"/>
          <p:nvPr/>
        </p:nvSpPr>
        <p:spPr>
          <a:xfrm>
            <a:off x="2648025" y="1284051"/>
            <a:ext cx="6159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r>
              <a:rPr lang="ko-KR" altLang="en-US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단계</a:t>
            </a:r>
          </a:p>
        </p:txBody>
      </p: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3B9E18D4-E682-0F96-A92A-EA80F5D74E75}"/>
              </a:ext>
            </a:extLst>
          </p:cNvPr>
          <p:cNvCxnSpPr>
            <a:stCxn id="4" idx="3"/>
            <a:endCxn id="16" idx="1"/>
          </p:cNvCxnSpPr>
          <p:nvPr/>
        </p:nvCxnSpPr>
        <p:spPr>
          <a:xfrm>
            <a:off x="1245140" y="2120630"/>
            <a:ext cx="219944" cy="0"/>
          </a:xfrm>
          <a:prstGeom prst="straightConnector1">
            <a:avLst/>
          </a:prstGeom>
          <a:ln w="9525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BDFEDBC8-533C-3FC2-A5A6-B338563032B6}"/>
              </a:ext>
            </a:extLst>
          </p:cNvPr>
          <p:cNvCxnSpPr>
            <a:stCxn id="16" idx="3"/>
            <a:endCxn id="18" idx="1"/>
          </p:cNvCxnSpPr>
          <p:nvPr/>
        </p:nvCxnSpPr>
        <p:spPr>
          <a:xfrm>
            <a:off x="2321118" y="2120630"/>
            <a:ext cx="183932" cy="0"/>
          </a:xfrm>
          <a:prstGeom prst="straightConnector1">
            <a:avLst/>
          </a:prstGeom>
          <a:ln w="9525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6D8E59F2-A457-B8C0-4E4D-0ACBA2D8AA6C}"/>
              </a:ext>
            </a:extLst>
          </p:cNvPr>
          <p:cNvCxnSpPr>
            <a:cxnSpLocks/>
            <a:stCxn id="18" idx="3"/>
            <a:endCxn id="19" idx="1"/>
          </p:cNvCxnSpPr>
          <p:nvPr/>
        </p:nvCxnSpPr>
        <p:spPr>
          <a:xfrm>
            <a:off x="3361084" y="2120630"/>
            <a:ext cx="219944" cy="0"/>
          </a:xfrm>
          <a:prstGeom prst="straightConnector1">
            <a:avLst/>
          </a:prstGeom>
          <a:ln w="9525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64F5126B-D24F-F910-0CFE-26763D7D7490}"/>
              </a:ext>
            </a:extLst>
          </p:cNvPr>
          <p:cNvSpPr txBox="1"/>
          <p:nvPr/>
        </p:nvSpPr>
        <p:spPr>
          <a:xfrm>
            <a:off x="355595" y="2741924"/>
            <a:ext cx="99951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b="0" i="0" dirty="0">
                <a:solidFill>
                  <a:srgbClr val="24292E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선택한 봉안실 위치 재확인</a:t>
            </a:r>
            <a:endParaRPr lang="ko-KR" altLang="en-US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475447E-1BA4-F310-5B31-6A5F4B5D6FA4}"/>
              </a:ext>
            </a:extLst>
          </p:cNvPr>
          <p:cNvSpPr txBox="1"/>
          <p:nvPr/>
        </p:nvSpPr>
        <p:spPr>
          <a:xfrm>
            <a:off x="1465084" y="2741924"/>
            <a:ext cx="999517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b="0" i="0" dirty="0">
                <a:solidFill>
                  <a:srgbClr val="24292E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봉안시설 사용권 계약서 </a:t>
            </a:r>
            <a:r>
              <a:rPr lang="en-US" altLang="ko-KR" sz="1000" b="0" i="0" dirty="0">
                <a:solidFill>
                  <a:srgbClr val="24292E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000" b="0" i="0" dirty="0">
                <a:solidFill>
                  <a:srgbClr val="24292E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표준양식</a:t>
            </a:r>
            <a:r>
              <a:rPr lang="en-US" altLang="ko-KR" sz="1000" b="0" i="0" dirty="0">
                <a:solidFill>
                  <a:srgbClr val="24292E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58984FC-9D50-C518-CDF8-96C115439DA6}"/>
              </a:ext>
            </a:extLst>
          </p:cNvPr>
          <p:cNvSpPr txBox="1"/>
          <p:nvPr/>
        </p:nvSpPr>
        <p:spPr>
          <a:xfrm>
            <a:off x="2429464" y="2741924"/>
            <a:ext cx="99951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b="0" i="0" dirty="0">
                <a:solidFill>
                  <a:srgbClr val="24292E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계약금 </a:t>
            </a:r>
            <a:r>
              <a:rPr lang="en-US" altLang="ko-KR" sz="1000" b="0" i="0" dirty="0">
                <a:solidFill>
                  <a:srgbClr val="24292E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30% </a:t>
            </a:r>
            <a:r>
              <a:rPr lang="ko-KR" altLang="en-US" sz="1000" b="0" i="0" dirty="0">
                <a:solidFill>
                  <a:srgbClr val="24292E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즉시 납부</a:t>
            </a:r>
            <a:endParaRPr lang="ko-KR" altLang="en-US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D84A4C4-0F2C-C410-6DC4-975B6E4DC06E}"/>
              </a:ext>
            </a:extLst>
          </p:cNvPr>
          <p:cNvSpPr txBox="1"/>
          <p:nvPr/>
        </p:nvSpPr>
        <p:spPr>
          <a:xfrm>
            <a:off x="3522798" y="2741924"/>
            <a:ext cx="99951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b="0" i="0" dirty="0">
                <a:solidFill>
                  <a:srgbClr val="24292E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향후 제반 일정 기타 관련 안내</a:t>
            </a:r>
            <a:endParaRPr lang="ko-KR" altLang="en-US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BEBD699-83AF-0CDD-A9E9-EF5D0B87D44D}"/>
              </a:ext>
            </a:extLst>
          </p:cNvPr>
          <p:cNvSpPr txBox="1"/>
          <p:nvPr/>
        </p:nvSpPr>
        <p:spPr>
          <a:xfrm>
            <a:off x="3758122" y="3400888"/>
            <a:ext cx="6260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5</a:t>
            </a:r>
            <a:r>
              <a:rPr lang="en-US" altLang="ko-KR" sz="2000" b="1" baseline="30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th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76F3136-458E-EED0-DBDA-3DB981A3B23D}"/>
              </a:ext>
            </a:extLst>
          </p:cNvPr>
          <p:cNvSpPr txBox="1"/>
          <p:nvPr/>
        </p:nvSpPr>
        <p:spPr>
          <a:xfrm>
            <a:off x="4286088" y="3462443"/>
            <a:ext cx="14113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관리비 납부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0ECB671-A0D5-3906-ED55-248EE8B4824D}"/>
              </a:ext>
            </a:extLst>
          </p:cNvPr>
          <p:cNvSpPr txBox="1"/>
          <p:nvPr/>
        </p:nvSpPr>
        <p:spPr>
          <a:xfrm>
            <a:off x="1280258" y="3800997"/>
            <a:ext cx="677781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하늘누리의 관리비는 안치일로부터 발생하며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5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 단위로 선납하는 방식입니다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 algn="ctr"/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재단법인 운영으로 투명하게 관리되며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영구적으로 안전하게 모십니다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309EE6E1-36FC-243E-6843-1064C470444F}"/>
              </a:ext>
            </a:extLst>
          </p:cNvPr>
          <p:cNvSpPr/>
          <p:nvPr/>
        </p:nvSpPr>
        <p:spPr>
          <a:xfrm>
            <a:off x="214911" y="4416550"/>
            <a:ext cx="4169264" cy="2065836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IMAGE</a:t>
            </a:r>
            <a:endParaRPr lang="ko-KR" altLang="en-US" sz="28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8E3EAC0-D0A1-6009-21C3-677E7C1A1F6E}"/>
              </a:ext>
            </a:extLst>
          </p:cNvPr>
          <p:cNvSpPr txBox="1"/>
          <p:nvPr/>
        </p:nvSpPr>
        <p:spPr>
          <a:xfrm>
            <a:off x="5434617" y="4502944"/>
            <a:ext cx="22868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계약관련 필요 서류</a:t>
            </a:r>
          </a:p>
        </p:txBody>
      </p:sp>
      <p:graphicFrame>
        <p:nvGraphicFramePr>
          <p:cNvPr id="41" name="표 40">
            <a:extLst>
              <a:ext uri="{FF2B5EF4-FFF2-40B4-BE49-F238E27FC236}">
                <a16:creationId xmlns:a16="http://schemas.microsoft.com/office/drawing/2014/main" id="{85E009AB-9F99-71A4-5429-22FAFEF2AB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5062353"/>
              </p:ext>
            </p:extLst>
          </p:nvPr>
        </p:nvGraphicFramePr>
        <p:xfrm>
          <a:off x="4921182" y="4815754"/>
          <a:ext cx="3960170" cy="1666632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965945">
                  <a:extLst>
                    <a:ext uri="{9D8B030D-6E8A-4147-A177-3AD203B41FA5}">
                      <a16:colId xmlns:a16="http://schemas.microsoft.com/office/drawing/2014/main" val="1553538150"/>
                    </a:ext>
                  </a:extLst>
                </a:gridCol>
                <a:gridCol w="1606578">
                  <a:extLst>
                    <a:ext uri="{9D8B030D-6E8A-4147-A177-3AD203B41FA5}">
                      <a16:colId xmlns:a16="http://schemas.microsoft.com/office/drawing/2014/main" val="1005073696"/>
                    </a:ext>
                  </a:extLst>
                </a:gridCol>
                <a:gridCol w="1387647">
                  <a:extLst>
                    <a:ext uri="{9D8B030D-6E8A-4147-A177-3AD203B41FA5}">
                      <a16:colId xmlns:a16="http://schemas.microsoft.com/office/drawing/2014/main" val="2912823855"/>
                    </a:ext>
                  </a:extLst>
                </a:gridCol>
              </a:tblGrid>
              <a:tr h="41665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구분</a:t>
                      </a:r>
                      <a:endParaRPr lang="en-US" altLang="ko-KR" sz="10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개인단</a:t>
                      </a:r>
                      <a:endParaRPr lang="en-US" altLang="ko-KR" sz="10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부부단</a:t>
                      </a:r>
                      <a:endParaRPr lang="en-US" altLang="ko-KR" sz="10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0268165"/>
                  </a:ext>
                </a:extLst>
              </a:tr>
              <a:tr h="416658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일반 봉안실</a:t>
                      </a:r>
                      <a:endParaRPr lang="en-US" altLang="ko-KR" sz="10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50 </a:t>
                      </a:r>
                      <a:r>
                        <a:rPr lang="ko-KR" altLang="en-US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만원 </a:t>
                      </a:r>
                      <a:r>
                        <a:rPr lang="en-US" altLang="ko-KR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 5</a:t>
                      </a:r>
                      <a:r>
                        <a:rPr lang="ko-KR" altLang="en-US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년</a:t>
                      </a:r>
                      <a:endParaRPr lang="en-US" altLang="ko-KR" sz="10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100 </a:t>
                      </a:r>
                      <a:r>
                        <a:rPr lang="ko-KR" altLang="en-US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만원 </a:t>
                      </a:r>
                      <a:r>
                        <a:rPr lang="en-US" altLang="ko-KR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 5</a:t>
                      </a:r>
                      <a:r>
                        <a:rPr lang="ko-KR" altLang="en-US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년</a:t>
                      </a:r>
                      <a:endParaRPr lang="en-US" altLang="ko-KR" sz="10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1090331"/>
                  </a:ext>
                </a:extLst>
              </a:tr>
              <a:tr h="416658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가족 봉안실</a:t>
                      </a:r>
                      <a:endParaRPr lang="en-US" altLang="ko-KR" sz="10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50 </a:t>
                      </a:r>
                      <a:r>
                        <a:rPr lang="ko-KR" altLang="en-US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만원 </a:t>
                      </a:r>
                      <a:r>
                        <a:rPr lang="en-US" altLang="ko-KR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 5</a:t>
                      </a:r>
                      <a:r>
                        <a:rPr lang="ko-KR" altLang="en-US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년</a:t>
                      </a:r>
                      <a:r>
                        <a:rPr lang="en-US" altLang="ko-KR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(1 </a:t>
                      </a:r>
                      <a:r>
                        <a:rPr lang="ko-KR" altLang="en-US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위당</a:t>
                      </a:r>
                      <a:r>
                        <a:rPr lang="en-US" altLang="ko-KR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100 </a:t>
                      </a:r>
                      <a:r>
                        <a:rPr lang="ko-KR" altLang="en-US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만원 </a:t>
                      </a:r>
                      <a:r>
                        <a:rPr lang="en-US" altLang="ko-KR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 5</a:t>
                      </a:r>
                      <a:r>
                        <a:rPr lang="ko-KR" altLang="en-US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년</a:t>
                      </a:r>
                      <a:r>
                        <a:rPr lang="en-US" altLang="ko-KR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(2</a:t>
                      </a:r>
                      <a:r>
                        <a:rPr lang="ko-KR" altLang="en-US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위</a:t>
                      </a:r>
                      <a:r>
                        <a:rPr lang="en-US" altLang="ko-KR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0626559"/>
                  </a:ext>
                </a:extLst>
              </a:tr>
              <a:tr h="416658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프리미엄 봉안실</a:t>
                      </a:r>
                      <a:endParaRPr lang="en-US" altLang="ko-KR" sz="10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80 </a:t>
                      </a:r>
                      <a:r>
                        <a:rPr lang="ko-KR" altLang="en-US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만원 </a:t>
                      </a:r>
                      <a:r>
                        <a:rPr lang="en-US" altLang="ko-KR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 5</a:t>
                      </a:r>
                      <a:r>
                        <a:rPr lang="ko-KR" altLang="en-US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년</a:t>
                      </a:r>
                      <a:endParaRPr lang="en-US" altLang="ko-KR" sz="10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160 </a:t>
                      </a:r>
                      <a:r>
                        <a:rPr lang="ko-KR" altLang="en-US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만원 </a:t>
                      </a:r>
                      <a:r>
                        <a:rPr lang="en-US" altLang="ko-KR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 5</a:t>
                      </a:r>
                      <a:r>
                        <a:rPr lang="ko-KR" altLang="en-US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년</a:t>
                      </a:r>
                      <a:endParaRPr lang="en-US" altLang="ko-KR" sz="10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4697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35852376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103B9C-9615-7629-CA6F-E08547570B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DB658A02-03B8-52A4-8A61-9C0F52538354}"/>
              </a:ext>
            </a:extLst>
          </p:cNvPr>
          <p:cNvGraphicFramePr>
            <a:graphicFrameLocks noGrp="1"/>
          </p:cNvGraphicFramePr>
          <p:nvPr/>
        </p:nvGraphicFramePr>
        <p:xfrm>
          <a:off x="9182101" y="947377"/>
          <a:ext cx="2795588" cy="1847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1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684046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723838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3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172599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4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290794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5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922450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6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784800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7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0538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8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199337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9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450365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33D7B935-16BA-9AFC-E5BD-98D9D805AF77}"/>
              </a:ext>
            </a:extLst>
          </p:cNvPr>
          <p:cNvSpPr/>
          <p:nvPr/>
        </p:nvSpPr>
        <p:spPr>
          <a:xfrm>
            <a:off x="959895" y="375614"/>
            <a:ext cx="1374094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</a:pP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메인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분양안내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분양절차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64950DE-3500-6F61-320F-EE8568AFCBF9}"/>
              </a:ext>
            </a:extLst>
          </p:cNvPr>
          <p:cNvSpPr txBox="1"/>
          <p:nvPr/>
        </p:nvSpPr>
        <p:spPr>
          <a:xfrm>
            <a:off x="6003996" y="123825"/>
            <a:ext cx="17303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HN_DistriInfo_Distriproce_001</a:t>
            </a:r>
            <a:endParaRPr lang="ko-KR" altLang="en-US" sz="800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6CAF3F6-17D8-B5F3-8E1F-3342D7FD2429}"/>
              </a:ext>
            </a:extLst>
          </p:cNvPr>
          <p:cNvSpPr/>
          <p:nvPr/>
        </p:nvSpPr>
        <p:spPr>
          <a:xfrm>
            <a:off x="4712088" y="776080"/>
            <a:ext cx="4169264" cy="1646108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IMAGE</a:t>
            </a:r>
            <a:endParaRPr lang="ko-KR" altLang="en-US" sz="28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CAFC6B-33C6-912E-1A8F-17E45E9C0EC8}"/>
              </a:ext>
            </a:extLst>
          </p:cNvPr>
          <p:cNvSpPr txBox="1"/>
          <p:nvPr/>
        </p:nvSpPr>
        <p:spPr>
          <a:xfrm>
            <a:off x="1190584" y="1052069"/>
            <a:ext cx="22868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관리비 납부 일정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30A7D0-7E3F-AE7F-B80C-3957A0759665}"/>
              </a:ext>
            </a:extLst>
          </p:cNvPr>
          <p:cNvSpPr txBox="1"/>
          <p:nvPr/>
        </p:nvSpPr>
        <p:spPr>
          <a:xfrm>
            <a:off x="959895" y="1440178"/>
            <a:ext cx="337342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차 관리비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최초 안치일로부터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5</a:t>
            </a:r>
            <a:r>
              <a:rPr lang="ko-KR" altLang="en-US" sz="1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년분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선납</a:t>
            </a:r>
          </a:p>
          <a:p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차 관리비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5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 후 갱신 시</a:t>
            </a:r>
          </a:p>
          <a:p>
            <a:endParaRPr lang="ko-KR" altLang="en-US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※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사전 준비 가능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안치 전에 미리 납부 가능</a:t>
            </a:r>
          </a:p>
          <a:p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※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사전계약 혜택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5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 관리비 면제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사전계약 고객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8259B7B-C915-9386-C27C-501EFC3369CD}"/>
              </a:ext>
            </a:extLst>
          </p:cNvPr>
          <p:cNvSpPr/>
          <p:nvPr/>
        </p:nvSpPr>
        <p:spPr>
          <a:xfrm>
            <a:off x="174886" y="2711861"/>
            <a:ext cx="8928847" cy="34095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FOOTER</a:t>
            </a:r>
            <a:endParaRPr lang="ko-KR" altLang="en-US" sz="10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4906052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FFA22A-D5F3-B5AE-A091-72ADB96F63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6C3A1EB7-A418-A146-58FB-6D0188489D2F}"/>
              </a:ext>
            </a:extLst>
          </p:cNvPr>
          <p:cNvSpPr/>
          <p:nvPr/>
        </p:nvSpPr>
        <p:spPr>
          <a:xfrm>
            <a:off x="738750" y="4796659"/>
            <a:ext cx="1234577" cy="1068107"/>
          </a:xfrm>
          <a:prstGeom prst="roundRect">
            <a:avLst/>
          </a:prstGeom>
          <a:solidFill>
            <a:srgbClr val="002060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수목장 타입 </a:t>
            </a:r>
            <a:endParaRPr lang="en-US" altLang="ko-KR" sz="12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ko-KR" altLang="en-US" sz="12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선택</a:t>
            </a:r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E4704A41-7901-5E03-988B-F11D00E80D18}"/>
              </a:ext>
            </a:extLst>
          </p:cNvPr>
          <p:cNvSpPr/>
          <p:nvPr/>
        </p:nvSpPr>
        <p:spPr>
          <a:xfrm>
            <a:off x="2387733" y="4796659"/>
            <a:ext cx="1234577" cy="1068107"/>
          </a:xfrm>
          <a:prstGeom prst="roundRect">
            <a:avLst/>
          </a:prstGeom>
          <a:solidFill>
            <a:srgbClr val="002060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수목</a:t>
            </a:r>
            <a:endParaRPr lang="en-US" altLang="ko-KR" sz="12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ko-KR" altLang="en-US" sz="12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선택</a:t>
            </a:r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239EACB1-D3D2-4438-7105-1CC5B0DE9309}"/>
              </a:ext>
            </a:extLst>
          </p:cNvPr>
          <p:cNvSpPr/>
          <p:nvPr/>
        </p:nvSpPr>
        <p:spPr>
          <a:xfrm>
            <a:off x="4036716" y="4796659"/>
            <a:ext cx="1234577" cy="1068107"/>
          </a:xfrm>
          <a:prstGeom prst="roundRect">
            <a:avLst/>
          </a:prstGeom>
          <a:solidFill>
            <a:srgbClr val="002060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구역 위치</a:t>
            </a:r>
            <a:endParaRPr lang="en-US" altLang="ko-KR" sz="12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ko-KR" altLang="en-US" sz="12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선택</a:t>
            </a:r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16F0543A-2C14-1B52-1E50-99E6DB895950}"/>
              </a:ext>
            </a:extLst>
          </p:cNvPr>
          <p:cNvSpPr/>
          <p:nvPr/>
        </p:nvSpPr>
        <p:spPr>
          <a:xfrm>
            <a:off x="5685699" y="4796659"/>
            <a:ext cx="1234577" cy="1068107"/>
          </a:xfrm>
          <a:prstGeom prst="roundRect">
            <a:avLst/>
          </a:prstGeom>
          <a:solidFill>
            <a:srgbClr val="002060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사용권</a:t>
            </a:r>
            <a:endParaRPr lang="en-US" altLang="ko-KR" sz="12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ko-KR" altLang="en-US" sz="12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</a:t>
            </a:r>
          </a:p>
        </p:txBody>
      </p: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DC6EBDBF-6F48-1014-9FC7-8070954E58B8}"/>
              </a:ext>
            </a:extLst>
          </p:cNvPr>
          <p:cNvSpPr/>
          <p:nvPr/>
        </p:nvSpPr>
        <p:spPr>
          <a:xfrm>
            <a:off x="7334683" y="4796659"/>
            <a:ext cx="1234577" cy="1068107"/>
          </a:xfrm>
          <a:prstGeom prst="roundRect">
            <a:avLst/>
          </a:prstGeom>
          <a:solidFill>
            <a:srgbClr val="002060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관리비</a:t>
            </a:r>
            <a:endParaRPr lang="en-US" altLang="ko-KR" sz="12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ko-KR" altLang="en-US" sz="12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납부</a:t>
            </a: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58B8A9D1-4545-B67B-06B0-9DE6349E96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9965530"/>
              </p:ext>
            </p:extLst>
          </p:nvPr>
        </p:nvGraphicFramePr>
        <p:xfrm>
          <a:off x="9182101" y="947377"/>
          <a:ext cx="2795588" cy="1847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1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선택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수목장 타입 선택 부분으로 이동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684046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선택 시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수목 선택 부분으로 이동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723838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3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선택 시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구역 위치 선택 부분으로 이동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172599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4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선택 시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사용권 계약 부분으로 이동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290794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5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선택 시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관리비 납부 부분으로 이동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922450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6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784800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7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0538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8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199337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9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450365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20E259FB-F91C-E13E-4172-19FD787D588A}"/>
              </a:ext>
            </a:extLst>
          </p:cNvPr>
          <p:cNvSpPr/>
          <p:nvPr/>
        </p:nvSpPr>
        <p:spPr>
          <a:xfrm>
            <a:off x="959895" y="375614"/>
            <a:ext cx="1374094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</a:pP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메인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분양안내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분양절차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81C6C3E-D713-ED72-2E21-1E23C61920C7}"/>
              </a:ext>
            </a:extLst>
          </p:cNvPr>
          <p:cNvSpPr txBox="1"/>
          <p:nvPr/>
        </p:nvSpPr>
        <p:spPr>
          <a:xfrm>
            <a:off x="6003996" y="123825"/>
            <a:ext cx="17303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HN_DistriInfo_Distriproce_001</a:t>
            </a:r>
            <a:endParaRPr lang="ko-KR" altLang="en-US" sz="800" dirty="0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0CC7CF2B-C210-DD52-7BA0-22EADA91180A}"/>
              </a:ext>
            </a:extLst>
          </p:cNvPr>
          <p:cNvGrpSpPr/>
          <p:nvPr/>
        </p:nvGrpSpPr>
        <p:grpSpPr>
          <a:xfrm>
            <a:off x="161925" y="797629"/>
            <a:ext cx="8953500" cy="851943"/>
            <a:chOff x="161925" y="797629"/>
            <a:chExt cx="8953500" cy="851943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A2C54227-15B0-3B7F-2328-FFF8BEF5E7A5}"/>
                </a:ext>
              </a:extLst>
            </p:cNvPr>
            <p:cNvSpPr/>
            <p:nvPr/>
          </p:nvSpPr>
          <p:spPr>
            <a:xfrm>
              <a:off x="4144448" y="797629"/>
              <a:ext cx="942784" cy="35821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800" b="1" dirty="0">
                  <a:solidFill>
                    <a:srgbClr val="FF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CI</a:t>
              </a:r>
            </a:p>
          </p:txBody>
        </p: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D2704BD-8841-5FD6-042D-1BFCADAD056A}"/>
                </a:ext>
              </a:extLst>
            </p:cNvPr>
            <p:cNvCxnSpPr/>
            <p:nvPr/>
          </p:nvCxnSpPr>
          <p:spPr>
            <a:xfrm>
              <a:off x="161925" y="1649572"/>
              <a:ext cx="8953500" cy="0"/>
            </a:xfrm>
            <a:prstGeom prst="line">
              <a:avLst/>
            </a:prstGeom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D248FB6-E510-15A2-EDC4-18214473B7DE}"/>
                </a:ext>
              </a:extLst>
            </p:cNvPr>
            <p:cNvSpPr txBox="1"/>
            <p:nvPr/>
          </p:nvSpPr>
          <p:spPr>
            <a:xfrm>
              <a:off x="2031551" y="1301804"/>
              <a:ext cx="120364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하늘누리소개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35FD221B-76C4-B6FF-EC91-A7330B981475}"/>
                </a:ext>
              </a:extLst>
            </p:cNvPr>
            <p:cNvSpPr txBox="1"/>
            <p:nvPr/>
          </p:nvSpPr>
          <p:spPr>
            <a:xfrm>
              <a:off x="3239720" y="1301804"/>
              <a:ext cx="9144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시설안내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01CCB48A-2A3D-C3B4-70FD-FEA4A95BFF9B}"/>
                </a:ext>
              </a:extLst>
            </p:cNvPr>
            <p:cNvSpPr txBox="1"/>
            <p:nvPr/>
          </p:nvSpPr>
          <p:spPr>
            <a:xfrm>
              <a:off x="4158640" y="1301804"/>
              <a:ext cx="9144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분양안내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499A48CC-7D90-345B-BF75-6A06820D88D1}"/>
                </a:ext>
              </a:extLst>
            </p:cNvPr>
            <p:cNvSpPr txBox="1"/>
            <p:nvPr/>
          </p:nvSpPr>
          <p:spPr>
            <a:xfrm>
              <a:off x="5077560" y="1301804"/>
              <a:ext cx="119120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사이버추모관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C9DBF60B-DF1A-4B3F-90EF-0668240295D8}"/>
                </a:ext>
              </a:extLst>
            </p:cNvPr>
            <p:cNvSpPr txBox="1"/>
            <p:nvPr/>
          </p:nvSpPr>
          <p:spPr>
            <a:xfrm>
              <a:off x="6273289" y="1301804"/>
              <a:ext cx="9144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고객센터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5EC4731-0D2A-74F9-BC93-A960081E732E}"/>
                </a:ext>
              </a:extLst>
            </p:cNvPr>
            <p:cNvSpPr txBox="1"/>
            <p:nvPr/>
          </p:nvSpPr>
          <p:spPr>
            <a:xfrm>
              <a:off x="7734300" y="817862"/>
              <a:ext cx="79388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b="1">
                  <a:latin typeface="나눔고딕" panose="020D0604000000000000" pitchFamily="50" charset="-127"/>
                  <a:ea typeface="나눔고딕" panose="020D0604000000000000" pitchFamily="50" charset="-127"/>
                </a:rPr>
                <a:t>비밀번호변경</a:t>
              </a:r>
              <a:endParaRPr lang="ko-KR" altLang="en-US" sz="8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EB5D7C5A-A646-1BCC-8423-C42A95AF37C2}"/>
                </a:ext>
              </a:extLst>
            </p:cNvPr>
            <p:cNvSpPr txBox="1"/>
            <p:nvPr/>
          </p:nvSpPr>
          <p:spPr>
            <a:xfrm>
              <a:off x="8472200" y="817862"/>
              <a:ext cx="58783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로그아웃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601693E-FD2E-9B42-55EB-AF45C7A6CE94}"/>
                </a:ext>
              </a:extLst>
            </p:cNvPr>
            <p:cNvSpPr txBox="1"/>
            <p:nvPr/>
          </p:nvSpPr>
          <p:spPr>
            <a:xfrm>
              <a:off x="7203231" y="817862"/>
              <a:ext cx="65313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나의정보</a:t>
              </a: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05960652-C2D6-5563-4C1F-9C804ED161F4}"/>
              </a:ext>
            </a:extLst>
          </p:cNvPr>
          <p:cNvSpPr txBox="1"/>
          <p:nvPr/>
        </p:nvSpPr>
        <p:spPr>
          <a:xfrm>
            <a:off x="158621" y="1704392"/>
            <a:ext cx="314441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HOME &gt; </a:t>
            </a:r>
            <a:r>
              <a:rPr lang="ko-KR" altLang="en-US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분양안내 </a:t>
            </a:r>
            <a:r>
              <a:rPr lang="en-US" altLang="ko-KR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분양절차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E91B9A-3DE6-9AE1-1FD8-A23A6DBDED06}"/>
              </a:ext>
            </a:extLst>
          </p:cNvPr>
          <p:cNvSpPr txBox="1"/>
          <p:nvPr/>
        </p:nvSpPr>
        <p:spPr>
          <a:xfrm>
            <a:off x="2791996" y="1866963"/>
            <a:ext cx="36895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분양 절차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860E45-1049-C079-2BBB-9667A742598D}"/>
              </a:ext>
            </a:extLst>
          </p:cNvPr>
          <p:cNvSpPr txBox="1"/>
          <p:nvPr/>
        </p:nvSpPr>
        <p:spPr>
          <a:xfrm>
            <a:off x="1730829" y="2547785"/>
            <a:ext cx="5768660" cy="9821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2100"/>
              </a:lnSpc>
              <a:spcAft>
                <a:spcPts val="900"/>
              </a:spcAft>
            </a:pPr>
            <a:r>
              <a:rPr lang="en-US" altLang="ko-KR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"</a:t>
            </a:r>
            <a:r>
              <a:rPr lang="ko-KR" altLang="en-US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가장 소중한 마지막 준비</a:t>
            </a:r>
            <a:r>
              <a:rPr lang="en-US" altLang="ko-KR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하늘누리가 정성을 다해 동행하겠습니다</a:t>
            </a:r>
            <a:r>
              <a:rPr lang="en-US" altLang="ko-KR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.“</a:t>
            </a:r>
          </a:p>
          <a:p>
            <a:pPr algn="ctr">
              <a:lnSpc>
                <a:spcPts val="2100"/>
              </a:lnSpc>
              <a:spcAft>
                <a:spcPts val="900"/>
              </a:spcAft>
            </a:pPr>
            <a:r>
              <a:rPr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복잡하고 어려운 절차는 저희에게 맡기세요</a:t>
            </a:r>
            <a:r>
              <a:rPr lang="en-US" altLang="ko-KR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유족의 마음으로 하나하나 세밀하게 살펴</a:t>
            </a:r>
            <a:r>
              <a:rPr lang="en-US" altLang="ko-KR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고인을 모시는 길이 오직 평온한 추억으로만 기억되도록 돕겠습니다</a:t>
            </a:r>
            <a:r>
              <a:rPr lang="en-US" altLang="ko-KR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11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DB32A797-C3FF-D50D-5A3A-FFFB411F787D}"/>
              </a:ext>
            </a:extLst>
          </p:cNvPr>
          <p:cNvGrpSpPr/>
          <p:nvPr/>
        </p:nvGrpSpPr>
        <p:grpSpPr>
          <a:xfrm>
            <a:off x="959895" y="3653838"/>
            <a:ext cx="7806220" cy="454102"/>
            <a:chOff x="959895" y="3653838"/>
            <a:chExt cx="7806220" cy="454102"/>
          </a:xfrm>
        </p:grpSpPr>
        <p:cxnSp>
          <p:nvCxnSpPr>
            <p:cNvPr id="10" name="Line 1">
              <a:extLst>
                <a:ext uri="{FF2B5EF4-FFF2-40B4-BE49-F238E27FC236}">
                  <a16:creationId xmlns:a16="http://schemas.microsoft.com/office/drawing/2014/main" id="{5E78A3EE-BC32-95C4-1A80-FE385FC7413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59895" y="4070774"/>
              <a:ext cx="670300" cy="0"/>
            </a:xfrm>
            <a:prstGeom prst="line">
              <a:avLst/>
            </a:prstGeom>
            <a:solidFill>
              <a:srgbClr val="FFFFFF"/>
            </a:solidFill>
            <a:ln w="12700">
              <a:solidFill>
                <a:srgbClr val="80808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Line 2">
              <a:extLst>
                <a:ext uri="{FF2B5EF4-FFF2-40B4-BE49-F238E27FC236}">
                  <a16:creationId xmlns:a16="http://schemas.microsoft.com/office/drawing/2014/main" id="{B0A357A8-26E6-C38F-9C00-7690F3BA3D81}"/>
                </a:ext>
              </a:extLst>
            </p:cNvPr>
            <p:cNvCxnSpPr>
              <a:cxnSpLocks/>
            </p:cNvCxnSpPr>
            <p:nvPr/>
          </p:nvCxnSpPr>
          <p:spPr>
            <a:xfrm>
              <a:off x="6390265" y="4107940"/>
              <a:ext cx="2375850" cy="0"/>
            </a:xfrm>
            <a:prstGeom prst="line">
              <a:avLst/>
            </a:prstGeom>
            <a:solidFill>
              <a:srgbClr val="FFFFFF"/>
            </a:solidFill>
            <a:ln w="12700">
              <a:solidFill>
                <a:srgbClr val="80808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ab Selected">
              <a:extLst>
                <a:ext uri="{FF2B5EF4-FFF2-40B4-BE49-F238E27FC236}">
                  <a16:creationId xmlns:a16="http://schemas.microsoft.com/office/drawing/2014/main" id="{01B66C38-F7E8-788A-1C19-B245911EE00E}"/>
                </a:ext>
              </a:extLst>
            </p:cNvPr>
            <p:cNvSpPr>
              <a:spLocks/>
            </p:cNvSpPr>
            <p:nvPr/>
          </p:nvSpPr>
          <p:spPr bwMode="auto">
            <a:xfrm>
              <a:off x="4007340" y="3653838"/>
              <a:ext cx="2382925" cy="433856"/>
            </a:xfrm>
            <a:custGeom>
              <a:avLst/>
              <a:gdLst>
                <a:gd name="T0" fmla="*/ 0 w 2218"/>
                <a:gd name="T1" fmla="*/ 670 h 670"/>
                <a:gd name="T2" fmla="*/ 0 w 2218"/>
                <a:gd name="T3" fmla="*/ 0 h 670"/>
                <a:gd name="T4" fmla="*/ 2218 w 2218"/>
                <a:gd name="T5" fmla="*/ 0 h 670"/>
                <a:gd name="T6" fmla="*/ 2218 w 2218"/>
                <a:gd name="T7" fmla="*/ 670 h 6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218" h="670">
                  <a:moveTo>
                    <a:pt x="0" y="670"/>
                  </a:moveTo>
                  <a:lnTo>
                    <a:pt x="0" y="0"/>
                  </a:lnTo>
                  <a:lnTo>
                    <a:pt x="2218" y="0"/>
                  </a:lnTo>
                  <a:lnTo>
                    <a:pt x="2218" y="670"/>
                  </a:lnTo>
                </a:path>
              </a:pathLst>
            </a:custGeom>
            <a:solidFill>
              <a:schemeClr val="bg1"/>
            </a:solidFill>
            <a:ln w="6350" cap="sq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90000"/>
                </a:lnSpc>
                <a:defRPr/>
              </a:pPr>
              <a:r>
                <a:rPr lang="ko-KR" altLang="en-US" sz="1600" b="1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Segoe UI" panose="020B0502040204020203" pitchFamily="34" charset="0"/>
                </a:rPr>
                <a:t>수목장</a:t>
              </a:r>
              <a:r>
                <a:rPr lang="en-US" altLang="ko-KR" sz="1600" b="1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Segoe UI" panose="020B0502040204020203" pitchFamily="34" charset="0"/>
                </a:rPr>
                <a:t>(</a:t>
              </a:r>
              <a:r>
                <a:rPr lang="ko-KR" altLang="en-US" sz="1600" b="1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Segoe UI" panose="020B0502040204020203" pitchFamily="34" charset="0"/>
                </a:rPr>
                <a:t>자연장</a:t>
              </a:r>
              <a:r>
                <a:rPr lang="en-US" altLang="ko-KR" sz="1600" b="1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Segoe UI" panose="020B0502040204020203" pitchFamily="34" charset="0"/>
                </a:rPr>
                <a:t>)</a:t>
              </a:r>
            </a:p>
          </p:txBody>
        </p:sp>
        <p:sp>
          <p:nvSpPr>
            <p:cNvPr id="16" name="Tab">
              <a:extLst>
                <a:ext uri="{FF2B5EF4-FFF2-40B4-BE49-F238E27FC236}">
                  <a16:creationId xmlns:a16="http://schemas.microsoft.com/office/drawing/2014/main" id="{894D4D1F-1A6F-B6C2-8069-6E1B06C3E079}"/>
                </a:ext>
              </a:extLst>
            </p:cNvPr>
            <p:cNvSpPr/>
            <p:nvPr/>
          </p:nvSpPr>
          <p:spPr>
            <a:xfrm>
              <a:off x="1630195" y="3653838"/>
              <a:ext cx="2410851" cy="43385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90000"/>
                </a:lnSpc>
                <a:defRPr/>
              </a:pPr>
              <a:r>
                <a:rPr lang="ko-KR" altLang="en-US" sz="16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Segoe UI" panose="020B0502040204020203" pitchFamily="34" charset="0"/>
                </a:rPr>
                <a:t>봉안당</a:t>
              </a:r>
              <a:r>
                <a:rPr lang="en-US" altLang="ko-KR" sz="16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Segoe UI" panose="020B0502040204020203" pitchFamily="34" charset="0"/>
                </a:rPr>
                <a:t>(</a:t>
              </a:r>
              <a:r>
                <a:rPr lang="ko-KR" altLang="en-US" sz="16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Segoe UI" panose="020B0502040204020203" pitchFamily="34" charset="0"/>
                </a:rPr>
                <a:t>하늘누리관</a:t>
              </a:r>
              <a:r>
                <a:rPr lang="en-US" altLang="ko-KR" sz="16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Segoe UI" panose="020B0502040204020203" pitchFamily="34" charset="0"/>
                </a:rPr>
                <a:t>)</a:t>
              </a:r>
              <a:endParaRPr lang="en-US" sz="16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Segoe UI" panose="020B0502040204020203" pitchFamily="34" charset="0"/>
              </a:endParaRPr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10E7D0FB-AA28-0EFB-3BA9-FC70EE6163D1}"/>
              </a:ext>
            </a:extLst>
          </p:cNvPr>
          <p:cNvSpPr txBox="1"/>
          <p:nvPr/>
        </p:nvSpPr>
        <p:spPr>
          <a:xfrm>
            <a:off x="473483" y="4315714"/>
            <a:ext cx="108949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en-US" altLang="ko-KR" sz="4000" b="1" baseline="30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st</a:t>
            </a:r>
            <a:endParaRPr lang="en-US" altLang="ko-KR" sz="4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1CBBFD0-0B4D-80F9-DA0C-FF75B16E7359}"/>
              </a:ext>
            </a:extLst>
          </p:cNvPr>
          <p:cNvSpPr txBox="1"/>
          <p:nvPr/>
        </p:nvSpPr>
        <p:spPr>
          <a:xfrm>
            <a:off x="1973326" y="4362328"/>
            <a:ext cx="108949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r>
              <a:rPr lang="en-US" altLang="ko-KR" sz="4000" b="1" baseline="30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nd</a:t>
            </a:r>
            <a:endParaRPr lang="en-US" altLang="ko-KR" sz="4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E6D15D8-8AB5-C862-6DD2-4ED48FB8976D}"/>
              </a:ext>
            </a:extLst>
          </p:cNvPr>
          <p:cNvSpPr txBox="1"/>
          <p:nvPr/>
        </p:nvSpPr>
        <p:spPr>
          <a:xfrm>
            <a:off x="3687249" y="4362328"/>
            <a:ext cx="108949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r>
              <a:rPr lang="en-US" altLang="ko-KR" sz="4000" b="1" baseline="30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rd</a:t>
            </a:r>
            <a:endParaRPr lang="en-US" altLang="ko-KR" sz="4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7887CF1-DFBE-43A8-B9C4-0C3269E39AED}"/>
              </a:ext>
            </a:extLst>
          </p:cNvPr>
          <p:cNvSpPr txBox="1"/>
          <p:nvPr/>
        </p:nvSpPr>
        <p:spPr>
          <a:xfrm>
            <a:off x="5300767" y="4364312"/>
            <a:ext cx="108949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r>
            <a:r>
              <a:rPr lang="en-US" altLang="ko-KR" sz="4000" b="1" baseline="30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th</a:t>
            </a:r>
            <a:endParaRPr lang="en-US" altLang="ko-KR" sz="4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B17B0D5-2D8D-0F98-7B6F-37214324AFB7}"/>
              </a:ext>
            </a:extLst>
          </p:cNvPr>
          <p:cNvSpPr txBox="1"/>
          <p:nvPr/>
        </p:nvSpPr>
        <p:spPr>
          <a:xfrm>
            <a:off x="6956697" y="4364312"/>
            <a:ext cx="108949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5</a:t>
            </a:r>
            <a:r>
              <a:rPr lang="en-US" altLang="ko-KR" sz="4000" b="1" baseline="30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th</a:t>
            </a:r>
            <a:endParaRPr lang="en-US" altLang="ko-KR" sz="4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AC2B6B9-39D4-16DF-3097-4EBDFCEB6F77}"/>
              </a:ext>
            </a:extLst>
          </p:cNvPr>
          <p:cNvSpPr txBox="1"/>
          <p:nvPr/>
        </p:nvSpPr>
        <p:spPr>
          <a:xfrm>
            <a:off x="921585" y="5980182"/>
            <a:ext cx="86890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" panose="020D0604000000000000" pitchFamily="50" charset="-127"/>
                <a:ea typeface="나눔고딕" panose="020D0604000000000000" pitchFamily="50" charset="-127"/>
              </a:rPr>
              <a:t>More</a:t>
            </a:r>
            <a:endParaRPr lang="ko-KR" altLang="en-US" sz="9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1AE44AF-47B8-4867-936D-5C6F0EA86CD4}"/>
              </a:ext>
            </a:extLst>
          </p:cNvPr>
          <p:cNvSpPr txBox="1"/>
          <p:nvPr/>
        </p:nvSpPr>
        <p:spPr>
          <a:xfrm>
            <a:off x="2573639" y="5980182"/>
            <a:ext cx="86890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" panose="020D0604000000000000" pitchFamily="50" charset="-127"/>
                <a:ea typeface="나눔고딕" panose="020D0604000000000000" pitchFamily="50" charset="-127"/>
              </a:rPr>
              <a:t>More</a:t>
            </a:r>
            <a:endParaRPr lang="ko-KR" altLang="en-US" sz="9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C043883-0A25-0B11-EA1E-27515C38F0CF}"/>
              </a:ext>
            </a:extLst>
          </p:cNvPr>
          <p:cNvSpPr txBox="1"/>
          <p:nvPr/>
        </p:nvSpPr>
        <p:spPr>
          <a:xfrm>
            <a:off x="4225693" y="5980182"/>
            <a:ext cx="86890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" panose="020D0604000000000000" pitchFamily="50" charset="-127"/>
                <a:ea typeface="나눔고딕" panose="020D0604000000000000" pitchFamily="50" charset="-127"/>
              </a:rPr>
              <a:t>More</a:t>
            </a:r>
            <a:endParaRPr lang="ko-KR" altLang="en-US" sz="9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435E3E8-EEA6-B7E1-5508-72C8DBC69E38}"/>
              </a:ext>
            </a:extLst>
          </p:cNvPr>
          <p:cNvSpPr txBox="1"/>
          <p:nvPr/>
        </p:nvSpPr>
        <p:spPr>
          <a:xfrm>
            <a:off x="5877747" y="5980182"/>
            <a:ext cx="86890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" panose="020D0604000000000000" pitchFamily="50" charset="-127"/>
                <a:ea typeface="나눔고딕" panose="020D0604000000000000" pitchFamily="50" charset="-127"/>
              </a:rPr>
              <a:t>More</a:t>
            </a:r>
            <a:endParaRPr lang="ko-KR" altLang="en-US" sz="9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FDEA4E9-980B-355D-641E-8A065B46BC51}"/>
              </a:ext>
            </a:extLst>
          </p:cNvPr>
          <p:cNvSpPr txBox="1"/>
          <p:nvPr/>
        </p:nvSpPr>
        <p:spPr>
          <a:xfrm>
            <a:off x="7529800" y="5980182"/>
            <a:ext cx="86890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" panose="020D0604000000000000" pitchFamily="50" charset="-127"/>
                <a:ea typeface="나눔고딕" panose="020D0604000000000000" pitchFamily="50" charset="-127"/>
              </a:rPr>
              <a:t>More</a:t>
            </a:r>
            <a:endParaRPr lang="ko-KR" altLang="en-US" sz="9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" name="Oval 109">
            <a:extLst>
              <a:ext uri="{FF2B5EF4-FFF2-40B4-BE49-F238E27FC236}">
                <a16:creationId xmlns:a16="http://schemas.microsoft.com/office/drawing/2014/main" id="{435965BE-9FC6-D2D7-C490-684C286090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1832" y="5922798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1</a:t>
            </a:r>
          </a:p>
        </p:txBody>
      </p:sp>
      <p:sp>
        <p:nvSpPr>
          <p:cNvPr id="19" name="Oval 109">
            <a:extLst>
              <a:ext uri="{FF2B5EF4-FFF2-40B4-BE49-F238E27FC236}">
                <a16:creationId xmlns:a16="http://schemas.microsoft.com/office/drawing/2014/main" id="{7C9739B2-771F-FB16-02E5-494253D42E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2820" y="5922798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2</a:t>
            </a:r>
          </a:p>
        </p:txBody>
      </p:sp>
      <p:sp>
        <p:nvSpPr>
          <p:cNvPr id="20" name="Oval 109">
            <a:extLst>
              <a:ext uri="{FF2B5EF4-FFF2-40B4-BE49-F238E27FC236}">
                <a16:creationId xmlns:a16="http://schemas.microsoft.com/office/drawing/2014/main" id="{C5E971A5-D6D1-A750-0B6A-F9F4CC6FE0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48269" y="5893782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3</a:t>
            </a:r>
          </a:p>
        </p:txBody>
      </p:sp>
      <p:sp>
        <p:nvSpPr>
          <p:cNvPr id="21" name="Oval 109">
            <a:extLst>
              <a:ext uri="{FF2B5EF4-FFF2-40B4-BE49-F238E27FC236}">
                <a16:creationId xmlns:a16="http://schemas.microsoft.com/office/drawing/2014/main" id="{05EA680B-BD82-4AD9-B160-674915FEAE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79257" y="5922798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4</a:t>
            </a:r>
          </a:p>
        </p:txBody>
      </p:sp>
      <p:sp>
        <p:nvSpPr>
          <p:cNvPr id="22" name="Oval 109">
            <a:extLst>
              <a:ext uri="{FF2B5EF4-FFF2-40B4-BE49-F238E27FC236}">
                <a16:creationId xmlns:a16="http://schemas.microsoft.com/office/drawing/2014/main" id="{95DD62AC-A1B8-1EC0-8AF9-CC1C8197D0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3845" y="5922798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A24A2A8-2E0A-D470-020C-6860A3FE5CF8}"/>
              </a:ext>
            </a:extLst>
          </p:cNvPr>
          <p:cNvSpPr txBox="1"/>
          <p:nvPr/>
        </p:nvSpPr>
        <p:spPr>
          <a:xfrm rot="19349954">
            <a:off x="6486004" y="2384462"/>
            <a:ext cx="267148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하늘누리 분양안내 </a:t>
            </a:r>
            <a:r>
              <a:rPr lang="ko-KR" altLang="en-US" sz="32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확인 후 수정 필요</a:t>
            </a:r>
          </a:p>
        </p:txBody>
      </p:sp>
    </p:spTree>
    <p:extLst>
      <p:ext uri="{BB962C8B-B14F-4D97-AF65-F5344CB8AC3E}">
        <p14:creationId xmlns:p14="http://schemas.microsoft.com/office/powerpoint/2010/main" val="2639255835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1AAA2F-7A86-DCA2-F6F7-34FA6BE77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CB6194FE-5ADC-CF7C-3A5F-604D7D03A851}"/>
              </a:ext>
            </a:extLst>
          </p:cNvPr>
          <p:cNvGraphicFramePr>
            <a:graphicFrameLocks noGrp="1"/>
          </p:cNvGraphicFramePr>
          <p:nvPr/>
        </p:nvGraphicFramePr>
        <p:xfrm>
          <a:off x="9182101" y="947377"/>
          <a:ext cx="2795588" cy="1847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1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684046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723838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3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172599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4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290794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5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922450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6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784800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7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0538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8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199337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9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450365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4018B089-1B65-87C7-120A-3BC3DF8C6382}"/>
              </a:ext>
            </a:extLst>
          </p:cNvPr>
          <p:cNvSpPr/>
          <p:nvPr/>
        </p:nvSpPr>
        <p:spPr>
          <a:xfrm>
            <a:off x="959895" y="375614"/>
            <a:ext cx="1374094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</a:pP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메인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분양안내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분양절차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9D4448E-A3D7-F0A9-12D6-5A581449010F}"/>
              </a:ext>
            </a:extLst>
          </p:cNvPr>
          <p:cNvSpPr txBox="1"/>
          <p:nvPr/>
        </p:nvSpPr>
        <p:spPr>
          <a:xfrm>
            <a:off x="6003996" y="123825"/>
            <a:ext cx="17303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HN_DistriInfo_Distriproce_001</a:t>
            </a:r>
            <a:endParaRPr lang="ko-KR" altLang="en-US" sz="8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CC3BD22-9A30-7153-DD62-6C82C8DE5092}"/>
              </a:ext>
            </a:extLst>
          </p:cNvPr>
          <p:cNvSpPr txBox="1"/>
          <p:nvPr/>
        </p:nvSpPr>
        <p:spPr>
          <a:xfrm>
            <a:off x="3566570" y="2782002"/>
            <a:ext cx="6260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en-US" altLang="ko-KR" sz="2000" b="1" baseline="30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st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9D1ED52-3855-C284-89A4-FD809E817FB3}"/>
              </a:ext>
            </a:extLst>
          </p:cNvPr>
          <p:cNvSpPr txBox="1"/>
          <p:nvPr/>
        </p:nvSpPr>
        <p:spPr>
          <a:xfrm>
            <a:off x="4094536" y="2843557"/>
            <a:ext cx="14113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수목장 타입 선택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4393C6A-8B07-5D09-EE3F-58D63848D08D}"/>
              </a:ext>
            </a:extLst>
          </p:cNvPr>
          <p:cNvSpPr txBox="1"/>
          <p:nvPr/>
        </p:nvSpPr>
        <p:spPr>
          <a:xfrm>
            <a:off x="1684839" y="3178811"/>
            <a:ext cx="584988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하늘누리 수목장은 화장 후 유골을 자연 분해 용기에 담아 나무 뿌리 깊이 안치하는 친환경 자연장입니다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 algn="ctr"/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개인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부부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가족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공동 수목장부터  잔디장까지 다양한 선택지를 제공합니다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E90E3AE4-38D8-205E-26DF-A230A221F972}"/>
              </a:ext>
            </a:extLst>
          </p:cNvPr>
          <p:cNvSpPr/>
          <p:nvPr/>
        </p:nvSpPr>
        <p:spPr>
          <a:xfrm>
            <a:off x="228090" y="808384"/>
            <a:ext cx="8841440" cy="1847376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IMAGE</a:t>
            </a:r>
            <a:endParaRPr lang="ko-KR" altLang="en-US" sz="28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20" name="표 19">
            <a:extLst>
              <a:ext uri="{FF2B5EF4-FFF2-40B4-BE49-F238E27FC236}">
                <a16:creationId xmlns:a16="http://schemas.microsoft.com/office/drawing/2014/main" id="{5BE291A3-7D7F-3745-81D3-DA561E52D3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6320047"/>
              </p:ext>
            </p:extLst>
          </p:nvPr>
        </p:nvGraphicFramePr>
        <p:xfrm>
          <a:off x="743152" y="3815921"/>
          <a:ext cx="7752945" cy="923688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020271">
                  <a:extLst>
                    <a:ext uri="{9D8B030D-6E8A-4147-A177-3AD203B41FA5}">
                      <a16:colId xmlns:a16="http://schemas.microsoft.com/office/drawing/2014/main" val="1553538150"/>
                    </a:ext>
                  </a:extLst>
                </a:gridCol>
                <a:gridCol w="1020271">
                  <a:extLst>
                    <a:ext uri="{9D8B030D-6E8A-4147-A177-3AD203B41FA5}">
                      <a16:colId xmlns:a16="http://schemas.microsoft.com/office/drawing/2014/main" val="1005073696"/>
                    </a:ext>
                  </a:extLst>
                </a:gridCol>
                <a:gridCol w="2142351">
                  <a:extLst>
                    <a:ext uri="{9D8B030D-6E8A-4147-A177-3AD203B41FA5}">
                      <a16:colId xmlns:a16="http://schemas.microsoft.com/office/drawing/2014/main" val="2912823855"/>
                    </a:ext>
                  </a:extLst>
                </a:gridCol>
                <a:gridCol w="2062264">
                  <a:extLst>
                    <a:ext uri="{9D8B030D-6E8A-4147-A177-3AD203B41FA5}">
                      <a16:colId xmlns:a16="http://schemas.microsoft.com/office/drawing/2014/main" val="420109590"/>
                    </a:ext>
                  </a:extLst>
                </a:gridCol>
                <a:gridCol w="1507788">
                  <a:extLst>
                    <a:ext uri="{9D8B030D-6E8A-4147-A177-3AD203B41FA5}">
                      <a16:colId xmlns:a16="http://schemas.microsoft.com/office/drawing/2014/main" val="21308472"/>
                    </a:ext>
                  </a:extLst>
                </a:gridCol>
              </a:tblGrid>
              <a:tr h="30789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타입</a:t>
                      </a:r>
                      <a:endParaRPr lang="en-US" altLang="ko-KR" sz="10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면적</a:t>
                      </a:r>
                      <a:endParaRPr lang="en-US" altLang="ko-KR" sz="10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안치 가능</a:t>
                      </a:r>
                      <a:endParaRPr lang="en-US" altLang="ko-KR" sz="10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특징</a:t>
                      </a:r>
                      <a:endParaRPr lang="en-US" altLang="ko-KR" sz="10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가격대</a:t>
                      </a:r>
                      <a:endParaRPr lang="en-US" altLang="ko-KR" sz="10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0268165"/>
                  </a:ext>
                </a:extLst>
              </a:tr>
              <a:tr h="30789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개인 수목장</a:t>
                      </a:r>
                      <a:endParaRPr lang="en-US" altLang="ko-KR" sz="10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30</a:t>
                      </a:r>
                      <a:r>
                        <a:rPr lang="en-US" altLang="ko-KR" sz="10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㎡</a:t>
                      </a:r>
                      <a:r>
                        <a:rPr lang="en-US" altLang="ko-KR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ko-KR" altLang="en-US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이하</a:t>
                      </a:r>
                      <a:endParaRPr lang="en-US" altLang="ko-KR" sz="10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r>
                        <a:rPr lang="ko-KR" altLang="en-US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위</a:t>
                      </a:r>
                      <a:endParaRPr lang="en-US" altLang="ko-KR" sz="10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개발 나무</a:t>
                      </a:r>
                      <a:r>
                        <a:rPr lang="en-US" altLang="ko-KR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개인 표석</a:t>
                      </a:r>
                      <a:endParaRPr lang="en-US" altLang="ko-KR" sz="10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300 </a:t>
                      </a:r>
                      <a:r>
                        <a:rPr lang="ko-KR" altLang="en-US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만원 </a:t>
                      </a:r>
                      <a:r>
                        <a:rPr lang="en-US" altLang="ko-KR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~ 500 </a:t>
                      </a:r>
                      <a:r>
                        <a:rPr lang="ko-KR" altLang="en-US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만원</a:t>
                      </a:r>
                      <a:endParaRPr lang="en-US" altLang="ko-KR" sz="10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1090331"/>
                  </a:ext>
                </a:extLst>
              </a:tr>
              <a:tr h="30789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부부 수목장</a:t>
                      </a:r>
                      <a:endParaRPr lang="en-US" altLang="ko-KR" sz="10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50</a:t>
                      </a:r>
                      <a:r>
                        <a:rPr lang="en-US" altLang="ko-KR" sz="10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㎡</a:t>
                      </a:r>
                      <a:r>
                        <a:rPr lang="en-US" altLang="ko-KR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ko-KR" altLang="en-US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이하</a:t>
                      </a:r>
                      <a:endParaRPr lang="en-US" altLang="ko-KR" sz="10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</a:t>
                      </a:r>
                      <a:r>
                        <a:rPr lang="ko-KR" altLang="en-US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위</a:t>
                      </a:r>
                      <a:endParaRPr lang="en-US" altLang="ko-KR" sz="10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대형 수목</a:t>
                      </a:r>
                      <a:r>
                        <a:rPr lang="en-US" altLang="ko-KR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부부 표석</a:t>
                      </a:r>
                      <a:endParaRPr lang="en-US" altLang="ko-KR" sz="10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600 </a:t>
                      </a:r>
                      <a:r>
                        <a:rPr lang="ko-KR" altLang="en-US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만원 </a:t>
                      </a:r>
                      <a:r>
                        <a:rPr lang="en-US" altLang="ko-KR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~ 800 </a:t>
                      </a:r>
                      <a:r>
                        <a:rPr lang="ko-KR" altLang="en-US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만원</a:t>
                      </a:r>
                      <a:endParaRPr lang="en-US" altLang="ko-KR" sz="10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0626559"/>
                  </a:ext>
                </a:extLst>
              </a:tr>
            </a:tbl>
          </a:graphicData>
        </a:graphic>
      </p:graphicFrame>
      <p:sp>
        <p:nvSpPr>
          <p:cNvPr id="21" name="직사각형 20">
            <a:extLst>
              <a:ext uri="{FF2B5EF4-FFF2-40B4-BE49-F238E27FC236}">
                <a16:creationId xmlns:a16="http://schemas.microsoft.com/office/drawing/2014/main" id="{C8AE6680-042E-448C-992C-CB12BA5C7F80}"/>
              </a:ext>
            </a:extLst>
          </p:cNvPr>
          <p:cNvSpPr/>
          <p:nvPr/>
        </p:nvSpPr>
        <p:spPr>
          <a:xfrm>
            <a:off x="314626" y="5250800"/>
            <a:ext cx="4304999" cy="1231585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IMAGE</a:t>
            </a:r>
            <a:endParaRPr lang="ko-KR" altLang="en-US" sz="28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EA306D5-C07A-B70B-5F0F-2231C12AEADF}"/>
              </a:ext>
            </a:extLst>
          </p:cNvPr>
          <p:cNvSpPr txBox="1"/>
          <p:nvPr/>
        </p:nvSpPr>
        <p:spPr>
          <a:xfrm>
            <a:off x="5505856" y="5172976"/>
            <a:ext cx="22868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개인 수목장</a:t>
            </a:r>
            <a:r>
              <a:rPr lang="en-US" altLang="ko-KR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(Individual)</a:t>
            </a:r>
            <a:endParaRPr lang="ko-KR" altLang="en-US" sz="12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7365762-3F0D-8C74-05A1-ED7209CEF511}"/>
              </a:ext>
            </a:extLst>
          </p:cNvPr>
          <p:cNvSpPr txBox="1"/>
          <p:nvPr/>
        </p:nvSpPr>
        <p:spPr>
          <a:xfrm>
            <a:off x="5184844" y="5446674"/>
            <a:ext cx="3311253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위 전용 안치</a:t>
            </a:r>
          </a:p>
          <a:p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30㎡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이하 개별 공간</a:t>
            </a:r>
          </a:p>
          <a:p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나무 수종 선택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소나무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느티나무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벚나무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단풍나무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  <a:p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개인 표석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화강석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20cm × 30cm)</a:t>
            </a:r>
          </a:p>
          <a:p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표석에 이름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생몰년월일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새김</a:t>
            </a:r>
          </a:p>
          <a:p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번호패 부착</a:t>
            </a:r>
          </a:p>
          <a:p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정기 관리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연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회 제초 및 조경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8767813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A2F2E-6E59-6BA7-3EAC-732E9CBDE0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7E4D1155-5214-A13D-05DA-00F3501C25FA}"/>
              </a:ext>
            </a:extLst>
          </p:cNvPr>
          <p:cNvGraphicFramePr>
            <a:graphicFrameLocks noGrp="1"/>
          </p:cNvGraphicFramePr>
          <p:nvPr/>
        </p:nvGraphicFramePr>
        <p:xfrm>
          <a:off x="9182101" y="947377"/>
          <a:ext cx="2795588" cy="1847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1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684046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723838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3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172599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4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290794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5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922450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6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784800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7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0538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8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199337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9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450365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54222DB3-17BA-8C8F-104A-119C5F27B652}"/>
              </a:ext>
            </a:extLst>
          </p:cNvPr>
          <p:cNvSpPr/>
          <p:nvPr/>
        </p:nvSpPr>
        <p:spPr>
          <a:xfrm>
            <a:off x="959895" y="375614"/>
            <a:ext cx="1374094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</a:pP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메인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분양안내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분양절차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F793F09-D9D6-B9B8-CA6D-3A7ED938B5A8}"/>
              </a:ext>
            </a:extLst>
          </p:cNvPr>
          <p:cNvSpPr txBox="1"/>
          <p:nvPr/>
        </p:nvSpPr>
        <p:spPr>
          <a:xfrm>
            <a:off x="6003996" y="123825"/>
            <a:ext cx="17303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HN_DistriInfo_Distriproce_001</a:t>
            </a:r>
            <a:endParaRPr lang="ko-KR" altLang="en-US" sz="800" dirty="0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451DA21F-4223-C55F-A8A7-93C0BB6BD3E0}"/>
              </a:ext>
            </a:extLst>
          </p:cNvPr>
          <p:cNvSpPr/>
          <p:nvPr/>
        </p:nvSpPr>
        <p:spPr>
          <a:xfrm>
            <a:off x="4687970" y="792232"/>
            <a:ext cx="4304999" cy="1707777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IMAGE</a:t>
            </a:r>
            <a:endParaRPr lang="ko-KR" altLang="en-US" sz="28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691F8CA-212B-0CE7-6E3D-33AA589DD16D}"/>
              </a:ext>
            </a:extLst>
          </p:cNvPr>
          <p:cNvSpPr txBox="1"/>
          <p:nvPr/>
        </p:nvSpPr>
        <p:spPr>
          <a:xfrm>
            <a:off x="1410512" y="947377"/>
            <a:ext cx="22868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부부 수목장</a:t>
            </a:r>
            <a:r>
              <a:rPr lang="en-US" altLang="ko-KR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(Couple)</a:t>
            </a:r>
            <a:endParaRPr lang="ko-KR" altLang="en-US" sz="12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6D87EB3-185E-E8E4-7463-E7F89407CA88}"/>
              </a:ext>
            </a:extLst>
          </p:cNvPr>
          <p:cNvSpPr txBox="1"/>
          <p:nvPr/>
        </p:nvSpPr>
        <p:spPr>
          <a:xfrm>
            <a:off x="1089500" y="1318352"/>
            <a:ext cx="331125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위 함께 안치</a:t>
            </a:r>
          </a:p>
          <a:p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50㎡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이하 공간</a:t>
            </a:r>
          </a:p>
          <a:p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대형 수목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수령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20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 이상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  <a:p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부부 통합 표석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화강석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30cm × 40cm)</a:t>
            </a:r>
          </a:p>
          <a:p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나란히 또는 좌우 배치</a:t>
            </a:r>
          </a:p>
          <a:p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벤치 설치 가능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옵션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F1A177D-8F31-F8C2-F579-92B729AAD4AA}"/>
              </a:ext>
            </a:extLst>
          </p:cNvPr>
          <p:cNvSpPr/>
          <p:nvPr/>
        </p:nvSpPr>
        <p:spPr>
          <a:xfrm>
            <a:off x="214311" y="2575111"/>
            <a:ext cx="4304999" cy="1707777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IMAGE</a:t>
            </a:r>
            <a:endParaRPr lang="ko-KR" altLang="en-US" sz="28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A6DE8A-26A3-88F1-A9C0-568435529B7E}"/>
              </a:ext>
            </a:extLst>
          </p:cNvPr>
          <p:cNvSpPr txBox="1"/>
          <p:nvPr/>
        </p:nvSpPr>
        <p:spPr>
          <a:xfrm>
            <a:off x="5385883" y="2814472"/>
            <a:ext cx="22868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가족 수목장</a:t>
            </a:r>
            <a:r>
              <a:rPr lang="en-US" altLang="ko-KR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(Family)</a:t>
            </a:r>
            <a:endParaRPr lang="ko-KR" altLang="en-US" sz="12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8511C65-3383-C63C-BE9C-B67D760658DD}"/>
              </a:ext>
            </a:extLst>
          </p:cNvPr>
          <p:cNvSpPr txBox="1"/>
          <p:nvPr/>
        </p:nvSpPr>
        <p:spPr>
          <a:xfrm>
            <a:off x="5064871" y="3185447"/>
            <a:ext cx="331125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3~4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위 안치 가능</a:t>
            </a:r>
          </a:p>
          <a:p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100㎡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이하 넓은 공간</a:t>
            </a:r>
          </a:p>
          <a:p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</a:t>
            </a:r>
            <a:r>
              <a:rPr lang="ko-KR" altLang="en-US" sz="1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천년송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또는 대형 수목</a:t>
            </a:r>
          </a:p>
          <a:p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가족 통합 표석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화강석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40cm × 60cm)</a:t>
            </a:r>
          </a:p>
          <a:p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</a:t>
            </a:r>
            <a:r>
              <a:rPr lang="ko-KR" altLang="en-US" sz="1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조경석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및 벤치 설치</a:t>
            </a:r>
          </a:p>
          <a:p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가족 전용 산책로 연결 가능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2FDC1FB-FBE0-08C2-69E2-10BBD81EE83F}"/>
              </a:ext>
            </a:extLst>
          </p:cNvPr>
          <p:cNvSpPr/>
          <p:nvPr/>
        </p:nvSpPr>
        <p:spPr>
          <a:xfrm>
            <a:off x="4687970" y="4523985"/>
            <a:ext cx="4304999" cy="1707777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IMAGE</a:t>
            </a:r>
            <a:endParaRPr lang="ko-KR" altLang="en-US" sz="28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9CA5350-C54B-9A4B-4B78-67B0ABDB4536}"/>
              </a:ext>
            </a:extLst>
          </p:cNvPr>
          <p:cNvSpPr txBox="1"/>
          <p:nvPr/>
        </p:nvSpPr>
        <p:spPr>
          <a:xfrm>
            <a:off x="1410512" y="4679130"/>
            <a:ext cx="22868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공동 수목장</a:t>
            </a:r>
            <a:r>
              <a:rPr lang="en-US" altLang="ko-KR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(Community)</a:t>
            </a:r>
            <a:endParaRPr lang="ko-KR" altLang="en-US" sz="12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AF7C6B4-3AE2-A36F-DBDB-572A372851BD}"/>
              </a:ext>
            </a:extLst>
          </p:cNvPr>
          <p:cNvSpPr txBox="1"/>
          <p:nvPr/>
        </p:nvSpPr>
        <p:spPr>
          <a:xfrm>
            <a:off x="1089500" y="5050105"/>
            <a:ext cx="331125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여러 위를 한 그루 큰 나무 아래 안치</a:t>
            </a:r>
          </a:p>
          <a:p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경제적이면서도 품격 유지</a:t>
            </a:r>
          </a:p>
          <a:p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공동 추모비에 이름 새김</a:t>
            </a:r>
          </a:p>
          <a:p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합동 추모제 참석 가능</a:t>
            </a:r>
          </a:p>
        </p:txBody>
      </p:sp>
    </p:spTree>
    <p:extLst>
      <p:ext uri="{BB962C8B-B14F-4D97-AF65-F5344CB8AC3E}">
        <p14:creationId xmlns:p14="http://schemas.microsoft.com/office/powerpoint/2010/main" val="3655898812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D2F33A-6208-1E1F-A6FB-F3FB93174F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3D166E91-311B-FB8F-E424-38EF14138069}"/>
              </a:ext>
            </a:extLst>
          </p:cNvPr>
          <p:cNvGraphicFramePr>
            <a:graphicFrameLocks noGrp="1"/>
          </p:cNvGraphicFramePr>
          <p:nvPr/>
        </p:nvGraphicFramePr>
        <p:xfrm>
          <a:off x="9182101" y="947377"/>
          <a:ext cx="2795588" cy="1847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1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684046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723838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3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172599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4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290794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5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922450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6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784800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7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0538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8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199337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9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450365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9734238E-3A01-1235-99D9-273C1DC8216A}"/>
              </a:ext>
            </a:extLst>
          </p:cNvPr>
          <p:cNvSpPr/>
          <p:nvPr/>
        </p:nvSpPr>
        <p:spPr>
          <a:xfrm>
            <a:off x="959895" y="375614"/>
            <a:ext cx="1374094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</a:pP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메인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분양안내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분양절차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2514E86-9D25-0D66-A235-6D3E660FD819}"/>
              </a:ext>
            </a:extLst>
          </p:cNvPr>
          <p:cNvSpPr txBox="1"/>
          <p:nvPr/>
        </p:nvSpPr>
        <p:spPr>
          <a:xfrm>
            <a:off x="6003996" y="123825"/>
            <a:ext cx="17303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HN_DistriInfo_Distriproce_001</a:t>
            </a:r>
            <a:endParaRPr lang="ko-KR" altLang="en-US" sz="800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287A49E-2DB0-D6E1-830D-72F1CAE09836}"/>
              </a:ext>
            </a:extLst>
          </p:cNvPr>
          <p:cNvSpPr/>
          <p:nvPr/>
        </p:nvSpPr>
        <p:spPr>
          <a:xfrm>
            <a:off x="214311" y="765763"/>
            <a:ext cx="4304999" cy="1707777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IMAGE</a:t>
            </a:r>
            <a:endParaRPr lang="ko-KR" altLang="en-US" sz="28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6C13D5-F6BB-56E2-B1D6-B21F8852945A}"/>
              </a:ext>
            </a:extLst>
          </p:cNvPr>
          <p:cNvSpPr txBox="1"/>
          <p:nvPr/>
        </p:nvSpPr>
        <p:spPr>
          <a:xfrm>
            <a:off x="5385883" y="1005124"/>
            <a:ext cx="22868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잔디장</a:t>
            </a:r>
            <a:r>
              <a:rPr lang="en-US" altLang="ko-KR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(Grass Memorial)</a:t>
            </a:r>
            <a:endParaRPr lang="ko-KR" altLang="en-US" sz="12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5B16776-C412-9F73-EA1B-BD4FEA93E2B2}"/>
              </a:ext>
            </a:extLst>
          </p:cNvPr>
          <p:cNvSpPr txBox="1"/>
          <p:nvPr/>
        </p:nvSpPr>
        <p:spPr>
          <a:xfrm>
            <a:off x="5064871" y="1376099"/>
            <a:ext cx="3311253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잔디 평지에 안치</a:t>
            </a:r>
          </a:p>
          <a:p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1㎡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당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위</a:t>
            </a:r>
          </a:p>
          <a:p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개별 표석 설치</a:t>
            </a:r>
          </a:p>
          <a:p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깔끔하고 현대적 디자인</a:t>
            </a:r>
          </a:p>
          <a:p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개방적인 공간감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745C7DD-A4F8-568E-A7AA-C920FE581F2E}"/>
              </a:ext>
            </a:extLst>
          </p:cNvPr>
          <p:cNvSpPr txBox="1"/>
          <p:nvPr/>
        </p:nvSpPr>
        <p:spPr>
          <a:xfrm>
            <a:off x="3566570" y="2782002"/>
            <a:ext cx="6260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r>
              <a:rPr lang="en-US" altLang="ko-KR" sz="2000" b="1" baseline="30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nd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843ED23-529B-A370-63EE-C75148F4D722}"/>
              </a:ext>
            </a:extLst>
          </p:cNvPr>
          <p:cNvSpPr txBox="1"/>
          <p:nvPr/>
        </p:nvSpPr>
        <p:spPr>
          <a:xfrm>
            <a:off x="4094536" y="2843557"/>
            <a:ext cx="14113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수목 선택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8B4887D-6E9C-B87E-76A3-697D9C94F3EC}"/>
              </a:ext>
            </a:extLst>
          </p:cNvPr>
          <p:cNvSpPr txBox="1"/>
          <p:nvPr/>
        </p:nvSpPr>
        <p:spPr>
          <a:xfrm>
            <a:off x="1684839" y="3178811"/>
            <a:ext cx="584988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하늘누리 수목장은 수령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20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 이상의 국내 </a:t>
            </a:r>
            <a:r>
              <a:rPr lang="ko-KR" altLang="en-US" sz="1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자생종만을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엄선하여 식재합니다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 algn="ctr"/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나무는 묘비가 되고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숲은 추모의 성전이 됩니다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고인의 성품과 가족의 마음에 맞는 나무를 선택하세요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7FE31C5-3CC4-CD41-66AE-3CF5F5DFBCED}"/>
              </a:ext>
            </a:extLst>
          </p:cNvPr>
          <p:cNvSpPr/>
          <p:nvPr/>
        </p:nvSpPr>
        <p:spPr>
          <a:xfrm>
            <a:off x="314626" y="4111120"/>
            <a:ext cx="4304999" cy="1707777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IMAGE</a:t>
            </a:r>
            <a:endParaRPr lang="ko-KR" altLang="en-US" sz="28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B32EA81-933B-4E45-CD3A-0BFD01C8120E}"/>
              </a:ext>
            </a:extLst>
          </p:cNvPr>
          <p:cNvSpPr txBox="1"/>
          <p:nvPr/>
        </p:nvSpPr>
        <p:spPr>
          <a:xfrm>
            <a:off x="5486198" y="4350481"/>
            <a:ext cx="22868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소나무</a:t>
            </a:r>
            <a:r>
              <a:rPr lang="en-US" altLang="ko-KR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(Korean Pine)</a:t>
            </a:r>
            <a:endParaRPr lang="ko-KR" altLang="en-US" sz="12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FC29FB9-2DAF-1A13-B3AE-5727DD932DDF}"/>
              </a:ext>
            </a:extLst>
          </p:cNvPr>
          <p:cNvSpPr txBox="1"/>
          <p:nvPr/>
        </p:nvSpPr>
        <p:spPr>
          <a:xfrm>
            <a:off x="5165186" y="4721456"/>
            <a:ext cx="3311253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사계절 푸른 잎</a:t>
            </a:r>
          </a:p>
          <a:p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강인한 생명력</a:t>
            </a:r>
          </a:p>
          <a:p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수령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100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 이상 장수</a:t>
            </a:r>
          </a:p>
          <a:p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전통적으로 가장 선호되는 수종</a:t>
            </a:r>
          </a:p>
          <a:p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한국의 정서와 가장 잘 어울림</a:t>
            </a:r>
          </a:p>
        </p:txBody>
      </p:sp>
    </p:spTree>
    <p:extLst>
      <p:ext uri="{BB962C8B-B14F-4D97-AF65-F5344CB8AC3E}">
        <p14:creationId xmlns:p14="http://schemas.microsoft.com/office/powerpoint/2010/main" val="4278583253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5CBF63-5C50-E08D-4E28-41DC2B1E9F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EA8C5CD6-BC00-AE2D-D368-7A864E6CA859}"/>
              </a:ext>
            </a:extLst>
          </p:cNvPr>
          <p:cNvGraphicFramePr>
            <a:graphicFrameLocks noGrp="1"/>
          </p:cNvGraphicFramePr>
          <p:nvPr/>
        </p:nvGraphicFramePr>
        <p:xfrm>
          <a:off x="9182101" y="947377"/>
          <a:ext cx="2795588" cy="1847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1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684046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723838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3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172599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4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290794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5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922450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6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784800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7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0538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8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199337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9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450365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DABEB752-06FB-5433-682F-3A0A69C2ADB8}"/>
              </a:ext>
            </a:extLst>
          </p:cNvPr>
          <p:cNvSpPr/>
          <p:nvPr/>
        </p:nvSpPr>
        <p:spPr>
          <a:xfrm>
            <a:off x="959895" y="375614"/>
            <a:ext cx="1374094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</a:pP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메인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분양안내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분양절차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ED79339-F191-E6D6-4976-CA9654F90D30}"/>
              </a:ext>
            </a:extLst>
          </p:cNvPr>
          <p:cNvSpPr txBox="1"/>
          <p:nvPr/>
        </p:nvSpPr>
        <p:spPr>
          <a:xfrm>
            <a:off x="6003996" y="123825"/>
            <a:ext cx="17303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HN_DistriInfo_Distriproce_001</a:t>
            </a:r>
            <a:endParaRPr lang="ko-KR" altLang="en-US" sz="800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C5F8813-CD59-6684-A905-CF5AC52A8A1A}"/>
              </a:ext>
            </a:extLst>
          </p:cNvPr>
          <p:cNvSpPr/>
          <p:nvPr/>
        </p:nvSpPr>
        <p:spPr>
          <a:xfrm>
            <a:off x="4716647" y="767221"/>
            <a:ext cx="4304999" cy="1707777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IMAGE</a:t>
            </a:r>
            <a:endParaRPr lang="ko-KR" altLang="en-US" sz="28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C94FA2-700E-5982-7DC6-A46489121A31}"/>
              </a:ext>
            </a:extLst>
          </p:cNvPr>
          <p:cNvSpPr txBox="1"/>
          <p:nvPr/>
        </p:nvSpPr>
        <p:spPr>
          <a:xfrm>
            <a:off x="1427027" y="1075474"/>
            <a:ext cx="22868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느티나무</a:t>
            </a:r>
            <a:r>
              <a:rPr lang="en-US" altLang="ko-KR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(Zelkova)</a:t>
            </a:r>
            <a:endParaRPr lang="ko-KR" altLang="en-US" sz="12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5F42AA-658D-E493-B650-F62BB4ECE642}"/>
              </a:ext>
            </a:extLst>
          </p:cNvPr>
          <p:cNvSpPr txBox="1"/>
          <p:nvPr/>
        </p:nvSpPr>
        <p:spPr>
          <a:xfrm>
            <a:off x="1106015" y="1446449"/>
            <a:ext cx="3311253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수백 년 장수 수종</a:t>
            </a:r>
          </a:p>
          <a:p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넓은 그늘 제공</a:t>
            </a:r>
          </a:p>
          <a:p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마을 어귀 </a:t>
            </a:r>
            <a:r>
              <a:rPr lang="ko-KR" altLang="en-US" sz="1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수호목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역할</a:t>
            </a:r>
          </a:p>
          <a:p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봄 신록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가을 단풍 아름다움</a:t>
            </a:r>
          </a:p>
          <a:p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가족을 지키는 상징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254250B-13F2-5226-93EE-7D35B00F6C68}"/>
              </a:ext>
            </a:extLst>
          </p:cNvPr>
          <p:cNvSpPr/>
          <p:nvPr/>
        </p:nvSpPr>
        <p:spPr>
          <a:xfrm>
            <a:off x="314626" y="2575111"/>
            <a:ext cx="4304999" cy="1707777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IMAGE</a:t>
            </a:r>
            <a:endParaRPr lang="ko-KR" altLang="en-US" sz="28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EABA2E8-A881-4116-6150-E19C27E970A5}"/>
              </a:ext>
            </a:extLst>
          </p:cNvPr>
          <p:cNvSpPr txBox="1"/>
          <p:nvPr/>
        </p:nvSpPr>
        <p:spPr>
          <a:xfrm>
            <a:off x="5687742" y="2890250"/>
            <a:ext cx="22868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벗나무</a:t>
            </a:r>
            <a:r>
              <a:rPr lang="en-US" altLang="ko-KR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(Cherry Blossom)</a:t>
            </a:r>
            <a:endParaRPr lang="ko-KR" altLang="en-US" sz="12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8551843-B3C9-8742-DC42-B3BE851D52BF}"/>
              </a:ext>
            </a:extLst>
          </p:cNvPr>
          <p:cNvSpPr txBox="1"/>
          <p:nvPr/>
        </p:nvSpPr>
        <p:spPr>
          <a:xfrm>
            <a:off x="5366730" y="3261225"/>
            <a:ext cx="3311253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봄철 화려한 꽃</a:t>
            </a:r>
          </a:p>
          <a:p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낭만적 분위기</a:t>
            </a:r>
          </a:p>
          <a:p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젊은 층 선호</a:t>
            </a:r>
          </a:p>
          <a:p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포토존으로 인기</a:t>
            </a:r>
          </a:p>
          <a:p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벚꽃 축제 기간 아름다움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BA45BCE-066E-F37B-5098-81FCC225FFDA}"/>
              </a:ext>
            </a:extLst>
          </p:cNvPr>
          <p:cNvSpPr txBox="1"/>
          <p:nvPr/>
        </p:nvSpPr>
        <p:spPr>
          <a:xfrm>
            <a:off x="3673434" y="4395307"/>
            <a:ext cx="6260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r>
              <a:rPr lang="en-US" altLang="ko-KR" sz="2000" b="1" baseline="30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rd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C443040-1DC9-125C-DADC-E9EC9DC5E2E3}"/>
              </a:ext>
            </a:extLst>
          </p:cNvPr>
          <p:cNvSpPr txBox="1"/>
          <p:nvPr/>
        </p:nvSpPr>
        <p:spPr>
          <a:xfrm>
            <a:off x="4201400" y="4456862"/>
            <a:ext cx="14113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구역 위치 선택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42F99C3-3F63-687E-9C99-2EA59AFA5FEB}"/>
              </a:ext>
            </a:extLst>
          </p:cNvPr>
          <p:cNvSpPr txBox="1"/>
          <p:nvPr/>
        </p:nvSpPr>
        <p:spPr>
          <a:xfrm>
            <a:off x="1614942" y="4795416"/>
            <a:ext cx="610081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하늘누리 수목장은 전체 부지가 자연 경관과 조화를 이루도록 설계되었습니다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 algn="ctr"/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위치에 따라 전망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접근성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일조량이 달라지며 가격도 차등 적용됩니다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19" name="표 18">
            <a:extLst>
              <a:ext uri="{FF2B5EF4-FFF2-40B4-BE49-F238E27FC236}">
                <a16:creationId xmlns:a16="http://schemas.microsoft.com/office/drawing/2014/main" id="{0ED6476C-B845-15A6-5F31-0967B3F499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0477217"/>
              </p:ext>
            </p:extLst>
          </p:nvPr>
        </p:nvGraphicFramePr>
        <p:xfrm>
          <a:off x="788875" y="5474052"/>
          <a:ext cx="7752945" cy="615792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020271">
                  <a:extLst>
                    <a:ext uri="{9D8B030D-6E8A-4147-A177-3AD203B41FA5}">
                      <a16:colId xmlns:a16="http://schemas.microsoft.com/office/drawing/2014/main" val="1553538150"/>
                    </a:ext>
                  </a:extLst>
                </a:gridCol>
                <a:gridCol w="1020271">
                  <a:extLst>
                    <a:ext uri="{9D8B030D-6E8A-4147-A177-3AD203B41FA5}">
                      <a16:colId xmlns:a16="http://schemas.microsoft.com/office/drawing/2014/main" val="1005073696"/>
                    </a:ext>
                  </a:extLst>
                </a:gridCol>
                <a:gridCol w="2142351">
                  <a:extLst>
                    <a:ext uri="{9D8B030D-6E8A-4147-A177-3AD203B41FA5}">
                      <a16:colId xmlns:a16="http://schemas.microsoft.com/office/drawing/2014/main" val="2912823855"/>
                    </a:ext>
                  </a:extLst>
                </a:gridCol>
                <a:gridCol w="2062264">
                  <a:extLst>
                    <a:ext uri="{9D8B030D-6E8A-4147-A177-3AD203B41FA5}">
                      <a16:colId xmlns:a16="http://schemas.microsoft.com/office/drawing/2014/main" val="420109590"/>
                    </a:ext>
                  </a:extLst>
                </a:gridCol>
                <a:gridCol w="1507788">
                  <a:extLst>
                    <a:ext uri="{9D8B030D-6E8A-4147-A177-3AD203B41FA5}">
                      <a16:colId xmlns:a16="http://schemas.microsoft.com/office/drawing/2014/main" val="21308472"/>
                    </a:ext>
                  </a:extLst>
                </a:gridCol>
              </a:tblGrid>
              <a:tr h="30789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구분</a:t>
                      </a:r>
                      <a:endParaRPr lang="en-US" altLang="ko-KR" sz="10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A </a:t>
                      </a:r>
                      <a:r>
                        <a:rPr lang="ko-KR" altLang="en-US" sz="10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구역</a:t>
                      </a:r>
                      <a:endParaRPr lang="en-US" altLang="ko-KR" sz="10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B </a:t>
                      </a:r>
                      <a:r>
                        <a:rPr lang="ko-KR" altLang="en-US" sz="10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구역</a:t>
                      </a:r>
                      <a:endParaRPr lang="en-US" altLang="ko-KR" sz="10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C </a:t>
                      </a:r>
                      <a:r>
                        <a:rPr lang="ko-KR" altLang="en-US" sz="10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구역</a:t>
                      </a:r>
                      <a:endParaRPr lang="en-US" altLang="ko-KR" sz="10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D </a:t>
                      </a:r>
                      <a:r>
                        <a:rPr lang="ko-KR" altLang="en-US" sz="10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구역</a:t>
                      </a:r>
                      <a:endParaRPr lang="en-US" altLang="ko-KR" sz="10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0268165"/>
                  </a:ext>
                </a:extLst>
              </a:tr>
              <a:tr h="30789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특징</a:t>
                      </a:r>
                      <a:endParaRPr lang="en-US" altLang="ko-KR" sz="10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전망 최고</a:t>
                      </a:r>
                      <a:endParaRPr lang="en-US" altLang="ko-KR" sz="10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산책로 인접</a:t>
                      </a:r>
                      <a:endParaRPr lang="en-US" altLang="ko-KR" sz="10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조용한 숲속</a:t>
                      </a:r>
                      <a:endParaRPr lang="en-US" altLang="ko-KR" sz="10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공동 수목장</a:t>
                      </a:r>
                      <a:endParaRPr lang="en-US" altLang="ko-KR" sz="10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10903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74025004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29C767-4652-31C6-9729-A9F806E70E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953B2096-C2AC-9B95-C3E1-B748886C2496}"/>
              </a:ext>
            </a:extLst>
          </p:cNvPr>
          <p:cNvGraphicFramePr>
            <a:graphicFrameLocks noGrp="1"/>
          </p:cNvGraphicFramePr>
          <p:nvPr/>
        </p:nvGraphicFramePr>
        <p:xfrm>
          <a:off x="9182101" y="947377"/>
          <a:ext cx="2795588" cy="1847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1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684046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723838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3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172599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4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290794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5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922450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6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784800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7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0538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8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199337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9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450365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71B5FD9C-0DF1-E832-6768-8995F6E6B2D6}"/>
              </a:ext>
            </a:extLst>
          </p:cNvPr>
          <p:cNvSpPr/>
          <p:nvPr/>
        </p:nvSpPr>
        <p:spPr>
          <a:xfrm>
            <a:off x="959895" y="375614"/>
            <a:ext cx="1374094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</a:pP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메인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분양안내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분양절차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E25A5F9-778D-532B-5987-EB8CA7605ABD}"/>
              </a:ext>
            </a:extLst>
          </p:cNvPr>
          <p:cNvSpPr txBox="1"/>
          <p:nvPr/>
        </p:nvSpPr>
        <p:spPr>
          <a:xfrm>
            <a:off x="6003996" y="123825"/>
            <a:ext cx="17303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HN_DistriInfo_Distriproce_001</a:t>
            </a:r>
            <a:endParaRPr lang="ko-KR" altLang="en-US" sz="800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5DA1782-C319-57D7-604B-C5FCC0981184}"/>
              </a:ext>
            </a:extLst>
          </p:cNvPr>
          <p:cNvSpPr/>
          <p:nvPr/>
        </p:nvSpPr>
        <p:spPr>
          <a:xfrm>
            <a:off x="4716647" y="767221"/>
            <a:ext cx="4304999" cy="1707777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IMAGE</a:t>
            </a:r>
            <a:endParaRPr lang="ko-KR" altLang="en-US" sz="28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14254B-B4D6-B2D8-7FAD-612A42C18648}"/>
              </a:ext>
            </a:extLst>
          </p:cNvPr>
          <p:cNvSpPr txBox="1"/>
          <p:nvPr/>
        </p:nvSpPr>
        <p:spPr>
          <a:xfrm>
            <a:off x="1427027" y="1075474"/>
            <a:ext cx="22868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A </a:t>
            </a:r>
            <a:r>
              <a:rPr lang="ko-KR" altLang="en-US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구역</a:t>
            </a:r>
            <a:r>
              <a:rPr lang="en-US" altLang="ko-KR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(Premium Zone)</a:t>
            </a:r>
            <a:endParaRPr lang="ko-KR" altLang="en-US" sz="12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813BC11-C042-8C3E-8105-542E1ACBAEE4}"/>
              </a:ext>
            </a:extLst>
          </p:cNvPr>
          <p:cNvSpPr txBox="1"/>
          <p:nvPr/>
        </p:nvSpPr>
        <p:spPr>
          <a:xfrm>
            <a:off x="1106015" y="1446449"/>
            <a:ext cx="3311253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전망대 인접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하늘누리 전경 조망</a:t>
            </a:r>
          </a:p>
          <a:p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남향 또는 동향</a:t>
            </a:r>
          </a:p>
          <a:p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일조량 최고</a:t>
            </a:r>
          </a:p>
          <a:p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산책로 직접 연결</a:t>
            </a:r>
          </a:p>
          <a:p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계절별 꽃 정원 인접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95EF880-FFC5-37EA-0A9C-4E3EBB6C035C}"/>
              </a:ext>
            </a:extLst>
          </p:cNvPr>
          <p:cNvSpPr/>
          <p:nvPr/>
        </p:nvSpPr>
        <p:spPr>
          <a:xfrm>
            <a:off x="314626" y="2575111"/>
            <a:ext cx="4304999" cy="1707777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IMAGE</a:t>
            </a:r>
            <a:endParaRPr lang="ko-KR" altLang="en-US" sz="28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BE01A9E-ACF9-0D0A-F7CD-2335115AAC29}"/>
              </a:ext>
            </a:extLst>
          </p:cNvPr>
          <p:cNvSpPr txBox="1"/>
          <p:nvPr/>
        </p:nvSpPr>
        <p:spPr>
          <a:xfrm>
            <a:off x="5687742" y="2890250"/>
            <a:ext cx="22868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B </a:t>
            </a:r>
            <a:r>
              <a:rPr lang="ko-KR" altLang="en-US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구역 </a:t>
            </a:r>
            <a:r>
              <a:rPr lang="en-US" altLang="ko-KR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(Standard Zone)</a:t>
            </a:r>
            <a:endParaRPr lang="ko-KR" altLang="en-US" sz="12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4343F4E-53FC-315D-6553-A3E118E0F983}"/>
              </a:ext>
            </a:extLst>
          </p:cNvPr>
          <p:cNvSpPr txBox="1"/>
          <p:nvPr/>
        </p:nvSpPr>
        <p:spPr>
          <a:xfrm>
            <a:off x="5366730" y="3261225"/>
            <a:ext cx="3311253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산책로 바로 인접</a:t>
            </a:r>
          </a:p>
          <a:p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동향 또는 남동향</a:t>
            </a:r>
          </a:p>
          <a:p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일조량 양호</a:t>
            </a:r>
          </a:p>
          <a:p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접근성 우수</a:t>
            </a:r>
          </a:p>
          <a:p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벤치 및 휴게 공간 근처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E6B9C2E-3400-DF8D-33EC-6C7C534153E4}"/>
              </a:ext>
            </a:extLst>
          </p:cNvPr>
          <p:cNvSpPr/>
          <p:nvPr/>
        </p:nvSpPr>
        <p:spPr>
          <a:xfrm>
            <a:off x="4716647" y="4376864"/>
            <a:ext cx="4304999" cy="1707777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IMAGE</a:t>
            </a:r>
            <a:endParaRPr lang="ko-KR" altLang="en-US" sz="28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3EA2AE-8C6C-C488-87D6-9C5827A306B9}"/>
              </a:ext>
            </a:extLst>
          </p:cNvPr>
          <p:cNvSpPr txBox="1"/>
          <p:nvPr/>
        </p:nvSpPr>
        <p:spPr>
          <a:xfrm>
            <a:off x="1427027" y="4685117"/>
            <a:ext cx="22868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C </a:t>
            </a:r>
            <a:r>
              <a:rPr lang="ko-KR" altLang="en-US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구역</a:t>
            </a:r>
            <a:r>
              <a:rPr lang="en-US" altLang="ko-KR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(Forest Zone)</a:t>
            </a:r>
            <a:endParaRPr lang="ko-KR" altLang="en-US" sz="12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EADDBC9-0484-6EE7-D254-8246397D3281}"/>
              </a:ext>
            </a:extLst>
          </p:cNvPr>
          <p:cNvSpPr txBox="1"/>
          <p:nvPr/>
        </p:nvSpPr>
        <p:spPr>
          <a:xfrm>
            <a:off x="1106015" y="5056092"/>
            <a:ext cx="3311253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깊은 숲속 조용한 공간</a:t>
            </a:r>
          </a:p>
          <a:p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북향 또는 </a:t>
            </a:r>
            <a:r>
              <a:rPr lang="ko-KR" altLang="en-US" sz="1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북동향</a:t>
            </a:r>
            <a:endParaRPr lang="ko-KR" altLang="en-US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나무 그늘 아래 시원함</a:t>
            </a:r>
          </a:p>
          <a:p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</a:t>
            </a:r>
            <a:r>
              <a:rPr lang="ko-KR" altLang="en-US" sz="1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프라이빗한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분위기</a:t>
            </a:r>
          </a:p>
          <a:p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새소리와 자연 소리</a:t>
            </a:r>
          </a:p>
        </p:txBody>
      </p:sp>
    </p:spTree>
    <p:extLst>
      <p:ext uri="{BB962C8B-B14F-4D97-AF65-F5344CB8AC3E}">
        <p14:creationId xmlns:p14="http://schemas.microsoft.com/office/powerpoint/2010/main" val="2340404396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1FB2DF-982F-6B1D-EA61-4B5DFACC80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B46C1674-684B-7C9F-1797-0993A1B9A157}"/>
              </a:ext>
            </a:extLst>
          </p:cNvPr>
          <p:cNvGraphicFramePr>
            <a:graphicFrameLocks noGrp="1"/>
          </p:cNvGraphicFramePr>
          <p:nvPr/>
        </p:nvGraphicFramePr>
        <p:xfrm>
          <a:off x="9182101" y="947377"/>
          <a:ext cx="2795588" cy="1847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1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684046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723838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3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172599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4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290794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5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922450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6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784800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7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0538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8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199337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9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450365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E7B444DC-CE7C-69E9-B0E1-7794CCEBA6C9}"/>
              </a:ext>
            </a:extLst>
          </p:cNvPr>
          <p:cNvSpPr/>
          <p:nvPr/>
        </p:nvSpPr>
        <p:spPr>
          <a:xfrm>
            <a:off x="959895" y="375614"/>
            <a:ext cx="1374094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</a:pP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메인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분양안내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분양절차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7F64731-AAA1-20D7-F64E-258EE1C09E98}"/>
              </a:ext>
            </a:extLst>
          </p:cNvPr>
          <p:cNvSpPr txBox="1"/>
          <p:nvPr/>
        </p:nvSpPr>
        <p:spPr>
          <a:xfrm>
            <a:off x="6003996" y="123825"/>
            <a:ext cx="17303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HN_DistriInfo_Distriproce_001</a:t>
            </a:r>
            <a:endParaRPr lang="ko-KR" altLang="en-US" sz="800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D9E6B46-09C5-3787-785E-AEE3F82FEA19}"/>
              </a:ext>
            </a:extLst>
          </p:cNvPr>
          <p:cNvSpPr/>
          <p:nvPr/>
        </p:nvSpPr>
        <p:spPr>
          <a:xfrm>
            <a:off x="314626" y="863040"/>
            <a:ext cx="4304999" cy="1707777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IMAGE</a:t>
            </a:r>
            <a:endParaRPr lang="ko-KR" altLang="en-US" sz="28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DF8E77F-79E9-6C49-1DB9-04EF2CC484D5}"/>
              </a:ext>
            </a:extLst>
          </p:cNvPr>
          <p:cNvSpPr txBox="1"/>
          <p:nvPr/>
        </p:nvSpPr>
        <p:spPr>
          <a:xfrm>
            <a:off x="5687742" y="1178179"/>
            <a:ext cx="22868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D </a:t>
            </a:r>
            <a:r>
              <a:rPr lang="ko-KR" altLang="en-US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구역 </a:t>
            </a:r>
            <a:r>
              <a:rPr lang="en-US" altLang="ko-KR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(Community Zone)</a:t>
            </a:r>
            <a:endParaRPr lang="ko-KR" altLang="en-US" sz="12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CFE7F1B-C012-7A62-C3AD-4E65B3FF7FF4}"/>
              </a:ext>
            </a:extLst>
          </p:cNvPr>
          <p:cNvSpPr txBox="1"/>
          <p:nvPr/>
        </p:nvSpPr>
        <p:spPr>
          <a:xfrm>
            <a:off x="5366730" y="1549154"/>
            <a:ext cx="331125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공동 수목장 전용 구역</a:t>
            </a:r>
          </a:p>
          <a:p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대형 </a:t>
            </a:r>
            <a:r>
              <a:rPr lang="ko-KR" altLang="en-US" sz="1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천년송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5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그루</a:t>
            </a:r>
          </a:p>
          <a:p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공동 추모비</a:t>
            </a:r>
          </a:p>
          <a:p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합동 추모제 공간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79AC769-EA24-EB25-E2DD-C2587955E000}"/>
              </a:ext>
            </a:extLst>
          </p:cNvPr>
          <p:cNvSpPr txBox="1"/>
          <p:nvPr/>
        </p:nvSpPr>
        <p:spPr>
          <a:xfrm>
            <a:off x="3829076" y="2751892"/>
            <a:ext cx="6260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r>
            <a:r>
              <a:rPr lang="en-US" altLang="ko-KR" sz="2000" b="1" baseline="30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th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2FE4B4D-678C-F522-6739-289C0064D120}"/>
              </a:ext>
            </a:extLst>
          </p:cNvPr>
          <p:cNvSpPr txBox="1"/>
          <p:nvPr/>
        </p:nvSpPr>
        <p:spPr>
          <a:xfrm>
            <a:off x="4357042" y="2813447"/>
            <a:ext cx="14113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사용권 계약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3B8836B-1D25-4701-AF4E-2D5B558B08A9}"/>
              </a:ext>
            </a:extLst>
          </p:cNvPr>
          <p:cNvSpPr txBox="1"/>
          <p:nvPr/>
        </p:nvSpPr>
        <p:spPr>
          <a:xfrm>
            <a:off x="1770584" y="3152001"/>
            <a:ext cx="610081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수목장 사용권 계약은 자연 회귀의 철학을 실천하는 첫걸음입니다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 algn="ctr"/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투명하고 명확한 계약으로 평생 안심하고 모실 수 있도록 </a:t>
            </a:r>
            <a:r>
              <a:rPr lang="ko-KR" altLang="en-US" sz="1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약속드립니다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B3BE8FEC-F9E5-A873-32D5-CA676F768A38}"/>
              </a:ext>
            </a:extLst>
          </p:cNvPr>
          <p:cNvSpPr/>
          <p:nvPr/>
        </p:nvSpPr>
        <p:spPr>
          <a:xfrm>
            <a:off x="282102" y="3946459"/>
            <a:ext cx="4169264" cy="2365955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IMAGE</a:t>
            </a:r>
            <a:endParaRPr lang="ko-KR" altLang="en-US" sz="28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0A92A28-71D2-262E-08D5-4FE69F4DCABF}"/>
              </a:ext>
            </a:extLst>
          </p:cNvPr>
          <p:cNvSpPr txBox="1"/>
          <p:nvPr/>
        </p:nvSpPr>
        <p:spPr>
          <a:xfrm>
            <a:off x="5434617" y="4018158"/>
            <a:ext cx="22868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계약관련 필요 서류</a:t>
            </a:r>
          </a:p>
        </p:txBody>
      </p:sp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018D4DCA-D481-3B96-69C4-1B5E560BEB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927771"/>
              </p:ext>
            </p:extLst>
          </p:nvPr>
        </p:nvGraphicFramePr>
        <p:xfrm>
          <a:off x="4921182" y="4330969"/>
          <a:ext cx="3960170" cy="19184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965945">
                  <a:extLst>
                    <a:ext uri="{9D8B030D-6E8A-4147-A177-3AD203B41FA5}">
                      <a16:colId xmlns:a16="http://schemas.microsoft.com/office/drawing/2014/main" val="1553538150"/>
                    </a:ext>
                  </a:extLst>
                </a:gridCol>
                <a:gridCol w="1606578">
                  <a:extLst>
                    <a:ext uri="{9D8B030D-6E8A-4147-A177-3AD203B41FA5}">
                      <a16:colId xmlns:a16="http://schemas.microsoft.com/office/drawing/2014/main" val="1005073696"/>
                    </a:ext>
                  </a:extLst>
                </a:gridCol>
                <a:gridCol w="1387647">
                  <a:extLst>
                    <a:ext uri="{9D8B030D-6E8A-4147-A177-3AD203B41FA5}">
                      <a16:colId xmlns:a16="http://schemas.microsoft.com/office/drawing/2014/main" val="2912823855"/>
                    </a:ext>
                  </a:extLst>
                </a:gridCol>
              </a:tblGrid>
              <a:tr h="27599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구분</a:t>
                      </a:r>
                      <a:endParaRPr lang="en-US" altLang="ko-KR" sz="10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필수서류</a:t>
                      </a:r>
                      <a:endParaRPr lang="en-US" altLang="ko-KR" sz="10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비고</a:t>
                      </a:r>
                      <a:endParaRPr lang="en-US" altLang="ko-KR" sz="10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0268165"/>
                  </a:ext>
                </a:extLst>
              </a:tr>
              <a:tr h="41372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개인 계약</a:t>
                      </a:r>
                      <a:endParaRPr lang="en-US" altLang="ko-KR" sz="10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• </a:t>
                      </a:r>
                      <a:r>
                        <a:rPr lang="ko-KR" altLang="en-US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신분증 원본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• </a:t>
                      </a:r>
                      <a:r>
                        <a:rPr lang="ko-KR" altLang="en-US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도장 또는 서명</a:t>
                      </a:r>
                      <a:endParaRPr lang="en-US" altLang="ko-KR" sz="10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본인 계약 시</a:t>
                      </a:r>
                      <a:endParaRPr lang="en-US" altLang="ko-KR" sz="10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1090331"/>
                  </a:ext>
                </a:extLst>
              </a:tr>
              <a:tr h="61435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대리인 계약</a:t>
                      </a:r>
                      <a:endParaRPr lang="en-US" altLang="ko-KR" sz="10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• </a:t>
                      </a:r>
                      <a:r>
                        <a:rPr lang="ko-KR" altLang="en-US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위임장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• </a:t>
                      </a:r>
                      <a:r>
                        <a:rPr lang="ko-KR" altLang="en-US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대리인 신분증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• </a:t>
                      </a:r>
                      <a:r>
                        <a:rPr lang="ko-KR" altLang="en-US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계약자 신분증 사본</a:t>
                      </a:r>
                      <a:endParaRPr lang="en-US" altLang="ko-KR" sz="10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대리 계약 시</a:t>
                      </a:r>
                      <a:endParaRPr lang="en-US" altLang="ko-KR" sz="10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0626559"/>
                  </a:ext>
                </a:extLst>
              </a:tr>
              <a:tr h="61435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법인 계약</a:t>
                      </a:r>
                      <a:endParaRPr lang="en-US" altLang="ko-KR" sz="10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• </a:t>
                      </a:r>
                      <a:r>
                        <a:rPr lang="ko-KR" altLang="en-US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사업자등록증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• </a:t>
                      </a:r>
                      <a:r>
                        <a:rPr lang="ko-KR" altLang="en-US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법인인감증명서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• </a:t>
                      </a:r>
                      <a:r>
                        <a:rPr lang="ko-KR" altLang="en-US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대표자 신분증</a:t>
                      </a:r>
                      <a:endParaRPr lang="en-US" altLang="ko-KR" sz="10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법인 명의 시</a:t>
                      </a:r>
                      <a:endParaRPr lang="en-US" altLang="ko-KR" sz="10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4697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96726823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2E5FF4-C816-4E86-520D-D3CAA07E08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BC82BE55-B3B1-9055-6C85-A14630B5FDF9}"/>
              </a:ext>
            </a:extLst>
          </p:cNvPr>
          <p:cNvGraphicFramePr>
            <a:graphicFrameLocks noGrp="1"/>
          </p:cNvGraphicFramePr>
          <p:nvPr/>
        </p:nvGraphicFramePr>
        <p:xfrm>
          <a:off x="9182101" y="947377"/>
          <a:ext cx="2795588" cy="1847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1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684046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723838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3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172599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4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290794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5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922450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6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784800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7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0538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8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199337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9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450365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F1A23CCC-CB66-37AF-12DD-076C32FCB3C9}"/>
              </a:ext>
            </a:extLst>
          </p:cNvPr>
          <p:cNvSpPr/>
          <p:nvPr/>
        </p:nvSpPr>
        <p:spPr>
          <a:xfrm>
            <a:off x="959895" y="375614"/>
            <a:ext cx="1374094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</a:pP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메인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분양안내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분양절차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2771E46-8798-48A4-DC06-9BBF7258DE78}"/>
              </a:ext>
            </a:extLst>
          </p:cNvPr>
          <p:cNvSpPr txBox="1"/>
          <p:nvPr/>
        </p:nvSpPr>
        <p:spPr>
          <a:xfrm>
            <a:off x="6003996" y="123825"/>
            <a:ext cx="17303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HN_DistriInfo_Distriproce_001</a:t>
            </a:r>
            <a:endParaRPr lang="ko-KR" altLang="en-US" sz="800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0C8F1B5-222E-E7EA-BFD4-384911878D7C}"/>
              </a:ext>
            </a:extLst>
          </p:cNvPr>
          <p:cNvSpPr/>
          <p:nvPr/>
        </p:nvSpPr>
        <p:spPr>
          <a:xfrm>
            <a:off x="4619625" y="908465"/>
            <a:ext cx="4304999" cy="2009832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IMAGE</a:t>
            </a:r>
            <a:endParaRPr lang="ko-KR" altLang="en-US" sz="28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934870-60CA-9FF1-6299-6107C51EB543}"/>
              </a:ext>
            </a:extLst>
          </p:cNvPr>
          <p:cNvSpPr txBox="1"/>
          <p:nvPr/>
        </p:nvSpPr>
        <p:spPr>
          <a:xfrm>
            <a:off x="1219050" y="808877"/>
            <a:ext cx="22868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계약관련 필요 서류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E70F0744-5E12-6723-9870-36B07603E10E}"/>
              </a:ext>
            </a:extLst>
          </p:cNvPr>
          <p:cNvSpPr/>
          <p:nvPr/>
        </p:nvSpPr>
        <p:spPr>
          <a:xfrm>
            <a:off x="846308" y="1361872"/>
            <a:ext cx="856034" cy="1070042"/>
          </a:xfrm>
          <a:prstGeom prst="roundRect">
            <a:avLst/>
          </a:prstGeom>
          <a:solidFill>
            <a:srgbClr val="002060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 내용 최종 확인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BE47B69C-48B9-0F34-2B4C-B6471E6FE5AB}"/>
              </a:ext>
            </a:extLst>
          </p:cNvPr>
          <p:cNvSpPr/>
          <p:nvPr/>
        </p:nvSpPr>
        <p:spPr>
          <a:xfrm>
            <a:off x="1922286" y="1361872"/>
            <a:ext cx="856034" cy="1070042"/>
          </a:xfrm>
          <a:prstGeom prst="roundRect">
            <a:avLst/>
          </a:prstGeom>
          <a:solidFill>
            <a:srgbClr val="002060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계약서    설명 및   작성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05C76299-60E2-11D8-8776-8CF46C465CDC}"/>
              </a:ext>
            </a:extLst>
          </p:cNvPr>
          <p:cNvSpPr/>
          <p:nvPr/>
        </p:nvSpPr>
        <p:spPr>
          <a:xfrm>
            <a:off x="2962252" y="1361872"/>
            <a:ext cx="856034" cy="1070042"/>
          </a:xfrm>
          <a:prstGeom prst="roundRect">
            <a:avLst/>
          </a:prstGeom>
          <a:solidFill>
            <a:srgbClr val="002060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계약금</a:t>
            </a:r>
            <a:endParaRPr lang="en-US" altLang="ko-KR" sz="11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ko-KR" altLang="en-US" sz="11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납부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68AF368-BE83-52CB-FE8E-E3C69E6EF249}"/>
              </a:ext>
            </a:extLst>
          </p:cNvPr>
          <p:cNvSpPr txBox="1"/>
          <p:nvPr/>
        </p:nvSpPr>
        <p:spPr>
          <a:xfrm>
            <a:off x="2036644" y="1060314"/>
            <a:ext cx="6159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r>
              <a:rPr lang="ko-KR" altLang="en-US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단계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39AED2B-6B23-9589-9FF8-D906E136C046}"/>
              </a:ext>
            </a:extLst>
          </p:cNvPr>
          <p:cNvSpPr txBox="1"/>
          <p:nvPr/>
        </p:nvSpPr>
        <p:spPr>
          <a:xfrm>
            <a:off x="968061" y="1060314"/>
            <a:ext cx="6159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단계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2AF5EB2-B3BE-B9FA-6C84-EB2962E39067}"/>
              </a:ext>
            </a:extLst>
          </p:cNvPr>
          <p:cNvSpPr txBox="1"/>
          <p:nvPr/>
        </p:nvSpPr>
        <p:spPr>
          <a:xfrm>
            <a:off x="3105227" y="1060314"/>
            <a:ext cx="6159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r>
              <a:rPr lang="ko-KR" altLang="en-US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단계</a:t>
            </a:r>
          </a:p>
        </p:txBody>
      </p: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EC20F3FE-B826-3B7E-BEFF-8498F48955C7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1702342" y="1896893"/>
            <a:ext cx="219944" cy="0"/>
          </a:xfrm>
          <a:prstGeom prst="straightConnector1">
            <a:avLst/>
          </a:prstGeom>
          <a:ln w="9525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7A475705-BA6A-9C83-65C7-D7682C48DA50}"/>
              </a:ext>
            </a:extLst>
          </p:cNvPr>
          <p:cNvCxnSpPr>
            <a:stCxn id="6" idx="3"/>
            <a:endCxn id="9" idx="1"/>
          </p:cNvCxnSpPr>
          <p:nvPr/>
        </p:nvCxnSpPr>
        <p:spPr>
          <a:xfrm>
            <a:off x="2778320" y="1896893"/>
            <a:ext cx="183932" cy="0"/>
          </a:xfrm>
          <a:prstGeom prst="straightConnector1">
            <a:avLst/>
          </a:prstGeom>
          <a:ln w="9525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5F2D6FAE-9744-7499-B072-DFF55183827E}"/>
              </a:ext>
            </a:extLst>
          </p:cNvPr>
          <p:cNvSpPr txBox="1"/>
          <p:nvPr/>
        </p:nvSpPr>
        <p:spPr>
          <a:xfrm>
            <a:off x="812797" y="2518187"/>
            <a:ext cx="99951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b="0" i="0" dirty="0">
                <a:solidFill>
                  <a:srgbClr val="24292E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선택한 봉안실 위치 재확인</a:t>
            </a:r>
            <a:endParaRPr lang="ko-KR" altLang="en-US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13F15F3-F4EB-265A-16C0-4B9013EBC20C}"/>
              </a:ext>
            </a:extLst>
          </p:cNvPr>
          <p:cNvSpPr txBox="1"/>
          <p:nvPr/>
        </p:nvSpPr>
        <p:spPr>
          <a:xfrm>
            <a:off x="1922286" y="2518187"/>
            <a:ext cx="999517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b="0" i="0" dirty="0">
                <a:solidFill>
                  <a:srgbClr val="24292E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봉안시설 사용권 계약서 </a:t>
            </a:r>
            <a:r>
              <a:rPr lang="en-US" altLang="ko-KR" sz="1000" b="0" i="0" dirty="0">
                <a:solidFill>
                  <a:srgbClr val="24292E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000" b="0" i="0" dirty="0">
                <a:solidFill>
                  <a:srgbClr val="24292E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표준양식</a:t>
            </a:r>
            <a:r>
              <a:rPr lang="en-US" altLang="ko-KR" sz="1000" b="0" i="0" dirty="0">
                <a:solidFill>
                  <a:srgbClr val="24292E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AC651E2-0CFD-D43A-6B54-A5B964D236ED}"/>
              </a:ext>
            </a:extLst>
          </p:cNvPr>
          <p:cNvSpPr txBox="1"/>
          <p:nvPr/>
        </p:nvSpPr>
        <p:spPr>
          <a:xfrm>
            <a:off x="2886666" y="2518187"/>
            <a:ext cx="99951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b="0" i="0" dirty="0">
                <a:solidFill>
                  <a:srgbClr val="24292E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계약금 </a:t>
            </a:r>
            <a:r>
              <a:rPr lang="en-US" altLang="ko-KR" sz="1000" b="0" i="0" dirty="0">
                <a:solidFill>
                  <a:srgbClr val="24292E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30% </a:t>
            </a:r>
            <a:r>
              <a:rPr lang="ko-KR" altLang="en-US" sz="1000" b="0" i="0" dirty="0">
                <a:solidFill>
                  <a:srgbClr val="24292E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즉시 납부</a:t>
            </a:r>
            <a:endParaRPr lang="ko-KR" altLang="en-US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44CDA6C-F0B3-DA7F-78B2-B897266839AF}"/>
              </a:ext>
            </a:extLst>
          </p:cNvPr>
          <p:cNvSpPr txBox="1"/>
          <p:nvPr/>
        </p:nvSpPr>
        <p:spPr>
          <a:xfrm>
            <a:off x="3829076" y="3102089"/>
            <a:ext cx="6260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5</a:t>
            </a:r>
            <a:r>
              <a:rPr lang="en-US" altLang="ko-KR" sz="2000" b="1" baseline="30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th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5D89BF6-437F-3F45-7448-8AA6AE9D5C1C}"/>
              </a:ext>
            </a:extLst>
          </p:cNvPr>
          <p:cNvSpPr txBox="1"/>
          <p:nvPr/>
        </p:nvSpPr>
        <p:spPr>
          <a:xfrm>
            <a:off x="4357042" y="3163644"/>
            <a:ext cx="14113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관리비 납부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160D18F-2713-9477-E7EB-42A68BCBBF43}"/>
              </a:ext>
            </a:extLst>
          </p:cNvPr>
          <p:cNvSpPr txBox="1"/>
          <p:nvPr/>
        </p:nvSpPr>
        <p:spPr>
          <a:xfrm>
            <a:off x="1770584" y="3502198"/>
            <a:ext cx="610081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수목장 관리비는 나무의 성장과 관리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구역 조경 및 유지보수에 사용됩니다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 algn="ctr"/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5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 단위로 선납하며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자연 친화적으로 관리합니다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30" name="표 29">
            <a:extLst>
              <a:ext uri="{FF2B5EF4-FFF2-40B4-BE49-F238E27FC236}">
                <a16:creationId xmlns:a16="http://schemas.microsoft.com/office/drawing/2014/main" id="{B9F389FA-1011-E189-BB3E-D6FBAC5E8D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092155"/>
              </p:ext>
            </p:extLst>
          </p:nvPr>
        </p:nvGraphicFramePr>
        <p:xfrm>
          <a:off x="846308" y="4264587"/>
          <a:ext cx="7752944" cy="615792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854155">
                  <a:extLst>
                    <a:ext uri="{9D8B030D-6E8A-4147-A177-3AD203B41FA5}">
                      <a16:colId xmlns:a16="http://schemas.microsoft.com/office/drawing/2014/main" val="1553538150"/>
                    </a:ext>
                  </a:extLst>
                </a:gridCol>
                <a:gridCol w="854155">
                  <a:extLst>
                    <a:ext uri="{9D8B030D-6E8A-4147-A177-3AD203B41FA5}">
                      <a16:colId xmlns:a16="http://schemas.microsoft.com/office/drawing/2014/main" val="1005073696"/>
                    </a:ext>
                  </a:extLst>
                </a:gridCol>
                <a:gridCol w="1793544">
                  <a:extLst>
                    <a:ext uri="{9D8B030D-6E8A-4147-A177-3AD203B41FA5}">
                      <a16:colId xmlns:a16="http://schemas.microsoft.com/office/drawing/2014/main" val="2912823855"/>
                    </a:ext>
                  </a:extLst>
                </a:gridCol>
                <a:gridCol w="1726496">
                  <a:extLst>
                    <a:ext uri="{9D8B030D-6E8A-4147-A177-3AD203B41FA5}">
                      <a16:colId xmlns:a16="http://schemas.microsoft.com/office/drawing/2014/main" val="420109590"/>
                    </a:ext>
                  </a:extLst>
                </a:gridCol>
                <a:gridCol w="1262297">
                  <a:extLst>
                    <a:ext uri="{9D8B030D-6E8A-4147-A177-3AD203B41FA5}">
                      <a16:colId xmlns:a16="http://schemas.microsoft.com/office/drawing/2014/main" val="21308472"/>
                    </a:ext>
                  </a:extLst>
                </a:gridCol>
                <a:gridCol w="1262297">
                  <a:extLst>
                    <a:ext uri="{9D8B030D-6E8A-4147-A177-3AD203B41FA5}">
                      <a16:colId xmlns:a16="http://schemas.microsoft.com/office/drawing/2014/main" val="1371821468"/>
                    </a:ext>
                  </a:extLst>
                </a:gridCol>
              </a:tblGrid>
              <a:tr h="30789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구분</a:t>
                      </a:r>
                      <a:endParaRPr lang="en-US" altLang="ko-KR" sz="10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개인 수목장</a:t>
                      </a:r>
                      <a:endParaRPr lang="en-US" altLang="ko-KR" sz="10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부부 수목장</a:t>
                      </a:r>
                      <a:endParaRPr lang="en-US" altLang="ko-KR" sz="10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가족 수목장</a:t>
                      </a:r>
                      <a:endParaRPr lang="en-US" altLang="ko-KR" sz="10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공동 수목장</a:t>
                      </a:r>
                      <a:endParaRPr lang="en-US" altLang="ko-KR" sz="10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잔디장</a:t>
                      </a:r>
                      <a:endParaRPr lang="en-US" altLang="ko-KR" sz="10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0268165"/>
                  </a:ext>
                </a:extLst>
              </a:tr>
              <a:tr h="30789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관리비</a:t>
                      </a:r>
                      <a:r>
                        <a:rPr lang="en-US" altLang="ko-KR" sz="10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(5</a:t>
                      </a:r>
                      <a:r>
                        <a:rPr lang="ko-KR" altLang="en-US" sz="10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년</a:t>
                      </a:r>
                      <a:r>
                        <a:rPr lang="en-US" altLang="ko-KR" sz="10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</a:txBody>
                  <a:tcPr marL="46800" marR="468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100 </a:t>
                      </a:r>
                      <a:r>
                        <a:rPr lang="ko-KR" altLang="en-US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만원</a:t>
                      </a:r>
                      <a:endParaRPr lang="en-US" altLang="ko-KR" sz="10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150 </a:t>
                      </a:r>
                      <a:r>
                        <a:rPr lang="ko-KR" altLang="en-US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만원</a:t>
                      </a:r>
                      <a:endParaRPr lang="en-US" altLang="ko-KR" sz="10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200 </a:t>
                      </a:r>
                      <a:r>
                        <a:rPr lang="ko-KR" altLang="en-US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만원</a:t>
                      </a:r>
                      <a:endParaRPr lang="en-US" altLang="ko-KR" sz="10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30 </a:t>
                      </a:r>
                      <a:r>
                        <a:rPr lang="ko-KR" altLang="en-US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만원</a:t>
                      </a:r>
                      <a:endParaRPr lang="en-US" altLang="ko-KR" sz="10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80 </a:t>
                      </a:r>
                      <a:r>
                        <a:rPr lang="ko-KR" altLang="en-US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만원</a:t>
                      </a:r>
                      <a:endParaRPr lang="en-US" altLang="ko-KR" sz="10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1090331"/>
                  </a:ext>
                </a:extLst>
              </a:tr>
            </a:tbl>
          </a:graphicData>
        </a:graphic>
      </p:graphicFrame>
      <p:sp>
        <p:nvSpPr>
          <p:cNvPr id="31" name="직사각형 30">
            <a:extLst>
              <a:ext uri="{FF2B5EF4-FFF2-40B4-BE49-F238E27FC236}">
                <a16:creationId xmlns:a16="http://schemas.microsoft.com/office/drawing/2014/main" id="{C4000601-B881-FADF-2485-8C52AC422A0F}"/>
              </a:ext>
            </a:extLst>
          </p:cNvPr>
          <p:cNvSpPr/>
          <p:nvPr/>
        </p:nvSpPr>
        <p:spPr>
          <a:xfrm>
            <a:off x="625820" y="5088770"/>
            <a:ext cx="7973432" cy="1253664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IMAGE</a:t>
            </a:r>
            <a:endParaRPr lang="ko-KR" altLang="en-US" sz="28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06942428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21034B-22B3-735B-812B-34D5435375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9F32A64B-0CFC-487F-9A84-8271B35EFDD6}"/>
              </a:ext>
            </a:extLst>
          </p:cNvPr>
          <p:cNvGraphicFramePr>
            <a:graphicFrameLocks noGrp="1"/>
          </p:cNvGraphicFramePr>
          <p:nvPr/>
        </p:nvGraphicFramePr>
        <p:xfrm>
          <a:off x="9182101" y="947377"/>
          <a:ext cx="2795588" cy="1847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1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684046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723838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3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172599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4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290794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5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922450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6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784800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7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0538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8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199337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9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450365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4D414C61-66C1-FD86-C680-E20F7A85516C}"/>
              </a:ext>
            </a:extLst>
          </p:cNvPr>
          <p:cNvSpPr/>
          <p:nvPr/>
        </p:nvSpPr>
        <p:spPr>
          <a:xfrm>
            <a:off x="959895" y="375614"/>
            <a:ext cx="1374094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</a:pP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메인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분양안내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분양절차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924CCD0-658A-66EE-0159-F327AA0B879B}"/>
              </a:ext>
            </a:extLst>
          </p:cNvPr>
          <p:cNvSpPr txBox="1"/>
          <p:nvPr/>
        </p:nvSpPr>
        <p:spPr>
          <a:xfrm>
            <a:off x="6003996" y="123825"/>
            <a:ext cx="17303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HN_DistriInfo_Distriproce_001</a:t>
            </a:r>
            <a:endParaRPr lang="ko-KR" altLang="en-US" sz="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F23269B-13F3-1676-F0FC-45A8F151F8B9}"/>
              </a:ext>
            </a:extLst>
          </p:cNvPr>
          <p:cNvSpPr txBox="1"/>
          <p:nvPr/>
        </p:nvSpPr>
        <p:spPr>
          <a:xfrm>
            <a:off x="5478078" y="2536457"/>
            <a:ext cx="22868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관리비 납부일정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EBD0CC8-65E4-E5D3-A46F-C0C287CCEB25}"/>
              </a:ext>
            </a:extLst>
          </p:cNvPr>
          <p:cNvSpPr txBox="1"/>
          <p:nvPr/>
        </p:nvSpPr>
        <p:spPr>
          <a:xfrm>
            <a:off x="5348919" y="2879336"/>
            <a:ext cx="2880681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차 관리비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안치일로부터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5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 분 선납</a:t>
            </a:r>
          </a:p>
          <a:p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차 관리비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5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 후 갱신</a:t>
            </a:r>
          </a:p>
          <a:p>
            <a:endParaRPr lang="ko-KR" altLang="en-US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※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사전 준비 가능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안치 전 미리 납부 가능</a:t>
            </a:r>
          </a:p>
          <a:p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※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사전계약 혜택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5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 관리비 면제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사전계약 고객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6575053-5765-7143-D380-2D65B895E0FF}"/>
              </a:ext>
            </a:extLst>
          </p:cNvPr>
          <p:cNvSpPr txBox="1"/>
          <p:nvPr/>
        </p:nvSpPr>
        <p:spPr>
          <a:xfrm>
            <a:off x="3829076" y="834177"/>
            <a:ext cx="16502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관리비 포함 서비스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12A0B2B-35A1-867B-BC37-CEB4022D4E72}"/>
              </a:ext>
            </a:extLst>
          </p:cNvPr>
          <p:cNvSpPr txBox="1"/>
          <p:nvPr/>
        </p:nvSpPr>
        <p:spPr>
          <a:xfrm>
            <a:off x="2411396" y="1318407"/>
            <a:ext cx="22868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구역관리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B7AC151-8C0D-BF8A-A25A-A9A559195BF5}"/>
              </a:ext>
            </a:extLst>
          </p:cNvPr>
          <p:cNvSpPr txBox="1"/>
          <p:nvPr/>
        </p:nvSpPr>
        <p:spPr>
          <a:xfrm>
            <a:off x="2869523" y="1661286"/>
            <a:ext cx="14296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산책로 유지보수</a:t>
            </a:r>
          </a:p>
          <a:p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계절별 꽃 식재</a:t>
            </a:r>
          </a:p>
          <a:p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잡초 제거</a:t>
            </a:r>
          </a:p>
          <a:p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배수로 관리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153952A-7D62-37FE-DAE8-287FDD2069ED}"/>
              </a:ext>
            </a:extLst>
          </p:cNvPr>
          <p:cNvSpPr txBox="1"/>
          <p:nvPr/>
        </p:nvSpPr>
        <p:spPr>
          <a:xfrm>
            <a:off x="4316070" y="1318407"/>
            <a:ext cx="22868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표석 관리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864FCCE-56A3-9902-F8EC-2DC46A159D22}"/>
              </a:ext>
            </a:extLst>
          </p:cNvPr>
          <p:cNvSpPr txBox="1"/>
          <p:nvPr/>
        </p:nvSpPr>
        <p:spPr>
          <a:xfrm>
            <a:off x="4774197" y="1661286"/>
            <a:ext cx="142969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표석 청소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분기별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  <a:p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명패 광택</a:t>
            </a:r>
          </a:p>
          <a:p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주변 정돈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9C7A5F4-602A-ABD9-D347-A12FEAC8FF89}"/>
              </a:ext>
            </a:extLst>
          </p:cNvPr>
          <p:cNvSpPr txBox="1"/>
          <p:nvPr/>
        </p:nvSpPr>
        <p:spPr>
          <a:xfrm>
            <a:off x="6380396" y="1318407"/>
            <a:ext cx="22868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추가 서비스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463486C-DC56-5301-328A-4E27262B3E16}"/>
              </a:ext>
            </a:extLst>
          </p:cNvPr>
          <p:cNvSpPr txBox="1"/>
          <p:nvPr/>
        </p:nvSpPr>
        <p:spPr>
          <a:xfrm>
            <a:off x="6838523" y="1661286"/>
            <a:ext cx="182868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나무 성장 사진 발송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연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회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  <a:p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명절 특별 관리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연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회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  <a:p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합동 추모제 개최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연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회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9DE926E6-071F-0440-0B53-DFE410F3E243}"/>
              </a:ext>
            </a:extLst>
          </p:cNvPr>
          <p:cNvSpPr/>
          <p:nvPr/>
        </p:nvSpPr>
        <p:spPr>
          <a:xfrm>
            <a:off x="214311" y="2574543"/>
            <a:ext cx="4304999" cy="2425473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IMAGE</a:t>
            </a:r>
            <a:endParaRPr lang="ko-KR" altLang="en-US" sz="28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CAE5BC4-172D-DF97-5A88-9FA0333D8B6E}"/>
              </a:ext>
            </a:extLst>
          </p:cNvPr>
          <p:cNvSpPr txBox="1"/>
          <p:nvPr/>
        </p:nvSpPr>
        <p:spPr>
          <a:xfrm>
            <a:off x="5558597" y="3890699"/>
            <a:ext cx="22868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장기 선납 할인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19A35EC-CF77-717D-DFF4-66EDC5EC9CCE}"/>
              </a:ext>
            </a:extLst>
          </p:cNvPr>
          <p:cNvSpPr txBox="1"/>
          <p:nvPr/>
        </p:nvSpPr>
        <p:spPr>
          <a:xfrm>
            <a:off x="5861594" y="4167698"/>
            <a:ext cx="195385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10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 분 선납 시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5%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할인</a:t>
            </a:r>
          </a:p>
          <a:p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15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 분 선납 시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10%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할인</a:t>
            </a:r>
          </a:p>
          <a:p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20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 분 선납 시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15%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할인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AD08EC66-C689-7A3A-2FA7-092B341F01DC}"/>
              </a:ext>
            </a:extLst>
          </p:cNvPr>
          <p:cNvSpPr/>
          <p:nvPr/>
        </p:nvSpPr>
        <p:spPr>
          <a:xfrm>
            <a:off x="189780" y="5153484"/>
            <a:ext cx="8928847" cy="34095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FOOTER</a:t>
            </a:r>
            <a:endParaRPr lang="ko-KR" altLang="en-US" sz="10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DCD5219-A745-C4D9-745F-34DD43117611}"/>
              </a:ext>
            </a:extLst>
          </p:cNvPr>
          <p:cNvSpPr txBox="1"/>
          <p:nvPr/>
        </p:nvSpPr>
        <p:spPr>
          <a:xfrm>
            <a:off x="363925" y="1370310"/>
            <a:ext cx="22868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나무 관리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3964AE2-43A7-6CD8-346B-4540DE7B80DC}"/>
              </a:ext>
            </a:extLst>
          </p:cNvPr>
          <p:cNvSpPr txBox="1"/>
          <p:nvPr/>
        </p:nvSpPr>
        <p:spPr>
          <a:xfrm>
            <a:off x="623206" y="1666742"/>
            <a:ext cx="2047471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계절별 제초 및 조경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연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회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  <a:p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병충해 방제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연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4~6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회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  <a:p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수형 관리 및 전지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연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회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  <a:p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영양제 및 비료 공급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연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2~3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회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  <a:p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나무 성장 모니터링</a:t>
            </a:r>
          </a:p>
        </p:txBody>
      </p:sp>
    </p:spTree>
    <p:extLst>
      <p:ext uri="{BB962C8B-B14F-4D97-AF65-F5344CB8AC3E}">
        <p14:creationId xmlns:p14="http://schemas.microsoft.com/office/powerpoint/2010/main" val="3218298870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552CEE-F903-0F6C-6A06-7513B3D7F0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205163A1-5D09-089A-9CAE-B2F138DB8C0B}"/>
              </a:ext>
            </a:extLst>
          </p:cNvPr>
          <p:cNvGraphicFramePr>
            <a:graphicFrameLocks noGrp="1"/>
          </p:cNvGraphicFramePr>
          <p:nvPr/>
        </p:nvGraphicFramePr>
        <p:xfrm>
          <a:off x="9182101" y="947377"/>
          <a:ext cx="2795588" cy="1847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1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684046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723838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3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172599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4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290794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5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922450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6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784800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7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0538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8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199337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9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450365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9B0F925A-ED60-162B-5771-5D56E4696E0F}"/>
              </a:ext>
            </a:extLst>
          </p:cNvPr>
          <p:cNvSpPr/>
          <p:nvPr/>
        </p:nvSpPr>
        <p:spPr>
          <a:xfrm>
            <a:off x="959895" y="375614"/>
            <a:ext cx="1374094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</a:pP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메인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분양안내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분양가격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998C3DE-86B0-EEC4-5D6C-115713B6554A}"/>
              </a:ext>
            </a:extLst>
          </p:cNvPr>
          <p:cNvSpPr txBox="1"/>
          <p:nvPr/>
        </p:nvSpPr>
        <p:spPr>
          <a:xfrm>
            <a:off x="6003996" y="123825"/>
            <a:ext cx="17303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HN_DistriInfo_Distriprice_001</a:t>
            </a:r>
            <a:endParaRPr lang="ko-KR" altLang="en-US" sz="800" dirty="0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0AB6ACE5-45E3-8447-3E99-DDF96F13131A}"/>
              </a:ext>
            </a:extLst>
          </p:cNvPr>
          <p:cNvGrpSpPr/>
          <p:nvPr/>
        </p:nvGrpSpPr>
        <p:grpSpPr>
          <a:xfrm>
            <a:off x="161925" y="797629"/>
            <a:ext cx="8953500" cy="851943"/>
            <a:chOff x="161925" y="797629"/>
            <a:chExt cx="8953500" cy="851943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2B055A04-311A-C5BE-634B-2748B937D620}"/>
                </a:ext>
              </a:extLst>
            </p:cNvPr>
            <p:cNvSpPr/>
            <p:nvPr/>
          </p:nvSpPr>
          <p:spPr>
            <a:xfrm>
              <a:off x="4144448" y="797629"/>
              <a:ext cx="942784" cy="35821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800" b="1" dirty="0">
                  <a:solidFill>
                    <a:srgbClr val="FF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CI</a:t>
              </a:r>
            </a:p>
          </p:txBody>
        </p: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D490C581-E949-330B-51F5-1992D8042A5D}"/>
                </a:ext>
              </a:extLst>
            </p:cNvPr>
            <p:cNvCxnSpPr/>
            <p:nvPr/>
          </p:nvCxnSpPr>
          <p:spPr>
            <a:xfrm>
              <a:off x="161925" y="1649572"/>
              <a:ext cx="8953500" cy="0"/>
            </a:xfrm>
            <a:prstGeom prst="line">
              <a:avLst/>
            </a:prstGeom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12451CF-63F9-EB20-3051-8AD740C521A0}"/>
                </a:ext>
              </a:extLst>
            </p:cNvPr>
            <p:cNvSpPr txBox="1"/>
            <p:nvPr/>
          </p:nvSpPr>
          <p:spPr>
            <a:xfrm>
              <a:off x="2031551" y="1301804"/>
              <a:ext cx="120364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하늘누리소개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C6AD3DD1-689C-36FC-0A87-5E93366F5423}"/>
                </a:ext>
              </a:extLst>
            </p:cNvPr>
            <p:cNvSpPr txBox="1"/>
            <p:nvPr/>
          </p:nvSpPr>
          <p:spPr>
            <a:xfrm>
              <a:off x="3239720" y="1301804"/>
              <a:ext cx="9144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시설안내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59F27D36-3CD3-4BD3-35AF-FC85CBCD1814}"/>
                </a:ext>
              </a:extLst>
            </p:cNvPr>
            <p:cNvSpPr txBox="1"/>
            <p:nvPr/>
          </p:nvSpPr>
          <p:spPr>
            <a:xfrm>
              <a:off x="4158640" y="1301804"/>
              <a:ext cx="9144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분양안내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031A1ECD-E5B9-5DBB-E7C8-708EC7F33A08}"/>
                </a:ext>
              </a:extLst>
            </p:cNvPr>
            <p:cNvSpPr txBox="1"/>
            <p:nvPr/>
          </p:nvSpPr>
          <p:spPr>
            <a:xfrm>
              <a:off x="5077560" y="1301804"/>
              <a:ext cx="119120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사이버추모관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74863C2C-71D8-DD09-E927-7E684749CDD4}"/>
                </a:ext>
              </a:extLst>
            </p:cNvPr>
            <p:cNvSpPr txBox="1"/>
            <p:nvPr/>
          </p:nvSpPr>
          <p:spPr>
            <a:xfrm>
              <a:off x="6273289" y="1301804"/>
              <a:ext cx="9144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고객센터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C522C39-EB8C-00FD-F3FD-491F07624DC1}"/>
                </a:ext>
              </a:extLst>
            </p:cNvPr>
            <p:cNvSpPr txBox="1"/>
            <p:nvPr/>
          </p:nvSpPr>
          <p:spPr>
            <a:xfrm>
              <a:off x="7734300" y="817862"/>
              <a:ext cx="79388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b="1">
                  <a:latin typeface="나눔고딕" panose="020D0604000000000000" pitchFamily="50" charset="-127"/>
                  <a:ea typeface="나눔고딕" panose="020D0604000000000000" pitchFamily="50" charset="-127"/>
                </a:rPr>
                <a:t>비밀번호변경</a:t>
              </a:r>
              <a:endParaRPr lang="ko-KR" altLang="en-US" sz="8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F416C965-08C5-B324-ED5E-4CB318A4F982}"/>
                </a:ext>
              </a:extLst>
            </p:cNvPr>
            <p:cNvSpPr txBox="1"/>
            <p:nvPr/>
          </p:nvSpPr>
          <p:spPr>
            <a:xfrm>
              <a:off x="8472200" y="817862"/>
              <a:ext cx="58783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로그아웃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DDBD9651-59A2-227D-7AF2-038E84345F19}"/>
                </a:ext>
              </a:extLst>
            </p:cNvPr>
            <p:cNvSpPr txBox="1"/>
            <p:nvPr/>
          </p:nvSpPr>
          <p:spPr>
            <a:xfrm>
              <a:off x="7203231" y="817862"/>
              <a:ext cx="65313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나의정보</a:t>
              </a: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7A5B0DE9-FCAF-85DC-34CA-1D211700D8E4}"/>
              </a:ext>
            </a:extLst>
          </p:cNvPr>
          <p:cNvSpPr txBox="1"/>
          <p:nvPr/>
        </p:nvSpPr>
        <p:spPr>
          <a:xfrm>
            <a:off x="158621" y="1704392"/>
            <a:ext cx="314441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HOME &gt; </a:t>
            </a:r>
            <a:r>
              <a:rPr lang="ko-KR" altLang="en-US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분양안내 </a:t>
            </a:r>
            <a:r>
              <a:rPr lang="en-US" altLang="ko-KR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분양가격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557D69-BA2E-D592-764F-B33F37BF70EA}"/>
              </a:ext>
            </a:extLst>
          </p:cNvPr>
          <p:cNvSpPr txBox="1"/>
          <p:nvPr/>
        </p:nvSpPr>
        <p:spPr>
          <a:xfrm>
            <a:off x="2791996" y="1866963"/>
            <a:ext cx="36895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분양 가격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D615469-7CB1-EF9D-6AA0-8FA9FC9B9BD5}"/>
              </a:ext>
            </a:extLst>
          </p:cNvPr>
          <p:cNvSpPr txBox="1"/>
          <p:nvPr/>
        </p:nvSpPr>
        <p:spPr>
          <a:xfrm>
            <a:off x="1730829" y="2547785"/>
            <a:ext cx="5768660" cy="712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2100"/>
              </a:lnSpc>
              <a:spcAft>
                <a:spcPts val="900"/>
              </a:spcAft>
            </a:pPr>
            <a:r>
              <a:rPr lang="en-US" altLang="ko-KR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"</a:t>
            </a:r>
            <a:r>
              <a:rPr lang="ko-KR" altLang="en-US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가격 이상의 가치를 제공합니다</a:t>
            </a:r>
            <a:r>
              <a:rPr lang="en-US" altLang="ko-KR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“</a:t>
            </a:r>
          </a:p>
          <a:p>
            <a:pPr algn="ctr">
              <a:lnSpc>
                <a:spcPts val="2100"/>
              </a:lnSpc>
              <a:spcAft>
                <a:spcPts val="900"/>
              </a:spcAft>
            </a:pPr>
            <a:r>
              <a:rPr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하늘누리는 재단법인 운영으로 과도한 영리 추구 없이 합리적인 가격을 책정합니다</a:t>
            </a:r>
            <a:r>
              <a:rPr lang="en-US" altLang="ko-KR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22785AFB-2BE5-CE04-4A21-BE760ADE46EE}"/>
              </a:ext>
            </a:extLst>
          </p:cNvPr>
          <p:cNvGrpSpPr/>
          <p:nvPr/>
        </p:nvGrpSpPr>
        <p:grpSpPr>
          <a:xfrm>
            <a:off x="959895" y="3644901"/>
            <a:ext cx="7806220" cy="463039"/>
            <a:chOff x="959895" y="3644901"/>
            <a:chExt cx="7806220" cy="463039"/>
          </a:xfrm>
        </p:grpSpPr>
        <p:cxnSp>
          <p:nvCxnSpPr>
            <p:cNvPr id="17" name="Line 1">
              <a:extLst>
                <a:ext uri="{FF2B5EF4-FFF2-40B4-BE49-F238E27FC236}">
                  <a16:creationId xmlns:a16="http://schemas.microsoft.com/office/drawing/2014/main" id="{EC1DD098-6676-833C-1776-6C722E29C9F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59895" y="4070774"/>
              <a:ext cx="670300" cy="0"/>
            </a:xfrm>
            <a:prstGeom prst="line">
              <a:avLst/>
            </a:prstGeom>
            <a:solidFill>
              <a:srgbClr val="FFFFFF"/>
            </a:solidFill>
            <a:ln w="12700">
              <a:solidFill>
                <a:srgbClr val="80808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Line 2">
              <a:extLst>
                <a:ext uri="{FF2B5EF4-FFF2-40B4-BE49-F238E27FC236}">
                  <a16:creationId xmlns:a16="http://schemas.microsoft.com/office/drawing/2014/main" id="{B2E6A3D5-7662-F567-9FF4-718D23CC4795}"/>
                </a:ext>
              </a:extLst>
            </p:cNvPr>
            <p:cNvCxnSpPr>
              <a:cxnSpLocks/>
            </p:cNvCxnSpPr>
            <p:nvPr/>
          </p:nvCxnSpPr>
          <p:spPr>
            <a:xfrm>
              <a:off x="3992453" y="4098904"/>
              <a:ext cx="4773662" cy="9036"/>
            </a:xfrm>
            <a:prstGeom prst="line">
              <a:avLst/>
            </a:prstGeom>
            <a:solidFill>
              <a:srgbClr val="FFFFFF"/>
            </a:solidFill>
            <a:ln w="12700">
              <a:solidFill>
                <a:srgbClr val="80808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ab Selected">
              <a:extLst>
                <a:ext uri="{FF2B5EF4-FFF2-40B4-BE49-F238E27FC236}">
                  <a16:creationId xmlns:a16="http://schemas.microsoft.com/office/drawing/2014/main" id="{4B7E1C24-A015-F8FD-B20A-D4E92DBE030D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9528" y="3644901"/>
              <a:ext cx="2382925" cy="433856"/>
            </a:xfrm>
            <a:custGeom>
              <a:avLst/>
              <a:gdLst>
                <a:gd name="T0" fmla="*/ 0 w 2218"/>
                <a:gd name="T1" fmla="*/ 670 h 670"/>
                <a:gd name="T2" fmla="*/ 0 w 2218"/>
                <a:gd name="T3" fmla="*/ 0 h 670"/>
                <a:gd name="T4" fmla="*/ 2218 w 2218"/>
                <a:gd name="T5" fmla="*/ 0 h 670"/>
                <a:gd name="T6" fmla="*/ 2218 w 2218"/>
                <a:gd name="T7" fmla="*/ 670 h 6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218" h="670">
                  <a:moveTo>
                    <a:pt x="0" y="670"/>
                  </a:moveTo>
                  <a:lnTo>
                    <a:pt x="0" y="0"/>
                  </a:lnTo>
                  <a:lnTo>
                    <a:pt x="2218" y="0"/>
                  </a:lnTo>
                  <a:lnTo>
                    <a:pt x="2218" y="670"/>
                  </a:lnTo>
                </a:path>
              </a:pathLst>
            </a:custGeom>
            <a:solidFill>
              <a:schemeClr val="bg1"/>
            </a:solidFill>
            <a:ln w="6350" cap="sq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90000"/>
                </a:lnSpc>
                <a:defRPr/>
              </a:pPr>
              <a:r>
                <a:rPr lang="ko-KR" altLang="en-US" sz="1600" b="1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Segoe UI" panose="020B0502040204020203" pitchFamily="34" charset="0"/>
                </a:rPr>
                <a:t>봉안당</a:t>
              </a:r>
              <a:r>
                <a:rPr lang="en-US" altLang="ko-KR" sz="1600" b="1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Segoe UI" panose="020B0502040204020203" pitchFamily="34" charset="0"/>
                </a:rPr>
                <a:t>(</a:t>
              </a:r>
              <a:r>
                <a:rPr lang="ko-KR" altLang="en-US" sz="1600" b="1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Segoe UI" panose="020B0502040204020203" pitchFamily="34" charset="0"/>
                </a:rPr>
                <a:t>하늘누리관</a:t>
              </a:r>
              <a:r>
                <a:rPr lang="en-US" altLang="ko-KR" sz="1600" b="1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Segoe UI" panose="020B0502040204020203" pitchFamily="34" charset="0"/>
                </a:rPr>
                <a:t>)</a:t>
              </a:r>
            </a:p>
          </p:txBody>
        </p:sp>
        <p:sp>
          <p:nvSpPr>
            <p:cNvPr id="21" name="Tab">
              <a:extLst>
                <a:ext uri="{FF2B5EF4-FFF2-40B4-BE49-F238E27FC236}">
                  <a16:creationId xmlns:a16="http://schemas.microsoft.com/office/drawing/2014/main" id="{C8722D52-A75E-9470-DC59-C642EFD0F7E4}"/>
                </a:ext>
              </a:extLst>
            </p:cNvPr>
            <p:cNvSpPr/>
            <p:nvPr/>
          </p:nvSpPr>
          <p:spPr>
            <a:xfrm>
              <a:off x="3992453" y="3665049"/>
              <a:ext cx="2410851" cy="43385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90000"/>
                </a:lnSpc>
                <a:defRPr/>
              </a:pPr>
              <a:r>
                <a:rPr lang="ko-KR" altLang="en-US" sz="16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Segoe UI" panose="020B0502040204020203" pitchFamily="34" charset="0"/>
                </a:rPr>
                <a:t>수목장</a:t>
              </a:r>
              <a:r>
                <a:rPr lang="en-US" altLang="ko-KR" sz="16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Segoe UI" panose="020B0502040204020203" pitchFamily="34" charset="0"/>
                </a:rPr>
                <a:t>(</a:t>
              </a:r>
              <a:r>
                <a:rPr lang="ko-KR" altLang="en-US" sz="16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Segoe UI" panose="020B0502040204020203" pitchFamily="34" charset="0"/>
                </a:rPr>
                <a:t>자연장</a:t>
              </a:r>
              <a:r>
                <a:rPr lang="en-US" altLang="ko-KR" sz="16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Segoe UI" panose="020B0502040204020203" pitchFamily="34" charset="0"/>
                </a:rPr>
                <a:t>)</a:t>
              </a:r>
              <a:endParaRPr lang="en-US" sz="16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Segoe UI" panose="020B0502040204020203" pitchFamily="34" charset="0"/>
              </a:endParaRPr>
            </a:p>
          </p:txBody>
        </p:sp>
      </p:grp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F73659A7-423C-52C4-DEF9-782D39144537}"/>
              </a:ext>
            </a:extLst>
          </p:cNvPr>
          <p:cNvSpPr/>
          <p:nvPr/>
        </p:nvSpPr>
        <p:spPr>
          <a:xfrm>
            <a:off x="326105" y="4206174"/>
            <a:ext cx="8440010" cy="1854197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IMAGE</a:t>
            </a:r>
            <a:endParaRPr lang="ko-KR" altLang="en-US" sz="28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48B5A38-E097-B2B4-71CD-569AF1167C04}"/>
              </a:ext>
            </a:extLst>
          </p:cNvPr>
          <p:cNvSpPr txBox="1"/>
          <p:nvPr/>
        </p:nvSpPr>
        <p:spPr>
          <a:xfrm rot="19349954">
            <a:off x="6486004" y="2384462"/>
            <a:ext cx="267148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하늘누리 분양안내 </a:t>
            </a:r>
            <a:r>
              <a:rPr lang="ko-KR" altLang="en-US" sz="32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확인 후 수정 필요</a:t>
            </a:r>
          </a:p>
        </p:txBody>
      </p:sp>
    </p:spTree>
    <p:extLst>
      <p:ext uri="{BB962C8B-B14F-4D97-AF65-F5344CB8AC3E}">
        <p14:creationId xmlns:p14="http://schemas.microsoft.com/office/powerpoint/2010/main" val="528072319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9364B5-57B8-5956-36C9-FA74582886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C32472DD-7BD9-C184-A4FD-15DACF625454}"/>
              </a:ext>
            </a:extLst>
          </p:cNvPr>
          <p:cNvGraphicFramePr>
            <a:graphicFrameLocks noGrp="1"/>
          </p:cNvGraphicFramePr>
          <p:nvPr/>
        </p:nvGraphicFramePr>
        <p:xfrm>
          <a:off x="9182101" y="947377"/>
          <a:ext cx="2795588" cy="1847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1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684046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723838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3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172599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4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290794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5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922450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6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784800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7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0538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8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199337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9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450365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781FD82C-5301-2BC9-0970-3078545DCD3E}"/>
              </a:ext>
            </a:extLst>
          </p:cNvPr>
          <p:cNvSpPr/>
          <p:nvPr/>
        </p:nvSpPr>
        <p:spPr>
          <a:xfrm>
            <a:off x="959895" y="375614"/>
            <a:ext cx="1374094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</a:pP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메인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분양안내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분양가격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38A95BF-B1D5-7DD4-4049-5AC78CDFA784}"/>
              </a:ext>
            </a:extLst>
          </p:cNvPr>
          <p:cNvSpPr txBox="1"/>
          <p:nvPr/>
        </p:nvSpPr>
        <p:spPr>
          <a:xfrm>
            <a:off x="6003996" y="123825"/>
            <a:ext cx="17303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HN_DistriInfo_Distriprice_001</a:t>
            </a:r>
            <a:endParaRPr lang="ko-KR" altLang="en-US" sz="800" dirty="0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4375851E-E0DD-947E-4F09-DD0F9A6108B9}"/>
              </a:ext>
            </a:extLst>
          </p:cNvPr>
          <p:cNvSpPr/>
          <p:nvPr/>
        </p:nvSpPr>
        <p:spPr>
          <a:xfrm>
            <a:off x="499482" y="3536271"/>
            <a:ext cx="4015767" cy="1854197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IMAGE</a:t>
            </a:r>
            <a:endParaRPr lang="ko-KR" altLang="en-US" sz="28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A0386AA-9694-AEE8-419D-7D36D8956EE5}"/>
              </a:ext>
            </a:extLst>
          </p:cNvPr>
          <p:cNvSpPr txBox="1"/>
          <p:nvPr/>
        </p:nvSpPr>
        <p:spPr>
          <a:xfrm>
            <a:off x="3577706" y="3090446"/>
            <a:ext cx="20838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프리미엄 봉안실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5B96AF1-B130-620F-4F35-43DA148F45A8}"/>
              </a:ext>
            </a:extLst>
          </p:cNvPr>
          <p:cNvSpPr txBox="1"/>
          <p:nvPr/>
        </p:nvSpPr>
        <p:spPr>
          <a:xfrm>
            <a:off x="1470602" y="875657"/>
            <a:ext cx="20838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>
                <a:latin typeface="나눔고딕" panose="020D0604000000000000" pitchFamily="50" charset="-127"/>
                <a:ea typeface="나눔고딕" panose="020D0604000000000000" pitchFamily="50" charset="-127"/>
              </a:rPr>
              <a:t>일반 개인 분양가격</a:t>
            </a: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8AD0C24F-5105-4B41-1312-DE282D1053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3079162"/>
              </p:ext>
            </p:extLst>
          </p:nvPr>
        </p:nvGraphicFramePr>
        <p:xfrm>
          <a:off x="395108" y="1269794"/>
          <a:ext cx="4224517" cy="1665364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974351">
                  <a:extLst>
                    <a:ext uri="{9D8B030D-6E8A-4147-A177-3AD203B41FA5}">
                      <a16:colId xmlns:a16="http://schemas.microsoft.com/office/drawing/2014/main" val="1553538150"/>
                    </a:ext>
                  </a:extLst>
                </a:gridCol>
                <a:gridCol w="1228165">
                  <a:extLst>
                    <a:ext uri="{9D8B030D-6E8A-4147-A177-3AD203B41FA5}">
                      <a16:colId xmlns:a16="http://schemas.microsoft.com/office/drawing/2014/main" val="1005073696"/>
                    </a:ext>
                  </a:extLst>
                </a:gridCol>
                <a:gridCol w="1039906">
                  <a:extLst>
                    <a:ext uri="{9D8B030D-6E8A-4147-A177-3AD203B41FA5}">
                      <a16:colId xmlns:a16="http://schemas.microsoft.com/office/drawing/2014/main" val="2912823855"/>
                    </a:ext>
                  </a:extLst>
                </a:gridCol>
                <a:gridCol w="982095">
                  <a:extLst>
                    <a:ext uri="{9D8B030D-6E8A-4147-A177-3AD203B41FA5}">
                      <a16:colId xmlns:a16="http://schemas.microsoft.com/office/drawing/2014/main" val="420109590"/>
                    </a:ext>
                  </a:extLst>
                </a:gridCol>
              </a:tblGrid>
              <a:tr h="41634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구분</a:t>
                      </a:r>
                      <a:endParaRPr lang="en-US" altLang="ko-KR" sz="10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1~3 </a:t>
                      </a:r>
                      <a:r>
                        <a:rPr lang="ko-KR" altLang="en-US" sz="10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단</a:t>
                      </a:r>
                      <a:endParaRPr lang="en-US" altLang="ko-KR" sz="10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4~6 </a:t>
                      </a:r>
                      <a:r>
                        <a:rPr lang="ko-KR" altLang="en-US" sz="10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단</a:t>
                      </a:r>
                      <a:endParaRPr lang="en-US" altLang="ko-KR" sz="10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7~9 </a:t>
                      </a:r>
                      <a:r>
                        <a:rPr lang="ko-KR" altLang="en-US" sz="10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단</a:t>
                      </a:r>
                      <a:endParaRPr lang="en-US" altLang="ko-KR" sz="10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0268165"/>
                  </a:ext>
                </a:extLst>
              </a:tr>
              <a:tr h="416341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r>
                        <a:rPr lang="ko-KR" altLang="en-US" sz="10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층</a:t>
                      </a:r>
                      <a:endParaRPr lang="en-US" altLang="ko-KR" sz="10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200 </a:t>
                      </a:r>
                      <a:r>
                        <a:rPr lang="ko-KR" altLang="en-US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만원</a:t>
                      </a:r>
                      <a:endParaRPr lang="en-US" altLang="ko-KR" sz="10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350 </a:t>
                      </a:r>
                      <a:r>
                        <a:rPr lang="ko-KR" altLang="en-US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만원</a:t>
                      </a:r>
                      <a:endParaRPr lang="en-US" altLang="ko-KR" sz="10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250 </a:t>
                      </a:r>
                      <a:r>
                        <a:rPr lang="ko-KR" altLang="en-US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만원</a:t>
                      </a:r>
                      <a:endParaRPr lang="en-US" altLang="ko-KR" sz="10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1090331"/>
                  </a:ext>
                </a:extLst>
              </a:tr>
              <a:tr h="416341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</a:t>
                      </a:r>
                      <a:r>
                        <a:rPr lang="ko-KR" altLang="en-US" sz="10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층</a:t>
                      </a:r>
                      <a:endParaRPr lang="en-US" altLang="ko-KR" sz="10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250 </a:t>
                      </a:r>
                      <a:r>
                        <a:rPr lang="ko-KR" altLang="en-US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만원</a:t>
                      </a:r>
                      <a:endParaRPr lang="en-US" altLang="ko-KR" sz="10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450 </a:t>
                      </a:r>
                      <a:r>
                        <a:rPr lang="ko-KR" altLang="en-US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만원</a:t>
                      </a:r>
                      <a:endParaRPr lang="en-US" altLang="ko-KR" sz="10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300 </a:t>
                      </a:r>
                      <a:r>
                        <a:rPr lang="ko-KR" altLang="en-US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만원</a:t>
                      </a:r>
                      <a:endParaRPr lang="en-US" altLang="ko-KR" sz="10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3516558"/>
                  </a:ext>
                </a:extLst>
              </a:tr>
              <a:tr h="416341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</a:t>
                      </a:r>
                      <a:r>
                        <a:rPr lang="ko-KR" altLang="en-US" sz="10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층</a:t>
                      </a:r>
                      <a:endParaRPr lang="en-US" altLang="ko-KR" sz="10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300 </a:t>
                      </a:r>
                      <a:r>
                        <a:rPr lang="ko-KR" altLang="en-US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만원</a:t>
                      </a:r>
                      <a:endParaRPr lang="en-US" altLang="ko-KR" sz="10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550 </a:t>
                      </a:r>
                      <a:r>
                        <a:rPr lang="ko-KR" altLang="en-US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만원</a:t>
                      </a:r>
                      <a:endParaRPr lang="en-US" altLang="ko-KR" sz="10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350 </a:t>
                      </a:r>
                      <a:r>
                        <a:rPr lang="ko-KR" altLang="en-US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만원</a:t>
                      </a:r>
                      <a:endParaRPr lang="en-US" altLang="ko-KR" sz="10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018452"/>
                  </a:ext>
                </a:extLst>
              </a:tr>
            </a:tbl>
          </a:graphicData>
        </a:graphic>
      </p:graphicFrame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E90DA03C-539F-33B8-130E-F918CD17A5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0026612"/>
              </p:ext>
            </p:extLst>
          </p:nvPr>
        </p:nvGraphicFramePr>
        <p:xfrm>
          <a:off x="4756888" y="1269794"/>
          <a:ext cx="4333325" cy="1665363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851152">
                  <a:extLst>
                    <a:ext uri="{9D8B030D-6E8A-4147-A177-3AD203B41FA5}">
                      <a16:colId xmlns:a16="http://schemas.microsoft.com/office/drawing/2014/main" val="1553538150"/>
                    </a:ext>
                  </a:extLst>
                </a:gridCol>
                <a:gridCol w="908419">
                  <a:extLst>
                    <a:ext uri="{9D8B030D-6E8A-4147-A177-3AD203B41FA5}">
                      <a16:colId xmlns:a16="http://schemas.microsoft.com/office/drawing/2014/main" val="2912823855"/>
                    </a:ext>
                  </a:extLst>
                </a:gridCol>
                <a:gridCol w="857918">
                  <a:extLst>
                    <a:ext uri="{9D8B030D-6E8A-4147-A177-3AD203B41FA5}">
                      <a16:colId xmlns:a16="http://schemas.microsoft.com/office/drawing/2014/main" val="420109590"/>
                    </a:ext>
                  </a:extLst>
                </a:gridCol>
                <a:gridCol w="857918">
                  <a:extLst>
                    <a:ext uri="{9D8B030D-6E8A-4147-A177-3AD203B41FA5}">
                      <a16:colId xmlns:a16="http://schemas.microsoft.com/office/drawing/2014/main" val="534608901"/>
                    </a:ext>
                  </a:extLst>
                </a:gridCol>
                <a:gridCol w="857918">
                  <a:extLst>
                    <a:ext uri="{9D8B030D-6E8A-4147-A177-3AD203B41FA5}">
                      <a16:colId xmlns:a16="http://schemas.microsoft.com/office/drawing/2014/main" val="715179042"/>
                    </a:ext>
                  </a:extLst>
                </a:gridCol>
              </a:tblGrid>
              <a:tr h="55512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규격</a:t>
                      </a:r>
                      <a:endParaRPr lang="en-US" altLang="ko-KR" sz="10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지하</a:t>
                      </a:r>
                      <a:r>
                        <a:rPr lang="en-US" altLang="ko-KR" sz="10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r>
                        <a:rPr lang="ko-KR" altLang="en-US" sz="10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층</a:t>
                      </a:r>
                      <a:endParaRPr lang="en-US" altLang="ko-KR" sz="10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r>
                        <a:rPr lang="ko-KR" altLang="en-US" sz="10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층</a:t>
                      </a:r>
                      <a:endParaRPr lang="en-US" altLang="ko-KR" sz="10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</a:t>
                      </a:r>
                      <a:r>
                        <a:rPr lang="ko-KR" altLang="en-US" sz="10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층</a:t>
                      </a:r>
                      <a:endParaRPr lang="en-US" altLang="ko-KR" sz="10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</a:t>
                      </a:r>
                      <a:r>
                        <a:rPr lang="ko-KR" altLang="en-US" sz="10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층</a:t>
                      </a:r>
                      <a:endParaRPr lang="en-US" altLang="ko-KR" sz="10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0268165"/>
                  </a:ext>
                </a:extLst>
              </a:tr>
              <a:tr h="555121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</a:t>
                      </a:r>
                      <a:r>
                        <a:rPr lang="ko-KR" altLang="en-US" sz="10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위용</a:t>
                      </a:r>
                      <a:endParaRPr lang="en-US" altLang="ko-KR" sz="10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600 </a:t>
                      </a:r>
                      <a:r>
                        <a:rPr lang="ko-KR" altLang="en-US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만원</a:t>
                      </a:r>
                      <a:endParaRPr lang="en-US" altLang="ko-KR" sz="10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800 </a:t>
                      </a:r>
                      <a:r>
                        <a:rPr lang="ko-KR" altLang="en-US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만원</a:t>
                      </a:r>
                      <a:endParaRPr lang="en-US" altLang="ko-KR" sz="10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1,000 </a:t>
                      </a:r>
                      <a:r>
                        <a:rPr lang="ko-KR" altLang="en-US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만원</a:t>
                      </a:r>
                      <a:endParaRPr lang="en-US" altLang="ko-KR" sz="10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1,200 </a:t>
                      </a:r>
                      <a:r>
                        <a:rPr lang="ko-KR" altLang="en-US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만원</a:t>
                      </a:r>
                      <a:endParaRPr lang="en-US" altLang="ko-KR" sz="10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1090331"/>
                  </a:ext>
                </a:extLst>
              </a:tr>
              <a:tr h="555121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6</a:t>
                      </a:r>
                      <a:r>
                        <a:rPr lang="ko-KR" altLang="en-US" sz="10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위용</a:t>
                      </a:r>
                      <a:endParaRPr lang="en-US" altLang="ko-KR" sz="10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900 </a:t>
                      </a:r>
                      <a:r>
                        <a:rPr lang="ko-KR" altLang="en-US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만원</a:t>
                      </a:r>
                      <a:endParaRPr lang="en-US" altLang="ko-KR" sz="10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1,200 </a:t>
                      </a:r>
                      <a:r>
                        <a:rPr lang="ko-KR" altLang="en-US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만원</a:t>
                      </a:r>
                      <a:endParaRPr lang="en-US" altLang="ko-KR" sz="10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1,500 </a:t>
                      </a:r>
                      <a:r>
                        <a:rPr lang="ko-KR" altLang="en-US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만원</a:t>
                      </a:r>
                      <a:endParaRPr lang="en-US" altLang="ko-KR" sz="10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1,800 </a:t>
                      </a:r>
                      <a:r>
                        <a:rPr lang="ko-KR" altLang="en-US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만원</a:t>
                      </a:r>
                      <a:endParaRPr lang="en-US" altLang="ko-KR" sz="10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3516558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BB61E223-7307-470E-D403-99BED51A1B30}"/>
              </a:ext>
            </a:extLst>
          </p:cNvPr>
          <p:cNvSpPr txBox="1"/>
          <p:nvPr/>
        </p:nvSpPr>
        <p:spPr>
          <a:xfrm>
            <a:off x="5827228" y="858425"/>
            <a:ext cx="20838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가족 분양실 분양가격</a:t>
            </a:r>
          </a:p>
        </p:txBody>
      </p:sp>
      <p:graphicFrame>
        <p:nvGraphicFramePr>
          <p:cNvPr id="24" name="표 23">
            <a:extLst>
              <a:ext uri="{FF2B5EF4-FFF2-40B4-BE49-F238E27FC236}">
                <a16:creationId xmlns:a16="http://schemas.microsoft.com/office/drawing/2014/main" id="{550E67AA-E826-284F-FAF8-333E6C09AF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2156165"/>
              </p:ext>
            </p:extLst>
          </p:nvPr>
        </p:nvGraphicFramePr>
        <p:xfrm>
          <a:off x="4811291" y="3536270"/>
          <a:ext cx="4198238" cy="1854196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015768">
                  <a:extLst>
                    <a:ext uri="{9D8B030D-6E8A-4147-A177-3AD203B41FA5}">
                      <a16:colId xmlns:a16="http://schemas.microsoft.com/office/drawing/2014/main" val="1553538150"/>
                    </a:ext>
                  </a:extLst>
                </a:gridCol>
                <a:gridCol w="1057835">
                  <a:extLst>
                    <a:ext uri="{9D8B030D-6E8A-4147-A177-3AD203B41FA5}">
                      <a16:colId xmlns:a16="http://schemas.microsoft.com/office/drawing/2014/main" val="1005073696"/>
                    </a:ext>
                  </a:extLst>
                </a:gridCol>
                <a:gridCol w="2124635">
                  <a:extLst>
                    <a:ext uri="{9D8B030D-6E8A-4147-A177-3AD203B41FA5}">
                      <a16:colId xmlns:a16="http://schemas.microsoft.com/office/drawing/2014/main" val="2912823855"/>
                    </a:ext>
                  </a:extLst>
                </a:gridCol>
              </a:tblGrid>
              <a:tr h="46354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유형</a:t>
                      </a:r>
                      <a:endParaRPr lang="en-US" altLang="ko-KR" sz="10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위치</a:t>
                      </a:r>
                      <a:endParaRPr lang="en-US" altLang="ko-KR" sz="10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가격</a:t>
                      </a:r>
                      <a:endParaRPr lang="en-US" altLang="ko-KR" sz="10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0268165"/>
                  </a:ext>
                </a:extLst>
              </a:tr>
              <a:tr h="46354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개인형</a:t>
                      </a:r>
                      <a:endParaRPr lang="en-US" altLang="ko-KR" sz="10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</a:t>
                      </a:r>
                      <a:r>
                        <a:rPr lang="ko-KR" altLang="en-US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층 전망대 인접</a:t>
                      </a:r>
                      <a:endParaRPr lang="en-US" altLang="ko-KR" sz="10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1,000 </a:t>
                      </a:r>
                      <a:r>
                        <a:rPr lang="ko-KR" altLang="en-US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만원 </a:t>
                      </a:r>
                      <a:r>
                        <a:rPr lang="en-US" altLang="ko-KR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~ 1,500 </a:t>
                      </a:r>
                      <a:r>
                        <a:rPr lang="ko-KR" altLang="en-US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만원</a:t>
                      </a:r>
                      <a:endParaRPr lang="en-US" altLang="ko-KR" sz="10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1090331"/>
                  </a:ext>
                </a:extLst>
              </a:tr>
              <a:tr h="46354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가족형</a:t>
                      </a:r>
                      <a:r>
                        <a:rPr lang="en-US" altLang="ko-KR" sz="10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(4</a:t>
                      </a:r>
                      <a:r>
                        <a:rPr lang="ko-KR" altLang="en-US" sz="10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위</a:t>
                      </a:r>
                      <a:r>
                        <a:rPr lang="en-US" altLang="ko-KR" sz="10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</a:txBody>
                  <a:tcPr marL="46800" marR="468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</a:t>
                      </a:r>
                      <a:r>
                        <a:rPr lang="ko-KR" altLang="en-US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층 전망대 인접</a:t>
                      </a:r>
                      <a:endParaRPr lang="en-US" altLang="ko-KR" sz="10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1,800 </a:t>
                      </a:r>
                      <a:r>
                        <a:rPr lang="ko-KR" altLang="en-US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만원 </a:t>
                      </a:r>
                      <a:r>
                        <a:rPr lang="en-US" altLang="ko-KR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~ 2,200 </a:t>
                      </a:r>
                      <a:r>
                        <a:rPr lang="ko-KR" altLang="en-US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만원</a:t>
                      </a:r>
                      <a:endParaRPr lang="en-US" altLang="ko-KR" sz="10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3516558"/>
                  </a:ext>
                </a:extLst>
              </a:tr>
              <a:tr h="46354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가족형</a:t>
                      </a:r>
                      <a:r>
                        <a:rPr lang="en-US" altLang="ko-KR" sz="10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(6</a:t>
                      </a:r>
                      <a:r>
                        <a:rPr lang="ko-KR" altLang="en-US" sz="10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위</a:t>
                      </a:r>
                      <a:r>
                        <a:rPr lang="en-US" altLang="ko-KR" sz="10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</a:txBody>
                  <a:tcPr marL="46800" marR="468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</a:t>
                      </a:r>
                      <a:r>
                        <a:rPr lang="ko-KR" altLang="en-US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층 최상층</a:t>
                      </a:r>
                      <a:endParaRPr lang="en-US" altLang="ko-KR" sz="10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2,200 </a:t>
                      </a:r>
                      <a:r>
                        <a:rPr lang="ko-KR" altLang="en-US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만원 </a:t>
                      </a:r>
                      <a:r>
                        <a:rPr lang="en-US" altLang="ko-KR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~ 2,500 </a:t>
                      </a:r>
                      <a:r>
                        <a:rPr lang="ko-KR" altLang="en-US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만원</a:t>
                      </a:r>
                      <a:endParaRPr lang="en-US" altLang="ko-KR" sz="10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018452"/>
                  </a:ext>
                </a:extLst>
              </a:tr>
            </a:tbl>
          </a:graphicData>
        </a:graphic>
      </p:graphicFrame>
      <p:sp>
        <p:nvSpPr>
          <p:cNvPr id="26" name="직사각형 25">
            <a:extLst>
              <a:ext uri="{FF2B5EF4-FFF2-40B4-BE49-F238E27FC236}">
                <a16:creationId xmlns:a16="http://schemas.microsoft.com/office/drawing/2014/main" id="{7FF516CB-66C6-F74B-3C1F-61976EA667D1}"/>
              </a:ext>
            </a:extLst>
          </p:cNvPr>
          <p:cNvSpPr/>
          <p:nvPr/>
        </p:nvSpPr>
        <p:spPr>
          <a:xfrm>
            <a:off x="189780" y="6292003"/>
            <a:ext cx="8928847" cy="34095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FOOTER</a:t>
            </a:r>
            <a:endParaRPr lang="ko-KR" altLang="en-US" sz="10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85424830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2DB43F-3E3D-83CD-32AF-E257F5E0C1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1393623D-E4F6-6654-29E2-1AA54F0BCE73}"/>
              </a:ext>
            </a:extLst>
          </p:cNvPr>
          <p:cNvGraphicFramePr>
            <a:graphicFrameLocks noGrp="1"/>
          </p:cNvGraphicFramePr>
          <p:nvPr/>
        </p:nvGraphicFramePr>
        <p:xfrm>
          <a:off x="9182101" y="947377"/>
          <a:ext cx="2795588" cy="1847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1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684046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723838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3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172599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4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290794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5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922450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6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784800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7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0538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8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199337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9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450365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97588CD7-7F9E-FD9B-F930-42F59DB6A698}"/>
              </a:ext>
            </a:extLst>
          </p:cNvPr>
          <p:cNvSpPr/>
          <p:nvPr/>
        </p:nvSpPr>
        <p:spPr>
          <a:xfrm>
            <a:off x="959895" y="375614"/>
            <a:ext cx="1374094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</a:pP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메인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분양안내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분양가격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90F49EC-4560-2D01-2DB3-C6A0AF60C0C0}"/>
              </a:ext>
            </a:extLst>
          </p:cNvPr>
          <p:cNvSpPr txBox="1"/>
          <p:nvPr/>
        </p:nvSpPr>
        <p:spPr>
          <a:xfrm>
            <a:off x="6003996" y="123825"/>
            <a:ext cx="17303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HN_DistriInfo_Distriprice_001</a:t>
            </a:r>
            <a:endParaRPr lang="ko-KR" altLang="en-US" sz="800" dirty="0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F265D1B7-07FB-A0FF-FB43-9E8ED560EAF3}"/>
              </a:ext>
            </a:extLst>
          </p:cNvPr>
          <p:cNvGrpSpPr/>
          <p:nvPr/>
        </p:nvGrpSpPr>
        <p:grpSpPr>
          <a:xfrm>
            <a:off x="161925" y="797629"/>
            <a:ext cx="8953500" cy="851943"/>
            <a:chOff x="161925" y="797629"/>
            <a:chExt cx="8953500" cy="851943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04CCBF36-179C-DA02-865B-89F7326151CC}"/>
                </a:ext>
              </a:extLst>
            </p:cNvPr>
            <p:cNvSpPr/>
            <p:nvPr/>
          </p:nvSpPr>
          <p:spPr>
            <a:xfrm>
              <a:off x="4144448" y="797629"/>
              <a:ext cx="942784" cy="35821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800" b="1" dirty="0">
                  <a:solidFill>
                    <a:srgbClr val="FF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CI</a:t>
              </a:r>
            </a:p>
          </p:txBody>
        </p: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E76F2F88-2EA6-26EF-4F0D-9810724DA55E}"/>
                </a:ext>
              </a:extLst>
            </p:cNvPr>
            <p:cNvCxnSpPr/>
            <p:nvPr/>
          </p:nvCxnSpPr>
          <p:spPr>
            <a:xfrm>
              <a:off x="161925" y="1649572"/>
              <a:ext cx="8953500" cy="0"/>
            </a:xfrm>
            <a:prstGeom prst="line">
              <a:avLst/>
            </a:prstGeom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2A70602-EFC3-D54A-DD38-9CDEA9F194A0}"/>
                </a:ext>
              </a:extLst>
            </p:cNvPr>
            <p:cNvSpPr txBox="1"/>
            <p:nvPr/>
          </p:nvSpPr>
          <p:spPr>
            <a:xfrm>
              <a:off x="2031551" y="1301804"/>
              <a:ext cx="120364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하늘누리소개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A13BA61D-5492-8E5D-C28E-E759060ED229}"/>
                </a:ext>
              </a:extLst>
            </p:cNvPr>
            <p:cNvSpPr txBox="1"/>
            <p:nvPr/>
          </p:nvSpPr>
          <p:spPr>
            <a:xfrm>
              <a:off x="3239720" y="1301804"/>
              <a:ext cx="9144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시설안내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F177AA96-486F-9092-023C-1E719E6A6F72}"/>
                </a:ext>
              </a:extLst>
            </p:cNvPr>
            <p:cNvSpPr txBox="1"/>
            <p:nvPr/>
          </p:nvSpPr>
          <p:spPr>
            <a:xfrm>
              <a:off x="4158640" y="1301804"/>
              <a:ext cx="9144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분양안내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47C5954C-BB4F-FC13-6DD7-BB5700C23DAB}"/>
                </a:ext>
              </a:extLst>
            </p:cNvPr>
            <p:cNvSpPr txBox="1"/>
            <p:nvPr/>
          </p:nvSpPr>
          <p:spPr>
            <a:xfrm>
              <a:off x="5077560" y="1301804"/>
              <a:ext cx="119120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사이버추모관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A1946D89-06A3-594D-7CC5-923CD01EA256}"/>
                </a:ext>
              </a:extLst>
            </p:cNvPr>
            <p:cNvSpPr txBox="1"/>
            <p:nvPr/>
          </p:nvSpPr>
          <p:spPr>
            <a:xfrm>
              <a:off x="6273289" y="1301804"/>
              <a:ext cx="9144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고객센터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879BBC3-0875-BE26-C057-82FCC0E81BDD}"/>
                </a:ext>
              </a:extLst>
            </p:cNvPr>
            <p:cNvSpPr txBox="1"/>
            <p:nvPr/>
          </p:nvSpPr>
          <p:spPr>
            <a:xfrm>
              <a:off x="7734300" y="817862"/>
              <a:ext cx="79388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b="1">
                  <a:latin typeface="나눔고딕" panose="020D0604000000000000" pitchFamily="50" charset="-127"/>
                  <a:ea typeface="나눔고딕" panose="020D0604000000000000" pitchFamily="50" charset="-127"/>
                </a:rPr>
                <a:t>비밀번호변경</a:t>
              </a:r>
              <a:endParaRPr lang="ko-KR" altLang="en-US" sz="8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685BC47C-FE41-B55C-2802-82A8B1A0EC2E}"/>
                </a:ext>
              </a:extLst>
            </p:cNvPr>
            <p:cNvSpPr txBox="1"/>
            <p:nvPr/>
          </p:nvSpPr>
          <p:spPr>
            <a:xfrm>
              <a:off x="8472200" y="817862"/>
              <a:ext cx="58783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로그아웃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0DD6569D-C23B-A5F6-D989-C61863932C5F}"/>
                </a:ext>
              </a:extLst>
            </p:cNvPr>
            <p:cNvSpPr txBox="1"/>
            <p:nvPr/>
          </p:nvSpPr>
          <p:spPr>
            <a:xfrm>
              <a:off x="7203231" y="817862"/>
              <a:ext cx="65313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나의정보</a:t>
              </a: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FFBEA315-9E63-E517-A8ED-21ECE0D53593}"/>
              </a:ext>
            </a:extLst>
          </p:cNvPr>
          <p:cNvSpPr txBox="1"/>
          <p:nvPr/>
        </p:nvSpPr>
        <p:spPr>
          <a:xfrm>
            <a:off x="158621" y="1704392"/>
            <a:ext cx="314441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HOME &gt; </a:t>
            </a:r>
            <a:r>
              <a:rPr lang="ko-KR" altLang="en-US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분양안내 </a:t>
            </a:r>
            <a:r>
              <a:rPr lang="en-US" altLang="ko-KR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분양가격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1A8846E-054D-E62D-B256-DCC57EB8BA93}"/>
              </a:ext>
            </a:extLst>
          </p:cNvPr>
          <p:cNvSpPr txBox="1"/>
          <p:nvPr/>
        </p:nvSpPr>
        <p:spPr>
          <a:xfrm>
            <a:off x="2791996" y="1866963"/>
            <a:ext cx="36895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분양 가격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45F6FF-7798-A1C7-5070-23C234083321}"/>
              </a:ext>
            </a:extLst>
          </p:cNvPr>
          <p:cNvSpPr txBox="1"/>
          <p:nvPr/>
        </p:nvSpPr>
        <p:spPr>
          <a:xfrm>
            <a:off x="1730829" y="2547785"/>
            <a:ext cx="5768660" cy="712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2100"/>
              </a:lnSpc>
              <a:spcAft>
                <a:spcPts val="900"/>
              </a:spcAft>
            </a:pPr>
            <a:r>
              <a:rPr lang="en-US" altLang="ko-KR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"</a:t>
            </a:r>
            <a:r>
              <a:rPr lang="ko-KR" altLang="en-US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가격 이상의 가치를 제공합니다</a:t>
            </a:r>
            <a:r>
              <a:rPr lang="en-US" altLang="ko-KR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“</a:t>
            </a:r>
          </a:p>
          <a:p>
            <a:pPr algn="ctr">
              <a:lnSpc>
                <a:spcPts val="2100"/>
              </a:lnSpc>
              <a:spcAft>
                <a:spcPts val="900"/>
              </a:spcAft>
            </a:pPr>
            <a:r>
              <a:rPr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하늘누리는 재단법인 운영으로 과도한 영리 추구 없이 합리적인 가격을 책정합니다</a:t>
            </a:r>
            <a:r>
              <a:rPr lang="en-US" altLang="ko-KR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F922C029-8221-4D85-1A1E-5D65829185C8}"/>
              </a:ext>
            </a:extLst>
          </p:cNvPr>
          <p:cNvSpPr/>
          <p:nvPr/>
        </p:nvSpPr>
        <p:spPr>
          <a:xfrm>
            <a:off x="326105" y="4206174"/>
            <a:ext cx="8440010" cy="1854197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IMAGE</a:t>
            </a:r>
            <a:endParaRPr lang="ko-KR" altLang="en-US" sz="28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664E2885-0220-20C5-5D83-6A1D91F85B3A}"/>
              </a:ext>
            </a:extLst>
          </p:cNvPr>
          <p:cNvGrpSpPr/>
          <p:nvPr/>
        </p:nvGrpSpPr>
        <p:grpSpPr>
          <a:xfrm>
            <a:off x="959895" y="3653838"/>
            <a:ext cx="7806220" cy="454102"/>
            <a:chOff x="959895" y="3653838"/>
            <a:chExt cx="7806220" cy="454102"/>
          </a:xfrm>
        </p:grpSpPr>
        <p:cxnSp>
          <p:nvCxnSpPr>
            <p:cNvPr id="11" name="Line 1">
              <a:extLst>
                <a:ext uri="{FF2B5EF4-FFF2-40B4-BE49-F238E27FC236}">
                  <a16:creationId xmlns:a16="http://schemas.microsoft.com/office/drawing/2014/main" id="{00893FFE-95B6-CEDE-E754-439F006BEFC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59895" y="4070774"/>
              <a:ext cx="670300" cy="0"/>
            </a:xfrm>
            <a:prstGeom prst="line">
              <a:avLst/>
            </a:prstGeom>
            <a:solidFill>
              <a:srgbClr val="FFFFFF"/>
            </a:solidFill>
            <a:ln w="12700">
              <a:solidFill>
                <a:srgbClr val="80808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Line 2">
              <a:extLst>
                <a:ext uri="{FF2B5EF4-FFF2-40B4-BE49-F238E27FC236}">
                  <a16:creationId xmlns:a16="http://schemas.microsoft.com/office/drawing/2014/main" id="{68BDF8C6-D390-06B9-18B2-DE9B523A3492}"/>
                </a:ext>
              </a:extLst>
            </p:cNvPr>
            <p:cNvCxnSpPr>
              <a:cxnSpLocks/>
            </p:cNvCxnSpPr>
            <p:nvPr/>
          </p:nvCxnSpPr>
          <p:spPr>
            <a:xfrm>
              <a:off x="6390265" y="4107940"/>
              <a:ext cx="2375850" cy="0"/>
            </a:xfrm>
            <a:prstGeom prst="line">
              <a:avLst/>
            </a:prstGeom>
            <a:solidFill>
              <a:srgbClr val="FFFFFF"/>
            </a:solidFill>
            <a:ln w="12700">
              <a:solidFill>
                <a:srgbClr val="80808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ab Selected">
              <a:extLst>
                <a:ext uri="{FF2B5EF4-FFF2-40B4-BE49-F238E27FC236}">
                  <a16:creationId xmlns:a16="http://schemas.microsoft.com/office/drawing/2014/main" id="{B8933BD4-AE9F-B47C-C5C6-CCBF9CCEAA45}"/>
                </a:ext>
              </a:extLst>
            </p:cNvPr>
            <p:cNvSpPr>
              <a:spLocks/>
            </p:cNvSpPr>
            <p:nvPr/>
          </p:nvSpPr>
          <p:spPr bwMode="auto">
            <a:xfrm>
              <a:off x="4007340" y="3653838"/>
              <a:ext cx="2382925" cy="433856"/>
            </a:xfrm>
            <a:custGeom>
              <a:avLst/>
              <a:gdLst>
                <a:gd name="T0" fmla="*/ 0 w 2218"/>
                <a:gd name="T1" fmla="*/ 670 h 670"/>
                <a:gd name="T2" fmla="*/ 0 w 2218"/>
                <a:gd name="T3" fmla="*/ 0 h 670"/>
                <a:gd name="T4" fmla="*/ 2218 w 2218"/>
                <a:gd name="T5" fmla="*/ 0 h 670"/>
                <a:gd name="T6" fmla="*/ 2218 w 2218"/>
                <a:gd name="T7" fmla="*/ 670 h 6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218" h="670">
                  <a:moveTo>
                    <a:pt x="0" y="670"/>
                  </a:moveTo>
                  <a:lnTo>
                    <a:pt x="0" y="0"/>
                  </a:lnTo>
                  <a:lnTo>
                    <a:pt x="2218" y="0"/>
                  </a:lnTo>
                  <a:lnTo>
                    <a:pt x="2218" y="670"/>
                  </a:lnTo>
                </a:path>
              </a:pathLst>
            </a:custGeom>
            <a:solidFill>
              <a:schemeClr val="bg1"/>
            </a:solidFill>
            <a:ln w="6350" cap="sq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90000"/>
                </a:lnSpc>
                <a:defRPr/>
              </a:pPr>
              <a:r>
                <a:rPr lang="ko-KR" altLang="en-US" sz="1600" b="1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Segoe UI" panose="020B0502040204020203" pitchFamily="34" charset="0"/>
                </a:rPr>
                <a:t>수목장</a:t>
              </a:r>
              <a:r>
                <a:rPr lang="en-US" altLang="ko-KR" sz="1600" b="1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Segoe UI" panose="020B0502040204020203" pitchFamily="34" charset="0"/>
                </a:rPr>
                <a:t>(</a:t>
              </a:r>
              <a:r>
                <a:rPr lang="ko-KR" altLang="en-US" sz="1600" b="1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Segoe UI" panose="020B0502040204020203" pitchFamily="34" charset="0"/>
                </a:rPr>
                <a:t>자연장</a:t>
              </a:r>
              <a:r>
                <a:rPr lang="en-US" altLang="ko-KR" sz="1600" b="1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Segoe UI" panose="020B0502040204020203" pitchFamily="34" charset="0"/>
                </a:rPr>
                <a:t>)</a:t>
              </a:r>
            </a:p>
          </p:txBody>
        </p:sp>
        <p:sp>
          <p:nvSpPr>
            <p:cNvPr id="23" name="Tab">
              <a:extLst>
                <a:ext uri="{FF2B5EF4-FFF2-40B4-BE49-F238E27FC236}">
                  <a16:creationId xmlns:a16="http://schemas.microsoft.com/office/drawing/2014/main" id="{F7AB4A41-5E3B-DCC8-F7C7-272FD9B4CDD7}"/>
                </a:ext>
              </a:extLst>
            </p:cNvPr>
            <p:cNvSpPr/>
            <p:nvPr/>
          </p:nvSpPr>
          <p:spPr>
            <a:xfrm>
              <a:off x="1630195" y="3653838"/>
              <a:ext cx="2410851" cy="43385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90000"/>
                </a:lnSpc>
                <a:defRPr/>
              </a:pPr>
              <a:r>
                <a:rPr lang="ko-KR" altLang="en-US" sz="16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Segoe UI" panose="020B0502040204020203" pitchFamily="34" charset="0"/>
                </a:rPr>
                <a:t>봉안당</a:t>
              </a:r>
              <a:r>
                <a:rPr lang="en-US" altLang="ko-KR" sz="16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Segoe UI" panose="020B0502040204020203" pitchFamily="34" charset="0"/>
                </a:rPr>
                <a:t>(</a:t>
              </a:r>
              <a:r>
                <a:rPr lang="ko-KR" altLang="en-US" sz="16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Segoe UI" panose="020B0502040204020203" pitchFamily="34" charset="0"/>
                </a:rPr>
                <a:t>하늘누리관</a:t>
              </a:r>
              <a:r>
                <a:rPr lang="en-US" altLang="ko-KR" sz="16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Segoe UI" panose="020B0502040204020203" pitchFamily="34" charset="0"/>
                </a:rPr>
                <a:t>)</a:t>
              </a:r>
              <a:endParaRPr lang="en-US" sz="16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Segoe UI" panose="020B0502040204020203" pitchFamily="34" charset="0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83398675-E43F-20DB-7EA5-3AB6D510A64A}"/>
              </a:ext>
            </a:extLst>
          </p:cNvPr>
          <p:cNvSpPr txBox="1"/>
          <p:nvPr/>
        </p:nvSpPr>
        <p:spPr>
          <a:xfrm rot="19349954">
            <a:off x="6486004" y="2384462"/>
            <a:ext cx="267148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하늘누리 분양안내 </a:t>
            </a:r>
            <a:r>
              <a:rPr lang="ko-KR" altLang="en-US" sz="32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확인 후 수정 필요</a:t>
            </a:r>
          </a:p>
        </p:txBody>
      </p:sp>
    </p:spTree>
    <p:extLst>
      <p:ext uri="{BB962C8B-B14F-4D97-AF65-F5344CB8AC3E}">
        <p14:creationId xmlns:p14="http://schemas.microsoft.com/office/powerpoint/2010/main" val="2332685727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B4C102-F62C-A7C6-FF26-F4013049C8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05723CBD-7931-FDAE-A171-662A1DAF7AD0}"/>
              </a:ext>
            </a:extLst>
          </p:cNvPr>
          <p:cNvGraphicFramePr>
            <a:graphicFrameLocks noGrp="1"/>
          </p:cNvGraphicFramePr>
          <p:nvPr/>
        </p:nvGraphicFramePr>
        <p:xfrm>
          <a:off x="9182101" y="947377"/>
          <a:ext cx="2795588" cy="1847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1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684046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723838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3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172599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4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290794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5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922450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6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784800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7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0538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8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199337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9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450365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08BDEFC8-46D1-1E77-3E28-0DED89D26B26}"/>
              </a:ext>
            </a:extLst>
          </p:cNvPr>
          <p:cNvSpPr/>
          <p:nvPr/>
        </p:nvSpPr>
        <p:spPr>
          <a:xfrm>
            <a:off x="959895" y="375614"/>
            <a:ext cx="1374094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</a:pP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메인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분양안내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분양가격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4967362-2B9C-4A4B-AEB0-B793ED1E023A}"/>
              </a:ext>
            </a:extLst>
          </p:cNvPr>
          <p:cNvSpPr txBox="1"/>
          <p:nvPr/>
        </p:nvSpPr>
        <p:spPr>
          <a:xfrm>
            <a:off x="6003996" y="123825"/>
            <a:ext cx="17303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HN_DistriInfo_Distriprice_001</a:t>
            </a:r>
            <a:endParaRPr lang="ko-KR" altLang="en-US" sz="800" dirty="0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3B59F38C-D47F-E704-32EE-05220C0EB412}"/>
              </a:ext>
            </a:extLst>
          </p:cNvPr>
          <p:cNvSpPr/>
          <p:nvPr/>
        </p:nvSpPr>
        <p:spPr>
          <a:xfrm>
            <a:off x="395107" y="3191169"/>
            <a:ext cx="8614421" cy="1452549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IMAGE</a:t>
            </a:r>
            <a:endParaRPr lang="ko-KR" altLang="en-US" sz="28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7C8BA3C-5BBB-AED1-9056-64E21EC96DAF}"/>
              </a:ext>
            </a:extLst>
          </p:cNvPr>
          <p:cNvSpPr txBox="1"/>
          <p:nvPr/>
        </p:nvSpPr>
        <p:spPr>
          <a:xfrm>
            <a:off x="1195883" y="4719722"/>
            <a:ext cx="20838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공동 수목장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403DA6C-285C-2CBC-C0A6-B382E5AD355D}"/>
              </a:ext>
            </a:extLst>
          </p:cNvPr>
          <p:cNvSpPr txBox="1"/>
          <p:nvPr/>
        </p:nvSpPr>
        <p:spPr>
          <a:xfrm>
            <a:off x="1156836" y="875657"/>
            <a:ext cx="26531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개인 수목장</a:t>
            </a:r>
            <a:r>
              <a:rPr lang="en-US" altLang="ko-KR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수종별</a:t>
            </a:r>
            <a:r>
              <a:rPr lang="en-US" altLang="ko-KR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) </a:t>
            </a:r>
            <a:r>
              <a:rPr lang="ko-KR" altLang="en-US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가격표</a:t>
            </a: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F5E50196-0BF7-3E09-421B-2AA5C59480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5152197"/>
              </p:ext>
            </p:extLst>
          </p:nvPr>
        </p:nvGraphicFramePr>
        <p:xfrm>
          <a:off x="395107" y="1269794"/>
          <a:ext cx="4120141" cy="1665364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238106">
                  <a:extLst>
                    <a:ext uri="{9D8B030D-6E8A-4147-A177-3AD203B41FA5}">
                      <a16:colId xmlns:a16="http://schemas.microsoft.com/office/drawing/2014/main" val="1553538150"/>
                    </a:ext>
                  </a:extLst>
                </a:gridCol>
                <a:gridCol w="966552">
                  <a:extLst>
                    <a:ext uri="{9D8B030D-6E8A-4147-A177-3AD203B41FA5}">
                      <a16:colId xmlns:a16="http://schemas.microsoft.com/office/drawing/2014/main" val="1005073696"/>
                    </a:ext>
                  </a:extLst>
                </a:gridCol>
                <a:gridCol w="1915483">
                  <a:extLst>
                    <a:ext uri="{9D8B030D-6E8A-4147-A177-3AD203B41FA5}">
                      <a16:colId xmlns:a16="http://schemas.microsoft.com/office/drawing/2014/main" val="2912823855"/>
                    </a:ext>
                  </a:extLst>
                </a:gridCol>
              </a:tblGrid>
              <a:tr h="41634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수종</a:t>
                      </a:r>
                      <a:endParaRPr lang="en-US" altLang="ko-KR" sz="10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규격</a:t>
                      </a:r>
                      <a:endParaRPr lang="en-US" altLang="ko-KR" sz="10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가격</a:t>
                      </a:r>
                      <a:endParaRPr lang="en-US" altLang="ko-KR" sz="10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0268165"/>
                  </a:ext>
                </a:extLst>
              </a:tr>
              <a:tr h="416341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소나무</a:t>
                      </a:r>
                      <a:endParaRPr lang="en-US" altLang="ko-KR" sz="10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30</a:t>
                      </a:r>
                      <a:r>
                        <a:rPr lang="en-US" altLang="ko-KR" sz="10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㎡ </a:t>
                      </a:r>
                      <a:r>
                        <a:rPr lang="ko-KR" altLang="en-US" sz="10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이하</a:t>
                      </a:r>
                      <a:endParaRPr lang="en-US" altLang="ko-KR" sz="10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400 </a:t>
                      </a:r>
                      <a:r>
                        <a:rPr lang="ko-KR" altLang="en-US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만원</a:t>
                      </a:r>
                      <a:endParaRPr lang="en-US" altLang="ko-KR" sz="10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1090331"/>
                  </a:ext>
                </a:extLst>
              </a:tr>
              <a:tr h="416341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느티나무</a:t>
                      </a:r>
                      <a:endParaRPr lang="en-US" altLang="ko-KR" sz="10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30㎡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이하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450 </a:t>
                      </a:r>
                      <a:r>
                        <a:rPr lang="ko-KR" altLang="en-US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만원</a:t>
                      </a:r>
                      <a:endParaRPr lang="en-US" altLang="ko-KR" sz="10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3516558"/>
                  </a:ext>
                </a:extLst>
              </a:tr>
              <a:tr h="416341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u="none" dirty="0" err="1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벗나무</a:t>
                      </a:r>
                      <a:endParaRPr lang="en-US" altLang="ko-KR" sz="10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30㎡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이하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420 </a:t>
                      </a:r>
                      <a:r>
                        <a:rPr lang="ko-KR" altLang="en-US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만원</a:t>
                      </a:r>
                      <a:endParaRPr lang="en-US" altLang="ko-KR" sz="10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018452"/>
                  </a:ext>
                </a:extLst>
              </a:tr>
            </a:tbl>
          </a:graphicData>
        </a:graphic>
      </p:graphicFrame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38989CFB-FA1A-87D7-545E-A1134FF747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1133477"/>
              </p:ext>
            </p:extLst>
          </p:nvPr>
        </p:nvGraphicFramePr>
        <p:xfrm>
          <a:off x="4756888" y="1269793"/>
          <a:ext cx="4252640" cy="1665364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041502">
                  <a:extLst>
                    <a:ext uri="{9D8B030D-6E8A-4147-A177-3AD203B41FA5}">
                      <a16:colId xmlns:a16="http://schemas.microsoft.com/office/drawing/2014/main" val="1553538150"/>
                    </a:ext>
                  </a:extLst>
                </a:gridCol>
                <a:gridCol w="1111576">
                  <a:extLst>
                    <a:ext uri="{9D8B030D-6E8A-4147-A177-3AD203B41FA5}">
                      <a16:colId xmlns:a16="http://schemas.microsoft.com/office/drawing/2014/main" val="2912823855"/>
                    </a:ext>
                  </a:extLst>
                </a:gridCol>
                <a:gridCol w="1049781">
                  <a:extLst>
                    <a:ext uri="{9D8B030D-6E8A-4147-A177-3AD203B41FA5}">
                      <a16:colId xmlns:a16="http://schemas.microsoft.com/office/drawing/2014/main" val="420109590"/>
                    </a:ext>
                  </a:extLst>
                </a:gridCol>
                <a:gridCol w="1049781">
                  <a:extLst>
                    <a:ext uri="{9D8B030D-6E8A-4147-A177-3AD203B41FA5}">
                      <a16:colId xmlns:a16="http://schemas.microsoft.com/office/drawing/2014/main" val="715179042"/>
                    </a:ext>
                  </a:extLst>
                </a:gridCol>
              </a:tblGrid>
              <a:tr h="41634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구분</a:t>
                      </a:r>
                      <a:endParaRPr lang="en-US" altLang="ko-KR" sz="10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규격</a:t>
                      </a:r>
                      <a:endParaRPr lang="en-US" altLang="ko-KR" sz="10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안치가능</a:t>
                      </a:r>
                      <a:endParaRPr lang="en-US" altLang="ko-KR" sz="10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가격</a:t>
                      </a:r>
                      <a:endParaRPr lang="en-US" altLang="ko-KR" sz="10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0268165"/>
                  </a:ext>
                </a:extLst>
              </a:tr>
              <a:tr h="416341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부부형</a:t>
                      </a:r>
                      <a:endParaRPr lang="en-US" altLang="ko-KR" sz="10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50</a:t>
                      </a:r>
                      <a:r>
                        <a:rPr lang="en-US" altLang="ko-KR" sz="10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㎡ </a:t>
                      </a:r>
                      <a:r>
                        <a:rPr lang="ko-KR" altLang="en-US" sz="10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이하</a:t>
                      </a:r>
                      <a:endParaRPr lang="en-US" altLang="ko-KR" sz="10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</a:t>
                      </a:r>
                      <a:r>
                        <a:rPr lang="ko-KR" altLang="en-US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위</a:t>
                      </a:r>
                      <a:endParaRPr lang="en-US" altLang="ko-KR" sz="10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700 </a:t>
                      </a:r>
                      <a:r>
                        <a:rPr lang="ko-KR" altLang="en-US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만원</a:t>
                      </a:r>
                      <a:endParaRPr lang="en-US" altLang="ko-KR" sz="10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1090331"/>
                  </a:ext>
                </a:extLst>
              </a:tr>
              <a:tr h="416341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가족형</a:t>
                      </a:r>
                      <a:r>
                        <a:rPr lang="en-US" altLang="ko-KR" sz="10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10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소</a:t>
                      </a:r>
                      <a:r>
                        <a:rPr lang="en-US" altLang="ko-KR" sz="10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</a:txBody>
                  <a:tcPr marL="46800" marR="468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80㎡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이하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</a:t>
                      </a:r>
                      <a:r>
                        <a:rPr lang="ko-KR" altLang="en-US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위</a:t>
                      </a:r>
                      <a:endParaRPr lang="en-US" altLang="ko-KR" sz="10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900 </a:t>
                      </a:r>
                      <a:r>
                        <a:rPr lang="ko-KR" altLang="en-US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만원</a:t>
                      </a:r>
                      <a:endParaRPr lang="en-US" altLang="ko-KR" sz="10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8587233"/>
                  </a:ext>
                </a:extLst>
              </a:tr>
              <a:tr h="416341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가족형</a:t>
                      </a:r>
                      <a:r>
                        <a:rPr lang="en-US" altLang="ko-KR" sz="10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10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대</a:t>
                      </a:r>
                      <a:r>
                        <a:rPr lang="en-US" altLang="ko-KR" sz="10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</a:txBody>
                  <a:tcPr marL="46800" marR="468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100㎡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이하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</a:t>
                      </a:r>
                      <a:r>
                        <a:rPr lang="ko-KR" altLang="en-US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위</a:t>
                      </a:r>
                      <a:endParaRPr lang="en-US" altLang="ko-KR" sz="10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1,200 </a:t>
                      </a:r>
                      <a:r>
                        <a:rPr lang="ko-KR" altLang="en-US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만원</a:t>
                      </a:r>
                      <a:endParaRPr lang="en-US" altLang="ko-KR" sz="10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3516558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6BF7BEEA-D05B-6A43-08E5-4D19FB6462F6}"/>
              </a:ext>
            </a:extLst>
          </p:cNvPr>
          <p:cNvSpPr txBox="1"/>
          <p:nvPr/>
        </p:nvSpPr>
        <p:spPr>
          <a:xfrm>
            <a:off x="5319259" y="853596"/>
            <a:ext cx="31823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부부</a:t>
            </a:r>
            <a:r>
              <a:rPr lang="en-US" altLang="ko-KR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가족 수목장</a:t>
            </a:r>
            <a:r>
              <a:rPr lang="en-US" altLang="ko-KR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위용벌</a:t>
            </a:r>
            <a:r>
              <a:rPr lang="en-US" altLang="ko-KR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) </a:t>
            </a:r>
            <a:r>
              <a:rPr lang="ko-KR" altLang="en-US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가격표</a:t>
            </a:r>
          </a:p>
        </p:txBody>
      </p:sp>
      <p:graphicFrame>
        <p:nvGraphicFramePr>
          <p:cNvPr id="24" name="표 23">
            <a:extLst>
              <a:ext uri="{FF2B5EF4-FFF2-40B4-BE49-F238E27FC236}">
                <a16:creationId xmlns:a16="http://schemas.microsoft.com/office/drawing/2014/main" id="{15D59FFF-85B6-200E-D110-6E105DDE21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7880302"/>
              </p:ext>
            </p:extLst>
          </p:nvPr>
        </p:nvGraphicFramePr>
        <p:xfrm>
          <a:off x="317010" y="5055363"/>
          <a:ext cx="4198238" cy="927098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015768">
                  <a:extLst>
                    <a:ext uri="{9D8B030D-6E8A-4147-A177-3AD203B41FA5}">
                      <a16:colId xmlns:a16="http://schemas.microsoft.com/office/drawing/2014/main" val="1553538150"/>
                    </a:ext>
                  </a:extLst>
                </a:gridCol>
                <a:gridCol w="1652469">
                  <a:extLst>
                    <a:ext uri="{9D8B030D-6E8A-4147-A177-3AD203B41FA5}">
                      <a16:colId xmlns:a16="http://schemas.microsoft.com/office/drawing/2014/main" val="1005073696"/>
                    </a:ext>
                  </a:extLst>
                </a:gridCol>
                <a:gridCol w="1530001">
                  <a:extLst>
                    <a:ext uri="{9D8B030D-6E8A-4147-A177-3AD203B41FA5}">
                      <a16:colId xmlns:a16="http://schemas.microsoft.com/office/drawing/2014/main" val="2912823855"/>
                    </a:ext>
                  </a:extLst>
                </a:gridCol>
              </a:tblGrid>
              <a:tr h="46354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구분</a:t>
                      </a:r>
                      <a:endParaRPr lang="en-US" altLang="ko-KR" sz="10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특징</a:t>
                      </a:r>
                      <a:endParaRPr lang="en-US" altLang="ko-KR" sz="10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가격</a:t>
                      </a:r>
                      <a:endParaRPr lang="en-US" altLang="ko-KR" sz="10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0268165"/>
                  </a:ext>
                </a:extLst>
              </a:tr>
              <a:tr h="46354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공동 수목장</a:t>
                      </a:r>
                      <a:endParaRPr lang="en-US" altLang="ko-KR" sz="10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큰 나무 아래 여러 위 안치</a:t>
                      </a:r>
                      <a:endParaRPr lang="en-US" altLang="ko-KR" sz="10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200 </a:t>
                      </a:r>
                      <a:r>
                        <a:rPr lang="ko-KR" altLang="en-US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만원</a:t>
                      </a:r>
                      <a:endParaRPr lang="en-US" altLang="ko-KR" sz="10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109033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62D2A8FE-477F-92BC-ADCE-DD9E7178C6B5}"/>
              </a:ext>
            </a:extLst>
          </p:cNvPr>
          <p:cNvSpPr txBox="1"/>
          <p:nvPr/>
        </p:nvSpPr>
        <p:spPr>
          <a:xfrm>
            <a:off x="5692405" y="4728687"/>
            <a:ext cx="20838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잔디장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4244F0BC-4623-0004-0D19-5D61FCC1CB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8547406"/>
              </p:ext>
            </p:extLst>
          </p:nvPr>
        </p:nvGraphicFramePr>
        <p:xfrm>
          <a:off x="4813532" y="5064328"/>
          <a:ext cx="4198238" cy="927098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645974">
                  <a:extLst>
                    <a:ext uri="{9D8B030D-6E8A-4147-A177-3AD203B41FA5}">
                      <a16:colId xmlns:a16="http://schemas.microsoft.com/office/drawing/2014/main" val="1553538150"/>
                    </a:ext>
                  </a:extLst>
                </a:gridCol>
                <a:gridCol w="887506">
                  <a:extLst>
                    <a:ext uri="{9D8B030D-6E8A-4147-A177-3AD203B41FA5}">
                      <a16:colId xmlns:a16="http://schemas.microsoft.com/office/drawing/2014/main" val="1005073696"/>
                    </a:ext>
                  </a:extLst>
                </a:gridCol>
                <a:gridCol w="1272988">
                  <a:extLst>
                    <a:ext uri="{9D8B030D-6E8A-4147-A177-3AD203B41FA5}">
                      <a16:colId xmlns:a16="http://schemas.microsoft.com/office/drawing/2014/main" val="2912823855"/>
                    </a:ext>
                  </a:extLst>
                </a:gridCol>
                <a:gridCol w="1391770">
                  <a:extLst>
                    <a:ext uri="{9D8B030D-6E8A-4147-A177-3AD203B41FA5}">
                      <a16:colId xmlns:a16="http://schemas.microsoft.com/office/drawing/2014/main" val="922063837"/>
                    </a:ext>
                  </a:extLst>
                </a:gridCol>
              </a:tblGrid>
              <a:tr h="46354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구분</a:t>
                      </a:r>
                      <a:endParaRPr lang="en-US" altLang="ko-KR" sz="10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규격</a:t>
                      </a:r>
                      <a:endParaRPr lang="en-US" altLang="ko-KR" sz="10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특징</a:t>
                      </a:r>
                      <a:endParaRPr lang="en-US" altLang="ko-KR" sz="10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가격</a:t>
                      </a:r>
                      <a:endParaRPr lang="en-US" altLang="ko-KR" sz="10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0268165"/>
                  </a:ext>
                </a:extLst>
              </a:tr>
              <a:tr h="46354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잔디장</a:t>
                      </a:r>
                      <a:endParaRPr lang="en-US" altLang="ko-KR" sz="10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r>
                        <a:rPr lang="en-US" altLang="ko-KR" sz="10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㎡ </a:t>
                      </a:r>
                      <a:r>
                        <a:rPr lang="ko-KR" altLang="en-US" sz="10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당 </a:t>
                      </a:r>
                      <a:r>
                        <a:rPr lang="en-US" altLang="ko-KR" sz="10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 </a:t>
                      </a:r>
                      <a:r>
                        <a:rPr lang="ko-KR" altLang="en-US" sz="10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위</a:t>
                      </a:r>
                      <a:endParaRPr lang="en-US" altLang="ko-KR" sz="10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잔디 평지</a:t>
                      </a:r>
                      <a:r>
                        <a:rPr lang="en-US" altLang="ko-KR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개별표식</a:t>
                      </a:r>
                      <a:endParaRPr lang="en-US" altLang="ko-KR" sz="10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250</a:t>
                      </a:r>
                      <a:r>
                        <a:rPr lang="ko-KR" altLang="en-US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만원</a:t>
                      </a:r>
                      <a:r>
                        <a:rPr lang="en-US" altLang="ko-KR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~ 350 </a:t>
                      </a:r>
                      <a:r>
                        <a:rPr lang="ko-KR" altLang="en-US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만원</a:t>
                      </a:r>
                      <a:endParaRPr lang="en-US" altLang="ko-KR" sz="10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1090331"/>
                  </a:ext>
                </a:extLst>
              </a:tr>
            </a:tbl>
          </a:graphicData>
        </a:graphic>
      </p:graphicFrame>
      <p:sp>
        <p:nvSpPr>
          <p:cNvPr id="6" name="직사각형 5">
            <a:extLst>
              <a:ext uri="{FF2B5EF4-FFF2-40B4-BE49-F238E27FC236}">
                <a16:creationId xmlns:a16="http://schemas.microsoft.com/office/drawing/2014/main" id="{6D6926BD-DC77-7BCA-E161-6DFD826CAAA9}"/>
              </a:ext>
            </a:extLst>
          </p:cNvPr>
          <p:cNvSpPr/>
          <p:nvPr/>
        </p:nvSpPr>
        <p:spPr>
          <a:xfrm>
            <a:off x="189780" y="6292003"/>
            <a:ext cx="8928847" cy="34095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FOOTER</a:t>
            </a:r>
            <a:endParaRPr lang="ko-KR" altLang="en-US" sz="10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92986828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B81554-A1AF-9EE6-1522-EB8BCEA408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E9056839-2581-873B-11BA-1CEB5AC8573E}"/>
              </a:ext>
            </a:extLst>
          </p:cNvPr>
          <p:cNvGraphicFramePr>
            <a:graphicFrameLocks noGrp="1"/>
          </p:cNvGraphicFramePr>
          <p:nvPr/>
        </p:nvGraphicFramePr>
        <p:xfrm>
          <a:off x="9182101" y="947377"/>
          <a:ext cx="2795588" cy="1847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1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684046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723838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3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172599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4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290794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5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922450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6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784800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7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0538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8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199337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9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450365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98FE54E8-3C89-E2D9-1525-198F9F4F4EAC}"/>
              </a:ext>
            </a:extLst>
          </p:cNvPr>
          <p:cNvSpPr/>
          <p:nvPr/>
        </p:nvSpPr>
        <p:spPr>
          <a:xfrm>
            <a:off x="959895" y="375614"/>
            <a:ext cx="1595309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</a:pP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메인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분양안내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사전청약 혜택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2BD50D2-FAF7-FB87-6AC8-7189B280E725}"/>
              </a:ext>
            </a:extLst>
          </p:cNvPr>
          <p:cNvSpPr txBox="1"/>
          <p:nvPr/>
        </p:nvSpPr>
        <p:spPr>
          <a:xfrm>
            <a:off x="6003996" y="123825"/>
            <a:ext cx="17303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HN_DistriInfo_Applibenefit_001</a:t>
            </a:r>
            <a:endParaRPr lang="ko-KR" altLang="en-US" sz="800" dirty="0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5152E1C9-02F8-BC70-40D5-C4F960C0C1F3}"/>
              </a:ext>
            </a:extLst>
          </p:cNvPr>
          <p:cNvGrpSpPr/>
          <p:nvPr/>
        </p:nvGrpSpPr>
        <p:grpSpPr>
          <a:xfrm>
            <a:off x="161925" y="797629"/>
            <a:ext cx="8953500" cy="851943"/>
            <a:chOff x="161925" y="797629"/>
            <a:chExt cx="8953500" cy="851943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1D219424-AA8C-4E37-0EC3-A129D865B615}"/>
                </a:ext>
              </a:extLst>
            </p:cNvPr>
            <p:cNvSpPr/>
            <p:nvPr/>
          </p:nvSpPr>
          <p:spPr>
            <a:xfrm>
              <a:off x="4144448" y="797629"/>
              <a:ext cx="942784" cy="35821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800" b="1" dirty="0">
                  <a:solidFill>
                    <a:srgbClr val="FF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CI</a:t>
              </a:r>
            </a:p>
          </p:txBody>
        </p: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3F41D33F-E323-871F-F381-C099A7C0A4F0}"/>
                </a:ext>
              </a:extLst>
            </p:cNvPr>
            <p:cNvCxnSpPr/>
            <p:nvPr/>
          </p:nvCxnSpPr>
          <p:spPr>
            <a:xfrm>
              <a:off x="161925" y="1649572"/>
              <a:ext cx="8953500" cy="0"/>
            </a:xfrm>
            <a:prstGeom prst="line">
              <a:avLst/>
            </a:prstGeom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C81DB99-3070-8813-A44B-F7138BD5CAD0}"/>
                </a:ext>
              </a:extLst>
            </p:cNvPr>
            <p:cNvSpPr txBox="1"/>
            <p:nvPr/>
          </p:nvSpPr>
          <p:spPr>
            <a:xfrm>
              <a:off x="2031551" y="1301804"/>
              <a:ext cx="120364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하늘누리소개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60E284AA-09E0-F5F8-FCD0-802E6CD0A5A4}"/>
                </a:ext>
              </a:extLst>
            </p:cNvPr>
            <p:cNvSpPr txBox="1"/>
            <p:nvPr/>
          </p:nvSpPr>
          <p:spPr>
            <a:xfrm>
              <a:off x="3239720" y="1301804"/>
              <a:ext cx="9144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시설안내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C77EE8A0-4F6D-70B6-479A-A8941E4BC1B6}"/>
                </a:ext>
              </a:extLst>
            </p:cNvPr>
            <p:cNvSpPr txBox="1"/>
            <p:nvPr/>
          </p:nvSpPr>
          <p:spPr>
            <a:xfrm>
              <a:off x="4158640" y="1301804"/>
              <a:ext cx="9144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분양안내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9B0829BD-581B-F7C1-5C8C-64714373FF71}"/>
                </a:ext>
              </a:extLst>
            </p:cNvPr>
            <p:cNvSpPr txBox="1"/>
            <p:nvPr/>
          </p:nvSpPr>
          <p:spPr>
            <a:xfrm>
              <a:off x="5077560" y="1301804"/>
              <a:ext cx="119120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사이버추모관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418C7F39-1412-F04D-A41E-3761AC2C44D3}"/>
                </a:ext>
              </a:extLst>
            </p:cNvPr>
            <p:cNvSpPr txBox="1"/>
            <p:nvPr/>
          </p:nvSpPr>
          <p:spPr>
            <a:xfrm>
              <a:off x="6273289" y="1301804"/>
              <a:ext cx="9144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고객센터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4BE21848-566C-671E-BF11-9569B0769D88}"/>
                </a:ext>
              </a:extLst>
            </p:cNvPr>
            <p:cNvSpPr txBox="1"/>
            <p:nvPr/>
          </p:nvSpPr>
          <p:spPr>
            <a:xfrm>
              <a:off x="7734300" y="817862"/>
              <a:ext cx="79388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b="1">
                  <a:latin typeface="나눔고딕" panose="020D0604000000000000" pitchFamily="50" charset="-127"/>
                  <a:ea typeface="나눔고딕" panose="020D0604000000000000" pitchFamily="50" charset="-127"/>
                </a:rPr>
                <a:t>비밀번호변경</a:t>
              </a:r>
              <a:endParaRPr lang="ko-KR" altLang="en-US" sz="8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F543DBF4-5799-531A-2098-FAE0F59C274D}"/>
                </a:ext>
              </a:extLst>
            </p:cNvPr>
            <p:cNvSpPr txBox="1"/>
            <p:nvPr/>
          </p:nvSpPr>
          <p:spPr>
            <a:xfrm>
              <a:off x="8472200" y="817862"/>
              <a:ext cx="58783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로그아웃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B6C77DE-57A5-A507-128E-559ADE49AFF9}"/>
                </a:ext>
              </a:extLst>
            </p:cNvPr>
            <p:cNvSpPr txBox="1"/>
            <p:nvPr/>
          </p:nvSpPr>
          <p:spPr>
            <a:xfrm>
              <a:off x="7203231" y="817862"/>
              <a:ext cx="65313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나의정보</a:t>
              </a: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F2EAE04E-D953-C4A9-68B5-B35B8438EC16}"/>
              </a:ext>
            </a:extLst>
          </p:cNvPr>
          <p:cNvSpPr txBox="1"/>
          <p:nvPr/>
        </p:nvSpPr>
        <p:spPr>
          <a:xfrm>
            <a:off x="158621" y="1704392"/>
            <a:ext cx="314441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HOME &gt; </a:t>
            </a:r>
            <a:r>
              <a:rPr lang="ko-KR" altLang="en-US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분양안내 </a:t>
            </a:r>
            <a:r>
              <a:rPr lang="en-US" altLang="ko-KR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사전청약 혜택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5DF3A0-399C-1E7E-17E4-C5894A6A0942}"/>
              </a:ext>
            </a:extLst>
          </p:cNvPr>
          <p:cNvSpPr txBox="1"/>
          <p:nvPr/>
        </p:nvSpPr>
        <p:spPr>
          <a:xfrm>
            <a:off x="2791996" y="1866963"/>
            <a:ext cx="36895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사전청약 혜택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E7B3D81-9B57-D34D-14C0-39EB15DD19AE}"/>
              </a:ext>
            </a:extLst>
          </p:cNvPr>
          <p:cNvSpPr txBox="1"/>
          <p:nvPr/>
        </p:nvSpPr>
        <p:spPr>
          <a:xfrm>
            <a:off x="1730829" y="2547785"/>
            <a:ext cx="5808489" cy="9821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2100"/>
              </a:lnSpc>
              <a:spcAft>
                <a:spcPts val="900"/>
              </a:spcAft>
            </a:pPr>
            <a:r>
              <a:rPr lang="en-US" altLang="ko-KR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"</a:t>
            </a:r>
            <a:r>
              <a:rPr lang="ko-KR" altLang="en-US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현명한 선택</a:t>
            </a:r>
            <a:r>
              <a:rPr lang="en-US" altLang="ko-KR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사전계약</a:t>
            </a:r>
            <a:r>
              <a:rPr lang="en-US" altLang="ko-KR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“</a:t>
            </a:r>
          </a:p>
          <a:p>
            <a:pPr algn="ctr">
              <a:lnSpc>
                <a:spcPts val="2100"/>
              </a:lnSpc>
              <a:spcAft>
                <a:spcPts val="900"/>
              </a:spcAft>
            </a:pPr>
            <a:r>
              <a:rPr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사전계약은 하늘누리 추모공원의 일부 구역이 개장 전이거나 추가 조성 중일 때 미리 계약하시는 분들께 드리는 특별한 혜택입니다</a:t>
            </a:r>
            <a:r>
              <a:rPr lang="en-US" altLang="ko-KR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94921B6E-A11C-8203-B967-AF4E7AFACAC2}"/>
              </a:ext>
            </a:extLst>
          </p:cNvPr>
          <p:cNvSpPr/>
          <p:nvPr/>
        </p:nvSpPr>
        <p:spPr>
          <a:xfrm>
            <a:off x="326105" y="3644901"/>
            <a:ext cx="8440010" cy="1531282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IMAGE</a:t>
            </a:r>
            <a:endParaRPr lang="ko-KR" altLang="en-US" sz="28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57795C69-C8A3-213F-4725-4A2F6A2DA4FA}"/>
              </a:ext>
            </a:extLst>
          </p:cNvPr>
          <p:cNvSpPr/>
          <p:nvPr/>
        </p:nvSpPr>
        <p:spPr>
          <a:xfrm>
            <a:off x="1471674" y="5255042"/>
            <a:ext cx="1080000" cy="1080000"/>
          </a:xfrm>
          <a:prstGeom prst="ellipse">
            <a:avLst/>
          </a:prstGeom>
          <a:solidFill>
            <a:srgbClr val="002060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가격</a:t>
            </a:r>
            <a:endParaRPr lang="en-US" altLang="ko-KR" sz="16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ko-KR" altLang="en-US" sz="16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혜택</a:t>
            </a: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F13239B4-8752-54BF-A2D1-0779E4807402}"/>
              </a:ext>
            </a:extLst>
          </p:cNvPr>
          <p:cNvSpPr/>
          <p:nvPr/>
        </p:nvSpPr>
        <p:spPr>
          <a:xfrm>
            <a:off x="4079625" y="5255042"/>
            <a:ext cx="1080000" cy="1080000"/>
          </a:xfrm>
          <a:prstGeom prst="ellipse">
            <a:avLst/>
          </a:prstGeom>
          <a:solidFill>
            <a:srgbClr val="002060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위치</a:t>
            </a:r>
            <a:endParaRPr lang="en-US" altLang="ko-KR" sz="16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ko-KR" altLang="en-US" sz="16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우선권</a:t>
            </a:r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A3DA5B2C-5396-226B-2328-848017E7AEE1}"/>
              </a:ext>
            </a:extLst>
          </p:cNvPr>
          <p:cNvSpPr/>
          <p:nvPr/>
        </p:nvSpPr>
        <p:spPr>
          <a:xfrm>
            <a:off x="6687576" y="5255042"/>
            <a:ext cx="1080000" cy="1080000"/>
          </a:xfrm>
          <a:prstGeom prst="ellipse">
            <a:avLst/>
          </a:prstGeom>
          <a:solidFill>
            <a:srgbClr val="002060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특별</a:t>
            </a:r>
            <a:endParaRPr lang="en-US" altLang="ko-KR" sz="16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ko-KR" altLang="en-US" sz="16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서비스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EE7D9ED-6FBA-859F-6572-D5542BF94AF8}"/>
              </a:ext>
            </a:extLst>
          </p:cNvPr>
          <p:cNvSpPr txBox="1"/>
          <p:nvPr/>
        </p:nvSpPr>
        <p:spPr>
          <a:xfrm>
            <a:off x="1048635" y="6351581"/>
            <a:ext cx="192607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정식 분양가 대비 </a:t>
            </a:r>
            <a:r>
              <a:rPr lang="en-US" altLang="ko-KR" sz="11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10% </a:t>
            </a:r>
            <a:r>
              <a:rPr lang="ko-KR" altLang="en-US" sz="11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할인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7472ED5-CA1E-A397-5D14-1306E8439B35}"/>
              </a:ext>
            </a:extLst>
          </p:cNvPr>
          <p:cNvSpPr txBox="1"/>
          <p:nvPr/>
        </p:nvSpPr>
        <p:spPr>
          <a:xfrm>
            <a:off x="3698447" y="6335042"/>
            <a:ext cx="192607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원하는 위치 먼저 선택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DF09D64-103B-7F25-5BDB-E910EE0836C0}"/>
              </a:ext>
            </a:extLst>
          </p:cNvPr>
          <p:cNvSpPr txBox="1"/>
          <p:nvPr/>
        </p:nvSpPr>
        <p:spPr>
          <a:xfrm>
            <a:off x="6268768" y="6344190"/>
            <a:ext cx="192607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5</a:t>
            </a:r>
            <a:r>
              <a:rPr lang="ko-KR" altLang="en-US" sz="11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 관리비 면제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956F06B-6B63-5144-8CE8-74EF08CB6A27}"/>
              </a:ext>
            </a:extLst>
          </p:cNvPr>
          <p:cNvSpPr txBox="1"/>
          <p:nvPr/>
        </p:nvSpPr>
        <p:spPr>
          <a:xfrm rot="19349954">
            <a:off x="6486004" y="2384462"/>
            <a:ext cx="267148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하늘누리 분양안내 </a:t>
            </a:r>
            <a:r>
              <a:rPr lang="ko-KR" altLang="en-US" sz="32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확인 후 수정 필요</a:t>
            </a:r>
          </a:p>
        </p:txBody>
      </p:sp>
    </p:spTree>
    <p:extLst>
      <p:ext uri="{BB962C8B-B14F-4D97-AF65-F5344CB8AC3E}">
        <p14:creationId xmlns:p14="http://schemas.microsoft.com/office/powerpoint/2010/main" val="1791798411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8363B2-B760-9DF6-695D-B97B7580F5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83CE1D55-1B77-89C4-1376-FBBE440A3A45}"/>
              </a:ext>
            </a:extLst>
          </p:cNvPr>
          <p:cNvGraphicFramePr>
            <a:graphicFrameLocks noGrp="1"/>
          </p:cNvGraphicFramePr>
          <p:nvPr/>
        </p:nvGraphicFramePr>
        <p:xfrm>
          <a:off x="9182101" y="947377"/>
          <a:ext cx="2795588" cy="1847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1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684046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723838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3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172599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4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290794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5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922450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6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784800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7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0538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8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199337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9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450365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5ADC0DE7-B914-DD00-1A95-E71396A326F5}"/>
              </a:ext>
            </a:extLst>
          </p:cNvPr>
          <p:cNvSpPr/>
          <p:nvPr/>
        </p:nvSpPr>
        <p:spPr>
          <a:xfrm>
            <a:off x="959895" y="375614"/>
            <a:ext cx="1595309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</a:pP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메인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분양안내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사전청약 혜택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390FB56-D60D-36FE-107B-F5590E296AC4}"/>
              </a:ext>
            </a:extLst>
          </p:cNvPr>
          <p:cNvSpPr txBox="1"/>
          <p:nvPr/>
        </p:nvSpPr>
        <p:spPr>
          <a:xfrm>
            <a:off x="6003996" y="123825"/>
            <a:ext cx="17303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HN_DistriInfo_Applibenefit_001</a:t>
            </a:r>
            <a:endParaRPr lang="ko-KR" altLang="en-US" sz="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21AAB-25F0-EC5D-1AC3-D82652BF8E1E}"/>
              </a:ext>
            </a:extLst>
          </p:cNvPr>
          <p:cNvSpPr txBox="1"/>
          <p:nvPr/>
        </p:nvSpPr>
        <p:spPr>
          <a:xfrm>
            <a:off x="1214005" y="791734"/>
            <a:ext cx="14708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혜택 </a:t>
            </a:r>
            <a:r>
              <a:rPr lang="en-US" altLang="ko-KR" sz="3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endParaRPr lang="ko-KR" altLang="en-US" sz="36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A8384C1-DB04-5B61-4389-18BA8553BD33}"/>
              </a:ext>
            </a:extLst>
          </p:cNvPr>
          <p:cNvSpPr txBox="1"/>
          <p:nvPr/>
        </p:nvSpPr>
        <p:spPr>
          <a:xfrm>
            <a:off x="1396879" y="1484852"/>
            <a:ext cx="69105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분양가 </a:t>
            </a:r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10% </a:t>
            </a:r>
            <a:r>
              <a:rPr lang="ko-KR" altLang="en-US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할인 </a:t>
            </a:r>
            <a:r>
              <a:rPr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정식분양기에서 </a:t>
            </a:r>
            <a:r>
              <a:rPr lang="en-US" altLang="ko-KR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10% </a:t>
            </a:r>
            <a:r>
              <a:rPr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할인된 가격으로 계약 가능</a:t>
            </a:r>
            <a:endParaRPr lang="ko-KR" altLang="en-US" sz="14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DF6939A-BF04-175B-71C0-E5EB77F4E0B5}"/>
              </a:ext>
            </a:extLst>
          </p:cNvPr>
          <p:cNvSpPr txBox="1"/>
          <p:nvPr/>
        </p:nvSpPr>
        <p:spPr>
          <a:xfrm>
            <a:off x="1499997" y="1946216"/>
            <a:ext cx="412452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일반 봉안실 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500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만원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 450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만원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(50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만원 할인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)</a:t>
            </a:r>
          </a:p>
          <a:p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가족 봉안실 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1,000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만원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 900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만원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(100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만원 할인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)</a:t>
            </a:r>
          </a:p>
          <a:p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개인 수목장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 400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만원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 360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만원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(40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만원 할인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)</a:t>
            </a:r>
          </a:p>
          <a:p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프리미엄  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1,500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만원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 1,350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만원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(150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만원 할인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)</a:t>
            </a:r>
            <a:endParaRPr lang="ko-KR" altLang="en-US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C1B8CAE-833A-1C1C-E44B-B9141BE3AC62}"/>
              </a:ext>
            </a:extLst>
          </p:cNvPr>
          <p:cNvSpPr txBox="1"/>
          <p:nvPr/>
        </p:nvSpPr>
        <p:spPr>
          <a:xfrm>
            <a:off x="1214005" y="2878539"/>
            <a:ext cx="14708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혜택 </a:t>
            </a:r>
            <a:r>
              <a:rPr lang="en-US" altLang="ko-KR" sz="3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endParaRPr lang="ko-KR" altLang="en-US" sz="36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960F07D-6821-3228-F88A-5F2613301770}"/>
              </a:ext>
            </a:extLst>
          </p:cNvPr>
          <p:cNvSpPr txBox="1"/>
          <p:nvPr/>
        </p:nvSpPr>
        <p:spPr>
          <a:xfrm>
            <a:off x="1396879" y="3571657"/>
            <a:ext cx="69105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원하는 위치를 먼저 선택할 수 있습니다</a:t>
            </a:r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14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CD90A10-F052-ADAF-41B5-536086199D33}"/>
              </a:ext>
            </a:extLst>
          </p:cNvPr>
          <p:cNvSpPr txBox="1"/>
          <p:nvPr/>
        </p:nvSpPr>
        <p:spPr>
          <a:xfrm>
            <a:off x="1577818" y="4079187"/>
            <a:ext cx="4124527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우선 선택 가능 위치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</a:t>
            </a:r>
          </a:p>
          <a:p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봉안당 중단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(4~6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단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가장 선호되는 높이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  <a:p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봉안당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2~3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층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밝고 쾌적한 층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  <a:p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프리미엄 </a:t>
            </a:r>
            <a:r>
              <a:rPr lang="ko-KR" altLang="en-US" sz="1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스카이뷰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전망대 인접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  <a:p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수목장 전망 좋은 구역</a:t>
            </a:r>
          </a:p>
          <a:p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산책로 인접 수목장</a:t>
            </a:r>
          </a:p>
          <a:p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남향 또는 동향 위치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B55C3AC-46EE-896C-C88E-FABFFA9B268B}"/>
              </a:ext>
            </a:extLst>
          </p:cNvPr>
          <p:cNvSpPr txBox="1"/>
          <p:nvPr/>
        </p:nvSpPr>
        <p:spPr>
          <a:xfrm>
            <a:off x="1317123" y="5311723"/>
            <a:ext cx="14708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혜택 </a:t>
            </a:r>
            <a:r>
              <a:rPr lang="en-US" altLang="ko-KR" sz="3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endParaRPr lang="ko-KR" altLang="en-US" sz="36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9E60913-0978-E32B-88DA-68FBD7966485}"/>
              </a:ext>
            </a:extLst>
          </p:cNvPr>
          <p:cNvSpPr txBox="1"/>
          <p:nvPr/>
        </p:nvSpPr>
        <p:spPr>
          <a:xfrm>
            <a:off x="1499997" y="6004841"/>
            <a:ext cx="69105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5</a:t>
            </a:r>
            <a:r>
              <a:rPr lang="ko-KR" altLang="en-US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년간 추가 관리비 면제</a:t>
            </a:r>
          </a:p>
        </p:txBody>
      </p:sp>
    </p:spTree>
    <p:extLst>
      <p:ext uri="{BB962C8B-B14F-4D97-AF65-F5344CB8AC3E}">
        <p14:creationId xmlns:p14="http://schemas.microsoft.com/office/powerpoint/2010/main" val="4066402354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C674C4-9397-F8DE-0C4B-BB22346B68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934E6F66-5E5C-C552-0661-AFD38C4C46D9}"/>
              </a:ext>
            </a:extLst>
          </p:cNvPr>
          <p:cNvGraphicFramePr>
            <a:graphicFrameLocks noGrp="1"/>
          </p:cNvGraphicFramePr>
          <p:nvPr/>
        </p:nvGraphicFramePr>
        <p:xfrm>
          <a:off x="9182101" y="947377"/>
          <a:ext cx="2795588" cy="1847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1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684046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723838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3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172599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4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290794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5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922450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6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784800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7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0538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8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199337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9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450365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50B89CB0-8BCE-C2CC-8B2F-5C48D8AD2A0B}"/>
              </a:ext>
            </a:extLst>
          </p:cNvPr>
          <p:cNvSpPr/>
          <p:nvPr/>
        </p:nvSpPr>
        <p:spPr>
          <a:xfrm>
            <a:off x="959895" y="375614"/>
            <a:ext cx="1595309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</a:pP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메인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분양안내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사전청약 혜택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263E316-993B-CB4B-A9A3-44F44A44F0EB}"/>
              </a:ext>
            </a:extLst>
          </p:cNvPr>
          <p:cNvSpPr txBox="1"/>
          <p:nvPr/>
        </p:nvSpPr>
        <p:spPr>
          <a:xfrm>
            <a:off x="6003996" y="123825"/>
            <a:ext cx="17303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HN_DistriInfo_Applibenefit_001</a:t>
            </a:r>
            <a:endParaRPr lang="ko-KR" altLang="en-US" sz="8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09B54C4-D06B-6744-B863-F727D99DCA57}"/>
              </a:ext>
            </a:extLst>
          </p:cNvPr>
          <p:cNvSpPr txBox="1"/>
          <p:nvPr/>
        </p:nvSpPr>
        <p:spPr>
          <a:xfrm>
            <a:off x="1499997" y="808077"/>
            <a:ext cx="4124527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포함 서비스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</a:t>
            </a:r>
          </a:p>
          <a:p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정기 청소 및 관리</a:t>
            </a:r>
          </a:p>
          <a:p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명절 특별 관리</a:t>
            </a:r>
          </a:p>
          <a:p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시설 유지보수</a:t>
            </a:r>
          </a:p>
          <a:p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조경 및 제초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수목장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  <a:p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병충해 방제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수목장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  <a:p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24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시간 보안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761DC12-6F24-4AC5-237B-9BC83E74B6B6}"/>
              </a:ext>
            </a:extLst>
          </p:cNvPr>
          <p:cNvSpPr/>
          <p:nvPr/>
        </p:nvSpPr>
        <p:spPr>
          <a:xfrm>
            <a:off x="189780" y="2342561"/>
            <a:ext cx="8928847" cy="34095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FOOTER</a:t>
            </a:r>
            <a:endParaRPr lang="ko-KR" altLang="en-US" sz="10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50329840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2E7473-356D-69FD-B81A-9768E7C214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A7AEC48-5062-7201-E0B2-669FA7A9D47F}"/>
              </a:ext>
            </a:extLst>
          </p:cNvPr>
          <p:cNvSpPr txBox="1"/>
          <p:nvPr/>
        </p:nvSpPr>
        <p:spPr>
          <a:xfrm>
            <a:off x="1047750" y="2476500"/>
            <a:ext cx="2390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나눔고딕" pitchFamily="2" charset="-127"/>
                <a:ea typeface="나눔고딕" pitchFamily="2" charset="-127"/>
              </a:rPr>
              <a:t>06. </a:t>
            </a:r>
            <a:r>
              <a:rPr lang="ko-KR" altLang="en-US" b="1" dirty="0">
                <a:latin typeface="나눔고딕" pitchFamily="2" charset="-127"/>
                <a:ea typeface="나눔고딕" pitchFamily="2" charset="-127"/>
              </a:rPr>
              <a:t>사이버 추모관</a:t>
            </a:r>
          </a:p>
        </p:txBody>
      </p:sp>
    </p:spTree>
    <p:extLst>
      <p:ext uri="{BB962C8B-B14F-4D97-AF65-F5344CB8AC3E}">
        <p14:creationId xmlns:p14="http://schemas.microsoft.com/office/powerpoint/2010/main" val="2186237481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F8D542-AFAC-AD0C-0F16-2CBE61A47A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직사각형 18">
            <a:extLst>
              <a:ext uri="{FF2B5EF4-FFF2-40B4-BE49-F238E27FC236}">
                <a16:creationId xmlns:a16="http://schemas.microsoft.com/office/drawing/2014/main" id="{F1AAE72D-72E8-0679-BAD6-0E9037B6B450}"/>
              </a:ext>
            </a:extLst>
          </p:cNvPr>
          <p:cNvSpPr/>
          <p:nvPr/>
        </p:nvSpPr>
        <p:spPr>
          <a:xfrm>
            <a:off x="2306163" y="3171217"/>
            <a:ext cx="4571294" cy="13716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67EF8B5F-34E9-9671-547A-69638FBB0A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6341375"/>
              </p:ext>
            </p:extLst>
          </p:nvPr>
        </p:nvGraphicFramePr>
        <p:xfrm>
          <a:off x="9182101" y="947377"/>
          <a:ext cx="2795588" cy="20911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1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고인명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입력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684046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검색 선택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정합성 체크 후 검색 결과 화면으로 이동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입력하지 않고 검색 선택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Alert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노출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“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고인명을 입력해주세요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.”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723838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3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172599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4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290794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5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922450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6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784800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7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0538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8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199337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9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450365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BFA2E54B-1D48-D442-B23A-CBCC04603BCA}"/>
              </a:ext>
            </a:extLst>
          </p:cNvPr>
          <p:cNvSpPr/>
          <p:nvPr/>
        </p:nvSpPr>
        <p:spPr>
          <a:xfrm>
            <a:off x="959895" y="375614"/>
            <a:ext cx="1566454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</a:pP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메인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사이버추모관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고인검색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C7BD34A-0E17-8A0D-26D1-A06314125147}"/>
              </a:ext>
            </a:extLst>
          </p:cNvPr>
          <p:cNvSpPr txBox="1"/>
          <p:nvPr/>
        </p:nvSpPr>
        <p:spPr>
          <a:xfrm>
            <a:off x="6003996" y="123825"/>
            <a:ext cx="17303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HN_Memorial_Deadsearch_001</a:t>
            </a:r>
            <a:endParaRPr lang="ko-KR" altLang="en-US" sz="800" dirty="0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0118C099-7DDD-601A-0BB8-5FAB15760810}"/>
              </a:ext>
            </a:extLst>
          </p:cNvPr>
          <p:cNvGrpSpPr/>
          <p:nvPr/>
        </p:nvGrpSpPr>
        <p:grpSpPr>
          <a:xfrm>
            <a:off x="161925" y="797629"/>
            <a:ext cx="8953500" cy="851943"/>
            <a:chOff x="161925" y="797629"/>
            <a:chExt cx="8953500" cy="851943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4C0E1F80-1EC6-B472-6F9A-5D453FD2D719}"/>
                </a:ext>
              </a:extLst>
            </p:cNvPr>
            <p:cNvSpPr/>
            <p:nvPr/>
          </p:nvSpPr>
          <p:spPr>
            <a:xfrm>
              <a:off x="4144448" y="797629"/>
              <a:ext cx="942784" cy="35821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800" b="1" dirty="0">
                  <a:solidFill>
                    <a:srgbClr val="FF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CI</a:t>
              </a:r>
            </a:p>
          </p:txBody>
        </p: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EAA75A0D-6ED3-A0FF-9620-70090DFA5638}"/>
                </a:ext>
              </a:extLst>
            </p:cNvPr>
            <p:cNvCxnSpPr/>
            <p:nvPr/>
          </p:nvCxnSpPr>
          <p:spPr>
            <a:xfrm>
              <a:off x="161925" y="1649572"/>
              <a:ext cx="8953500" cy="0"/>
            </a:xfrm>
            <a:prstGeom prst="line">
              <a:avLst/>
            </a:prstGeom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28FA075-95D3-B09E-728C-E5FC2E51FC0E}"/>
                </a:ext>
              </a:extLst>
            </p:cNvPr>
            <p:cNvSpPr txBox="1"/>
            <p:nvPr/>
          </p:nvSpPr>
          <p:spPr>
            <a:xfrm>
              <a:off x="2031551" y="1301804"/>
              <a:ext cx="120364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하늘누리소개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531C15F1-6810-03F6-BE6F-A3057B699A86}"/>
                </a:ext>
              </a:extLst>
            </p:cNvPr>
            <p:cNvSpPr txBox="1"/>
            <p:nvPr/>
          </p:nvSpPr>
          <p:spPr>
            <a:xfrm>
              <a:off x="3239720" y="1301804"/>
              <a:ext cx="9144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시설안내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F4164D8D-B1A3-024B-95EF-725357070B52}"/>
                </a:ext>
              </a:extLst>
            </p:cNvPr>
            <p:cNvSpPr txBox="1"/>
            <p:nvPr/>
          </p:nvSpPr>
          <p:spPr>
            <a:xfrm>
              <a:off x="4158640" y="1301804"/>
              <a:ext cx="9144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분양안내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38BCE5CE-9488-7F0F-E222-B95F6C0A6623}"/>
                </a:ext>
              </a:extLst>
            </p:cNvPr>
            <p:cNvSpPr txBox="1"/>
            <p:nvPr/>
          </p:nvSpPr>
          <p:spPr>
            <a:xfrm>
              <a:off x="5077560" y="1301804"/>
              <a:ext cx="119120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사이버추모관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BD1EFF2E-C40E-7E24-9426-F5481B2C7C86}"/>
                </a:ext>
              </a:extLst>
            </p:cNvPr>
            <p:cNvSpPr txBox="1"/>
            <p:nvPr/>
          </p:nvSpPr>
          <p:spPr>
            <a:xfrm>
              <a:off x="6273289" y="1301804"/>
              <a:ext cx="9144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고객센터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11922DDD-50A6-1C1A-7D67-4A023D17CFB5}"/>
                </a:ext>
              </a:extLst>
            </p:cNvPr>
            <p:cNvSpPr txBox="1"/>
            <p:nvPr/>
          </p:nvSpPr>
          <p:spPr>
            <a:xfrm>
              <a:off x="7734300" y="817862"/>
              <a:ext cx="79388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b="1">
                  <a:latin typeface="나눔고딕" panose="020D0604000000000000" pitchFamily="50" charset="-127"/>
                  <a:ea typeface="나눔고딕" panose="020D0604000000000000" pitchFamily="50" charset="-127"/>
                </a:rPr>
                <a:t>비밀번호변경</a:t>
              </a:r>
              <a:endParaRPr lang="ko-KR" altLang="en-US" sz="8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CF8D2F8-2DE5-A71B-9C52-C5100316A9E5}"/>
                </a:ext>
              </a:extLst>
            </p:cNvPr>
            <p:cNvSpPr txBox="1"/>
            <p:nvPr/>
          </p:nvSpPr>
          <p:spPr>
            <a:xfrm>
              <a:off x="8472200" y="817862"/>
              <a:ext cx="58783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로그아웃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3EE0FF4-A24D-DE44-D6A5-34B8FC59C52A}"/>
                </a:ext>
              </a:extLst>
            </p:cNvPr>
            <p:cNvSpPr txBox="1"/>
            <p:nvPr/>
          </p:nvSpPr>
          <p:spPr>
            <a:xfrm>
              <a:off x="7203231" y="817862"/>
              <a:ext cx="65313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나의정보</a:t>
              </a: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E2723329-773A-244D-7404-C9030A1857BB}"/>
              </a:ext>
            </a:extLst>
          </p:cNvPr>
          <p:cNvSpPr txBox="1"/>
          <p:nvPr/>
        </p:nvSpPr>
        <p:spPr>
          <a:xfrm>
            <a:off x="158621" y="1704392"/>
            <a:ext cx="314441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HOME &gt; </a:t>
            </a:r>
            <a:r>
              <a:rPr lang="ko-KR" altLang="en-US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사이버 추모관 </a:t>
            </a:r>
            <a:r>
              <a:rPr lang="en-US" altLang="ko-KR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고인검색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61E96A-E146-C242-792D-39E07F628ADB}"/>
              </a:ext>
            </a:extLst>
          </p:cNvPr>
          <p:cNvSpPr txBox="1"/>
          <p:nvPr/>
        </p:nvSpPr>
        <p:spPr>
          <a:xfrm>
            <a:off x="2962325" y="1866963"/>
            <a:ext cx="33499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고인 검색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71FF6E7-F8E7-7EBC-597A-75045C6F186C}"/>
              </a:ext>
            </a:extLst>
          </p:cNvPr>
          <p:cNvSpPr txBox="1"/>
          <p:nvPr/>
        </p:nvSpPr>
        <p:spPr>
          <a:xfrm>
            <a:off x="2257523" y="2561406"/>
            <a:ext cx="49457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"</a:t>
            </a:r>
            <a:r>
              <a:rPr lang="ko-KR" altLang="en-US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마음으로 부르는 이름</a:t>
            </a:r>
            <a:r>
              <a:rPr lang="en-US" altLang="ko-KR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다시 만나는 그곳</a:t>
            </a:r>
            <a:r>
              <a:rPr lang="en-US" altLang="ko-KR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“ </a:t>
            </a:r>
          </a:p>
          <a:p>
            <a:pPr algn="ctr"/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하늘누리 사이버 추모관에 모셔진 고인을 성함으로 검색하실 수 있습니다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1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8D8B814-1C46-84F7-6527-564457668FF5}"/>
              </a:ext>
            </a:extLst>
          </p:cNvPr>
          <p:cNvSpPr txBox="1"/>
          <p:nvPr/>
        </p:nvSpPr>
        <p:spPr>
          <a:xfrm>
            <a:off x="2489937" y="3522509"/>
            <a:ext cx="11923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>
                <a:latin typeface="나눔고딕" panose="020D0604000000000000" pitchFamily="50" charset="-127"/>
                <a:ea typeface="나눔고딕" panose="020D0604000000000000" pitchFamily="50" charset="-127"/>
              </a:rPr>
              <a:t>고인 검색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4025C43-70E0-1475-8AA0-2382F2A6C1B2}"/>
              </a:ext>
            </a:extLst>
          </p:cNvPr>
          <p:cNvSpPr/>
          <p:nvPr/>
        </p:nvSpPr>
        <p:spPr>
          <a:xfrm>
            <a:off x="4123762" y="3522509"/>
            <a:ext cx="2145006" cy="31242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" name="모서리가 둥근 직사각형 63">
            <a:extLst>
              <a:ext uri="{FF2B5EF4-FFF2-40B4-BE49-F238E27FC236}">
                <a16:creationId xmlns:a16="http://schemas.microsoft.com/office/drawing/2014/main" id="{B52B6642-5F7F-74EE-8549-8BF36DD1106D}"/>
              </a:ext>
            </a:extLst>
          </p:cNvPr>
          <p:cNvSpPr/>
          <p:nvPr/>
        </p:nvSpPr>
        <p:spPr bwMode="auto">
          <a:xfrm>
            <a:off x="2675106" y="3993333"/>
            <a:ext cx="3593662" cy="312417"/>
          </a:xfrm>
          <a:prstGeom prst="roundRect">
            <a:avLst/>
          </a:prstGeom>
          <a:solidFill>
            <a:schemeClr val="tx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400" b="1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검색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4FEBA65-0F4E-0933-9802-33DA747D6A56}"/>
              </a:ext>
            </a:extLst>
          </p:cNvPr>
          <p:cNvSpPr txBox="1"/>
          <p:nvPr/>
        </p:nvSpPr>
        <p:spPr>
          <a:xfrm>
            <a:off x="3762928" y="3522508"/>
            <a:ext cx="3429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故</a:t>
            </a:r>
          </a:p>
        </p:txBody>
      </p:sp>
      <p:sp>
        <p:nvSpPr>
          <p:cNvPr id="20" name="Oval 109">
            <a:extLst>
              <a:ext uri="{FF2B5EF4-FFF2-40B4-BE49-F238E27FC236}">
                <a16:creationId xmlns:a16="http://schemas.microsoft.com/office/drawing/2014/main" id="{B049270E-9B39-329B-DA65-3916D1A1D6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7362" y="3364218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1</a:t>
            </a:r>
          </a:p>
        </p:txBody>
      </p:sp>
      <p:sp>
        <p:nvSpPr>
          <p:cNvPr id="21" name="Oval 109">
            <a:extLst>
              <a:ext uri="{FF2B5EF4-FFF2-40B4-BE49-F238E27FC236}">
                <a16:creationId xmlns:a16="http://schemas.microsoft.com/office/drawing/2014/main" id="{A04F58A9-6987-14EC-89AF-698B6B3FF9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3375" y="3893196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323529731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0D8A46-5159-99A1-8E83-83FCC6D860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F7B09E05-24BB-F4CC-6EDD-67DF77AF1A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6940376"/>
              </p:ext>
            </p:extLst>
          </p:nvPr>
        </p:nvGraphicFramePr>
        <p:xfrm>
          <a:off x="9182101" y="947377"/>
          <a:ext cx="2795588" cy="257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1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검색한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고인명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노출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684046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고인명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다시 입력 후 검색 선택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고임검색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결과화면 노출</a:t>
                      </a: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723838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3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선택시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로그인 여부 체크 후 로그인 안된 상태에서는 로그인 화면으로 이동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.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로그인 된 상태에서는 하늘편지 쓰기 화면으로 이동</a:t>
                      </a: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172599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4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선택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슬라이딩 되며 고인 안치정보 노출</a:t>
                      </a: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290794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5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목록은 한화면에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10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개까지 노출되며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10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개 이상이면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더보기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버튼 노출</a:t>
                      </a: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922450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6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더보기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선택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추가 목록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10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개가 목록하단에 노출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더보기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버튼은 목록수가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10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개 이하일 때는 노출되지 않음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784800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7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0538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8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199337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9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450365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71767298-6F5D-1434-A1D7-CB26766BA497}"/>
              </a:ext>
            </a:extLst>
          </p:cNvPr>
          <p:cNvSpPr/>
          <p:nvPr/>
        </p:nvSpPr>
        <p:spPr>
          <a:xfrm>
            <a:off x="959895" y="375614"/>
            <a:ext cx="1566454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</a:pP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메인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사이버추모관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고인검색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46380AE-1A02-DF3B-C49A-365BAD31EE08}"/>
              </a:ext>
            </a:extLst>
          </p:cNvPr>
          <p:cNvSpPr txBox="1"/>
          <p:nvPr/>
        </p:nvSpPr>
        <p:spPr>
          <a:xfrm>
            <a:off x="6003996" y="123825"/>
            <a:ext cx="17303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HN_Memorial_Deadresult_001</a:t>
            </a:r>
            <a:endParaRPr lang="ko-KR" altLang="en-US" sz="800" dirty="0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B8CB8E05-198F-6A31-8835-783C9C31A9BB}"/>
              </a:ext>
            </a:extLst>
          </p:cNvPr>
          <p:cNvGrpSpPr/>
          <p:nvPr/>
        </p:nvGrpSpPr>
        <p:grpSpPr>
          <a:xfrm>
            <a:off x="161925" y="797629"/>
            <a:ext cx="8953500" cy="851943"/>
            <a:chOff x="161925" y="797629"/>
            <a:chExt cx="8953500" cy="851943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B5C470CD-F769-AE96-6C96-F76D0CBE03BA}"/>
                </a:ext>
              </a:extLst>
            </p:cNvPr>
            <p:cNvSpPr/>
            <p:nvPr/>
          </p:nvSpPr>
          <p:spPr>
            <a:xfrm>
              <a:off x="4144448" y="797629"/>
              <a:ext cx="942784" cy="35821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800" b="1" dirty="0">
                  <a:solidFill>
                    <a:srgbClr val="FF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CI</a:t>
              </a:r>
            </a:p>
          </p:txBody>
        </p: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BAAC4CF6-C544-7486-1AB1-4A0F45BE877B}"/>
                </a:ext>
              </a:extLst>
            </p:cNvPr>
            <p:cNvCxnSpPr/>
            <p:nvPr/>
          </p:nvCxnSpPr>
          <p:spPr>
            <a:xfrm>
              <a:off x="161925" y="1649572"/>
              <a:ext cx="8953500" cy="0"/>
            </a:xfrm>
            <a:prstGeom prst="line">
              <a:avLst/>
            </a:prstGeom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AE9F569-2FFC-4F09-8F81-039FAC0CD8C5}"/>
                </a:ext>
              </a:extLst>
            </p:cNvPr>
            <p:cNvSpPr txBox="1"/>
            <p:nvPr/>
          </p:nvSpPr>
          <p:spPr>
            <a:xfrm>
              <a:off x="2031551" y="1301804"/>
              <a:ext cx="120364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하늘누리소개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0E926440-FC77-70AB-801D-351DDD1FBD50}"/>
                </a:ext>
              </a:extLst>
            </p:cNvPr>
            <p:cNvSpPr txBox="1"/>
            <p:nvPr/>
          </p:nvSpPr>
          <p:spPr>
            <a:xfrm>
              <a:off x="3239720" y="1301804"/>
              <a:ext cx="9144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시설안내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AA9485EE-0DB1-819A-7E2D-94F43BADA552}"/>
                </a:ext>
              </a:extLst>
            </p:cNvPr>
            <p:cNvSpPr txBox="1"/>
            <p:nvPr/>
          </p:nvSpPr>
          <p:spPr>
            <a:xfrm>
              <a:off x="4158640" y="1301804"/>
              <a:ext cx="9144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분양안내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D14A3A8E-F64A-F8E8-C794-E599D8777699}"/>
                </a:ext>
              </a:extLst>
            </p:cNvPr>
            <p:cNvSpPr txBox="1"/>
            <p:nvPr/>
          </p:nvSpPr>
          <p:spPr>
            <a:xfrm>
              <a:off x="5077560" y="1301804"/>
              <a:ext cx="119120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사이버추모관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62A7A3F4-D2F7-32F2-966F-761CA49742DB}"/>
                </a:ext>
              </a:extLst>
            </p:cNvPr>
            <p:cNvSpPr txBox="1"/>
            <p:nvPr/>
          </p:nvSpPr>
          <p:spPr>
            <a:xfrm>
              <a:off x="6273289" y="1301804"/>
              <a:ext cx="9144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고객센터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4B255B72-9429-99D5-5104-CDA25D4AC74C}"/>
                </a:ext>
              </a:extLst>
            </p:cNvPr>
            <p:cNvSpPr txBox="1"/>
            <p:nvPr/>
          </p:nvSpPr>
          <p:spPr>
            <a:xfrm>
              <a:off x="7734300" y="817862"/>
              <a:ext cx="79388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b="1">
                  <a:latin typeface="나눔고딕" panose="020D0604000000000000" pitchFamily="50" charset="-127"/>
                  <a:ea typeface="나눔고딕" panose="020D0604000000000000" pitchFamily="50" charset="-127"/>
                </a:rPr>
                <a:t>비밀번호변경</a:t>
              </a:r>
              <a:endParaRPr lang="ko-KR" altLang="en-US" sz="8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F56637B-8927-4CCB-9253-667CDC1DA391}"/>
                </a:ext>
              </a:extLst>
            </p:cNvPr>
            <p:cNvSpPr txBox="1"/>
            <p:nvPr/>
          </p:nvSpPr>
          <p:spPr>
            <a:xfrm>
              <a:off x="8472200" y="817862"/>
              <a:ext cx="58783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로그아웃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1C881344-F232-6993-7556-EF6D1878A3FE}"/>
                </a:ext>
              </a:extLst>
            </p:cNvPr>
            <p:cNvSpPr txBox="1"/>
            <p:nvPr/>
          </p:nvSpPr>
          <p:spPr>
            <a:xfrm>
              <a:off x="7203231" y="817862"/>
              <a:ext cx="65313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나의정보</a:t>
              </a: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9A57FBE2-D9F0-9618-6176-2445AA07F5D8}"/>
              </a:ext>
            </a:extLst>
          </p:cNvPr>
          <p:cNvSpPr txBox="1"/>
          <p:nvPr/>
        </p:nvSpPr>
        <p:spPr>
          <a:xfrm>
            <a:off x="158621" y="1704392"/>
            <a:ext cx="314441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HOME &gt; </a:t>
            </a:r>
            <a:r>
              <a:rPr lang="ko-KR" altLang="en-US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사이버 추모관 </a:t>
            </a:r>
            <a:r>
              <a:rPr lang="en-US" altLang="ko-KR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고인검색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A44992-EF6A-809F-7935-4558582CC895}"/>
              </a:ext>
            </a:extLst>
          </p:cNvPr>
          <p:cNvSpPr txBox="1"/>
          <p:nvPr/>
        </p:nvSpPr>
        <p:spPr>
          <a:xfrm>
            <a:off x="2962325" y="1866963"/>
            <a:ext cx="33499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고인 검색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725B37-4E93-76D6-A454-106FE74DBF7F}"/>
              </a:ext>
            </a:extLst>
          </p:cNvPr>
          <p:cNvSpPr txBox="1"/>
          <p:nvPr/>
        </p:nvSpPr>
        <p:spPr>
          <a:xfrm>
            <a:off x="2257523" y="2561406"/>
            <a:ext cx="49457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"</a:t>
            </a:r>
            <a:r>
              <a:rPr lang="ko-KR" altLang="en-US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마음으로 부르는 이름</a:t>
            </a:r>
            <a:r>
              <a:rPr lang="en-US" altLang="ko-KR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다시 만나는 그곳</a:t>
            </a:r>
            <a:r>
              <a:rPr lang="en-US" altLang="ko-KR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“ </a:t>
            </a:r>
          </a:p>
          <a:p>
            <a:pPr algn="ctr"/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하늘누리 사이버 추모관에 모셔진 고인을 성함으로 검색하실 수 있습니다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1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AA7B47A-007F-F8C2-D9ED-98432A374DC4}"/>
              </a:ext>
            </a:extLst>
          </p:cNvPr>
          <p:cNvSpPr txBox="1"/>
          <p:nvPr/>
        </p:nvSpPr>
        <p:spPr>
          <a:xfrm>
            <a:off x="1531791" y="3216419"/>
            <a:ext cx="11923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고인 검색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85D4D3F-71CD-DCFE-D8E1-BD89DE886A05}"/>
              </a:ext>
            </a:extLst>
          </p:cNvPr>
          <p:cNvSpPr/>
          <p:nvPr/>
        </p:nvSpPr>
        <p:spPr>
          <a:xfrm>
            <a:off x="3165616" y="3216419"/>
            <a:ext cx="1837765" cy="31242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홍길동</a:t>
            </a:r>
          </a:p>
        </p:txBody>
      </p:sp>
      <p:sp>
        <p:nvSpPr>
          <p:cNvPr id="16" name="모서리가 둥근 직사각형 63">
            <a:extLst>
              <a:ext uri="{FF2B5EF4-FFF2-40B4-BE49-F238E27FC236}">
                <a16:creationId xmlns:a16="http://schemas.microsoft.com/office/drawing/2014/main" id="{1A4DB7A6-2EF4-8BA0-93E0-A3A0D4537D0A}"/>
              </a:ext>
            </a:extLst>
          </p:cNvPr>
          <p:cNvSpPr/>
          <p:nvPr/>
        </p:nvSpPr>
        <p:spPr bwMode="auto">
          <a:xfrm>
            <a:off x="5116487" y="3216419"/>
            <a:ext cx="648896" cy="312422"/>
          </a:xfrm>
          <a:prstGeom prst="roundRect">
            <a:avLst/>
          </a:prstGeom>
          <a:solidFill>
            <a:schemeClr val="tx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400" b="1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검색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0B44798-2593-EEB3-B8E7-20265D0D2C46}"/>
              </a:ext>
            </a:extLst>
          </p:cNvPr>
          <p:cNvSpPr txBox="1"/>
          <p:nvPr/>
        </p:nvSpPr>
        <p:spPr>
          <a:xfrm>
            <a:off x="2804782" y="3216418"/>
            <a:ext cx="3429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故</a:t>
            </a: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9787ECDC-2D50-B4F8-8650-8706B87631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497286"/>
              </p:ext>
            </p:extLst>
          </p:nvPr>
        </p:nvGraphicFramePr>
        <p:xfrm>
          <a:off x="1523648" y="3691796"/>
          <a:ext cx="6499764" cy="10191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3654">
                  <a:extLst>
                    <a:ext uri="{9D8B030D-6E8A-4147-A177-3AD203B41FA5}">
                      <a16:colId xmlns:a16="http://schemas.microsoft.com/office/drawing/2014/main" val="1469299564"/>
                    </a:ext>
                  </a:extLst>
                </a:gridCol>
                <a:gridCol w="3279310">
                  <a:extLst>
                    <a:ext uri="{9D8B030D-6E8A-4147-A177-3AD203B41FA5}">
                      <a16:colId xmlns:a16="http://schemas.microsoft.com/office/drawing/2014/main" val="1966851842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1488621907"/>
                    </a:ext>
                  </a:extLst>
                </a:gridCol>
              </a:tblGrid>
              <a:tr h="20835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고인 성함</a:t>
                      </a:r>
                    </a:p>
                  </a:txBody>
                  <a:tcPr marL="0" marR="0" marT="41672" marB="4167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1200" b="1" dirty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기일</a:t>
                      </a:r>
                    </a:p>
                  </a:txBody>
                  <a:tcPr marL="0" marR="0" marT="41672" marB="4167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endParaRPr lang="ko-KR" altLang="en-US" sz="1200" b="1" dirty="0">
                        <a:solidFill>
                          <a:schemeClr val="bg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41672" marB="4167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446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>
                          <a:latin typeface="나눔고딕" pitchFamily="50" charset="-127"/>
                          <a:ea typeface="나눔고딕" pitchFamily="50" charset="-127"/>
                        </a:rPr>
                        <a:t>故 홍길동</a:t>
                      </a:r>
                    </a:p>
                  </a:txBody>
                  <a:tcPr marL="3600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2021-12-24</a:t>
                      </a:r>
                      <a:endParaRPr kumimoji="0" lang="ko-KR" alt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0" marR="0" marT="41672" marB="41672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▿</a:t>
                      </a:r>
                    </a:p>
                  </a:txBody>
                  <a:tcPr marL="0" marR="0" marT="41672" marB="41672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446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>
                          <a:latin typeface="나눔고딕" pitchFamily="50" charset="-127"/>
                          <a:ea typeface="나눔고딕" pitchFamily="50" charset="-127"/>
                        </a:rPr>
                        <a:t>故 홍길동</a:t>
                      </a:r>
                    </a:p>
                  </a:txBody>
                  <a:tcPr marL="3600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2022-11-24</a:t>
                      </a:r>
                      <a:endParaRPr kumimoji="0" lang="ko-KR" alt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0" marR="0" marT="41672" marB="41672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▿</a:t>
                      </a:r>
                      <a:endParaRPr kumimoji="0" lang="ko-KR" alt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0" marR="0" marT="41672" marB="41672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446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>
                          <a:latin typeface="나눔고딕" pitchFamily="50" charset="-127"/>
                          <a:ea typeface="나눔고딕" pitchFamily="50" charset="-127"/>
                        </a:rPr>
                        <a:t>故 홍길동</a:t>
                      </a:r>
                    </a:p>
                  </a:txBody>
                  <a:tcPr marL="3600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1026-01-24</a:t>
                      </a:r>
                      <a:endParaRPr kumimoji="0" lang="ko-KR" alt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0" marR="0" marT="41672" marB="41672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▿</a:t>
                      </a:r>
                    </a:p>
                  </a:txBody>
                  <a:tcPr marL="0" marR="0" marT="41672" marB="41672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5" name="모서리가 둥근 직사각형 63">
            <a:extLst>
              <a:ext uri="{FF2B5EF4-FFF2-40B4-BE49-F238E27FC236}">
                <a16:creationId xmlns:a16="http://schemas.microsoft.com/office/drawing/2014/main" id="{05DAC968-1B6D-DF34-A693-429A054BD21D}"/>
              </a:ext>
            </a:extLst>
          </p:cNvPr>
          <p:cNvSpPr/>
          <p:nvPr/>
        </p:nvSpPr>
        <p:spPr bwMode="auto">
          <a:xfrm>
            <a:off x="6784277" y="3216418"/>
            <a:ext cx="1232410" cy="312422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000" b="1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하늘편지 쓰러가기</a:t>
            </a:r>
          </a:p>
        </p:txBody>
      </p:sp>
      <p:graphicFrame>
        <p:nvGraphicFramePr>
          <p:cNvPr id="48" name="표 47">
            <a:extLst>
              <a:ext uri="{FF2B5EF4-FFF2-40B4-BE49-F238E27FC236}">
                <a16:creationId xmlns:a16="http://schemas.microsoft.com/office/drawing/2014/main" id="{9FB40D26-2D37-E758-0FFA-3AC722A1B4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855321"/>
              </p:ext>
            </p:extLst>
          </p:nvPr>
        </p:nvGraphicFramePr>
        <p:xfrm>
          <a:off x="1461247" y="5379697"/>
          <a:ext cx="6499764" cy="2509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3654">
                  <a:extLst>
                    <a:ext uri="{9D8B030D-6E8A-4147-A177-3AD203B41FA5}">
                      <a16:colId xmlns:a16="http://schemas.microsoft.com/office/drawing/2014/main" val="2302614837"/>
                    </a:ext>
                  </a:extLst>
                </a:gridCol>
                <a:gridCol w="3279310">
                  <a:extLst>
                    <a:ext uri="{9D8B030D-6E8A-4147-A177-3AD203B41FA5}">
                      <a16:colId xmlns:a16="http://schemas.microsoft.com/office/drawing/2014/main" val="2163765809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1170147702"/>
                    </a:ext>
                  </a:extLst>
                </a:gridCol>
              </a:tblGrid>
              <a:tr h="25098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故 홍길동</a:t>
                      </a:r>
                    </a:p>
                  </a:txBody>
                  <a:tcPr marL="3600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1026-01-24</a:t>
                      </a:r>
                      <a:endParaRPr kumimoji="0" lang="ko-KR" alt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0" marR="0" marT="41672" marB="41672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▿</a:t>
                      </a:r>
                    </a:p>
                  </a:txBody>
                  <a:tcPr marL="0" marR="0" marT="41672" marB="41672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9178165"/>
                  </a:ext>
                </a:extLst>
              </a:tr>
            </a:tbl>
          </a:graphicData>
        </a:graphic>
      </p:graphicFrame>
      <p:sp>
        <p:nvSpPr>
          <p:cNvPr id="49" name="TextBox 48">
            <a:extLst>
              <a:ext uri="{FF2B5EF4-FFF2-40B4-BE49-F238E27FC236}">
                <a16:creationId xmlns:a16="http://schemas.microsoft.com/office/drawing/2014/main" id="{ECF7E869-FC4F-A4A1-083A-F24FAFBB29EE}"/>
              </a:ext>
            </a:extLst>
          </p:cNvPr>
          <p:cNvSpPr txBox="1"/>
          <p:nvPr/>
        </p:nvSpPr>
        <p:spPr>
          <a:xfrm>
            <a:off x="4508837" y="4595327"/>
            <a:ext cx="38754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14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0" name="모서리가 둥근 직사각형 63">
            <a:extLst>
              <a:ext uri="{FF2B5EF4-FFF2-40B4-BE49-F238E27FC236}">
                <a16:creationId xmlns:a16="http://schemas.microsoft.com/office/drawing/2014/main" id="{841D4A4D-F3D1-9CAC-2EFB-A105091E7E9C}"/>
              </a:ext>
            </a:extLst>
          </p:cNvPr>
          <p:cNvSpPr/>
          <p:nvPr/>
        </p:nvSpPr>
        <p:spPr bwMode="auto">
          <a:xfrm>
            <a:off x="1418672" y="5854743"/>
            <a:ext cx="6499763" cy="312422"/>
          </a:xfrm>
          <a:prstGeom prst="roundRect">
            <a:avLst/>
          </a:prstGeom>
          <a:solidFill>
            <a:schemeClr val="tx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400" b="1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더보기</a:t>
            </a:r>
            <a:endParaRPr kumimoji="1" lang="ko-KR" altLang="en-US" sz="1400" b="1" dirty="0">
              <a:ln w="0" cmpd="sng">
                <a:solidFill>
                  <a:schemeClr val="tx2">
                    <a:satMod val="155000"/>
                    <a:alpha val="0"/>
                  </a:schemeClr>
                </a:solidFill>
                <a:prstDash val="solid"/>
                <a:round/>
              </a:ln>
              <a:solidFill>
                <a:schemeClr val="bg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51" name="Oval 109">
            <a:extLst>
              <a:ext uri="{FF2B5EF4-FFF2-40B4-BE49-F238E27FC236}">
                <a16:creationId xmlns:a16="http://schemas.microsoft.com/office/drawing/2014/main" id="{2FCBF505-8548-3EC0-735C-F7615EEB34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04681" y="3080311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1</a:t>
            </a:r>
          </a:p>
        </p:txBody>
      </p:sp>
      <p:sp>
        <p:nvSpPr>
          <p:cNvPr id="52" name="Oval 109">
            <a:extLst>
              <a:ext uri="{FF2B5EF4-FFF2-40B4-BE49-F238E27FC236}">
                <a16:creationId xmlns:a16="http://schemas.microsoft.com/office/drawing/2014/main" id="{5E462A80-4E70-B5B3-A007-8320B95E58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87232" y="3059555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2</a:t>
            </a:r>
          </a:p>
        </p:txBody>
      </p:sp>
      <p:sp>
        <p:nvSpPr>
          <p:cNvPr id="53" name="Oval 109">
            <a:extLst>
              <a:ext uri="{FF2B5EF4-FFF2-40B4-BE49-F238E27FC236}">
                <a16:creationId xmlns:a16="http://schemas.microsoft.com/office/drawing/2014/main" id="{553254DF-AE8E-F30B-B42E-FA20134F76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59170" y="3129581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3</a:t>
            </a:r>
          </a:p>
        </p:txBody>
      </p:sp>
      <p:sp>
        <p:nvSpPr>
          <p:cNvPr id="54" name="Oval 109">
            <a:extLst>
              <a:ext uri="{FF2B5EF4-FFF2-40B4-BE49-F238E27FC236}">
                <a16:creationId xmlns:a16="http://schemas.microsoft.com/office/drawing/2014/main" id="{1A758A1C-CFC8-5A79-9AE8-04F14185BD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70130" y="3988281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4</a:t>
            </a:r>
          </a:p>
        </p:txBody>
      </p:sp>
      <p:sp>
        <p:nvSpPr>
          <p:cNvPr id="55" name="Oval 109">
            <a:extLst>
              <a:ext uri="{FF2B5EF4-FFF2-40B4-BE49-F238E27FC236}">
                <a16:creationId xmlns:a16="http://schemas.microsoft.com/office/drawing/2014/main" id="{66FDA184-F53A-7A7B-570E-2CC6C9041E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8447" y="3901881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5</a:t>
            </a:r>
          </a:p>
        </p:txBody>
      </p:sp>
      <p:sp>
        <p:nvSpPr>
          <p:cNvPr id="56" name="Oval 109">
            <a:extLst>
              <a:ext uri="{FF2B5EF4-FFF2-40B4-BE49-F238E27FC236}">
                <a16:creationId xmlns:a16="http://schemas.microsoft.com/office/drawing/2014/main" id="{4D294C04-28D4-5F24-B67D-98E20C4895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1966" y="5768343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12933617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A0C75A-8EC2-C6EE-3A1D-A679E70CB1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1684E27F-6B70-C0E7-42F5-3D49F24A98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8213816"/>
              </p:ext>
            </p:extLst>
          </p:nvPr>
        </p:nvGraphicFramePr>
        <p:xfrm>
          <a:off x="9182101" y="947377"/>
          <a:ext cx="2795588" cy="24569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1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화살표 선택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하단으로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슬라이딩되며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고인 안치정보 노출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안치 정보의 화살표를 선택하면 해당 안치정보 영역이 닫힘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다른 목록을 선택 하면 선택한 목록의 안치정보 영역이 노출되면서 기존 노출된 영역은 자동으로 닫힘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684046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723838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3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172599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4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290794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5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922450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6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784800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7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0538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8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199337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9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450365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3A0B5528-030C-9650-424C-0164A7CA27EC}"/>
              </a:ext>
            </a:extLst>
          </p:cNvPr>
          <p:cNvSpPr/>
          <p:nvPr/>
        </p:nvSpPr>
        <p:spPr>
          <a:xfrm>
            <a:off x="959895" y="375614"/>
            <a:ext cx="2371162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</a:pP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메인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사이버추모관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고인검색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(</a:t>
            </a:r>
            <a:r>
              <a:rPr kumimoji="1" lang="ko-KR" altLang="en-US" sz="800" dirty="0" err="1">
                <a:latin typeface="나눔고딕" pitchFamily="50" charset="-127"/>
                <a:ea typeface="나눔고딕" pitchFamily="50" charset="-127"/>
              </a:rPr>
              <a:t>더보기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 펼친 경우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)</a:t>
            </a:r>
            <a:endParaRPr kumimoji="1" lang="ko-KR" altLang="en-US" sz="800" dirty="0"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2B70584-3953-1584-B912-FD490B44A907}"/>
              </a:ext>
            </a:extLst>
          </p:cNvPr>
          <p:cNvSpPr txBox="1"/>
          <p:nvPr/>
        </p:nvSpPr>
        <p:spPr>
          <a:xfrm>
            <a:off x="6003996" y="123825"/>
            <a:ext cx="17303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HN_Memorial_Deadresult_001</a:t>
            </a:r>
            <a:endParaRPr lang="ko-KR" altLang="en-US" sz="800" dirty="0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8582E7CD-D79B-D71C-4A26-1D5ECCAFC332}"/>
              </a:ext>
            </a:extLst>
          </p:cNvPr>
          <p:cNvGrpSpPr/>
          <p:nvPr/>
        </p:nvGrpSpPr>
        <p:grpSpPr>
          <a:xfrm>
            <a:off x="161925" y="797629"/>
            <a:ext cx="8953500" cy="851943"/>
            <a:chOff x="161925" y="797629"/>
            <a:chExt cx="8953500" cy="851943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3962F78D-A33B-97D5-1F55-7D41C33E2D40}"/>
                </a:ext>
              </a:extLst>
            </p:cNvPr>
            <p:cNvSpPr/>
            <p:nvPr/>
          </p:nvSpPr>
          <p:spPr>
            <a:xfrm>
              <a:off x="4144448" y="797629"/>
              <a:ext cx="942784" cy="35821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800" b="1" dirty="0">
                  <a:solidFill>
                    <a:srgbClr val="FF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CI</a:t>
              </a:r>
            </a:p>
          </p:txBody>
        </p: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542EFCB6-4772-AEDF-66EB-5335B0842738}"/>
                </a:ext>
              </a:extLst>
            </p:cNvPr>
            <p:cNvCxnSpPr/>
            <p:nvPr/>
          </p:nvCxnSpPr>
          <p:spPr>
            <a:xfrm>
              <a:off x="161925" y="1649572"/>
              <a:ext cx="8953500" cy="0"/>
            </a:xfrm>
            <a:prstGeom prst="line">
              <a:avLst/>
            </a:prstGeom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3E1862F-4F55-E25D-3E57-97C001344DFC}"/>
                </a:ext>
              </a:extLst>
            </p:cNvPr>
            <p:cNvSpPr txBox="1"/>
            <p:nvPr/>
          </p:nvSpPr>
          <p:spPr>
            <a:xfrm>
              <a:off x="2031551" y="1301804"/>
              <a:ext cx="120364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하늘누리소개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604BE0EE-5E54-5BCE-5C9E-E3B579A26B79}"/>
                </a:ext>
              </a:extLst>
            </p:cNvPr>
            <p:cNvSpPr txBox="1"/>
            <p:nvPr/>
          </p:nvSpPr>
          <p:spPr>
            <a:xfrm>
              <a:off x="3239720" y="1301804"/>
              <a:ext cx="9144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시설안내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FC42D0ED-2FD6-72B5-ECC9-23AF578C11C9}"/>
                </a:ext>
              </a:extLst>
            </p:cNvPr>
            <p:cNvSpPr txBox="1"/>
            <p:nvPr/>
          </p:nvSpPr>
          <p:spPr>
            <a:xfrm>
              <a:off x="4158640" y="1301804"/>
              <a:ext cx="9144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분양안내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07DBE7D7-B779-D4AD-932E-E64B6F21C299}"/>
                </a:ext>
              </a:extLst>
            </p:cNvPr>
            <p:cNvSpPr txBox="1"/>
            <p:nvPr/>
          </p:nvSpPr>
          <p:spPr>
            <a:xfrm>
              <a:off x="5077560" y="1301804"/>
              <a:ext cx="119120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사이버추모관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6C36D474-8135-B92B-852C-C99418739161}"/>
                </a:ext>
              </a:extLst>
            </p:cNvPr>
            <p:cNvSpPr txBox="1"/>
            <p:nvPr/>
          </p:nvSpPr>
          <p:spPr>
            <a:xfrm>
              <a:off x="6273289" y="1301804"/>
              <a:ext cx="9144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고객센터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B02FF79-24EF-9ACA-0E22-189B8B0641C7}"/>
                </a:ext>
              </a:extLst>
            </p:cNvPr>
            <p:cNvSpPr txBox="1"/>
            <p:nvPr/>
          </p:nvSpPr>
          <p:spPr>
            <a:xfrm>
              <a:off x="7734300" y="817862"/>
              <a:ext cx="79388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b="1">
                  <a:latin typeface="나눔고딕" panose="020D0604000000000000" pitchFamily="50" charset="-127"/>
                  <a:ea typeface="나눔고딕" panose="020D0604000000000000" pitchFamily="50" charset="-127"/>
                </a:rPr>
                <a:t>비밀번호변경</a:t>
              </a:r>
              <a:endParaRPr lang="ko-KR" altLang="en-US" sz="8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598FB63-0049-BAEA-39A2-F716B8EF9BCA}"/>
                </a:ext>
              </a:extLst>
            </p:cNvPr>
            <p:cNvSpPr txBox="1"/>
            <p:nvPr/>
          </p:nvSpPr>
          <p:spPr>
            <a:xfrm>
              <a:off x="8472200" y="817862"/>
              <a:ext cx="58783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로그아웃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2900E13F-634D-E210-D172-D9175FD49437}"/>
                </a:ext>
              </a:extLst>
            </p:cNvPr>
            <p:cNvSpPr txBox="1"/>
            <p:nvPr/>
          </p:nvSpPr>
          <p:spPr>
            <a:xfrm>
              <a:off x="7203231" y="817862"/>
              <a:ext cx="65313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나의정보</a:t>
              </a: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AC535122-F396-D78A-E589-D660599D5F41}"/>
              </a:ext>
            </a:extLst>
          </p:cNvPr>
          <p:cNvSpPr txBox="1"/>
          <p:nvPr/>
        </p:nvSpPr>
        <p:spPr>
          <a:xfrm>
            <a:off x="158621" y="1704392"/>
            <a:ext cx="314441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HOME &gt; </a:t>
            </a:r>
            <a:r>
              <a:rPr lang="ko-KR" altLang="en-US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사이버 추모관 </a:t>
            </a:r>
            <a:r>
              <a:rPr lang="en-US" altLang="ko-KR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고인검색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D8B92E-B7EA-51F2-B8D2-3A77F81612E1}"/>
              </a:ext>
            </a:extLst>
          </p:cNvPr>
          <p:cNvSpPr txBox="1"/>
          <p:nvPr/>
        </p:nvSpPr>
        <p:spPr>
          <a:xfrm>
            <a:off x="2962325" y="1866963"/>
            <a:ext cx="33499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고인 검색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E6150C-420F-5F19-F7B7-A193A96A4CA1}"/>
              </a:ext>
            </a:extLst>
          </p:cNvPr>
          <p:cNvSpPr txBox="1"/>
          <p:nvPr/>
        </p:nvSpPr>
        <p:spPr>
          <a:xfrm>
            <a:off x="2257523" y="2561406"/>
            <a:ext cx="49457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"</a:t>
            </a:r>
            <a:r>
              <a:rPr lang="ko-KR" altLang="en-US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마음으로 부르는 이름</a:t>
            </a:r>
            <a:r>
              <a:rPr lang="en-US" altLang="ko-KR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다시 만나는 그곳</a:t>
            </a:r>
            <a:r>
              <a:rPr lang="en-US" altLang="ko-KR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“ </a:t>
            </a:r>
          </a:p>
          <a:p>
            <a:pPr algn="ctr"/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하늘누리 사이버 추모관에 모셔진 고인을 성함으로 검색하실 수 있습니다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1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4A3ED84-64D8-2E49-B426-FDB0AA2C678A}"/>
              </a:ext>
            </a:extLst>
          </p:cNvPr>
          <p:cNvSpPr txBox="1"/>
          <p:nvPr/>
        </p:nvSpPr>
        <p:spPr>
          <a:xfrm>
            <a:off x="1531791" y="3216419"/>
            <a:ext cx="11923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고인 검색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D03E757-9E28-0E73-194E-247DDCFCC20B}"/>
              </a:ext>
            </a:extLst>
          </p:cNvPr>
          <p:cNvSpPr/>
          <p:nvPr/>
        </p:nvSpPr>
        <p:spPr>
          <a:xfrm>
            <a:off x="3165616" y="3216419"/>
            <a:ext cx="1837765" cy="31242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홍길동</a:t>
            </a:r>
          </a:p>
        </p:txBody>
      </p:sp>
      <p:sp>
        <p:nvSpPr>
          <p:cNvPr id="16" name="모서리가 둥근 직사각형 63">
            <a:extLst>
              <a:ext uri="{FF2B5EF4-FFF2-40B4-BE49-F238E27FC236}">
                <a16:creationId xmlns:a16="http://schemas.microsoft.com/office/drawing/2014/main" id="{AF3B37E9-178B-BC0A-12D6-2919A540BF64}"/>
              </a:ext>
            </a:extLst>
          </p:cNvPr>
          <p:cNvSpPr/>
          <p:nvPr/>
        </p:nvSpPr>
        <p:spPr bwMode="auto">
          <a:xfrm>
            <a:off x="5116487" y="3216419"/>
            <a:ext cx="648896" cy="312422"/>
          </a:xfrm>
          <a:prstGeom prst="roundRect">
            <a:avLst/>
          </a:prstGeom>
          <a:solidFill>
            <a:schemeClr val="tx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400" b="1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검색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91FCF0D-DF35-8D37-B9C9-CE206B8CBD78}"/>
              </a:ext>
            </a:extLst>
          </p:cNvPr>
          <p:cNvSpPr txBox="1"/>
          <p:nvPr/>
        </p:nvSpPr>
        <p:spPr>
          <a:xfrm>
            <a:off x="2804782" y="3216418"/>
            <a:ext cx="3429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故</a:t>
            </a: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5903FD70-3B0B-949A-2146-BC05D32F5D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9748073"/>
              </p:ext>
            </p:extLst>
          </p:nvPr>
        </p:nvGraphicFramePr>
        <p:xfrm>
          <a:off x="1523648" y="3691796"/>
          <a:ext cx="6499764" cy="13974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3654">
                  <a:extLst>
                    <a:ext uri="{9D8B030D-6E8A-4147-A177-3AD203B41FA5}">
                      <a16:colId xmlns:a16="http://schemas.microsoft.com/office/drawing/2014/main" val="1469299564"/>
                    </a:ext>
                  </a:extLst>
                </a:gridCol>
                <a:gridCol w="3279310">
                  <a:extLst>
                    <a:ext uri="{9D8B030D-6E8A-4147-A177-3AD203B41FA5}">
                      <a16:colId xmlns:a16="http://schemas.microsoft.com/office/drawing/2014/main" val="1966851842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1488621907"/>
                    </a:ext>
                  </a:extLst>
                </a:gridCol>
              </a:tblGrid>
              <a:tr h="20835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고인 성함</a:t>
                      </a:r>
                    </a:p>
                  </a:txBody>
                  <a:tcPr marL="0" marR="0" marT="41672" marB="4167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기일</a:t>
                      </a:r>
                    </a:p>
                  </a:txBody>
                  <a:tcPr marL="0" marR="0" marT="41672" marB="41672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endParaRPr lang="ko-KR" altLang="en-US" sz="12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41672" marB="41672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446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>
                          <a:latin typeface="나눔고딕" pitchFamily="50" charset="-127"/>
                          <a:ea typeface="나눔고딕" pitchFamily="50" charset="-127"/>
                        </a:rPr>
                        <a:t>故 홍길동</a:t>
                      </a:r>
                    </a:p>
                  </a:txBody>
                  <a:tcPr marL="3600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2021-12-24</a:t>
                      </a:r>
                      <a:endParaRPr kumimoji="0" lang="ko-KR" alt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0" marR="0" marT="41672" marB="41672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▿</a:t>
                      </a:r>
                    </a:p>
                  </a:txBody>
                  <a:tcPr marL="0" marR="0" marT="41672" marB="41672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29210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>
                          <a:latin typeface="나눔고딕" pitchFamily="50" charset="-127"/>
                          <a:ea typeface="나눔고딕" pitchFamily="50" charset="-127"/>
                        </a:rPr>
                        <a:t>하늘누리관 </a:t>
                      </a:r>
                      <a:r>
                        <a:rPr lang="en-US" altLang="ko-KR" sz="1200" b="1" dirty="0">
                          <a:latin typeface="나눔고딕" pitchFamily="50" charset="-127"/>
                          <a:ea typeface="나눔고딕" pitchFamily="50" charset="-127"/>
                        </a:rPr>
                        <a:t>OO</a:t>
                      </a:r>
                      <a:r>
                        <a:rPr lang="ko-KR" altLang="en-US" sz="1200" b="1" dirty="0">
                          <a:latin typeface="나눔고딕" pitchFamily="50" charset="-127"/>
                          <a:ea typeface="나눔고딕" pitchFamily="50" charset="-127"/>
                        </a:rPr>
                        <a:t>관 </a:t>
                      </a:r>
                      <a:r>
                        <a:rPr lang="en-US" altLang="ko-KR" sz="1200" b="1" dirty="0">
                          <a:latin typeface="나눔고딕" pitchFamily="50" charset="-127"/>
                          <a:ea typeface="나눔고딕" pitchFamily="50" charset="-127"/>
                        </a:rPr>
                        <a:t>OO</a:t>
                      </a:r>
                      <a:r>
                        <a:rPr lang="ko-KR" altLang="en-US" sz="1200" b="1" dirty="0">
                          <a:latin typeface="나눔고딕" pitchFamily="50" charset="-127"/>
                          <a:ea typeface="나눔고딕" pitchFamily="50" charset="-127"/>
                        </a:rPr>
                        <a:t>열 </a:t>
                      </a:r>
                      <a:r>
                        <a:rPr lang="en-US" altLang="ko-KR" sz="1200" b="1" dirty="0">
                          <a:latin typeface="나눔고딕" pitchFamily="50" charset="-127"/>
                          <a:ea typeface="나눔고딕" pitchFamily="50" charset="-127"/>
                        </a:rPr>
                        <a:t>OO                                        </a:t>
                      </a:r>
                      <a:endParaRPr lang="ko-KR" altLang="en-US" sz="1200" b="1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6000" marR="0" marT="41672" marB="4167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0" marR="0" marT="41672" marB="41672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0" marR="0" marT="41672" marB="41672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446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>
                          <a:latin typeface="나눔고딕" pitchFamily="50" charset="-127"/>
                          <a:ea typeface="나눔고딕" pitchFamily="50" charset="-127"/>
                        </a:rPr>
                        <a:t>故 홍길동</a:t>
                      </a:r>
                    </a:p>
                  </a:txBody>
                  <a:tcPr marL="3600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1026-01-24</a:t>
                      </a:r>
                      <a:endParaRPr kumimoji="0" lang="ko-KR" alt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0" marR="0" marT="41672" marB="41672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▿</a:t>
                      </a:r>
                    </a:p>
                  </a:txBody>
                  <a:tcPr marL="0" marR="0" marT="41672" marB="41672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F7FE35CD-6F55-D55B-4918-9D6A5C0014FE}"/>
              </a:ext>
            </a:extLst>
          </p:cNvPr>
          <p:cNvCxnSpPr/>
          <p:nvPr/>
        </p:nvCxnSpPr>
        <p:spPr>
          <a:xfrm>
            <a:off x="1461247" y="3703581"/>
            <a:ext cx="6562165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모서리가 둥근 직사각형 63">
            <a:extLst>
              <a:ext uri="{FF2B5EF4-FFF2-40B4-BE49-F238E27FC236}">
                <a16:creationId xmlns:a16="http://schemas.microsoft.com/office/drawing/2014/main" id="{9E7D9ABF-9E87-D20D-2883-5DFA05AB5A6F}"/>
              </a:ext>
            </a:extLst>
          </p:cNvPr>
          <p:cNvSpPr/>
          <p:nvPr/>
        </p:nvSpPr>
        <p:spPr bwMode="auto">
          <a:xfrm>
            <a:off x="6784277" y="3216418"/>
            <a:ext cx="1232410" cy="312422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000" b="1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하늘편지 쓰러가기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0C97A67-703D-F467-39F1-5F9F78EAB3B1}"/>
              </a:ext>
            </a:extLst>
          </p:cNvPr>
          <p:cNvSpPr txBox="1"/>
          <p:nvPr/>
        </p:nvSpPr>
        <p:spPr>
          <a:xfrm>
            <a:off x="7334697" y="4372307"/>
            <a:ext cx="26776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▵</a:t>
            </a:r>
          </a:p>
        </p:txBody>
      </p:sp>
      <p:sp>
        <p:nvSpPr>
          <p:cNvPr id="47" name="모서리가 둥근 직사각형 63">
            <a:extLst>
              <a:ext uri="{FF2B5EF4-FFF2-40B4-BE49-F238E27FC236}">
                <a16:creationId xmlns:a16="http://schemas.microsoft.com/office/drawing/2014/main" id="{8CDFB3B4-57FC-01E3-9CA5-AFDFBA80E035}"/>
              </a:ext>
            </a:extLst>
          </p:cNvPr>
          <p:cNvSpPr/>
          <p:nvPr/>
        </p:nvSpPr>
        <p:spPr bwMode="auto">
          <a:xfrm>
            <a:off x="1447856" y="6136847"/>
            <a:ext cx="6499763" cy="312422"/>
          </a:xfrm>
          <a:prstGeom prst="roundRect">
            <a:avLst/>
          </a:prstGeom>
          <a:solidFill>
            <a:schemeClr val="tx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400" b="1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더보기</a:t>
            </a:r>
            <a:endParaRPr kumimoji="1" lang="ko-KR" altLang="en-US" sz="1400" b="1" dirty="0">
              <a:ln w="0" cmpd="sng">
                <a:solidFill>
                  <a:schemeClr val="tx2">
                    <a:satMod val="155000"/>
                    <a:alpha val="0"/>
                  </a:schemeClr>
                </a:solidFill>
                <a:prstDash val="solid"/>
                <a:round/>
              </a:ln>
              <a:solidFill>
                <a:schemeClr val="bg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graphicFrame>
        <p:nvGraphicFramePr>
          <p:cNvPr id="48" name="표 47">
            <a:extLst>
              <a:ext uri="{FF2B5EF4-FFF2-40B4-BE49-F238E27FC236}">
                <a16:creationId xmlns:a16="http://schemas.microsoft.com/office/drawing/2014/main" id="{86A8FB05-B351-F82E-D96A-0A6085ED03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50752"/>
              </p:ext>
            </p:extLst>
          </p:nvPr>
        </p:nvGraphicFramePr>
        <p:xfrm>
          <a:off x="1461247" y="5788262"/>
          <a:ext cx="6499764" cy="2509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3654">
                  <a:extLst>
                    <a:ext uri="{9D8B030D-6E8A-4147-A177-3AD203B41FA5}">
                      <a16:colId xmlns:a16="http://schemas.microsoft.com/office/drawing/2014/main" val="2302614837"/>
                    </a:ext>
                  </a:extLst>
                </a:gridCol>
                <a:gridCol w="3279310">
                  <a:extLst>
                    <a:ext uri="{9D8B030D-6E8A-4147-A177-3AD203B41FA5}">
                      <a16:colId xmlns:a16="http://schemas.microsoft.com/office/drawing/2014/main" val="2163765809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1170147702"/>
                    </a:ext>
                  </a:extLst>
                </a:gridCol>
              </a:tblGrid>
              <a:tr h="25098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故 홍길동</a:t>
                      </a:r>
                    </a:p>
                  </a:txBody>
                  <a:tcPr marL="3600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1026-01-24</a:t>
                      </a:r>
                      <a:endParaRPr kumimoji="0" lang="ko-KR" alt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0" marR="0" marT="41672" marB="41672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▿</a:t>
                      </a:r>
                    </a:p>
                  </a:txBody>
                  <a:tcPr marL="0" marR="0" marT="41672" marB="41672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9178165"/>
                  </a:ext>
                </a:extLst>
              </a:tr>
            </a:tbl>
          </a:graphicData>
        </a:graphic>
      </p:graphicFrame>
      <p:sp>
        <p:nvSpPr>
          <p:cNvPr id="49" name="TextBox 48">
            <a:extLst>
              <a:ext uri="{FF2B5EF4-FFF2-40B4-BE49-F238E27FC236}">
                <a16:creationId xmlns:a16="http://schemas.microsoft.com/office/drawing/2014/main" id="{1B176002-4DB1-7797-F136-FB4FA3F0AA20}"/>
              </a:ext>
            </a:extLst>
          </p:cNvPr>
          <p:cNvSpPr txBox="1"/>
          <p:nvPr/>
        </p:nvSpPr>
        <p:spPr>
          <a:xfrm>
            <a:off x="4508837" y="5003892"/>
            <a:ext cx="38754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14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0" name="Oval 109">
            <a:extLst>
              <a:ext uri="{FF2B5EF4-FFF2-40B4-BE49-F238E27FC236}">
                <a16:creationId xmlns:a16="http://schemas.microsoft.com/office/drawing/2014/main" id="{6816B668-15CB-A3A6-E0C9-B573D8627F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95778" y="4337067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313982782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F347AC-5B18-7FC4-C69F-B36E043136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4545A4B5-D92B-D539-CA04-ED1DA83C0E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7445426"/>
              </p:ext>
            </p:extLst>
          </p:nvPr>
        </p:nvGraphicFramePr>
        <p:xfrm>
          <a:off x="9182101" y="947377"/>
          <a:ext cx="2795588" cy="1847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1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검색 결과가 없는 경우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“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검색결과가 없습니다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.”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노출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684046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723838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3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172599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4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290794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5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922450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6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784800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7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0538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8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199337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9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450365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F9E05D3F-9038-D5F8-97B7-6AAE4A1964B7}"/>
              </a:ext>
            </a:extLst>
          </p:cNvPr>
          <p:cNvSpPr/>
          <p:nvPr/>
        </p:nvSpPr>
        <p:spPr>
          <a:xfrm>
            <a:off x="959895" y="375614"/>
            <a:ext cx="2563522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</a:pP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메인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사이버추모관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고인검색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(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검색결과가 없는 경우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)</a:t>
            </a:r>
            <a:endParaRPr kumimoji="1" lang="ko-KR" altLang="en-US" sz="800" dirty="0"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8EA02AE-CF0F-00FC-4AB7-6B2F0D977E02}"/>
              </a:ext>
            </a:extLst>
          </p:cNvPr>
          <p:cNvSpPr txBox="1"/>
          <p:nvPr/>
        </p:nvSpPr>
        <p:spPr>
          <a:xfrm>
            <a:off x="6003996" y="123825"/>
            <a:ext cx="17303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HN_Memorial_Deadresult_001</a:t>
            </a:r>
            <a:endParaRPr lang="ko-KR" altLang="en-US" sz="800" dirty="0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B6832D79-DF89-C1D5-A6EF-63774FE753E6}"/>
              </a:ext>
            </a:extLst>
          </p:cNvPr>
          <p:cNvGrpSpPr/>
          <p:nvPr/>
        </p:nvGrpSpPr>
        <p:grpSpPr>
          <a:xfrm>
            <a:off x="161925" y="797629"/>
            <a:ext cx="8953500" cy="851943"/>
            <a:chOff x="161925" y="797629"/>
            <a:chExt cx="8953500" cy="851943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C0E56B0A-407D-4B0A-41D2-DCD438B6E8F1}"/>
                </a:ext>
              </a:extLst>
            </p:cNvPr>
            <p:cNvSpPr/>
            <p:nvPr/>
          </p:nvSpPr>
          <p:spPr>
            <a:xfrm>
              <a:off x="4144448" y="797629"/>
              <a:ext cx="942784" cy="35821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800" b="1" dirty="0">
                  <a:solidFill>
                    <a:srgbClr val="FF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CI</a:t>
              </a:r>
            </a:p>
          </p:txBody>
        </p: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721EB544-6290-ABF1-838E-4109D98AE521}"/>
                </a:ext>
              </a:extLst>
            </p:cNvPr>
            <p:cNvCxnSpPr/>
            <p:nvPr/>
          </p:nvCxnSpPr>
          <p:spPr>
            <a:xfrm>
              <a:off x="161925" y="1649572"/>
              <a:ext cx="8953500" cy="0"/>
            </a:xfrm>
            <a:prstGeom prst="line">
              <a:avLst/>
            </a:prstGeom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1227A77-DB40-757C-CDC0-5BDA22663AD7}"/>
                </a:ext>
              </a:extLst>
            </p:cNvPr>
            <p:cNvSpPr txBox="1"/>
            <p:nvPr/>
          </p:nvSpPr>
          <p:spPr>
            <a:xfrm>
              <a:off x="2031551" y="1301804"/>
              <a:ext cx="120364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하늘누리소개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9A48471A-CA7E-58EB-0D84-97F0E3DD4490}"/>
                </a:ext>
              </a:extLst>
            </p:cNvPr>
            <p:cNvSpPr txBox="1"/>
            <p:nvPr/>
          </p:nvSpPr>
          <p:spPr>
            <a:xfrm>
              <a:off x="3239720" y="1301804"/>
              <a:ext cx="9144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시설안내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BDBAB3CD-2A63-2A0D-6751-0C0AB4FC8FBF}"/>
                </a:ext>
              </a:extLst>
            </p:cNvPr>
            <p:cNvSpPr txBox="1"/>
            <p:nvPr/>
          </p:nvSpPr>
          <p:spPr>
            <a:xfrm>
              <a:off x="4158640" y="1301804"/>
              <a:ext cx="9144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분양안내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55563483-AB68-4E01-D48F-BD29D38C5C3C}"/>
                </a:ext>
              </a:extLst>
            </p:cNvPr>
            <p:cNvSpPr txBox="1"/>
            <p:nvPr/>
          </p:nvSpPr>
          <p:spPr>
            <a:xfrm>
              <a:off x="5077560" y="1301804"/>
              <a:ext cx="119120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사이버추모관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41A937E3-F4A4-E901-8D14-0074FC8EEAEB}"/>
                </a:ext>
              </a:extLst>
            </p:cNvPr>
            <p:cNvSpPr txBox="1"/>
            <p:nvPr/>
          </p:nvSpPr>
          <p:spPr>
            <a:xfrm>
              <a:off x="6273289" y="1301804"/>
              <a:ext cx="9144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고객센터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56F1BF7-2A00-BDB6-E359-6742D4198D77}"/>
                </a:ext>
              </a:extLst>
            </p:cNvPr>
            <p:cNvSpPr txBox="1"/>
            <p:nvPr/>
          </p:nvSpPr>
          <p:spPr>
            <a:xfrm>
              <a:off x="7734300" y="817862"/>
              <a:ext cx="79388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b="1">
                  <a:latin typeface="나눔고딕" panose="020D0604000000000000" pitchFamily="50" charset="-127"/>
                  <a:ea typeface="나눔고딕" panose="020D0604000000000000" pitchFamily="50" charset="-127"/>
                </a:rPr>
                <a:t>비밀번호변경</a:t>
              </a:r>
              <a:endParaRPr lang="ko-KR" altLang="en-US" sz="8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26240D73-4374-52C3-5251-E35FB54AD61E}"/>
                </a:ext>
              </a:extLst>
            </p:cNvPr>
            <p:cNvSpPr txBox="1"/>
            <p:nvPr/>
          </p:nvSpPr>
          <p:spPr>
            <a:xfrm>
              <a:off x="8472200" y="817862"/>
              <a:ext cx="58783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로그아웃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E152802-ACE7-C069-F48B-C8EF8BFCC833}"/>
                </a:ext>
              </a:extLst>
            </p:cNvPr>
            <p:cNvSpPr txBox="1"/>
            <p:nvPr/>
          </p:nvSpPr>
          <p:spPr>
            <a:xfrm>
              <a:off x="7203231" y="817862"/>
              <a:ext cx="65313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나의정보</a:t>
              </a: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667C4066-6550-B678-9826-765089324586}"/>
              </a:ext>
            </a:extLst>
          </p:cNvPr>
          <p:cNvSpPr txBox="1"/>
          <p:nvPr/>
        </p:nvSpPr>
        <p:spPr>
          <a:xfrm>
            <a:off x="158621" y="1704392"/>
            <a:ext cx="314441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HOME &gt; </a:t>
            </a:r>
            <a:r>
              <a:rPr lang="ko-KR" altLang="en-US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사이버 추모관 </a:t>
            </a:r>
            <a:r>
              <a:rPr lang="en-US" altLang="ko-KR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고인검색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92427BE-752E-FA97-D8F6-A6BB61F60A97}"/>
              </a:ext>
            </a:extLst>
          </p:cNvPr>
          <p:cNvSpPr txBox="1"/>
          <p:nvPr/>
        </p:nvSpPr>
        <p:spPr>
          <a:xfrm>
            <a:off x="2962325" y="1866963"/>
            <a:ext cx="33499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고인 검색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EA4688A-D459-D22F-0F04-89BFC27D5882}"/>
              </a:ext>
            </a:extLst>
          </p:cNvPr>
          <p:cNvSpPr txBox="1"/>
          <p:nvPr/>
        </p:nvSpPr>
        <p:spPr>
          <a:xfrm>
            <a:off x="2257523" y="2561406"/>
            <a:ext cx="49457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"</a:t>
            </a:r>
            <a:r>
              <a:rPr lang="ko-KR" altLang="en-US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마음으로 부르는 이름</a:t>
            </a:r>
            <a:r>
              <a:rPr lang="en-US" altLang="ko-KR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다시 만나는 그곳</a:t>
            </a:r>
            <a:r>
              <a:rPr lang="en-US" altLang="ko-KR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“ </a:t>
            </a:r>
          </a:p>
          <a:p>
            <a:pPr algn="ctr"/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하늘누리 사이버 추모관에 모셔진 고인을 성함으로 검색하실 수 있습니다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1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6D05D79-1D80-1185-BCFD-427F56D129BC}"/>
              </a:ext>
            </a:extLst>
          </p:cNvPr>
          <p:cNvSpPr txBox="1"/>
          <p:nvPr/>
        </p:nvSpPr>
        <p:spPr>
          <a:xfrm>
            <a:off x="1531791" y="3216419"/>
            <a:ext cx="11923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고인 검색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CA72114-AC48-87E3-0CA5-220195263FE9}"/>
              </a:ext>
            </a:extLst>
          </p:cNvPr>
          <p:cNvSpPr/>
          <p:nvPr/>
        </p:nvSpPr>
        <p:spPr>
          <a:xfrm>
            <a:off x="3165616" y="3216419"/>
            <a:ext cx="1837765" cy="31242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홍길동</a:t>
            </a:r>
          </a:p>
        </p:txBody>
      </p:sp>
      <p:sp>
        <p:nvSpPr>
          <p:cNvPr id="16" name="모서리가 둥근 직사각형 63">
            <a:extLst>
              <a:ext uri="{FF2B5EF4-FFF2-40B4-BE49-F238E27FC236}">
                <a16:creationId xmlns:a16="http://schemas.microsoft.com/office/drawing/2014/main" id="{F30C0220-39C5-DA18-FCBB-04504A113F7F}"/>
              </a:ext>
            </a:extLst>
          </p:cNvPr>
          <p:cNvSpPr/>
          <p:nvPr/>
        </p:nvSpPr>
        <p:spPr bwMode="auto">
          <a:xfrm>
            <a:off x="5116487" y="3216419"/>
            <a:ext cx="648896" cy="312422"/>
          </a:xfrm>
          <a:prstGeom prst="roundRect">
            <a:avLst/>
          </a:prstGeom>
          <a:solidFill>
            <a:schemeClr val="tx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400" b="1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검색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8AB7565-E1A3-1117-173E-678505F89CF3}"/>
              </a:ext>
            </a:extLst>
          </p:cNvPr>
          <p:cNvSpPr txBox="1"/>
          <p:nvPr/>
        </p:nvSpPr>
        <p:spPr>
          <a:xfrm>
            <a:off x="2804782" y="3216418"/>
            <a:ext cx="3429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故</a:t>
            </a: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E406682D-9B2C-8A46-C1D3-2331311ED1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7549101"/>
              </p:ext>
            </p:extLst>
          </p:nvPr>
        </p:nvGraphicFramePr>
        <p:xfrm>
          <a:off x="1523648" y="3691796"/>
          <a:ext cx="6499764" cy="8954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3654">
                  <a:extLst>
                    <a:ext uri="{9D8B030D-6E8A-4147-A177-3AD203B41FA5}">
                      <a16:colId xmlns:a16="http://schemas.microsoft.com/office/drawing/2014/main" val="1469299564"/>
                    </a:ext>
                  </a:extLst>
                </a:gridCol>
                <a:gridCol w="3279310">
                  <a:extLst>
                    <a:ext uri="{9D8B030D-6E8A-4147-A177-3AD203B41FA5}">
                      <a16:colId xmlns:a16="http://schemas.microsoft.com/office/drawing/2014/main" val="1966851842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1488621907"/>
                    </a:ext>
                  </a:extLst>
                </a:gridCol>
              </a:tblGrid>
              <a:tr h="20835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고인 성함</a:t>
                      </a:r>
                    </a:p>
                  </a:txBody>
                  <a:tcPr marL="0" marR="0" marT="41672" marB="4167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1200" b="1" dirty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기일</a:t>
                      </a:r>
                    </a:p>
                  </a:txBody>
                  <a:tcPr marL="0" marR="0" marT="41672" marB="4167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endParaRPr lang="ko-KR" altLang="en-US" sz="1200" b="1" dirty="0">
                        <a:solidFill>
                          <a:schemeClr val="bg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41672" marB="4167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9210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>
                          <a:latin typeface="나눔고딕" pitchFamily="50" charset="-127"/>
                          <a:ea typeface="나눔고딕" pitchFamily="50" charset="-127"/>
                        </a:rPr>
                        <a:t>검색 결과가 없습니다</a:t>
                      </a:r>
                      <a:r>
                        <a:rPr lang="en-US" altLang="ko-KR" sz="1000" b="0" dirty="0">
                          <a:latin typeface="나눔고딕" pitchFamily="50" charset="-127"/>
                          <a:ea typeface="나눔고딕" pitchFamily="50" charset="-127"/>
                        </a:rPr>
                        <a:t>.</a:t>
                      </a:r>
                      <a:endParaRPr lang="ko-KR" altLang="en-US" sz="1000" b="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6000" marR="0" marT="41672" marB="4167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0" marR="0" marT="41672" marB="41672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0" marR="0" marT="41672" marB="41672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202704D9-6CEE-B421-5914-F26D7A517B08}"/>
              </a:ext>
            </a:extLst>
          </p:cNvPr>
          <p:cNvCxnSpPr/>
          <p:nvPr/>
        </p:nvCxnSpPr>
        <p:spPr>
          <a:xfrm>
            <a:off x="1461247" y="3703581"/>
            <a:ext cx="6562165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모서리가 둥근 직사각형 63">
            <a:extLst>
              <a:ext uri="{FF2B5EF4-FFF2-40B4-BE49-F238E27FC236}">
                <a16:creationId xmlns:a16="http://schemas.microsoft.com/office/drawing/2014/main" id="{EB40A9EA-0CEB-0F6D-2279-B3378E5654E0}"/>
              </a:ext>
            </a:extLst>
          </p:cNvPr>
          <p:cNvSpPr/>
          <p:nvPr/>
        </p:nvSpPr>
        <p:spPr bwMode="auto">
          <a:xfrm>
            <a:off x="6784277" y="3216418"/>
            <a:ext cx="1232410" cy="312422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000" b="1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하늘편지 쓰러가기</a:t>
            </a:r>
          </a:p>
        </p:txBody>
      </p:sp>
      <p:sp>
        <p:nvSpPr>
          <p:cNvPr id="9" name="Oval 109">
            <a:extLst>
              <a:ext uri="{FF2B5EF4-FFF2-40B4-BE49-F238E27FC236}">
                <a16:creationId xmlns:a16="http://schemas.microsoft.com/office/drawing/2014/main" id="{9D034E9E-AA82-D978-A818-33D1294E6B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11698" y="4059006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174825329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645BD0-5C16-C951-CD94-DA6A2F197C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F4251762-94EC-16D9-99EA-D2CA15EC80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582954"/>
              </p:ext>
            </p:extLst>
          </p:nvPr>
        </p:nvGraphicFramePr>
        <p:xfrm>
          <a:off x="9182101" y="947377"/>
          <a:ext cx="2795588" cy="30661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1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선택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로그인 체크 후 로그인 된 상태에서 하늘편지 쓰기로 이동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로그인 안된 상태인 경우는 로그인 화면으로 이동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684046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하늘 편지 총 등록 수</a:t>
                      </a: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723838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3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키워드 입력 후 검색 버튼 선택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내용을 검색하여 결과화면 노출</a:t>
                      </a: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172599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4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전체와 내가 쓴 하늘편지 탭으로 구성하여 내가 쓴 하늘 편지 선택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로그인 여부 체크 후 해당 회원이 쓴 하늘편지 목록만 노출됨</a:t>
                      </a: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290794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5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하늘편지 작성시 비밀글 체크를 하면 목록에 자물쇠 아이콘 노출</a:t>
                      </a: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922450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6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내용에 텍스트가 보이는 글은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비밀글이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아니므로 누구나 볼 수 있는 게시물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784800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7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목록은 최초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10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개의 목록을 노출하고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더보기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선택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추가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10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개의 목록이 목록하단에 노출된다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.</a:t>
                      </a: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0538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8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선택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추가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10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개의 목록 노출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.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더보기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버튼은 목록수가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10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개 초과시에만 노출됨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. 10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개 이하일 때는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더보기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버튼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노출안됨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199337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9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450365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E7494D1B-B7CD-94DD-226B-14A8C78D7465}"/>
              </a:ext>
            </a:extLst>
          </p:cNvPr>
          <p:cNvSpPr/>
          <p:nvPr/>
        </p:nvSpPr>
        <p:spPr>
          <a:xfrm>
            <a:off x="959895" y="375614"/>
            <a:ext cx="1566454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</a:pP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메인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사이버추모관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하늘편지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887FF49-EFE8-FA67-C340-7511135D6E11}"/>
              </a:ext>
            </a:extLst>
          </p:cNvPr>
          <p:cNvSpPr txBox="1"/>
          <p:nvPr/>
        </p:nvSpPr>
        <p:spPr>
          <a:xfrm>
            <a:off x="6003996" y="123825"/>
            <a:ext cx="17303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HN_Memorial_Letterlist_001</a:t>
            </a:r>
            <a:endParaRPr lang="ko-KR" altLang="en-US" sz="800" dirty="0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AE157816-B2DE-E8BE-0BF1-1C13903BA5CF}"/>
              </a:ext>
            </a:extLst>
          </p:cNvPr>
          <p:cNvGrpSpPr/>
          <p:nvPr/>
        </p:nvGrpSpPr>
        <p:grpSpPr>
          <a:xfrm>
            <a:off x="161925" y="797629"/>
            <a:ext cx="8953500" cy="851943"/>
            <a:chOff x="161925" y="797629"/>
            <a:chExt cx="8953500" cy="851943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D7535C06-ABE2-7A35-1A78-858B53D8DC09}"/>
                </a:ext>
              </a:extLst>
            </p:cNvPr>
            <p:cNvSpPr/>
            <p:nvPr/>
          </p:nvSpPr>
          <p:spPr>
            <a:xfrm>
              <a:off x="4144448" y="797629"/>
              <a:ext cx="942784" cy="35821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800" b="1" dirty="0">
                  <a:solidFill>
                    <a:srgbClr val="FF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CI</a:t>
              </a:r>
            </a:p>
          </p:txBody>
        </p: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CFF1E74F-C91E-4524-F0FE-EB101FB1B3DF}"/>
                </a:ext>
              </a:extLst>
            </p:cNvPr>
            <p:cNvCxnSpPr/>
            <p:nvPr/>
          </p:nvCxnSpPr>
          <p:spPr>
            <a:xfrm>
              <a:off x="161925" y="1649572"/>
              <a:ext cx="8953500" cy="0"/>
            </a:xfrm>
            <a:prstGeom prst="line">
              <a:avLst/>
            </a:prstGeom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ED69183-5EDD-1EA7-7C4A-C2CE504CEA04}"/>
                </a:ext>
              </a:extLst>
            </p:cNvPr>
            <p:cNvSpPr txBox="1"/>
            <p:nvPr/>
          </p:nvSpPr>
          <p:spPr>
            <a:xfrm>
              <a:off x="2031551" y="1301804"/>
              <a:ext cx="120364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하늘누리소개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6BBFAAB5-B2EE-5A29-3984-C0755BD1F803}"/>
                </a:ext>
              </a:extLst>
            </p:cNvPr>
            <p:cNvSpPr txBox="1"/>
            <p:nvPr/>
          </p:nvSpPr>
          <p:spPr>
            <a:xfrm>
              <a:off x="3239720" y="1301804"/>
              <a:ext cx="9144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시설안내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156A298D-D95D-E683-DF9C-62E5874E3B87}"/>
                </a:ext>
              </a:extLst>
            </p:cNvPr>
            <p:cNvSpPr txBox="1"/>
            <p:nvPr/>
          </p:nvSpPr>
          <p:spPr>
            <a:xfrm>
              <a:off x="4158640" y="1301804"/>
              <a:ext cx="9144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분양안내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D2EB53E7-97BB-42E5-2A2B-ADAFB308E903}"/>
                </a:ext>
              </a:extLst>
            </p:cNvPr>
            <p:cNvSpPr txBox="1"/>
            <p:nvPr/>
          </p:nvSpPr>
          <p:spPr>
            <a:xfrm>
              <a:off x="5077560" y="1301804"/>
              <a:ext cx="119120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사이버추모관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321726BE-A382-3DD2-2614-3BD3CC240818}"/>
                </a:ext>
              </a:extLst>
            </p:cNvPr>
            <p:cNvSpPr txBox="1"/>
            <p:nvPr/>
          </p:nvSpPr>
          <p:spPr>
            <a:xfrm>
              <a:off x="6273289" y="1301804"/>
              <a:ext cx="9144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고객센터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C445C89-6D35-A071-44F9-15B3DB8B3458}"/>
                </a:ext>
              </a:extLst>
            </p:cNvPr>
            <p:cNvSpPr txBox="1"/>
            <p:nvPr/>
          </p:nvSpPr>
          <p:spPr>
            <a:xfrm>
              <a:off x="7734300" y="817862"/>
              <a:ext cx="79388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b="1">
                  <a:latin typeface="나눔고딕" panose="020D0604000000000000" pitchFamily="50" charset="-127"/>
                  <a:ea typeface="나눔고딕" panose="020D0604000000000000" pitchFamily="50" charset="-127"/>
                </a:rPr>
                <a:t>비밀번호변경</a:t>
              </a:r>
              <a:endParaRPr lang="ko-KR" altLang="en-US" sz="8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C294B78-DCD5-73B4-DE8F-57A4A84EAF17}"/>
                </a:ext>
              </a:extLst>
            </p:cNvPr>
            <p:cNvSpPr txBox="1"/>
            <p:nvPr/>
          </p:nvSpPr>
          <p:spPr>
            <a:xfrm>
              <a:off x="8472200" y="817862"/>
              <a:ext cx="58783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로그아웃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8E61E49D-36E7-C274-24F6-BF7137AC0555}"/>
                </a:ext>
              </a:extLst>
            </p:cNvPr>
            <p:cNvSpPr txBox="1"/>
            <p:nvPr/>
          </p:nvSpPr>
          <p:spPr>
            <a:xfrm>
              <a:off x="7203231" y="817862"/>
              <a:ext cx="65313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나의정보</a:t>
              </a: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248665CE-5578-B697-3AC7-8844DB91D900}"/>
              </a:ext>
            </a:extLst>
          </p:cNvPr>
          <p:cNvSpPr txBox="1"/>
          <p:nvPr/>
        </p:nvSpPr>
        <p:spPr>
          <a:xfrm>
            <a:off x="158621" y="1704392"/>
            <a:ext cx="314441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HOME &gt; </a:t>
            </a:r>
            <a:r>
              <a:rPr lang="ko-KR" altLang="en-US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사이버 추모관 </a:t>
            </a:r>
            <a:r>
              <a:rPr lang="en-US" altLang="ko-KR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하늘편지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9B74DF-E1D9-5CAF-0376-AFC0556D3691}"/>
              </a:ext>
            </a:extLst>
          </p:cNvPr>
          <p:cNvSpPr txBox="1"/>
          <p:nvPr/>
        </p:nvSpPr>
        <p:spPr>
          <a:xfrm>
            <a:off x="2962325" y="1866963"/>
            <a:ext cx="33499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하늘편지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935925-BC54-234F-CD2A-87C90D012F55}"/>
              </a:ext>
            </a:extLst>
          </p:cNvPr>
          <p:cNvSpPr txBox="1"/>
          <p:nvPr/>
        </p:nvSpPr>
        <p:spPr>
          <a:xfrm>
            <a:off x="2257523" y="2561406"/>
            <a:ext cx="49457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/>
              <a:t>"</a:t>
            </a:r>
            <a:r>
              <a:rPr lang="ko-KR" altLang="en-US" sz="1200" b="1" dirty="0"/>
              <a:t>닿지 못한 마음이 하늘에 닿는 곳</a:t>
            </a:r>
            <a:r>
              <a:rPr lang="en-US" altLang="ko-KR" sz="1200" b="1" dirty="0"/>
              <a:t>"</a:t>
            </a:r>
            <a:r>
              <a:rPr lang="ko-KR" altLang="en-US" sz="1200" dirty="0"/>
              <a:t> </a:t>
            </a:r>
            <a:endParaRPr lang="en-US" altLang="ko-KR" sz="1200" dirty="0"/>
          </a:p>
          <a:p>
            <a:pPr algn="ctr"/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차마 다 전하지 못한 말들이 구름을 타고 그리운 이에게 전해집니다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당신의 진심을 담아 따뜻한 안부를 띄워주세요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1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458CFEED-4A79-EF04-EE4E-F041FACB9AF1}"/>
              </a:ext>
            </a:extLst>
          </p:cNvPr>
          <p:cNvSpPr/>
          <p:nvPr/>
        </p:nvSpPr>
        <p:spPr>
          <a:xfrm>
            <a:off x="5472758" y="3468651"/>
            <a:ext cx="1837765" cy="21327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2" name="모서리가 둥근 직사각형 63">
            <a:extLst>
              <a:ext uri="{FF2B5EF4-FFF2-40B4-BE49-F238E27FC236}">
                <a16:creationId xmlns:a16="http://schemas.microsoft.com/office/drawing/2014/main" id="{B43B7A0B-8367-A9FE-71B8-459D4096DDD9}"/>
              </a:ext>
            </a:extLst>
          </p:cNvPr>
          <p:cNvSpPr/>
          <p:nvPr/>
        </p:nvSpPr>
        <p:spPr bwMode="auto">
          <a:xfrm>
            <a:off x="7359163" y="3468651"/>
            <a:ext cx="648896" cy="227857"/>
          </a:xfrm>
          <a:prstGeom prst="roundRect">
            <a:avLst/>
          </a:prstGeom>
          <a:solidFill>
            <a:schemeClr val="tx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000" b="1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검색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601A09F-4BC2-B9A5-79C9-624E63A7BC3C}"/>
              </a:ext>
            </a:extLst>
          </p:cNvPr>
          <p:cNvSpPr txBox="1"/>
          <p:nvPr/>
        </p:nvSpPr>
        <p:spPr>
          <a:xfrm>
            <a:off x="1484735" y="3497092"/>
            <a:ext cx="143867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총 하늘편지 수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en-US" altLang="ko-KR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" panose="020D0604000000000000" pitchFamily="50" charset="-127"/>
                <a:ea typeface="나눔고딕" panose="020D0604000000000000" pitchFamily="50" charset="-127"/>
              </a:rPr>
              <a:t>545</a:t>
            </a:r>
            <a:endParaRPr lang="ko-KR" altLang="en-US" sz="11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28" name="Picture 8" descr="자물쇠 아이콘 일러스트 | Canva">
            <a:extLst>
              <a:ext uri="{FF2B5EF4-FFF2-40B4-BE49-F238E27FC236}">
                <a16:creationId xmlns:a16="http://schemas.microsoft.com/office/drawing/2014/main" id="{21FDFEDF-EB6B-AC6D-DA63-30397BDC27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5392" y="4367075"/>
            <a:ext cx="139869" cy="1928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모서리가 둥근 직사각형 63">
            <a:extLst>
              <a:ext uri="{FF2B5EF4-FFF2-40B4-BE49-F238E27FC236}">
                <a16:creationId xmlns:a16="http://schemas.microsoft.com/office/drawing/2014/main" id="{ED2FFB4A-4F0A-2036-11E4-C6DE8E33DD0C}"/>
              </a:ext>
            </a:extLst>
          </p:cNvPr>
          <p:cNvSpPr/>
          <p:nvPr/>
        </p:nvSpPr>
        <p:spPr bwMode="auto">
          <a:xfrm>
            <a:off x="1447856" y="6467588"/>
            <a:ext cx="6499763" cy="312422"/>
          </a:xfrm>
          <a:prstGeom prst="roundRect">
            <a:avLst/>
          </a:prstGeom>
          <a:solidFill>
            <a:schemeClr val="tx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400" b="1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더보기</a:t>
            </a:r>
            <a:endParaRPr kumimoji="1" lang="ko-KR" altLang="en-US" sz="1400" b="1" dirty="0">
              <a:ln w="0" cmpd="sng">
                <a:solidFill>
                  <a:schemeClr val="tx2">
                    <a:satMod val="155000"/>
                    <a:alpha val="0"/>
                  </a:schemeClr>
                </a:solidFill>
                <a:prstDash val="solid"/>
                <a:round/>
              </a:ln>
              <a:solidFill>
                <a:schemeClr val="bg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36" name="모서리가 둥근 직사각형 63">
            <a:extLst>
              <a:ext uri="{FF2B5EF4-FFF2-40B4-BE49-F238E27FC236}">
                <a16:creationId xmlns:a16="http://schemas.microsoft.com/office/drawing/2014/main" id="{6525C9EB-21AA-2D12-611A-B629E4A487CF}"/>
              </a:ext>
            </a:extLst>
          </p:cNvPr>
          <p:cNvSpPr/>
          <p:nvPr/>
        </p:nvSpPr>
        <p:spPr bwMode="auto">
          <a:xfrm>
            <a:off x="6741268" y="3146258"/>
            <a:ext cx="1239654" cy="28274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000" b="1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하늘편지 쓰기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AF3428A-2023-BFC5-B3E1-1DDAE4AB3A6E}"/>
              </a:ext>
            </a:extLst>
          </p:cNvPr>
          <p:cNvSpPr txBox="1"/>
          <p:nvPr/>
        </p:nvSpPr>
        <p:spPr>
          <a:xfrm>
            <a:off x="4328596" y="6098544"/>
            <a:ext cx="6174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......</a:t>
            </a:r>
            <a:endParaRPr lang="ko-KR" altLang="en-US" sz="16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8" name="Oval 109">
            <a:extLst>
              <a:ext uri="{FF2B5EF4-FFF2-40B4-BE49-F238E27FC236}">
                <a16:creationId xmlns:a16="http://schemas.microsoft.com/office/drawing/2014/main" id="{9125F0A5-89F2-B8B2-FCDC-DEFC1C580A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54868" y="3005461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1</a:t>
            </a:r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98F496EB-4FFC-2484-B8BC-53B00ABF65BF}"/>
              </a:ext>
            </a:extLst>
          </p:cNvPr>
          <p:cNvGrpSpPr/>
          <p:nvPr/>
        </p:nvGrpSpPr>
        <p:grpSpPr>
          <a:xfrm>
            <a:off x="1522635" y="3750905"/>
            <a:ext cx="6499763" cy="246421"/>
            <a:chOff x="1703388" y="1922517"/>
            <a:chExt cx="7239775" cy="246421"/>
          </a:xfrm>
        </p:grpSpPr>
        <p:cxnSp>
          <p:nvCxnSpPr>
            <p:cNvPr id="40" name="Line 1">
              <a:extLst>
                <a:ext uri="{FF2B5EF4-FFF2-40B4-BE49-F238E27FC236}">
                  <a16:creationId xmlns:a16="http://schemas.microsoft.com/office/drawing/2014/main" id="{90B8F477-742F-3A4E-7AC8-CB4F56BEB67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03388" y="2154834"/>
              <a:ext cx="119806" cy="0"/>
            </a:xfrm>
            <a:prstGeom prst="lin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Line 2">
              <a:extLst>
                <a:ext uri="{FF2B5EF4-FFF2-40B4-BE49-F238E27FC236}">
                  <a16:creationId xmlns:a16="http://schemas.microsoft.com/office/drawing/2014/main" id="{6C5C2FFA-B8FE-53B7-FD43-1821F3D4FA5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14222" y="2154834"/>
              <a:ext cx="5928941" cy="14104"/>
            </a:xfrm>
            <a:prstGeom prst="lin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Tab Selected">
              <a:extLst>
                <a:ext uri="{FF2B5EF4-FFF2-40B4-BE49-F238E27FC236}">
                  <a16:creationId xmlns:a16="http://schemas.microsoft.com/office/drawing/2014/main" id="{DEA4F65F-24DE-7D68-E6A4-8DEB6EB508D9}"/>
                </a:ext>
              </a:extLst>
            </p:cNvPr>
            <p:cNvSpPr>
              <a:spLocks/>
            </p:cNvSpPr>
            <p:nvPr/>
          </p:nvSpPr>
          <p:spPr bwMode="auto">
            <a:xfrm>
              <a:off x="1800175" y="1922517"/>
              <a:ext cx="1180641" cy="240299"/>
            </a:xfrm>
            <a:custGeom>
              <a:avLst/>
              <a:gdLst>
                <a:gd name="T0" fmla="*/ 0 w 2218"/>
                <a:gd name="T1" fmla="*/ 670 h 670"/>
                <a:gd name="T2" fmla="*/ 0 w 2218"/>
                <a:gd name="T3" fmla="*/ 0 h 670"/>
                <a:gd name="T4" fmla="*/ 2218 w 2218"/>
                <a:gd name="T5" fmla="*/ 0 h 670"/>
                <a:gd name="T6" fmla="*/ 2218 w 2218"/>
                <a:gd name="T7" fmla="*/ 670 h 6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218" h="670">
                  <a:moveTo>
                    <a:pt x="0" y="670"/>
                  </a:moveTo>
                  <a:lnTo>
                    <a:pt x="0" y="0"/>
                  </a:lnTo>
                  <a:lnTo>
                    <a:pt x="2218" y="0"/>
                  </a:lnTo>
                  <a:lnTo>
                    <a:pt x="2218" y="670"/>
                  </a:lnTo>
                </a:path>
              </a:pathLst>
            </a:custGeom>
            <a:solidFill>
              <a:schemeClr val="bg1"/>
            </a:solidFill>
            <a:ln w="6350" cap="sq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90000"/>
                </a:lnSpc>
                <a:defRPr/>
              </a:pPr>
              <a:r>
                <a:rPr lang="ko-KR" altLang="en-US" sz="1100" b="1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Segoe UI" panose="020B0502040204020203" pitchFamily="34" charset="0"/>
                </a:rPr>
                <a:t>전체</a:t>
              </a:r>
              <a:endParaRPr lang="en-US" altLang="ko-KR" sz="1100" b="1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Segoe UI" panose="020B0502040204020203" pitchFamily="34" charset="0"/>
              </a:endParaRPr>
            </a:p>
          </p:txBody>
        </p:sp>
        <p:sp>
          <p:nvSpPr>
            <p:cNvPr id="43" name="Tab">
              <a:extLst>
                <a:ext uri="{FF2B5EF4-FFF2-40B4-BE49-F238E27FC236}">
                  <a16:creationId xmlns:a16="http://schemas.microsoft.com/office/drawing/2014/main" id="{BE308CB8-EC3F-FCD4-1D0A-AE89FD6B0C1A}"/>
                </a:ext>
              </a:extLst>
            </p:cNvPr>
            <p:cNvSpPr/>
            <p:nvPr/>
          </p:nvSpPr>
          <p:spPr>
            <a:xfrm>
              <a:off x="2980815" y="1928560"/>
              <a:ext cx="1590540" cy="24029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90000"/>
                </a:lnSpc>
                <a:defRPr/>
              </a:pPr>
              <a:r>
                <a:rPr lang="ko-KR" altLang="en-US" sz="11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Segoe UI" panose="020B0502040204020203" pitchFamily="34" charset="0"/>
                </a:rPr>
                <a:t>내가 쓴 하늘편지</a:t>
              </a:r>
              <a:endParaRPr lang="en-US" sz="110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Segoe UI" panose="020B0502040204020203" pitchFamily="34" charset="0"/>
              </a:endParaRPr>
            </a:p>
          </p:txBody>
        </p:sp>
      </p:grpSp>
      <p:sp>
        <p:nvSpPr>
          <p:cNvPr id="44" name="Oval 109">
            <a:extLst>
              <a:ext uri="{FF2B5EF4-FFF2-40B4-BE49-F238E27FC236}">
                <a16:creationId xmlns:a16="http://schemas.microsoft.com/office/drawing/2014/main" id="{5F298174-6D51-04EF-69EC-8E2C510B4B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0733" y="3382251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3</a:t>
            </a:r>
          </a:p>
        </p:txBody>
      </p:sp>
      <p:sp>
        <p:nvSpPr>
          <p:cNvPr id="46" name="Oval 109">
            <a:extLst>
              <a:ext uri="{FF2B5EF4-FFF2-40B4-BE49-F238E27FC236}">
                <a16:creationId xmlns:a16="http://schemas.microsoft.com/office/drawing/2014/main" id="{DC48F9AA-E87B-20CB-FB00-1993BF5169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3795" y="3371484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2</a:t>
            </a:r>
          </a:p>
        </p:txBody>
      </p:sp>
      <p:sp>
        <p:nvSpPr>
          <p:cNvPr id="47" name="Oval 109">
            <a:extLst>
              <a:ext uri="{FF2B5EF4-FFF2-40B4-BE49-F238E27FC236}">
                <a16:creationId xmlns:a16="http://schemas.microsoft.com/office/drawing/2014/main" id="{8541204D-8C21-D4AB-8923-86F2F230DF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9682" y="3741922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4</a:t>
            </a:r>
          </a:p>
        </p:txBody>
      </p:sp>
      <p:sp>
        <p:nvSpPr>
          <p:cNvPr id="48" name="Oval 109">
            <a:extLst>
              <a:ext uri="{FF2B5EF4-FFF2-40B4-BE49-F238E27FC236}">
                <a16:creationId xmlns:a16="http://schemas.microsoft.com/office/drawing/2014/main" id="{341F45A2-5E3A-3A0E-BEB3-6BE19E9682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2367" y="4316517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5</a:t>
            </a:r>
          </a:p>
        </p:txBody>
      </p:sp>
      <p:sp>
        <p:nvSpPr>
          <p:cNvPr id="49" name="Oval 109">
            <a:extLst>
              <a:ext uri="{FF2B5EF4-FFF2-40B4-BE49-F238E27FC236}">
                <a16:creationId xmlns:a16="http://schemas.microsoft.com/office/drawing/2014/main" id="{98D61CAA-D2AE-85EC-F315-9A8688D3AF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7797" y="4975503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6</a:t>
            </a: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4317EAFB-EB62-C622-5C0F-8A6BD2ADC7EE}"/>
              </a:ext>
            </a:extLst>
          </p:cNvPr>
          <p:cNvCxnSpPr/>
          <p:nvPr/>
        </p:nvCxnSpPr>
        <p:spPr>
          <a:xfrm>
            <a:off x="1543795" y="4050089"/>
            <a:ext cx="6478390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CE4169F6-F648-A7F8-AE6B-647BDECEE816}"/>
              </a:ext>
            </a:extLst>
          </p:cNvPr>
          <p:cNvCxnSpPr/>
          <p:nvPr/>
        </p:nvCxnSpPr>
        <p:spPr>
          <a:xfrm>
            <a:off x="1529669" y="4640236"/>
            <a:ext cx="6478390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7119D747-5801-CAD9-A4C6-1A1E8A78F75F}"/>
              </a:ext>
            </a:extLst>
          </p:cNvPr>
          <p:cNvSpPr txBox="1"/>
          <p:nvPr/>
        </p:nvSpPr>
        <p:spPr>
          <a:xfrm>
            <a:off x="1566083" y="4050089"/>
            <a:ext cx="61291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888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1A8105D-AC18-588D-533C-6B8FE9F181BF}"/>
              </a:ext>
            </a:extLst>
          </p:cNvPr>
          <p:cNvSpPr txBox="1"/>
          <p:nvPr/>
        </p:nvSpPr>
        <p:spPr>
          <a:xfrm>
            <a:off x="7203231" y="4056580"/>
            <a:ext cx="924702" cy="230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2026-03-11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4C63325-5127-2F0A-3992-CA6ACF660021}"/>
              </a:ext>
            </a:extLst>
          </p:cNvPr>
          <p:cNvSpPr txBox="1"/>
          <p:nvPr/>
        </p:nvSpPr>
        <p:spPr>
          <a:xfrm>
            <a:off x="2335158" y="4056132"/>
            <a:ext cx="184362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딸</a:t>
            </a:r>
          </a:p>
        </p:txBody>
      </p: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D612BF2D-5421-A3D8-E2F1-15911F9ACD4E}"/>
              </a:ext>
            </a:extLst>
          </p:cNvPr>
          <p:cNvCxnSpPr/>
          <p:nvPr/>
        </p:nvCxnSpPr>
        <p:spPr>
          <a:xfrm>
            <a:off x="1543795" y="5232484"/>
            <a:ext cx="6478390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95F1300A-817E-0208-2C06-0B74D94BB8C9}"/>
              </a:ext>
            </a:extLst>
          </p:cNvPr>
          <p:cNvCxnSpPr/>
          <p:nvPr/>
        </p:nvCxnSpPr>
        <p:spPr>
          <a:xfrm>
            <a:off x="1529669" y="5864782"/>
            <a:ext cx="6478390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4250E02E-0F10-D380-0E88-8FF1C7366308}"/>
              </a:ext>
            </a:extLst>
          </p:cNvPr>
          <p:cNvSpPr txBox="1"/>
          <p:nvPr/>
        </p:nvSpPr>
        <p:spPr>
          <a:xfrm>
            <a:off x="1574883" y="4669593"/>
            <a:ext cx="61291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887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B4EC41C-7B88-B97B-D5C3-E07038C7AE77}"/>
              </a:ext>
            </a:extLst>
          </p:cNvPr>
          <p:cNvSpPr txBox="1"/>
          <p:nvPr/>
        </p:nvSpPr>
        <p:spPr>
          <a:xfrm>
            <a:off x="7212031" y="4676084"/>
            <a:ext cx="924702" cy="230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2026-03-11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8077475-4E66-97BE-C0A0-E391E6801C66}"/>
              </a:ext>
            </a:extLst>
          </p:cNvPr>
          <p:cNvSpPr txBox="1"/>
          <p:nvPr/>
        </p:nvSpPr>
        <p:spPr>
          <a:xfrm>
            <a:off x="2343958" y="4675636"/>
            <a:ext cx="184362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딸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1B0D563-9602-70BE-8205-45F019A50712}"/>
              </a:ext>
            </a:extLst>
          </p:cNvPr>
          <p:cNvSpPr txBox="1"/>
          <p:nvPr/>
        </p:nvSpPr>
        <p:spPr>
          <a:xfrm>
            <a:off x="1566083" y="5255797"/>
            <a:ext cx="61291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886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693975D-5B59-AC5D-09A1-3938E99D5B35}"/>
              </a:ext>
            </a:extLst>
          </p:cNvPr>
          <p:cNvSpPr txBox="1"/>
          <p:nvPr/>
        </p:nvSpPr>
        <p:spPr>
          <a:xfrm>
            <a:off x="7203231" y="5262288"/>
            <a:ext cx="924702" cy="230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2026-03-11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FBCD0D8-C371-E987-CB03-E6FA07BFF6FB}"/>
              </a:ext>
            </a:extLst>
          </p:cNvPr>
          <p:cNvSpPr txBox="1"/>
          <p:nvPr/>
        </p:nvSpPr>
        <p:spPr>
          <a:xfrm>
            <a:off x="2335158" y="5261840"/>
            <a:ext cx="184362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딸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09F72C5-7334-E5F5-BA22-0D09D369FB81}"/>
              </a:ext>
            </a:extLst>
          </p:cNvPr>
          <p:cNvSpPr txBox="1"/>
          <p:nvPr/>
        </p:nvSpPr>
        <p:spPr>
          <a:xfrm>
            <a:off x="1586673" y="5877440"/>
            <a:ext cx="61291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885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8539A3F-69BD-AF5C-B842-69935FDBE28B}"/>
              </a:ext>
            </a:extLst>
          </p:cNvPr>
          <p:cNvSpPr txBox="1"/>
          <p:nvPr/>
        </p:nvSpPr>
        <p:spPr>
          <a:xfrm>
            <a:off x="7223821" y="5883931"/>
            <a:ext cx="924702" cy="230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2026-03-11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620E031-B243-CC4C-D54C-CD425A9E832B}"/>
              </a:ext>
            </a:extLst>
          </p:cNvPr>
          <p:cNvSpPr txBox="1"/>
          <p:nvPr/>
        </p:nvSpPr>
        <p:spPr>
          <a:xfrm>
            <a:off x="2355748" y="5883483"/>
            <a:ext cx="184362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딸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C4B1867-9C50-15EF-3ACF-527A7689D688}"/>
              </a:ext>
            </a:extLst>
          </p:cNvPr>
          <p:cNvSpPr txBox="1"/>
          <p:nvPr/>
        </p:nvSpPr>
        <p:spPr>
          <a:xfrm>
            <a:off x="2343958" y="4938125"/>
            <a:ext cx="50977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어머니 하늘나라에서는 어떻게 지내시고 계신지요</a:t>
            </a:r>
            <a:r>
              <a:rPr lang="en-US" altLang="ko-KR" sz="11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11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날이 너무 추워졌어요</a:t>
            </a:r>
            <a:r>
              <a:rPr lang="en-US" altLang="ko-KR" sz="11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11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계시는</a:t>
            </a:r>
            <a:endParaRPr lang="en-US" altLang="ko-KR" sz="11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C697417-42EE-34FB-4E32-16A50481B52A}"/>
              </a:ext>
            </a:extLst>
          </p:cNvPr>
          <p:cNvSpPr txBox="1"/>
          <p:nvPr/>
        </p:nvSpPr>
        <p:spPr>
          <a:xfrm>
            <a:off x="7123359" y="4914300"/>
            <a:ext cx="4808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…</a:t>
            </a:r>
            <a:endParaRPr lang="ko-KR" altLang="en-US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366F69F-9DAF-E84E-BE98-4EF7DB152ABA}"/>
              </a:ext>
            </a:extLst>
          </p:cNvPr>
          <p:cNvSpPr txBox="1"/>
          <p:nvPr/>
        </p:nvSpPr>
        <p:spPr>
          <a:xfrm>
            <a:off x="2343958" y="5597036"/>
            <a:ext cx="50977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어머니 하늘나라에서는 어떻게 지내시고 계신지요</a:t>
            </a:r>
            <a:r>
              <a:rPr lang="en-US" altLang="ko-KR" sz="11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11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날이 너무 추워졌어요</a:t>
            </a:r>
            <a:r>
              <a:rPr lang="en-US" altLang="ko-KR" sz="11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11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계시는</a:t>
            </a:r>
            <a:endParaRPr lang="en-US" altLang="ko-KR" sz="11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3872DBF-6276-2821-4751-B5B9ADBAB831}"/>
              </a:ext>
            </a:extLst>
          </p:cNvPr>
          <p:cNvSpPr txBox="1"/>
          <p:nvPr/>
        </p:nvSpPr>
        <p:spPr>
          <a:xfrm>
            <a:off x="7123359" y="5573211"/>
            <a:ext cx="4808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…</a:t>
            </a:r>
            <a:endParaRPr lang="ko-KR" altLang="en-US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60" name="Picture 8" descr="자물쇠 아이콘 일러스트 | Canva">
            <a:extLst>
              <a:ext uri="{FF2B5EF4-FFF2-40B4-BE49-F238E27FC236}">
                <a16:creationId xmlns:a16="http://schemas.microsoft.com/office/drawing/2014/main" id="{492B1A1D-4E94-F640-C7AE-8BBF5AD414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5392" y="6206476"/>
            <a:ext cx="139869" cy="1928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1" name="Oval 109">
            <a:extLst>
              <a:ext uri="{FF2B5EF4-FFF2-40B4-BE49-F238E27FC236}">
                <a16:creationId xmlns:a16="http://schemas.microsoft.com/office/drawing/2014/main" id="{93000C31-CF47-4BCD-AB6C-F6F087457F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5056" y="5082094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7</a:t>
            </a:r>
          </a:p>
        </p:txBody>
      </p:sp>
      <p:sp>
        <p:nvSpPr>
          <p:cNvPr id="62" name="Oval 109">
            <a:extLst>
              <a:ext uri="{FF2B5EF4-FFF2-40B4-BE49-F238E27FC236}">
                <a16:creationId xmlns:a16="http://schemas.microsoft.com/office/drawing/2014/main" id="{FD5FF088-4567-B255-A6B4-30E0B3CC5F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1504" y="6296782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045120123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C20CB1-1096-580C-DE7E-8B790CD4DB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A1D23F46-B730-0336-2DEC-F66AD5C698B2}"/>
              </a:ext>
            </a:extLst>
          </p:cNvPr>
          <p:cNvGraphicFramePr>
            <a:graphicFrameLocks noGrp="1"/>
          </p:cNvGraphicFramePr>
          <p:nvPr/>
        </p:nvGraphicFramePr>
        <p:xfrm>
          <a:off x="9182101" y="947377"/>
          <a:ext cx="2795588" cy="1969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1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내가 쓴 하늘편지의 상세 화면으로 하단에 목록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삭제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수정 버튼 노출됨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684046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선택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하늘 편지 쓰기 화면으로 이동</a:t>
                      </a: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723838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3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하늘편지 쓰기에서 입력한 작성자 노출</a:t>
                      </a: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172599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4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선택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목록화면으로 이동</a:t>
                      </a: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290794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5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선택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Alert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팝업 노출 후 확인 선택 시 삭제 처리됨</a:t>
                      </a: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922450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6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선택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수정 화면으로 이동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784800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7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0538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8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199337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9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450365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0DD9434E-6E25-920A-D1FA-56575D34D025}"/>
              </a:ext>
            </a:extLst>
          </p:cNvPr>
          <p:cNvSpPr/>
          <p:nvPr/>
        </p:nvSpPr>
        <p:spPr>
          <a:xfrm>
            <a:off x="959895" y="375614"/>
            <a:ext cx="2323072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</a:pP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메인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사이버추모관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하늘편지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하늘편지 상세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4F2C660-D0A4-AF99-9BF4-36028C1768F0}"/>
              </a:ext>
            </a:extLst>
          </p:cNvPr>
          <p:cNvSpPr txBox="1"/>
          <p:nvPr/>
        </p:nvSpPr>
        <p:spPr>
          <a:xfrm>
            <a:off x="6003996" y="123825"/>
            <a:ext cx="17303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HN_Memorial_Letterview_001</a:t>
            </a:r>
            <a:endParaRPr lang="ko-KR" altLang="en-US" sz="800" dirty="0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5548A8D3-99BB-9012-632A-ED407120CFB9}"/>
              </a:ext>
            </a:extLst>
          </p:cNvPr>
          <p:cNvGrpSpPr/>
          <p:nvPr/>
        </p:nvGrpSpPr>
        <p:grpSpPr>
          <a:xfrm>
            <a:off x="161925" y="797629"/>
            <a:ext cx="8953500" cy="851943"/>
            <a:chOff x="161925" y="797629"/>
            <a:chExt cx="8953500" cy="851943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157A2CBC-517A-0767-97F6-63F9EB54C126}"/>
                </a:ext>
              </a:extLst>
            </p:cNvPr>
            <p:cNvSpPr/>
            <p:nvPr/>
          </p:nvSpPr>
          <p:spPr>
            <a:xfrm>
              <a:off x="4144448" y="797629"/>
              <a:ext cx="942784" cy="35821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800" b="1" dirty="0">
                  <a:solidFill>
                    <a:srgbClr val="FF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CI</a:t>
              </a:r>
            </a:p>
          </p:txBody>
        </p: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75FD9701-ABB4-283D-01E4-661DFA918B01}"/>
                </a:ext>
              </a:extLst>
            </p:cNvPr>
            <p:cNvCxnSpPr/>
            <p:nvPr/>
          </p:nvCxnSpPr>
          <p:spPr>
            <a:xfrm>
              <a:off x="161925" y="1649572"/>
              <a:ext cx="8953500" cy="0"/>
            </a:xfrm>
            <a:prstGeom prst="line">
              <a:avLst/>
            </a:prstGeom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B8C3A8D-1085-7E51-CBFD-67A7E5DEEB9F}"/>
                </a:ext>
              </a:extLst>
            </p:cNvPr>
            <p:cNvSpPr txBox="1"/>
            <p:nvPr/>
          </p:nvSpPr>
          <p:spPr>
            <a:xfrm>
              <a:off x="2031551" y="1301804"/>
              <a:ext cx="120364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하늘누리소개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023BAB62-1CBD-5C77-9C20-1A06F6DFEB16}"/>
                </a:ext>
              </a:extLst>
            </p:cNvPr>
            <p:cNvSpPr txBox="1"/>
            <p:nvPr/>
          </p:nvSpPr>
          <p:spPr>
            <a:xfrm>
              <a:off x="3239720" y="1301804"/>
              <a:ext cx="9144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시설안내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4F71024E-C3E5-CE9D-96F9-E8A54F29762A}"/>
                </a:ext>
              </a:extLst>
            </p:cNvPr>
            <p:cNvSpPr txBox="1"/>
            <p:nvPr/>
          </p:nvSpPr>
          <p:spPr>
            <a:xfrm>
              <a:off x="4158640" y="1301804"/>
              <a:ext cx="9144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분양안내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A3CC1025-C9A3-0CD5-8524-7ECC67049025}"/>
                </a:ext>
              </a:extLst>
            </p:cNvPr>
            <p:cNvSpPr txBox="1"/>
            <p:nvPr/>
          </p:nvSpPr>
          <p:spPr>
            <a:xfrm>
              <a:off x="5077560" y="1301804"/>
              <a:ext cx="119120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사이버추모관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4C08C9C6-406B-5325-908D-2756925793EA}"/>
                </a:ext>
              </a:extLst>
            </p:cNvPr>
            <p:cNvSpPr txBox="1"/>
            <p:nvPr/>
          </p:nvSpPr>
          <p:spPr>
            <a:xfrm>
              <a:off x="6273289" y="1301804"/>
              <a:ext cx="9144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고객센터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8383736-C441-765F-70D2-E2F155BD52A8}"/>
                </a:ext>
              </a:extLst>
            </p:cNvPr>
            <p:cNvSpPr txBox="1"/>
            <p:nvPr/>
          </p:nvSpPr>
          <p:spPr>
            <a:xfrm>
              <a:off x="7734300" y="817862"/>
              <a:ext cx="79388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b="1">
                  <a:latin typeface="나눔고딕" panose="020D0604000000000000" pitchFamily="50" charset="-127"/>
                  <a:ea typeface="나눔고딕" panose="020D0604000000000000" pitchFamily="50" charset="-127"/>
                </a:rPr>
                <a:t>비밀번호변경</a:t>
              </a:r>
              <a:endParaRPr lang="ko-KR" altLang="en-US" sz="8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695280A3-A9A0-10A8-FAAC-0BCA18E0CDD1}"/>
                </a:ext>
              </a:extLst>
            </p:cNvPr>
            <p:cNvSpPr txBox="1"/>
            <p:nvPr/>
          </p:nvSpPr>
          <p:spPr>
            <a:xfrm>
              <a:off x="8472200" y="817862"/>
              <a:ext cx="58783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로그아웃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6F876A1-5263-05EC-D911-7EFA57A998DA}"/>
                </a:ext>
              </a:extLst>
            </p:cNvPr>
            <p:cNvSpPr txBox="1"/>
            <p:nvPr/>
          </p:nvSpPr>
          <p:spPr>
            <a:xfrm>
              <a:off x="7203231" y="817862"/>
              <a:ext cx="65313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나의정보</a:t>
              </a: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99722683-D59A-DC37-2F08-247E6E9958B1}"/>
              </a:ext>
            </a:extLst>
          </p:cNvPr>
          <p:cNvSpPr txBox="1"/>
          <p:nvPr/>
        </p:nvSpPr>
        <p:spPr>
          <a:xfrm>
            <a:off x="158621" y="1704392"/>
            <a:ext cx="314441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HOME &gt; </a:t>
            </a:r>
            <a:r>
              <a:rPr lang="ko-KR" altLang="en-US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사이버 추모관 </a:t>
            </a:r>
            <a:r>
              <a:rPr lang="en-US" altLang="ko-KR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하늘편지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53941D8-3ED4-06E1-BCA7-FF3B716C60B2}"/>
              </a:ext>
            </a:extLst>
          </p:cNvPr>
          <p:cNvSpPr txBox="1"/>
          <p:nvPr/>
        </p:nvSpPr>
        <p:spPr>
          <a:xfrm>
            <a:off x="2962325" y="1866963"/>
            <a:ext cx="33499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하늘편지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0C78E4-EF07-1C50-8B40-0687099F6F2D}"/>
              </a:ext>
            </a:extLst>
          </p:cNvPr>
          <p:cNvSpPr txBox="1"/>
          <p:nvPr/>
        </p:nvSpPr>
        <p:spPr>
          <a:xfrm>
            <a:off x="2169973" y="2561406"/>
            <a:ext cx="49457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/>
              <a:t>"</a:t>
            </a:r>
            <a:r>
              <a:rPr lang="ko-KR" altLang="en-US" sz="1200" b="1" dirty="0"/>
              <a:t>닿지 못한 마음이 하늘에 닿는 곳</a:t>
            </a:r>
            <a:r>
              <a:rPr lang="en-US" altLang="ko-KR" sz="1200" b="1" dirty="0"/>
              <a:t>"</a:t>
            </a:r>
            <a:r>
              <a:rPr lang="ko-KR" altLang="en-US" sz="1200" dirty="0"/>
              <a:t> </a:t>
            </a:r>
            <a:endParaRPr lang="en-US" altLang="ko-KR" sz="1200" dirty="0"/>
          </a:p>
          <a:p>
            <a:pPr algn="ctr"/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차마 다 전하지 못한 말들이 구름을 타고 그리운 이에게 전해집니다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당신의 진심을 담아 따뜻한 안부를 띄워주세요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1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4" name="모서리가 둥근 직사각형 63">
            <a:extLst>
              <a:ext uri="{FF2B5EF4-FFF2-40B4-BE49-F238E27FC236}">
                <a16:creationId xmlns:a16="http://schemas.microsoft.com/office/drawing/2014/main" id="{4B829752-D976-A500-781A-8AB0230CC40C}"/>
              </a:ext>
            </a:extLst>
          </p:cNvPr>
          <p:cNvSpPr/>
          <p:nvPr/>
        </p:nvSpPr>
        <p:spPr bwMode="auto">
          <a:xfrm>
            <a:off x="1575880" y="5874198"/>
            <a:ext cx="2000157" cy="312422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400" b="1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목록</a:t>
            </a:r>
          </a:p>
        </p:txBody>
      </p:sp>
      <p:sp>
        <p:nvSpPr>
          <p:cNvPr id="36" name="모서리가 둥근 직사각형 63">
            <a:extLst>
              <a:ext uri="{FF2B5EF4-FFF2-40B4-BE49-F238E27FC236}">
                <a16:creationId xmlns:a16="http://schemas.microsoft.com/office/drawing/2014/main" id="{F1D41390-B3B7-1CFC-1A9E-646D1799A9B6}"/>
              </a:ext>
            </a:extLst>
          </p:cNvPr>
          <p:cNvSpPr/>
          <p:nvPr/>
        </p:nvSpPr>
        <p:spPr bwMode="auto">
          <a:xfrm>
            <a:off x="6439708" y="3292174"/>
            <a:ext cx="1239654" cy="28274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000" b="1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하늘편지 쓰기</a:t>
            </a:r>
          </a:p>
        </p:txBody>
      </p:sp>
      <p:sp>
        <p:nvSpPr>
          <p:cNvPr id="38" name="모서리가 둥근 직사각형 63">
            <a:extLst>
              <a:ext uri="{FF2B5EF4-FFF2-40B4-BE49-F238E27FC236}">
                <a16:creationId xmlns:a16="http://schemas.microsoft.com/office/drawing/2014/main" id="{1C0EEE29-4108-9895-EEBF-BA86825EE0AA}"/>
              </a:ext>
            </a:extLst>
          </p:cNvPr>
          <p:cNvSpPr/>
          <p:nvPr/>
        </p:nvSpPr>
        <p:spPr bwMode="auto">
          <a:xfrm>
            <a:off x="3585549" y="5874198"/>
            <a:ext cx="2000157" cy="312422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400" b="1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삭제</a:t>
            </a:r>
          </a:p>
        </p:txBody>
      </p:sp>
      <p:sp>
        <p:nvSpPr>
          <p:cNvPr id="40" name="모서리가 둥근 직사각형 63">
            <a:extLst>
              <a:ext uri="{FF2B5EF4-FFF2-40B4-BE49-F238E27FC236}">
                <a16:creationId xmlns:a16="http://schemas.microsoft.com/office/drawing/2014/main" id="{F3BF0420-3CD3-7323-9C5D-800062420C7E}"/>
              </a:ext>
            </a:extLst>
          </p:cNvPr>
          <p:cNvSpPr/>
          <p:nvPr/>
        </p:nvSpPr>
        <p:spPr bwMode="auto">
          <a:xfrm>
            <a:off x="5585490" y="5874198"/>
            <a:ext cx="2068041" cy="312422"/>
          </a:xfrm>
          <a:prstGeom prst="roundRect">
            <a:avLst/>
          </a:prstGeom>
          <a:solidFill>
            <a:schemeClr val="tx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400" b="1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수정</a:t>
            </a:r>
          </a:p>
        </p:txBody>
      </p:sp>
      <p:sp>
        <p:nvSpPr>
          <p:cNvPr id="41" name="Oval 109">
            <a:extLst>
              <a:ext uri="{FF2B5EF4-FFF2-40B4-BE49-F238E27FC236}">
                <a16:creationId xmlns:a16="http://schemas.microsoft.com/office/drawing/2014/main" id="{75FF57DA-F1F9-466F-DFBA-4C45CF85F7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89480" y="3453764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1</a:t>
            </a:r>
          </a:p>
        </p:txBody>
      </p:sp>
      <p:sp>
        <p:nvSpPr>
          <p:cNvPr id="42" name="Oval 109">
            <a:extLst>
              <a:ext uri="{FF2B5EF4-FFF2-40B4-BE49-F238E27FC236}">
                <a16:creationId xmlns:a16="http://schemas.microsoft.com/office/drawing/2014/main" id="{CE1DFCB2-39CC-2BE3-795C-8F8DAEEC9C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3308" y="3138234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2</a:t>
            </a:r>
          </a:p>
        </p:txBody>
      </p:sp>
      <p:sp>
        <p:nvSpPr>
          <p:cNvPr id="43" name="Oval 109">
            <a:extLst>
              <a:ext uri="{FF2B5EF4-FFF2-40B4-BE49-F238E27FC236}">
                <a16:creationId xmlns:a16="http://schemas.microsoft.com/office/drawing/2014/main" id="{B05B7441-FD06-CF25-80CE-0A209B529C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41520" y="5175699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3</a:t>
            </a:r>
          </a:p>
        </p:txBody>
      </p:sp>
      <p:sp>
        <p:nvSpPr>
          <p:cNvPr id="44" name="Oval 109">
            <a:extLst>
              <a:ext uri="{FF2B5EF4-FFF2-40B4-BE49-F238E27FC236}">
                <a16:creationId xmlns:a16="http://schemas.microsoft.com/office/drawing/2014/main" id="{4A8904B4-F988-E5D7-65AD-6C086B707D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97272" y="5715896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4</a:t>
            </a:r>
          </a:p>
        </p:txBody>
      </p:sp>
      <p:sp>
        <p:nvSpPr>
          <p:cNvPr id="45" name="Oval 109">
            <a:extLst>
              <a:ext uri="{FF2B5EF4-FFF2-40B4-BE49-F238E27FC236}">
                <a16:creationId xmlns:a16="http://schemas.microsoft.com/office/drawing/2014/main" id="{7970D8CD-BADE-948E-D05A-D0A9B7DB11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5549" y="5698999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5</a:t>
            </a:r>
          </a:p>
        </p:txBody>
      </p:sp>
      <p:sp>
        <p:nvSpPr>
          <p:cNvPr id="46" name="Oval 109">
            <a:extLst>
              <a:ext uri="{FF2B5EF4-FFF2-40B4-BE49-F238E27FC236}">
                <a16:creationId xmlns:a16="http://schemas.microsoft.com/office/drawing/2014/main" id="{35AEDE40-6305-0347-4D36-6F249B8B34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8720" y="5715896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6</a:t>
            </a: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9D19E914-A5E4-5F00-7A01-6C467CECDB41}"/>
              </a:ext>
            </a:extLst>
          </p:cNvPr>
          <p:cNvCxnSpPr>
            <a:cxnSpLocks/>
          </p:cNvCxnSpPr>
          <p:nvPr/>
        </p:nvCxnSpPr>
        <p:spPr>
          <a:xfrm flipV="1">
            <a:off x="1770072" y="3626564"/>
            <a:ext cx="5759728" cy="32788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31126D8B-8632-FD4A-28DF-0108BEEBB43F}"/>
              </a:ext>
            </a:extLst>
          </p:cNvPr>
          <p:cNvCxnSpPr>
            <a:cxnSpLocks/>
          </p:cNvCxnSpPr>
          <p:nvPr/>
        </p:nvCxnSpPr>
        <p:spPr>
          <a:xfrm flipV="1">
            <a:off x="1732312" y="5631459"/>
            <a:ext cx="5759728" cy="32788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D3873ED9-7178-39BB-DD96-19A56B6F29A5}"/>
              </a:ext>
            </a:extLst>
          </p:cNvPr>
          <p:cNvSpPr txBox="1"/>
          <p:nvPr/>
        </p:nvSpPr>
        <p:spPr>
          <a:xfrm>
            <a:off x="1770072" y="3756631"/>
            <a:ext cx="4971196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어머니 하늘에서 어떻게 지내고 계신지요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저는 </a:t>
            </a:r>
            <a:r>
              <a:rPr lang="ko-KR" altLang="en-US" sz="9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잘지내고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있어요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어머니 하늘에서 어떻게 지내고 계신지요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저는 </a:t>
            </a:r>
            <a:r>
              <a:rPr lang="ko-KR" altLang="en-US" sz="9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잘지내고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있어요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endParaRPr lang="en-US" altLang="ko-KR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어머니 하늘에서 어떻게 지내고 계신지요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저는 </a:t>
            </a:r>
            <a:r>
              <a:rPr lang="ko-KR" altLang="en-US" sz="9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잘지내고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있어요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어머니 하늘에서 어떻게 지내고 계신지요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저는 </a:t>
            </a:r>
            <a:r>
              <a:rPr lang="ko-KR" altLang="en-US" sz="9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잘지내고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있어요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어머니 하늘에서 어떻게 지내고 계신지요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저는 </a:t>
            </a:r>
            <a:r>
              <a:rPr lang="ko-KR" altLang="en-US" sz="9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잘지내고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있어요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어머니 하늘에서 어떻게 지내고 계신지요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저는 </a:t>
            </a:r>
            <a:r>
              <a:rPr lang="ko-KR" altLang="en-US" sz="9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잘지내고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있어요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0AA23CA-A7B4-6401-B31E-8788773032F4}"/>
              </a:ext>
            </a:extLst>
          </p:cNvPr>
          <p:cNvSpPr txBox="1"/>
          <p:nvPr/>
        </p:nvSpPr>
        <p:spPr>
          <a:xfrm>
            <a:off x="5119994" y="5365875"/>
            <a:ext cx="2584891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9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작성자</a:t>
            </a:r>
            <a:r>
              <a:rPr lang="ko-KR" altLang="en-US" sz="9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9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9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아들  </a:t>
            </a:r>
            <a:r>
              <a:rPr lang="ko-KR" altLang="en-US" sz="9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작성일</a:t>
            </a:r>
            <a:r>
              <a:rPr lang="ko-KR" altLang="en-US" sz="9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9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2026-03-11</a:t>
            </a:r>
            <a:endParaRPr lang="ko-KR" altLang="en-US" sz="9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07751829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CC3E46-7AB5-CF11-0A0F-124B52E0F0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7E0B97A4-3FB4-C4B8-56B5-9BB0A4009A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626917"/>
              </p:ext>
            </p:extLst>
          </p:nvPr>
        </p:nvGraphicFramePr>
        <p:xfrm>
          <a:off x="9182101" y="947377"/>
          <a:ext cx="2795588" cy="1847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1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선택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삭제하지 않고 팝업 닫힘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684046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선택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해당 글 삭제 처리</a:t>
                      </a: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723838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3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172599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4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290794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5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922450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6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784800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7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0538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8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199337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9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450365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E69E10A4-46B0-071D-7022-D63408FB54AA}"/>
              </a:ext>
            </a:extLst>
          </p:cNvPr>
          <p:cNvSpPr/>
          <p:nvPr/>
        </p:nvSpPr>
        <p:spPr>
          <a:xfrm>
            <a:off x="959895" y="375614"/>
            <a:ext cx="2581156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</a:pP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메인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사이버추모관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하늘편지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상세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(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삭제 </a:t>
            </a:r>
            <a:r>
              <a:rPr kumimoji="1" lang="ko-KR" altLang="en-US" sz="800" dirty="0" err="1">
                <a:latin typeface="나눔고딕" pitchFamily="50" charset="-127"/>
                <a:ea typeface="나눔고딕" pitchFamily="50" charset="-127"/>
              </a:rPr>
              <a:t>알럿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 팝업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)</a:t>
            </a:r>
            <a:endParaRPr kumimoji="1" lang="ko-KR" altLang="en-US" sz="800" dirty="0"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A1C7370-2F4F-8B3B-8147-4C6F11306D47}"/>
              </a:ext>
            </a:extLst>
          </p:cNvPr>
          <p:cNvSpPr txBox="1"/>
          <p:nvPr/>
        </p:nvSpPr>
        <p:spPr>
          <a:xfrm>
            <a:off x="6003996" y="123825"/>
            <a:ext cx="17303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HN_Memorial_Letterview_001</a:t>
            </a:r>
            <a:endParaRPr lang="ko-KR" altLang="en-US" sz="800" dirty="0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0B035F24-0933-0C63-EE9B-BA7A2DB2ECF5}"/>
              </a:ext>
            </a:extLst>
          </p:cNvPr>
          <p:cNvGrpSpPr/>
          <p:nvPr/>
        </p:nvGrpSpPr>
        <p:grpSpPr>
          <a:xfrm>
            <a:off x="161925" y="797629"/>
            <a:ext cx="8953500" cy="851943"/>
            <a:chOff x="161925" y="797629"/>
            <a:chExt cx="8953500" cy="851943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C8986799-CC85-4845-FBF1-2C953FFFF403}"/>
                </a:ext>
              </a:extLst>
            </p:cNvPr>
            <p:cNvSpPr/>
            <p:nvPr/>
          </p:nvSpPr>
          <p:spPr>
            <a:xfrm>
              <a:off x="4144448" y="797629"/>
              <a:ext cx="942784" cy="35821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800" b="1" dirty="0">
                  <a:solidFill>
                    <a:srgbClr val="FF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CI</a:t>
              </a:r>
            </a:p>
          </p:txBody>
        </p: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7BFD8B70-3EE3-E923-7570-3E6180F53DEE}"/>
                </a:ext>
              </a:extLst>
            </p:cNvPr>
            <p:cNvCxnSpPr/>
            <p:nvPr/>
          </p:nvCxnSpPr>
          <p:spPr>
            <a:xfrm>
              <a:off x="161925" y="1649572"/>
              <a:ext cx="8953500" cy="0"/>
            </a:xfrm>
            <a:prstGeom prst="line">
              <a:avLst/>
            </a:prstGeom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47D42C3-C9CB-1198-E2E2-852C4AEE126C}"/>
                </a:ext>
              </a:extLst>
            </p:cNvPr>
            <p:cNvSpPr txBox="1"/>
            <p:nvPr/>
          </p:nvSpPr>
          <p:spPr>
            <a:xfrm>
              <a:off x="2031551" y="1301804"/>
              <a:ext cx="120364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하늘누리소개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79F71CA6-839F-CA90-59D6-AE91B882C059}"/>
                </a:ext>
              </a:extLst>
            </p:cNvPr>
            <p:cNvSpPr txBox="1"/>
            <p:nvPr/>
          </p:nvSpPr>
          <p:spPr>
            <a:xfrm>
              <a:off x="3239720" y="1301804"/>
              <a:ext cx="9144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시설안내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A44FE438-BC51-17BE-72FA-4BDB77110C6E}"/>
                </a:ext>
              </a:extLst>
            </p:cNvPr>
            <p:cNvSpPr txBox="1"/>
            <p:nvPr/>
          </p:nvSpPr>
          <p:spPr>
            <a:xfrm>
              <a:off x="4158640" y="1301804"/>
              <a:ext cx="9144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분양안내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541BCFFC-CBB4-795D-F16F-438E298E1A50}"/>
                </a:ext>
              </a:extLst>
            </p:cNvPr>
            <p:cNvSpPr txBox="1"/>
            <p:nvPr/>
          </p:nvSpPr>
          <p:spPr>
            <a:xfrm>
              <a:off x="5077560" y="1301804"/>
              <a:ext cx="119120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사이버추모관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1102296F-FCD6-AA25-14D1-B0ED34DAB50E}"/>
                </a:ext>
              </a:extLst>
            </p:cNvPr>
            <p:cNvSpPr txBox="1"/>
            <p:nvPr/>
          </p:nvSpPr>
          <p:spPr>
            <a:xfrm>
              <a:off x="6273289" y="1301804"/>
              <a:ext cx="9144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고객센터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5B2CAB8-D132-2D6C-CF7F-768F5E689FA0}"/>
                </a:ext>
              </a:extLst>
            </p:cNvPr>
            <p:cNvSpPr txBox="1"/>
            <p:nvPr/>
          </p:nvSpPr>
          <p:spPr>
            <a:xfrm>
              <a:off x="7734300" y="817862"/>
              <a:ext cx="79388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b="1">
                  <a:latin typeface="나눔고딕" panose="020D0604000000000000" pitchFamily="50" charset="-127"/>
                  <a:ea typeface="나눔고딕" panose="020D0604000000000000" pitchFamily="50" charset="-127"/>
                </a:rPr>
                <a:t>비밀번호변경</a:t>
              </a:r>
              <a:endParaRPr lang="ko-KR" altLang="en-US" sz="8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4DD25B23-1DB8-5052-D308-7AAF5927C791}"/>
                </a:ext>
              </a:extLst>
            </p:cNvPr>
            <p:cNvSpPr txBox="1"/>
            <p:nvPr/>
          </p:nvSpPr>
          <p:spPr>
            <a:xfrm>
              <a:off x="8472200" y="817862"/>
              <a:ext cx="58783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로그아웃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7562E6F6-D7F9-B817-94FA-A04B0756547B}"/>
                </a:ext>
              </a:extLst>
            </p:cNvPr>
            <p:cNvSpPr txBox="1"/>
            <p:nvPr/>
          </p:nvSpPr>
          <p:spPr>
            <a:xfrm>
              <a:off x="7203231" y="817862"/>
              <a:ext cx="65313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나의정보</a:t>
              </a: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9F9CBFBF-C9F8-6FD6-46E6-4FF425AEDC9D}"/>
              </a:ext>
            </a:extLst>
          </p:cNvPr>
          <p:cNvSpPr txBox="1"/>
          <p:nvPr/>
        </p:nvSpPr>
        <p:spPr>
          <a:xfrm>
            <a:off x="158621" y="1704392"/>
            <a:ext cx="314441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HOME &gt; </a:t>
            </a:r>
            <a:r>
              <a:rPr lang="ko-KR" altLang="en-US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사이버 추모관 </a:t>
            </a:r>
            <a:r>
              <a:rPr lang="en-US" altLang="ko-KR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하늘편지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590E0A-CB3C-2E33-D71E-6453DE0923E5}"/>
              </a:ext>
            </a:extLst>
          </p:cNvPr>
          <p:cNvSpPr txBox="1"/>
          <p:nvPr/>
        </p:nvSpPr>
        <p:spPr>
          <a:xfrm>
            <a:off x="2962325" y="1866963"/>
            <a:ext cx="33499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하늘편지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D305D16-0B1E-0520-ECF4-84667C9840FA}"/>
              </a:ext>
            </a:extLst>
          </p:cNvPr>
          <p:cNvSpPr txBox="1"/>
          <p:nvPr/>
        </p:nvSpPr>
        <p:spPr>
          <a:xfrm>
            <a:off x="2169973" y="2561406"/>
            <a:ext cx="49457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/>
              <a:t>"</a:t>
            </a:r>
            <a:r>
              <a:rPr lang="ko-KR" altLang="en-US" sz="1200" b="1" dirty="0"/>
              <a:t>닿지 못한 마음이 하늘에 닿는 곳</a:t>
            </a:r>
            <a:r>
              <a:rPr lang="en-US" altLang="ko-KR" sz="1200" b="1" dirty="0"/>
              <a:t>"</a:t>
            </a:r>
            <a:r>
              <a:rPr lang="ko-KR" altLang="en-US" sz="1200" dirty="0"/>
              <a:t> </a:t>
            </a:r>
            <a:endParaRPr lang="en-US" altLang="ko-KR" sz="1200" dirty="0"/>
          </a:p>
          <a:p>
            <a:pPr algn="ctr"/>
            <a:r>
              <a:rPr lang="ko-KR" altLang="en-US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차마 다 전하지 못한 말들이 구름을 타고 그리운 이에게 전해집니다</a:t>
            </a:r>
            <a:r>
              <a:rPr lang="en-US" altLang="ko-KR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당신의 진심을 담아 따뜻한 안부를 띄워주세요</a:t>
            </a:r>
            <a:r>
              <a:rPr lang="en-US" altLang="ko-KR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12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4" name="모서리가 둥근 직사각형 63">
            <a:extLst>
              <a:ext uri="{FF2B5EF4-FFF2-40B4-BE49-F238E27FC236}">
                <a16:creationId xmlns:a16="http://schemas.microsoft.com/office/drawing/2014/main" id="{5894C4CA-7859-8762-4F13-4A6F4B2C046F}"/>
              </a:ext>
            </a:extLst>
          </p:cNvPr>
          <p:cNvSpPr/>
          <p:nvPr/>
        </p:nvSpPr>
        <p:spPr bwMode="auto">
          <a:xfrm>
            <a:off x="1575880" y="5874198"/>
            <a:ext cx="2000157" cy="312422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400" b="1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목록</a:t>
            </a:r>
          </a:p>
        </p:txBody>
      </p:sp>
      <p:sp>
        <p:nvSpPr>
          <p:cNvPr id="36" name="모서리가 둥근 직사각형 63">
            <a:extLst>
              <a:ext uri="{FF2B5EF4-FFF2-40B4-BE49-F238E27FC236}">
                <a16:creationId xmlns:a16="http://schemas.microsoft.com/office/drawing/2014/main" id="{1BD110DA-68A0-BD84-5BAE-9F96E02B625E}"/>
              </a:ext>
            </a:extLst>
          </p:cNvPr>
          <p:cNvSpPr/>
          <p:nvPr/>
        </p:nvSpPr>
        <p:spPr bwMode="auto">
          <a:xfrm>
            <a:off x="6439708" y="3292174"/>
            <a:ext cx="1239654" cy="28274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000" b="1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하늘편지 쓰기</a:t>
            </a:r>
          </a:p>
        </p:txBody>
      </p:sp>
      <p:sp>
        <p:nvSpPr>
          <p:cNvPr id="38" name="모서리가 둥근 직사각형 63">
            <a:extLst>
              <a:ext uri="{FF2B5EF4-FFF2-40B4-BE49-F238E27FC236}">
                <a16:creationId xmlns:a16="http://schemas.microsoft.com/office/drawing/2014/main" id="{E583DB13-93E2-EEC6-2753-6C5805BDF2B2}"/>
              </a:ext>
            </a:extLst>
          </p:cNvPr>
          <p:cNvSpPr/>
          <p:nvPr/>
        </p:nvSpPr>
        <p:spPr bwMode="auto">
          <a:xfrm>
            <a:off x="3585549" y="5874198"/>
            <a:ext cx="2000157" cy="312422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400" b="1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삭제</a:t>
            </a:r>
          </a:p>
        </p:txBody>
      </p:sp>
      <p:sp>
        <p:nvSpPr>
          <p:cNvPr id="40" name="모서리가 둥근 직사각형 63">
            <a:extLst>
              <a:ext uri="{FF2B5EF4-FFF2-40B4-BE49-F238E27FC236}">
                <a16:creationId xmlns:a16="http://schemas.microsoft.com/office/drawing/2014/main" id="{87C605CA-72C1-48A9-F8B3-0DF55C1C12E3}"/>
              </a:ext>
            </a:extLst>
          </p:cNvPr>
          <p:cNvSpPr/>
          <p:nvPr/>
        </p:nvSpPr>
        <p:spPr bwMode="auto">
          <a:xfrm>
            <a:off x="5585490" y="5874198"/>
            <a:ext cx="2068041" cy="312422"/>
          </a:xfrm>
          <a:prstGeom prst="roundRect">
            <a:avLst/>
          </a:prstGeom>
          <a:solidFill>
            <a:schemeClr val="tx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400" b="1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수정</a:t>
            </a: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E83A7640-29D7-4B28-905F-57478DF9F434}"/>
              </a:ext>
            </a:extLst>
          </p:cNvPr>
          <p:cNvCxnSpPr>
            <a:cxnSpLocks/>
          </p:cNvCxnSpPr>
          <p:nvPr/>
        </p:nvCxnSpPr>
        <p:spPr>
          <a:xfrm flipV="1">
            <a:off x="1770072" y="3626564"/>
            <a:ext cx="5759728" cy="32788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CDEC563E-0F64-BE32-9A38-13A6598AF3CB}"/>
              </a:ext>
            </a:extLst>
          </p:cNvPr>
          <p:cNvCxnSpPr>
            <a:cxnSpLocks/>
          </p:cNvCxnSpPr>
          <p:nvPr/>
        </p:nvCxnSpPr>
        <p:spPr>
          <a:xfrm flipV="1">
            <a:off x="1732312" y="5631459"/>
            <a:ext cx="5759728" cy="32788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7301D9BC-A1FC-BEF3-E04B-FA89C6AA4BAE}"/>
              </a:ext>
            </a:extLst>
          </p:cNvPr>
          <p:cNvSpPr txBox="1"/>
          <p:nvPr/>
        </p:nvSpPr>
        <p:spPr>
          <a:xfrm>
            <a:off x="1770072" y="3756631"/>
            <a:ext cx="4971196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어머니 하늘에서 어떻게 지내고 계신지요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저는 </a:t>
            </a:r>
            <a:r>
              <a:rPr lang="ko-KR" altLang="en-US" sz="9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잘지내고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있어요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어머니 하늘에서 어떻게 지내고 계신지요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저는 </a:t>
            </a:r>
            <a:r>
              <a:rPr lang="ko-KR" altLang="en-US" sz="9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잘지내고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있어요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endParaRPr lang="en-US" altLang="ko-KR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어머니 하늘에서 어떻게 지내고 계신지요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저는 </a:t>
            </a:r>
            <a:r>
              <a:rPr lang="ko-KR" altLang="en-US" sz="9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잘지내고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있어요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어머니 하늘에서 어떻게 지내고 계신지요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저는 </a:t>
            </a:r>
            <a:r>
              <a:rPr lang="ko-KR" altLang="en-US" sz="9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잘지내고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있어요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어머니 하늘에서 어떻게 지내고 계신지요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저는 </a:t>
            </a:r>
            <a:r>
              <a:rPr lang="ko-KR" altLang="en-US" sz="9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잘지내고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있어요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어머니 하늘에서 어떻게 지내고 계신지요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저는 </a:t>
            </a:r>
            <a:r>
              <a:rPr lang="ko-KR" altLang="en-US" sz="9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잘지내고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있어요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06F1E3A-F5F6-63C2-B125-29D3CA9D823E}"/>
              </a:ext>
            </a:extLst>
          </p:cNvPr>
          <p:cNvSpPr txBox="1"/>
          <p:nvPr/>
        </p:nvSpPr>
        <p:spPr>
          <a:xfrm>
            <a:off x="5119994" y="5365875"/>
            <a:ext cx="2584891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9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작성자</a:t>
            </a:r>
            <a:r>
              <a:rPr lang="ko-KR" altLang="en-US" sz="9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9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9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아들  </a:t>
            </a:r>
            <a:r>
              <a:rPr lang="ko-KR" altLang="en-US" sz="9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작성일</a:t>
            </a:r>
            <a:r>
              <a:rPr lang="ko-KR" altLang="en-US" sz="9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9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2026.03.11</a:t>
            </a:r>
            <a:endParaRPr lang="ko-KR" altLang="en-US" sz="9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E17E779-0FED-E3D6-576D-32C605CAFFBD}"/>
              </a:ext>
            </a:extLst>
          </p:cNvPr>
          <p:cNvSpPr/>
          <p:nvPr/>
        </p:nvSpPr>
        <p:spPr>
          <a:xfrm>
            <a:off x="158621" y="710119"/>
            <a:ext cx="8953500" cy="5914413"/>
          </a:xfrm>
          <a:prstGeom prst="rect">
            <a:avLst/>
          </a:prstGeom>
          <a:solidFill>
            <a:schemeClr val="bg1">
              <a:lumMod val="95000"/>
              <a:alpha val="62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>
                  <a:alpha val="59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530265A8-AAE5-D692-4608-A3E4D43DEECD}"/>
              </a:ext>
            </a:extLst>
          </p:cNvPr>
          <p:cNvGrpSpPr/>
          <p:nvPr/>
        </p:nvGrpSpPr>
        <p:grpSpPr>
          <a:xfrm>
            <a:off x="3035671" y="3031434"/>
            <a:ext cx="3206932" cy="1754154"/>
            <a:chOff x="3035671" y="3031434"/>
            <a:chExt cx="3206932" cy="1754154"/>
          </a:xfrm>
        </p:grpSpPr>
        <p:grpSp>
          <p:nvGrpSpPr>
            <p:cNvPr id="12" name="그룹 11">
              <a:extLst>
                <a:ext uri="{FF2B5EF4-FFF2-40B4-BE49-F238E27FC236}">
                  <a16:creationId xmlns:a16="http://schemas.microsoft.com/office/drawing/2014/main" id="{D34E3733-7106-0780-2749-3EE01FC9881C}"/>
                </a:ext>
              </a:extLst>
            </p:cNvPr>
            <p:cNvGrpSpPr/>
            <p:nvPr/>
          </p:nvGrpSpPr>
          <p:grpSpPr>
            <a:xfrm>
              <a:off x="3035671" y="3031434"/>
              <a:ext cx="3206932" cy="1754154"/>
              <a:chOff x="8387670" y="3663472"/>
              <a:chExt cx="3206932" cy="1754154"/>
            </a:xfrm>
          </p:grpSpPr>
          <p:sp>
            <p:nvSpPr>
              <p:cNvPr id="22" name="모서리가 둥근 직사각형 61">
                <a:extLst>
                  <a:ext uri="{FF2B5EF4-FFF2-40B4-BE49-F238E27FC236}">
                    <a16:creationId xmlns:a16="http://schemas.microsoft.com/office/drawing/2014/main" id="{FF86747D-B68B-164D-C4FB-42A71E5360B7}"/>
                  </a:ext>
                </a:extLst>
              </p:cNvPr>
              <p:cNvSpPr/>
              <p:nvPr/>
            </p:nvSpPr>
            <p:spPr>
              <a:xfrm>
                <a:off x="8387670" y="3663472"/>
                <a:ext cx="3206932" cy="1754154"/>
              </a:xfrm>
              <a:prstGeom prst="roundRect">
                <a:avLst>
                  <a:gd name="adj" fmla="val 3334"/>
                </a:avLst>
              </a:prstGeom>
              <a:solidFill>
                <a:schemeClr val="bg1"/>
              </a:solidFill>
              <a:ln w="9525">
                <a:solidFill>
                  <a:schemeClr val="tx1">
                    <a:lumMod val="50000"/>
                    <a:lumOff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cxnSp>
            <p:nvCxnSpPr>
              <p:cNvPr id="23" name="직선 연결선 22">
                <a:extLst>
                  <a:ext uri="{FF2B5EF4-FFF2-40B4-BE49-F238E27FC236}">
                    <a16:creationId xmlns:a16="http://schemas.microsoft.com/office/drawing/2014/main" id="{BB27F68A-CA8A-2391-F32F-65F4B23EB9D0}"/>
                  </a:ext>
                </a:extLst>
              </p:cNvPr>
              <p:cNvCxnSpPr/>
              <p:nvPr/>
            </p:nvCxnSpPr>
            <p:spPr>
              <a:xfrm flipV="1">
                <a:off x="8387670" y="3952720"/>
                <a:ext cx="3206932" cy="9331"/>
              </a:xfrm>
              <a:prstGeom prst="line">
                <a:avLst/>
              </a:prstGeom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D80340AD-ACBA-067A-67AC-839D5C7263FC}"/>
                  </a:ext>
                </a:extLst>
              </p:cNvPr>
              <p:cNvSpPr txBox="1"/>
              <p:nvPr/>
            </p:nvSpPr>
            <p:spPr>
              <a:xfrm>
                <a:off x="8387670" y="3700374"/>
                <a:ext cx="1024327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9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알림</a:t>
                </a:r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8EBF734C-E9F6-18A6-9339-80A282A91890}"/>
                  </a:ext>
                </a:extLst>
              </p:cNvPr>
              <p:cNvSpPr txBox="1"/>
              <p:nvPr/>
            </p:nvSpPr>
            <p:spPr>
              <a:xfrm>
                <a:off x="11312929" y="3681780"/>
                <a:ext cx="23374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1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X</a:t>
                </a:r>
                <a:endParaRPr lang="ko-KR" altLang="en-US" sz="1100" b="1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27" name="직사각형 26">
                <a:extLst>
                  <a:ext uri="{FF2B5EF4-FFF2-40B4-BE49-F238E27FC236}">
                    <a16:creationId xmlns:a16="http://schemas.microsoft.com/office/drawing/2014/main" id="{5EFF8FBC-EAD6-5F7A-F162-255FB92A2CA6}"/>
                  </a:ext>
                </a:extLst>
              </p:cNvPr>
              <p:cNvSpPr/>
              <p:nvPr/>
            </p:nvSpPr>
            <p:spPr>
              <a:xfrm>
                <a:off x="8604521" y="4238595"/>
                <a:ext cx="2708408" cy="721827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11E8CEB7-FF52-8BFD-86CB-9F3F32CB757D}"/>
                  </a:ext>
                </a:extLst>
              </p:cNvPr>
              <p:cNvSpPr txBox="1"/>
              <p:nvPr/>
            </p:nvSpPr>
            <p:spPr>
              <a:xfrm>
                <a:off x="8918601" y="4432909"/>
                <a:ext cx="212981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900" dirty="0">
                    <a:latin typeface="나눔고딕" pitchFamily="50" charset="-127"/>
                    <a:ea typeface="나눔고딕" pitchFamily="50" charset="-127"/>
                  </a:rPr>
                  <a:t>삭제하시면 데이터를 되돌릴 수 없습니다</a:t>
                </a:r>
                <a:r>
                  <a:rPr lang="en-US" altLang="ko-KR" sz="900" dirty="0">
                    <a:latin typeface="나눔고딕" pitchFamily="50" charset="-127"/>
                    <a:ea typeface="나눔고딕" pitchFamily="50" charset="-127"/>
                  </a:rPr>
                  <a:t>.  </a:t>
                </a:r>
                <a:r>
                  <a:rPr lang="ko-KR" altLang="en-US" sz="900" dirty="0">
                    <a:latin typeface="나눔고딕" pitchFamily="50" charset="-127"/>
                    <a:ea typeface="나눔고딕" pitchFamily="50" charset="-127"/>
                  </a:rPr>
                  <a:t>정말 </a:t>
                </a:r>
                <a:r>
                  <a:rPr lang="ko-KR" altLang="en-US" sz="900" dirty="0" err="1">
                    <a:latin typeface="나눔고딕" pitchFamily="50" charset="-127"/>
                    <a:ea typeface="나눔고딕" pitchFamily="50" charset="-127"/>
                  </a:rPr>
                  <a:t>삭제하시겠습니까</a:t>
                </a:r>
                <a:r>
                  <a:rPr lang="en-US" altLang="ko-KR" sz="900" dirty="0">
                    <a:latin typeface="나눔고딕" pitchFamily="50" charset="-127"/>
                    <a:ea typeface="나눔고딕" pitchFamily="50" charset="-127"/>
                  </a:rPr>
                  <a:t>?</a:t>
                </a:r>
                <a:endParaRPr lang="ko-KR" altLang="en-US" sz="900" dirty="0"/>
              </a:p>
            </p:txBody>
          </p:sp>
        </p:grpSp>
        <p:sp>
          <p:nvSpPr>
            <p:cNvPr id="19" name="모서리가 둥근 직사각형 86">
              <a:extLst>
                <a:ext uri="{FF2B5EF4-FFF2-40B4-BE49-F238E27FC236}">
                  <a16:creationId xmlns:a16="http://schemas.microsoft.com/office/drawing/2014/main" id="{4F2864D7-589E-8017-E771-B233AFFFE6BD}"/>
                </a:ext>
              </a:extLst>
            </p:cNvPr>
            <p:cNvSpPr/>
            <p:nvPr/>
          </p:nvSpPr>
          <p:spPr bwMode="auto">
            <a:xfrm>
              <a:off x="4020934" y="4491332"/>
              <a:ext cx="588963" cy="200025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ko-KR" altLang="en-US" sz="800" dirty="0">
                  <a:ln w="0" cmpd="sng">
                    <a:solidFill>
                      <a:schemeClr val="tx2">
                        <a:satMod val="155000"/>
                        <a:alpha val="0"/>
                      </a:schemeClr>
                    </a:solidFill>
                    <a:prstDash val="solid"/>
                    <a:round/>
                  </a:ln>
                  <a:solidFill>
                    <a:schemeClr val="tx1"/>
                  </a:solidFill>
                  <a:latin typeface="나눔고딕" pitchFamily="50" charset="-127"/>
                  <a:ea typeface="나눔고딕" pitchFamily="50" charset="-127"/>
                </a:rPr>
                <a:t>취소</a:t>
              </a:r>
            </a:p>
          </p:txBody>
        </p:sp>
        <p:sp>
          <p:nvSpPr>
            <p:cNvPr id="21" name="모서리가 둥근 직사각형 86">
              <a:extLst>
                <a:ext uri="{FF2B5EF4-FFF2-40B4-BE49-F238E27FC236}">
                  <a16:creationId xmlns:a16="http://schemas.microsoft.com/office/drawing/2014/main" id="{77241A3D-4085-7D33-EDB1-30C9B377AA8E}"/>
                </a:ext>
              </a:extLst>
            </p:cNvPr>
            <p:cNvSpPr/>
            <p:nvPr/>
          </p:nvSpPr>
          <p:spPr bwMode="auto">
            <a:xfrm>
              <a:off x="4655530" y="4487989"/>
              <a:ext cx="588963" cy="200025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ko-KR" altLang="en-US" sz="800" dirty="0">
                  <a:ln w="0" cmpd="sng">
                    <a:solidFill>
                      <a:schemeClr val="tx2">
                        <a:satMod val="155000"/>
                        <a:alpha val="0"/>
                      </a:schemeClr>
                    </a:solidFill>
                    <a:prstDash val="solid"/>
                    <a:round/>
                  </a:ln>
                  <a:solidFill>
                    <a:schemeClr val="tx1"/>
                  </a:solidFill>
                  <a:latin typeface="나눔고딕" pitchFamily="50" charset="-127"/>
                  <a:ea typeface="나눔고딕" pitchFamily="50" charset="-127"/>
                </a:rPr>
                <a:t>확인</a:t>
              </a:r>
            </a:p>
          </p:txBody>
        </p:sp>
      </p:grpSp>
      <p:sp>
        <p:nvSpPr>
          <p:cNvPr id="41" name="Oval 109">
            <a:extLst>
              <a:ext uri="{FF2B5EF4-FFF2-40B4-BE49-F238E27FC236}">
                <a16:creationId xmlns:a16="http://schemas.microsoft.com/office/drawing/2014/main" id="{DC310E1B-51B0-C587-99B2-A9B382B86C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22686" y="4269893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1</a:t>
            </a:r>
          </a:p>
        </p:txBody>
      </p:sp>
      <p:sp>
        <p:nvSpPr>
          <p:cNvPr id="42" name="Oval 109">
            <a:extLst>
              <a:ext uri="{FF2B5EF4-FFF2-40B4-BE49-F238E27FC236}">
                <a16:creationId xmlns:a16="http://schemas.microsoft.com/office/drawing/2014/main" id="{4CD5E01A-B0FC-ECBC-2EFA-511DE53591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31507" y="4272319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879070923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D88F16-0CBF-4EC1-9688-28FF2FD1CD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CA3891F5-4F9A-E2AC-8D89-A47D6BD1D8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3570008"/>
              </p:ext>
            </p:extLst>
          </p:nvPr>
        </p:nvGraphicFramePr>
        <p:xfrm>
          <a:off x="9182101" y="947377"/>
          <a:ext cx="2795588" cy="24567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1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비밀글로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셋팅할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경우에는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비빌글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체크박스 체크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684046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작성자는 자신이 쓰고 싶은 이름 작성</a:t>
                      </a: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723838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3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내용은 한글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600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자 이내로 작성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. 600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자가 초과되면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Alert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메시지 노출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“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하늘 편지는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600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자 이내로 작성해야 합니다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.”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172599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4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선택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작성된 내용을 저장하지 않고 목록화면으로 이동</a:t>
                      </a: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290794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5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선택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유효성 체크 후 작성내용 저장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작성자와 내용 중 입력하지 않은 항목이 있는 경우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en-US" altLang="ko-KR" sz="800" b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Alet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메시지 노출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“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입력 내용을 확인해 주시기 바랍니다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.”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922450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6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784800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7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0538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8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199337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9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450365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0027FE5D-45E8-7486-B770-5709972B5C66}"/>
              </a:ext>
            </a:extLst>
          </p:cNvPr>
          <p:cNvSpPr/>
          <p:nvPr/>
        </p:nvSpPr>
        <p:spPr>
          <a:xfrm>
            <a:off x="959895" y="375614"/>
            <a:ext cx="2286203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</a:pP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메인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사이버추모관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하늘편지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하늘편지 쓰기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99E610E-18E0-5EFE-6C03-B166FFB3EC7A}"/>
              </a:ext>
            </a:extLst>
          </p:cNvPr>
          <p:cNvSpPr txBox="1"/>
          <p:nvPr/>
        </p:nvSpPr>
        <p:spPr>
          <a:xfrm>
            <a:off x="6003996" y="123825"/>
            <a:ext cx="17303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HN_Memorial_Letterregi_001</a:t>
            </a:r>
            <a:endParaRPr lang="ko-KR" altLang="en-US" sz="800" dirty="0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04168900-ED82-25C7-EF6A-55813C209D84}"/>
              </a:ext>
            </a:extLst>
          </p:cNvPr>
          <p:cNvGrpSpPr/>
          <p:nvPr/>
        </p:nvGrpSpPr>
        <p:grpSpPr>
          <a:xfrm>
            <a:off x="161925" y="797629"/>
            <a:ext cx="8953500" cy="851943"/>
            <a:chOff x="161925" y="797629"/>
            <a:chExt cx="8953500" cy="851943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4AB4F535-7394-F8D5-8889-95034FB0F262}"/>
                </a:ext>
              </a:extLst>
            </p:cNvPr>
            <p:cNvSpPr/>
            <p:nvPr/>
          </p:nvSpPr>
          <p:spPr>
            <a:xfrm>
              <a:off x="4144448" y="797629"/>
              <a:ext cx="942784" cy="35821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800" b="1" dirty="0">
                  <a:solidFill>
                    <a:srgbClr val="FF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CI</a:t>
              </a:r>
            </a:p>
          </p:txBody>
        </p: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39D00E50-C2C6-65D1-0814-8D55B55D2F94}"/>
                </a:ext>
              </a:extLst>
            </p:cNvPr>
            <p:cNvCxnSpPr/>
            <p:nvPr/>
          </p:nvCxnSpPr>
          <p:spPr>
            <a:xfrm>
              <a:off x="161925" y="1649572"/>
              <a:ext cx="8953500" cy="0"/>
            </a:xfrm>
            <a:prstGeom prst="line">
              <a:avLst/>
            </a:prstGeom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94C8C72-C3AC-AEC1-58C8-5ADA37FB975C}"/>
                </a:ext>
              </a:extLst>
            </p:cNvPr>
            <p:cNvSpPr txBox="1"/>
            <p:nvPr/>
          </p:nvSpPr>
          <p:spPr>
            <a:xfrm>
              <a:off x="2031551" y="1301804"/>
              <a:ext cx="120364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하늘누리소개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66ABDD58-B361-427B-81A1-8E1811D945C5}"/>
                </a:ext>
              </a:extLst>
            </p:cNvPr>
            <p:cNvSpPr txBox="1"/>
            <p:nvPr/>
          </p:nvSpPr>
          <p:spPr>
            <a:xfrm>
              <a:off x="3239720" y="1301804"/>
              <a:ext cx="9144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시설안내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F59E67B5-ECE3-EBA0-86C4-9AB049EACED2}"/>
                </a:ext>
              </a:extLst>
            </p:cNvPr>
            <p:cNvSpPr txBox="1"/>
            <p:nvPr/>
          </p:nvSpPr>
          <p:spPr>
            <a:xfrm>
              <a:off x="4158640" y="1301804"/>
              <a:ext cx="9144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분양안내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99786419-09D2-8E21-5934-E0D54C487819}"/>
                </a:ext>
              </a:extLst>
            </p:cNvPr>
            <p:cNvSpPr txBox="1"/>
            <p:nvPr/>
          </p:nvSpPr>
          <p:spPr>
            <a:xfrm>
              <a:off x="5077560" y="1301804"/>
              <a:ext cx="119120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사이버추모관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91F54588-A0A2-EAF1-84B1-74F31091ACFD}"/>
                </a:ext>
              </a:extLst>
            </p:cNvPr>
            <p:cNvSpPr txBox="1"/>
            <p:nvPr/>
          </p:nvSpPr>
          <p:spPr>
            <a:xfrm>
              <a:off x="6273289" y="1301804"/>
              <a:ext cx="9144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고객센터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7F61C2F-470E-7493-989E-99855A609598}"/>
                </a:ext>
              </a:extLst>
            </p:cNvPr>
            <p:cNvSpPr txBox="1"/>
            <p:nvPr/>
          </p:nvSpPr>
          <p:spPr>
            <a:xfrm>
              <a:off x="7734300" y="817862"/>
              <a:ext cx="79388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b="1">
                  <a:latin typeface="나눔고딕" panose="020D0604000000000000" pitchFamily="50" charset="-127"/>
                  <a:ea typeface="나눔고딕" panose="020D0604000000000000" pitchFamily="50" charset="-127"/>
                </a:rPr>
                <a:t>비밀번호변경</a:t>
              </a:r>
              <a:endParaRPr lang="ko-KR" altLang="en-US" sz="8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FB05587-4079-5A8B-C845-5F0756EBDE16}"/>
                </a:ext>
              </a:extLst>
            </p:cNvPr>
            <p:cNvSpPr txBox="1"/>
            <p:nvPr/>
          </p:nvSpPr>
          <p:spPr>
            <a:xfrm>
              <a:off x="8472200" y="817862"/>
              <a:ext cx="58783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로그아웃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4793420-78E3-911E-D6CF-11DE68C29BDA}"/>
                </a:ext>
              </a:extLst>
            </p:cNvPr>
            <p:cNvSpPr txBox="1"/>
            <p:nvPr/>
          </p:nvSpPr>
          <p:spPr>
            <a:xfrm>
              <a:off x="7203231" y="817862"/>
              <a:ext cx="65313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나의정보</a:t>
              </a: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F58C1973-EB1A-32AD-05DE-5C8D7592AFCE}"/>
              </a:ext>
            </a:extLst>
          </p:cNvPr>
          <p:cNvSpPr txBox="1"/>
          <p:nvPr/>
        </p:nvSpPr>
        <p:spPr>
          <a:xfrm>
            <a:off x="158621" y="1704392"/>
            <a:ext cx="314441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HOME &gt; </a:t>
            </a:r>
            <a:r>
              <a:rPr lang="ko-KR" altLang="en-US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사이버 추모관 </a:t>
            </a:r>
            <a:r>
              <a:rPr lang="en-US" altLang="ko-KR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하늘편지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2B1032C-70A6-6337-0628-098B0A9379EF}"/>
              </a:ext>
            </a:extLst>
          </p:cNvPr>
          <p:cNvSpPr txBox="1"/>
          <p:nvPr/>
        </p:nvSpPr>
        <p:spPr>
          <a:xfrm>
            <a:off x="2962325" y="1866963"/>
            <a:ext cx="33499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하늘편지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D2768F0-8B71-1FDE-6CBA-0300DE64C778}"/>
              </a:ext>
            </a:extLst>
          </p:cNvPr>
          <p:cNvSpPr txBox="1"/>
          <p:nvPr/>
        </p:nvSpPr>
        <p:spPr>
          <a:xfrm>
            <a:off x="2169973" y="2561406"/>
            <a:ext cx="49457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/>
              <a:t>"</a:t>
            </a:r>
            <a:r>
              <a:rPr lang="ko-KR" altLang="en-US" sz="1200" b="1" dirty="0"/>
              <a:t>닿지 못한 마음이 하늘에 닿는 곳</a:t>
            </a:r>
            <a:r>
              <a:rPr lang="en-US" altLang="ko-KR" sz="1200" b="1" dirty="0"/>
              <a:t>"</a:t>
            </a:r>
            <a:r>
              <a:rPr lang="ko-KR" altLang="en-US" sz="1200" dirty="0"/>
              <a:t> </a:t>
            </a:r>
            <a:endParaRPr lang="en-US" altLang="ko-KR" sz="1200" dirty="0"/>
          </a:p>
          <a:p>
            <a:pPr algn="ctr"/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차마 다 전하지 못한 말들이 구름을 타고 그리운 이에게 전해집니다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당신의 진심을 담아 따뜻한 안부를 띄워주세요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1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4" name="모서리가 둥근 직사각형 63">
            <a:extLst>
              <a:ext uri="{FF2B5EF4-FFF2-40B4-BE49-F238E27FC236}">
                <a16:creationId xmlns:a16="http://schemas.microsoft.com/office/drawing/2014/main" id="{0CCE0DE9-9DE3-36E1-431A-2BF8E37EB296}"/>
              </a:ext>
            </a:extLst>
          </p:cNvPr>
          <p:cNvSpPr/>
          <p:nvPr/>
        </p:nvSpPr>
        <p:spPr bwMode="auto">
          <a:xfrm>
            <a:off x="1575879" y="6185485"/>
            <a:ext cx="3043746" cy="312422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400" b="1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목록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8FD50E6-4412-8175-6F29-D9DF110678C2}"/>
              </a:ext>
            </a:extLst>
          </p:cNvPr>
          <p:cNvSpPr txBox="1"/>
          <p:nvPr/>
        </p:nvSpPr>
        <p:spPr>
          <a:xfrm>
            <a:off x="1712069" y="3429000"/>
            <a:ext cx="8142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>
                <a:latin typeface="나눔고딕" panose="020D0604000000000000" pitchFamily="50" charset="-127"/>
                <a:ea typeface="나눔고딕" panose="020D0604000000000000" pitchFamily="50" charset="-127"/>
              </a:rPr>
              <a:t>비밀글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FFAFEBD-7740-FCC4-4F7A-72C857AB0D65}"/>
              </a:ext>
            </a:extLst>
          </p:cNvPr>
          <p:cNvSpPr txBox="1"/>
          <p:nvPr/>
        </p:nvSpPr>
        <p:spPr>
          <a:xfrm>
            <a:off x="1712069" y="3849307"/>
            <a:ext cx="8142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작성자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*</a:t>
            </a:r>
            <a:endParaRPr lang="ko-KR" altLang="en-US" sz="10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F84DE9E-1948-D56A-9171-1123BCB4B87E}"/>
              </a:ext>
            </a:extLst>
          </p:cNvPr>
          <p:cNvSpPr/>
          <p:nvPr/>
        </p:nvSpPr>
        <p:spPr bwMode="auto">
          <a:xfrm>
            <a:off x="2417101" y="3480670"/>
            <a:ext cx="109248" cy="110837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>
              <a:ln w="0" cmpd="sng">
                <a:solidFill>
                  <a:schemeClr val="tx2">
                    <a:satMod val="155000"/>
                    <a:alpha val="0"/>
                  </a:schemeClr>
                </a:solidFill>
                <a:prstDash val="solid"/>
                <a:round/>
              </a:ln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9E315EAD-8B6E-EB57-1298-AEA367643719}"/>
              </a:ext>
            </a:extLst>
          </p:cNvPr>
          <p:cNvCxnSpPr>
            <a:cxnSpLocks/>
          </p:cNvCxnSpPr>
          <p:nvPr/>
        </p:nvCxnSpPr>
        <p:spPr>
          <a:xfrm flipV="1">
            <a:off x="2399885" y="4025645"/>
            <a:ext cx="2318025" cy="11515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4C21E56D-CEFF-FC45-DDB3-289F1D12E7D4}"/>
              </a:ext>
            </a:extLst>
          </p:cNvPr>
          <p:cNvSpPr txBox="1"/>
          <p:nvPr/>
        </p:nvSpPr>
        <p:spPr>
          <a:xfrm>
            <a:off x="1730829" y="4246908"/>
            <a:ext cx="56489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내용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*</a:t>
            </a:r>
            <a:endParaRPr lang="ko-KR" altLang="en-US" sz="10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5F607B8E-9F04-4EB3-BC78-43D891BA2C0B}"/>
              </a:ext>
            </a:extLst>
          </p:cNvPr>
          <p:cNvSpPr/>
          <p:nvPr/>
        </p:nvSpPr>
        <p:spPr>
          <a:xfrm>
            <a:off x="2399885" y="4328809"/>
            <a:ext cx="5255783" cy="113165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3D48262-A198-4E3F-40E8-A59A6F0AA867}"/>
              </a:ext>
            </a:extLst>
          </p:cNvPr>
          <p:cNvSpPr txBox="1"/>
          <p:nvPr/>
        </p:nvSpPr>
        <p:spPr>
          <a:xfrm>
            <a:off x="2399885" y="5476670"/>
            <a:ext cx="221974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* 600</a:t>
            </a:r>
            <a:r>
              <a:rPr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자 이내로 작성하실 수 있습니다</a:t>
            </a:r>
            <a:r>
              <a:rPr lang="en-US" altLang="ko-KR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9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3" name="모서리가 둥근 직사각형 63">
            <a:extLst>
              <a:ext uri="{FF2B5EF4-FFF2-40B4-BE49-F238E27FC236}">
                <a16:creationId xmlns:a16="http://schemas.microsoft.com/office/drawing/2014/main" id="{C23A1953-EA47-3304-5FBC-C0CDA5F7B3F9}"/>
              </a:ext>
            </a:extLst>
          </p:cNvPr>
          <p:cNvSpPr/>
          <p:nvPr/>
        </p:nvSpPr>
        <p:spPr bwMode="auto">
          <a:xfrm>
            <a:off x="4627586" y="6185485"/>
            <a:ext cx="3043746" cy="312422"/>
          </a:xfrm>
          <a:prstGeom prst="roundRect">
            <a:avLst/>
          </a:prstGeom>
          <a:solidFill>
            <a:schemeClr val="tx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400" b="1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작성완료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CB6B948-0874-B65B-F8E4-F27EE4085DCF}"/>
              </a:ext>
            </a:extLst>
          </p:cNvPr>
          <p:cNvSpPr txBox="1"/>
          <p:nvPr/>
        </p:nvSpPr>
        <p:spPr>
          <a:xfrm>
            <a:off x="2471725" y="3829851"/>
            <a:ext cx="138035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작성자를 입력하세요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64576B9-DC16-360A-9BC3-360BCA65F465}"/>
              </a:ext>
            </a:extLst>
          </p:cNvPr>
          <p:cNvSpPr txBox="1"/>
          <p:nvPr/>
        </p:nvSpPr>
        <p:spPr>
          <a:xfrm>
            <a:off x="2417101" y="4377713"/>
            <a:ext cx="138035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내용을 입력하세요</a:t>
            </a:r>
          </a:p>
        </p:txBody>
      </p:sp>
      <p:sp>
        <p:nvSpPr>
          <p:cNvPr id="32" name="Oval 109">
            <a:extLst>
              <a:ext uri="{FF2B5EF4-FFF2-40B4-BE49-F238E27FC236}">
                <a16:creationId xmlns:a16="http://schemas.microsoft.com/office/drawing/2014/main" id="{14510032-6C71-EDFD-E333-E1557FADBE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18378" y="3303063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1</a:t>
            </a:r>
          </a:p>
        </p:txBody>
      </p:sp>
      <p:sp>
        <p:nvSpPr>
          <p:cNvPr id="37" name="Oval 109">
            <a:extLst>
              <a:ext uri="{FF2B5EF4-FFF2-40B4-BE49-F238E27FC236}">
                <a16:creationId xmlns:a16="http://schemas.microsoft.com/office/drawing/2014/main" id="{05BDF56E-9F2A-37D0-39C5-E5B6100C75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18378" y="3672514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2</a:t>
            </a:r>
          </a:p>
        </p:txBody>
      </p:sp>
      <p:sp>
        <p:nvSpPr>
          <p:cNvPr id="38" name="Oval 109">
            <a:extLst>
              <a:ext uri="{FF2B5EF4-FFF2-40B4-BE49-F238E27FC236}">
                <a16:creationId xmlns:a16="http://schemas.microsoft.com/office/drawing/2014/main" id="{C05C58BF-B01D-C4D7-6E70-74CE516C00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85325" y="4265932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3</a:t>
            </a:r>
          </a:p>
        </p:txBody>
      </p:sp>
      <p:sp>
        <p:nvSpPr>
          <p:cNvPr id="39" name="Oval 109">
            <a:extLst>
              <a:ext uri="{FF2B5EF4-FFF2-40B4-BE49-F238E27FC236}">
                <a16:creationId xmlns:a16="http://schemas.microsoft.com/office/drawing/2014/main" id="{A67F635A-6E46-F873-2B1C-DB776970F3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5357" y="5909906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4</a:t>
            </a:r>
          </a:p>
        </p:txBody>
      </p:sp>
      <p:sp>
        <p:nvSpPr>
          <p:cNvPr id="40" name="Oval 109">
            <a:extLst>
              <a:ext uri="{FF2B5EF4-FFF2-40B4-BE49-F238E27FC236}">
                <a16:creationId xmlns:a16="http://schemas.microsoft.com/office/drawing/2014/main" id="{B1B032BB-BD70-48F1-2C79-BFC3CDF133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56770" y="5887571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219430787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85616E-5D58-9E34-6439-B963285117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FA79EF29-CC12-79D3-D32C-2AD081B2B0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5244948"/>
              </p:ext>
            </p:extLst>
          </p:nvPr>
        </p:nvGraphicFramePr>
        <p:xfrm>
          <a:off x="9182101" y="947377"/>
          <a:ext cx="2795588" cy="20911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1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선택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수정내용을 저장하지 않고 목록화면으로 이동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684046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선택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유효성 체크 후 수정내용 저장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작성자와 내용 중 입력하지 않은 항목이 있는 경우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en-US" altLang="ko-KR" sz="800" b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Alet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메시지 노출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“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입력 내용을 확인해 주시기 바랍니다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.”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723838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3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172599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4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290794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5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922450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6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784800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7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0538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8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199337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9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450365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139D6B03-2DEC-5A40-0197-9EB983CEAE3F}"/>
              </a:ext>
            </a:extLst>
          </p:cNvPr>
          <p:cNvSpPr/>
          <p:nvPr/>
        </p:nvSpPr>
        <p:spPr>
          <a:xfrm>
            <a:off x="959895" y="375614"/>
            <a:ext cx="1872629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</a:pP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메인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사이버추모관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하늘편지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수정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B69FF20-C873-3916-3C91-FDD2D58BD624}"/>
              </a:ext>
            </a:extLst>
          </p:cNvPr>
          <p:cNvSpPr txBox="1"/>
          <p:nvPr/>
        </p:nvSpPr>
        <p:spPr>
          <a:xfrm>
            <a:off x="6003996" y="123825"/>
            <a:ext cx="17303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HN_Memorial_Lettermodi_001</a:t>
            </a:r>
            <a:endParaRPr lang="ko-KR" altLang="en-US" sz="800" dirty="0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4BD71EA1-7E46-74C1-93FF-B3DC1D22B077}"/>
              </a:ext>
            </a:extLst>
          </p:cNvPr>
          <p:cNvGrpSpPr/>
          <p:nvPr/>
        </p:nvGrpSpPr>
        <p:grpSpPr>
          <a:xfrm>
            <a:off x="161925" y="797629"/>
            <a:ext cx="8953500" cy="851943"/>
            <a:chOff x="161925" y="797629"/>
            <a:chExt cx="8953500" cy="851943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28B586AE-A792-D113-C89C-44BDA9026CB0}"/>
                </a:ext>
              </a:extLst>
            </p:cNvPr>
            <p:cNvSpPr/>
            <p:nvPr/>
          </p:nvSpPr>
          <p:spPr>
            <a:xfrm>
              <a:off x="4144448" y="797629"/>
              <a:ext cx="942784" cy="35821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800" b="1" dirty="0">
                  <a:solidFill>
                    <a:srgbClr val="FF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CI</a:t>
              </a:r>
            </a:p>
          </p:txBody>
        </p: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B4B5C194-D381-F914-9A0C-1B399A7BF143}"/>
                </a:ext>
              </a:extLst>
            </p:cNvPr>
            <p:cNvCxnSpPr/>
            <p:nvPr/>
          </p:nvCxnSpPr>
          <p:spPr>
            <a:xfrm>
              <a:off x="161925" y="1649572"/>
              <a:ext cx="8953500" cy="0"/>
            </a:xfrm>
            <a:prstGeom prst="line">
              <a:avLst/>
            </a:prstGeom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B915A49-1405-7021-3A21-BB2735998DDD}"/>
                </a:ext>
              </a:extLst>
            </p:cNvPr>
            <p:cNvSpPr txBox="1"/>
            <p:nvPr/>
          </p:nvSpPr>
          <p:spPr>
            <a:xfrm>
              <a:off x="2031551" y="1301804"/>
              <a:ext cx="120364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하늘누리소개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E2C8B389-B302-C78F-0475-C88DEE25EB8C}"/>
                </a:ext>
              </a:extLst>
            </p:cNvPr>
            <p:cNvSpPr txBox="1"/>
            <p:nvPr/>
          </p:nvSpPr>
          <p:spPr>
            <a:xfrm>
              <a:off x="3239720" y="1301804"/>
              <a:ext cx="9144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시설안내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D2F942C5-7F4E-70A7-3496-D22F3036ABC4}"/>
                </a:ext>
              </a:extLst>
            </p:cNvPr>
            <p:cNvSpPr txBox="1"/>
            <p:nvPr/>
          </p:nvSpPr>
          <p:spPr>
            <a:xfrm>
              <a:off x="4158640" y="1301804"/>
              <a:ext cx="9144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분양안내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288396D2-0A1D-F220-7A62-008540290965}"/>
                </a:ext>
              </a:extLst>
            </p:cNvPr>
            <p:cNvSpPr txBox="1"/>
            <p:nvPr/>
          </p:nvSpPr>
          <p:spPr>
            <a:xfrm>
              <a:off x="5077560" y="1301804"/>
              <a:ext cx="119120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사이버추모관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A84034DC-DA04-BBD3-AC7D-EF415DEA82D7}"/>
                </a:ext>
              </a:extLst>
            </p:cNvPr>
            <p:cNvSpPr txBox="1"/>
            <p:nvPr/>
          </p:nvSpPr>
          <p:spPr>
            <a:xfrm>
              <a:off x="6273289" y="1301804"/>
              <a:ext cx="9144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고객센터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0F412B58-CB35-44DC-4E5D-253606FB08A9}"/>
                </a:ext>
              </a:extLst>
            </p:cNvPr>
            <p:cNvSpPr txBox="1"/>
            <p:nvPr/>
          </p:nvSpPr>
          <p:spPr>
            <a:xfrm>
              <a:off x="7734300" y="817862"/>
              <a:ext cx="79388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b="1">
                  <a:latin typeface="나눔고딕" panose="020D0604000000000000" pitchFamily="50" charset="-127"/>
                  <a:ea typeface="나눔고딕" panose="020D0604000000000000" pitchFamily="50" charset="-127"/>
                </a:rPr>
                <a:t>비밀번호변경</a:t>
              </a:r>
              <a:endParaRPr lang="ko-KR" altLang="en-US" sz="8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D21B1746-5052-5C8E-42DE-DD09CCDA3C8C}"/>
                </a:ext>
              </a:extLst>
            </p:cNvPr>
            <p:cNvSpPr txBox="1"/>
            <p:nvPr/>
          </p:nvSpPr>
          <p:spPr>
            <a:xfrm>
              <a:off x="8472200" y="817862"/>
              <a:ext cx="58783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로그아웃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D01DAB01-79B8-843D-0074-0AE7D88634FC}"/>
                </a:ext>
              </a:extLst>
            </p:cNvPr>
            <p:cNvSpPr txBox="1"/>
            <p:nvPr/>
          </p:nvSpPr>
          <p:spPr>
            <a:xfrm>
              <a:off x="7203231" y="817862"/>
              <a:ext cx="65313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나의정보</a:t>
              </a: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266CADC4-6485-030C-58D2-4B68DFE37817}"/>
              </a:ext>
            </a:extLst>
          </p:cNvPr>
          <p:cNvSpPr txBox="1"/>
          <p:nvPr/>
        </p:nvSpPr>
        <p:spPr>
          <a:xfrm>
            <a:off x="158621" y="1704392"/>
            <a:ext cx="314441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HOME &gt; </a:t>
            </a:r>
            <a:r>
              <a:rPr lang="ko-KR" altLang="en-US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사이버 추모관 </a:t>
            </a:r>
            <a:r>
              <a:rPr lang="en-US" altLang="ko-KR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하늘편지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B2B836-A2D2-C0AB-68ED-92174C40DB44}"/>
              </a:ext>
            </a:extLst>
          </p:cNvPr>
          <p:cNvSpPr txBox="1"/>
          <p:nvPr/>
        </p:nvSpPr>
        <p:spPr>
          <a:xfrm>
            <a:off x="2962325" y="1866963"/>
            <a:ext cx="33499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하늘편지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A5C463-8319-39B2-825D-38A40089EC1B}"/>
              </a:ext>
            </a:extLst>
          </p:cNvPr>
          <p:cNvSpPr txBox="1"/>
          <p:nvPr/>
        </p:nvSpPr>
        <p:spPr>
          <a:xfrm>
            <a:off x="2169973" y="2561406"/>
            <a:ext cx="49457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/>
              <a:t>"</a:t>
            </a:r>
            <a:r>
              <a:rPr lang="ko-KR" altLang="en-US" sz="1200" b="1" dirty="0"/>
              <a:t>닿지 못한 마음이 하늘에 닿는 곳</a:t>
            </a:r>
            <a:r>
              <a:rPr lang="en-US" altLang="ko-KR" sz="1200" b="1" dirty="0"/>
              <a:t>"</a:t>
            </a:r>
            <a:r>
              <a:rPr lang="ko-KR" altLang="en-US" sz="1200" dirty="0"/>
              <a:t> </a:t>
            </a:r>
            <a:endParaRPr lang="en-US" altLang="ko-KR" sz="1200" dirty="0"/>
          </a:p>
          <a:p>
            <a:pPr algn="ctr"/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차마 다 전하지 못한 말들이 구름을 타고 그리운 이에게 전해집니다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당신의 진심을 담아 따뜻한 안부를 띄워주세요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1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4" name="모서리가 둥근 직사각형 63">
            <a:extLst>
              <a:ext uri="{FF2B5EF4-FFF2-40B4-BE49-F238E27FC236}">
                <a16:creationId xmlns:a16="http://schemas.microsoft.com/office/drawing/2014/main" id="{82D9D77E-7183-1BA7-8CDF-2E73ED1140AE}"/>
              </a:ext>
            </a:extLst>
          </p:cNvPr>
          <p:cNvSpPr/>
          <p:nvPr/>
        </p:nvSpPr>
        <p:spPr bwMode="auto">
          <a:xfrm>
            <a:off x="1575879" y="6185485"/>
            <a:ext cx="3043746" cy="312422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400" b="1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취소</a:t>
            </a:r>
            <a:endParaRPr kumimoji="1" lang="ko-KR" altLang="en-US" sz="1400" b="1" dirty="0">
              <a:ln w="0" cmpd="sng">
                <a:solidFill>
                  <a:schemeClr val="tx2">
                    <a:satMod val="155000"/>
                    <a:alpha val="0"/>
                  </a:schemeClr>
                </a:solidFill>
                <a:prstDash val="solid"/>
                <a:round/>
              </a:ln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D00F422-44FC-B9A2-2811-F7DE95A702A1}"/>
              </a:ext>
            </a:extLst>
          </p:cNvPr>
          <p:cNvSpPr txBox="1"/>
          <p:nvPr/>
        </p:nvSpPr>
        <p:spPr>
          <a:xfrm>
            <a:off x="1712069" y="3429000"/>
            <a:ext cx="8142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>
                <a:latin typeface="나눔고딕" panose="020D0604000000000000" pitchFamily="50" charset="-127"/>
                <a:ea typeface="나눔고딕" panose="020D0604000000000000" pitchFamily="50" charset="-127"/>
              </a:rPr>
              <a:t>비밀글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F3AF1D8-6D61-AF4E-1A30-094AA8B784F6}"/>
              </a:ext>
            </a:extLst>
          </p:cNvPr>
          <p:cNvSpPr txBox="1"/>
          <p:nvPr/>
        </p:nvSpPr>
        <p:spPr>
          <a:xfrm>
            <a:off x="1712069" y="3849307"/>
            <a:ext cx="8142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작성자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*</a:t>
            </a:r>
            <a:endParaRPr lang="ko-KR" altLang="en-US" sz="10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31F2986-47FE-0AA3-7274-18677B1F0157}"/>
              </a:ext>
            </a:extLst>
          </p:cNvPr>
          <p:cNvSpPr/>
          <p:nvPr/>
        </p:nvSpPr>
        <p:spPr bwMode="auto">
          <a:xfrm>
            <a:off x="2417101" y="3480670"/>
            <a:ext cx="109248" cy="110837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>
              <a:ln w="0" cmpd="sng">
                <a:solidFill>
                  <a:schemeClr val="tx2">
                    <a:satMod val="155000"/>
                    <a:alpha val="0"/>
                  </a:schemeClr>
                </a:solidFill>
                <a:prstDash val="solid"/>
                <a:round/>
              </a:ln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DC943D2B-635E-C988-2E11-B4B67B87A17B}"/>
              </a:ext>
            </a:extLst>
          </p:cNvPr>
          <p:cNvCxnSpPr>
            <a:cxnSpLocks/>
          </p:cNvCxnSpPr>
          <p:nvPr/>
        </p:nvCxnSpPr>
        <p:spPr>
          <a:xfrm flipV="1">
            <a:off x="2399885" y="4025645"/>
            <a:ext cx="2318025" cy="11515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1EC63992-C2B6-D2DC-81FD-599EAF369489}"/>
              </a:ext>
            </a:extLst>
          </p:cNvPr>
          <p:cNvSpPr txBox="1"/>
          <p:nvPr/>
        </p:nvSpPr>
        <p:spPr>
          <a:xfrm>
            <a:off x="1730829" y="4246908"/>
            <a:ext cx="56489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내용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*</a:t>
            </a:r>
            <a:endParaRPr lang="ko-KR" altLang="en-US" sz="10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9B546162-DA8C-6C22-26EB-31E1102C8371}"/>
              </a:ext>
            </a:extLst>
          </p:cNvPr>
          <p:cNvSpPr/>
          <p:nvPr/>
        </p:nvSpPr>
        <p:spPr>
          <a:xfrm>
            <a:off x="2399885" y="4328809"/>
            <a:ext cx="5255783" cy="113165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4CDDA74-D890-D0CF-0E43-877934C3D6F1}"/>
              </a:ext>
            </a:extLst>
          </p:cNvPr>
          <p:cNvSpPr txBox="1"/>
          <p:nvPr/>
        </p:nvSpPr>
        <p:spPr>
          <a:xfrm>
            <a:off x="2399885" y="5476670"/>
            <a:ext cx="221974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* 600</a:t>
            </a:r>
            <a:r>
              <a:rPr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자 이내로 작성하실 수 있습니다</a:t>
            </a:r>
            <a:r>
              <a:rPr lang="en-US" altLang="ko-KR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9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3" name="모서리가 둥근 직사각형 63">
            <a:extLst>
              <a:ext uri="{FF2B5EF4-FFF2-40B4-BE49-F238E27FC236}">
                <a16:creationId xmlns:a16="http://schemas.microsoft.com/office/drawing/2014/main" id="{3B64B59C-1127-8709-63BA-BA191B057BD5}"/>
              </a:ext>
            </a:extLst>
          </p:cNvPr>
          <p:cNvSpPr/>
          <p:nvPr/>
        </p:nvSpPr>
        <p:spPr bwMode="auto">
          <a:xfrm>
            <a:off x="4627586" y="6185485"/>
            <a:ext cx="3043746" cy="312422"/>
          </a:xfrm>
          <a:prstGeom prst="roundRect">
            <a:avLst/>
          </a:prstGeom>
          <a:solidFill>
            <a:schemeClr val="tx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400" b="1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수정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1394507-52FC-09DF-81A8-94495F7DA03F}"/>
              </a:ext>
            </a:extLst>
          </p:cNvPr>
          <p:cNvSpPr txBox="1"/>
          <p:nvPr/>
        </p:nvSpPr>
        <p:spPr>
          <a:xfrm>
            <a:off x="2471725" y="3829851"/>
            <a:ext cx="138035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>
                <a:latin typeface="나눔고딕" panose="020D0604000000000000" pitchFamily="50" charset="-127"/>
                <a:ea typeface="나눔고딕" panose="020D0604000000000000" pitchFamily="50" charset="-127"/>
              </a:rPr>
              <a:t>아들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8DF40B4-D69C-1EB2-2AA0-144C7A698DC0}"/>
              </a:ext>
            </a:extLst>
          </p:cNvPr>
          <p:cNvSpPr txBox="1"/>
          <p:nvPr/>
        </p:nvSpPr>
        <p:spPr>
          <a:xfrm>
            <a:off x="2417100" y="4377713"/>
            <a:ext cx="51315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어머니 하늘에서 어떻게 지내세요 어머니 하늘에서 어떻게 지내세요</a:t>
            </a:r>
          </a:p>
          <a:p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어머니 하늘에서 어떻게 지내세요 어머니 하늘에서 어떻게 지내세요</a:t>
            </a:r>
          </a:p>
          <a:p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어머니 하늘에서 어떻게 지내세요 어머니 하늘에서 어떻게 지내세요</a:t>
            </a:r>
          </a:p>
          <a:p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어머니 하늘에서 어떻게 지내세요</a:t>
            </a:r>
          </a:p>
        </p:txBody>
      </p:sp>
      <p:sp>
        <p:nvSpPr>
          <p:cNvPr id="9" name="Oval 109">
            <a:extLst>
              <a:ext uri="{FF2B5EF4-FFF2-40B4-BE49-F238E27FC236}">
                <a16:creationId xmlns:a16="http://schemas.microsoft.com/office/drawing/2014/main" id="{E076EA47-65C9-A110-6369-600B721E96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5357" y="5909906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1</a:t>
            </a:r>
          </a:p>
        </p:txBody>
      </p:sp>
      <p:sp>
        <p:nvSpPr>
          <p:cNvPr id="16" name="Oval 109">
            <a:extLst>
              <a:ext uri="{FF2B5EF4-FFF2-40B4-BE49-F238E27FC236}">
                <a16:creationId xmlns:a16="http://schemas.microsoft.com/office/drawing/2014/main" id="{0DA6C7A7-32EC-FA22-945C-50440C32DA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7910" y="5962796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4190131231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A798F9-7504-C93D-3A2E-776A03A1AD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65E354E-E154-F3F3-D4C9-659B141D9E6B}"/>
              </a:ext>
            </a:extLst>
          </p:cNvPr>
          <p:cNvSpPr txBox="1"/>
          <p:nvPr/>
        </p:nvSpPr>
        <p:spPr>
          <a:xfrm>
            <a:off x="1047750" y="2476500"/>
            <a:ext cx="2390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나눔고딕" pitchFamily="2" charset="-127"/>
                <a:ea typeface="나눔고딕" pitchFamily="2" charset="-127"/>
              </a:rPr>
              <a:t>07. </a:t>
            </a:r>
            <a:r>
              <a:rPr lang="ko-KR" altLang="en-US" b="1" dirty="0">
                <a:latin typeface="나눔고딕" pitchFamily="2" charset="-127"/>
                <a:ea typeface="나눔고딕" pitchFamily="2" charset="-127"/>
              </a:rPr>
              <a:t>고객센터</a:t>
            </a:r>
          </a:p>
        </p:txBody>
      </p:sp>
    </p:spTree>
    <p:extLst>
      <p:ext uri="{BB962C8B-B14F-4D97-AF65-F5344CB8AC3E}">
        <p14:creationId xmlns:p14="http://schemas.microsoft.com/office/powerpoint/2010/main" val="678967052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07AA2B-3E33-C453-3B36-779F3D7232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02F7F40B-B928-93C7-CFD9-76C0E69311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6043249"/>
              </p:ext>
            </p:extLst>
          </p:nvPr>
        </p:nvGraphicFramePr>
        <p:xfrm>
          <a:off x="9182101" y="947377"/>
          <a:ext cx="2795588" cy="2334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1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키워드를 입력하고 검색 버튼 선택하면 해당 키워드에 맞는 검색화면 노출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검색은 제목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/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내용 모두 검색하는 전체검색으로 함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684046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제목 행을 선택하면 공지사항의 상세화면으로 이동</a:t>
                      </a: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723838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3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첨부파일이 있는 경우에는 첨부파일 아이콘 노출</a:t>
                      </a: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172599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4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목록갯수는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최초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10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개가 노출됨</a:t>
                      </a: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290794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5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더보기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버튼을 선택하면 추가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10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개가 목록하단에 노출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더보기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버튼은 목록이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10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개 이하일 때는 노출되지 않음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. 10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개 초과시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더보기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버튼 노출됨</a:t>
                      </a: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922450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6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784800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7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0538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8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199337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9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450365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D61EE60A-3103-4477-13A1-D3EDA19EC7F7}"/>
              </a:ext>
            </a:extLst>
          </p:cNvPr>
          <p:cNvSpPr/>
          <p:nvPr/>
        </p:nvSpPr>
        <p:spPr>
          <a:xfrm>
            <a:off x="959895" y="375614"/>
            <a:ext cx="1374094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</a:pP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메인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고객센터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공지사항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BA95C9F-98B3-D8E4-CB71-09DBB3F73915}"/>
              </a:ext>
            </a:extLst>
          </p:cNvPr>
          <p:cNvSpPr txBox="1"/>
          <p:nvPr/>
        </p:nvSpPr>
        <p:spPr>
          <a:xfrm>
            <a:off x="6003996" y="123825"/>
            <a:ext cx="17303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HN_Customer_Noticelist_001</a:t>
            </a:r>
            <a:endParaRPr lang="ko-KR" altLang="en-US" sz="800" dirty="0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8AF11487-4149-4C88-02B7-FCC145D245DA}"/>
              </a:ext>
            </a:extLst>
          </p:cNvPr>
          <p:cNvGrpSpPr/>
          <p:nvPr/>
        </p:nvGrpSpPr>
        <p:grpSpPr>
          <a:xfrm>
            <a:off x="161925" y="797629"/>
            <a:ext cx="8953500" cy="851943"/>
            <a:chOff x="161925" y="797629"/>
            <a:chExt cx="8953500" cy="851943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8EB16505-7A32-29E6-F5AD-DFB9CD028251}"/>
                </a:ext>
              </a:extLst>
            </p:cNvPr>
            <p:cNvSpPr/>
            <p:nvPr/>
          </p:nvSpPr>
          <p:spPr>
            <a:xfrm>
              <a:off x="4144448" y="797629"/>
              <a:ext cx="942784" cy="35821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800" b="1" dirty="0">
                  <a:solidFill>
                    <a:srgbClr val="FF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CI</a:t>
              </a:r>
            </a:p>
          </p:txBody>
        </p: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D8B91679-8E9C-1F6B-F53A-6F11915DCFAF}"/>
                </a:ext>
              </a:extLst>
            </p:cNvPr>
            <p:cNvCxnSpPr/>
            <p:nvPr/>
          </p:nvCxnSpPr>
          <p:spPr>
            <a:xfrm>
              <a:off x="161925" y="1649572"/>
              <a:ext cx="8953500" cy="0"/>
            </a:xfrm>
            <a:prstGeom prst="line">
              <a:avLst/>
            </a:prstGeom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7EA37DE-946C-4887-19EC-1F4C77F4230C}"/>
                </a:ext>
              </a:extLst>
            </p:cNvPr>
            <p:cNvSpPr txBox="1"/>
            <p:nvPr/>
          </p:nvSpPr>
          <p:spPr>
            <a:xfrm>
              <a:off x="2031551" y="1301804"/>
              <a:ext cx="120364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하늘누리소개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C22D9AE6-25B0-0D67-82E5-C6B7D40D56DD}"/>
                </a:ext>
              </a:extLst>
            </p:cNvPr>
            <p:cNvSpPr txBox="1"/>
            <p:nvPr/>
          </p:nvSpPr>
          <p:spPr>
            <a:xfrm>
              <a:off x="3239720" y="1301804"/>
              <a:ext cx="9144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시설안내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818BA5C4-9936-585B-FC23-4597ADBF84EE}"/>
                </a:ext>
              </a:extLst>
            </p:cNvPr>
            <p:cNvSpPr txBox="1"/>
            <p:nvPr/>
          </p:nvSpPr>
          <p:spPr>
            <a:xfrm>
              <a:off x="4158640" y="1301804"/>
              <a:ext cx="9144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분양안내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A5FA4E32-1620-C548-F914-F34225AA5CE5}"/>
                </a:ext>
              </a:extLst>
            </p:cNvPr>
            <p:cNvSpPr txBox="1"/>
            <p:nvPr/>
          </p:nvSpPr>
          <p:spPr>
            <a:xfrm>
              <a:off x="5077560" y="1301804"/>
              <a:ext cx="119120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사이버추모관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E086BEEA-39A9-C6FC-C61A-69FE162355C1}"/>
                </a:ext>
              </a:extLst>
            </p:cNvPr>
            <p:cNvSpPr txBox="1"/>
            <p:nvPr/>
          </p:nvSpPr>
          <p:spPr>
            <a:xfrm>
              <a:off x="6273289" y="1301804"/>
              <a:ext cx="9144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고객센터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AA3EC2A-4F40-75D4-E3FF-975584139E9A}"/>
                </a:ext>
              </a:extLst>
            </p:cNvPr>
            <p:cNvSpPr txBox="1"/>
            <p:nvPr/>
          </p:nvSpPr>
          <p:spPr>
            <a:xfrm>
              <a:off x="7734300" y="817862"/>
              <a:ext cx="79388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b="1">
                  <a:latin typeface="나눔고딕" panose="020D0604000000000000" pitchFamily="50" charset="-127"/>
                  <a:ea typeface="나눔고딕" panose="020D0604000000000000" pitchFamily="50" charset="-127"/>
                </a:rPr>
                <a:t>비밀번호변경</a:t>
              </a:r>
              <a:endParaRPr lang="ko-KR" altLang="en-US" sz="8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48143E28-8566-998F-3E67-A09610E4FA36}"/>
                </a:ext>
              </a:extLst>
            </p:cNvPr>
            <p:cNvSpPr txBox="1"/>
            <p:nvPr/>
          </p:nvSpPr>
          <p:spPr>
            <a:xfrm>
              <a:off x="8472200" y="817862"/>
              <a:ext cx="58783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로그아웃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57FD083-563D-78D0-5169-A63A881A32AD}"/>
                </a:ext>
              </a:extLst>
            </p:cNvPr>
            <p:cNvSpPr txBox="1"/>
            <p:nvPr/>
          </p:nvSpPr>
          <p:spPr>
            <a:xfrm>
              <a:off x="7203231" y="817862"/>
              <a:ext cx="65313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나의정보</a:t>
              </a: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B5C7CE7B-02F6-1976-67D5-4D2C7BCE5C25}"/>
              </a:ext>
            </a:extLst>
          </p:cNvPr>
          <p:cNvSpPr txBox="1"/>
          <p:nvPr/>
        </p:nvSpPr>
        <p:spPr>
          <a:xfrm>
            <a:off x="158621" y="1704392"/>
            <a:ext cx="314441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HOME &gt; </a:t>
            </a:r>
            <a:r>
              <a:rPr lang="ko-KR" altLang="en-US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고객센터 </a:t>
            </a:r>
            <a:r>
              <a:rPr lang="en-US" altLang="ko-KR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공지사항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14DE396-F15C-AB3B-A721-41BBC3A5E90F}"/>
              </a:ext>
            </a:extLst>
          </p:cNvPr>
          <p:cNvSpPr txBox="1"/>
          <p:nvPr/>
        </p:nvSpPr>
        <p:spPr>
          <a:xfrm>
            <a:off x="2962325" y="1866963"/>
            <a:ext cx="33499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공지사항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90524A4-7727-DFF7-BEC7-7FCF3E53DBEE}"/>
              </a:ext>
            </a:extLst>
          </p:cNvPr>
          <p:cNvSpPr txBox="1"/>
          <p:nvPr/>
        </p:nvSpPr>
        <p:spPr>
          <a:xfrm>
            <a:off x="2169973" y="2561406"/>
            <a:ext cx="49457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/>
              <a:t>"</a:t>
            </a:r>
            <a:r>
              <a:rPr lang="ko-KR" altLang="en-US" sz="1200" b="1" dirty="0"/>
              <a:t>하늘누리의 새로운 소식과 정성 어린 안내를 전합니다</a:t>
            </a:r>
            <a:r>
              <a:rPr lang="en-US" altLang="ko-KR" sz="1200" b="1" dirty="0"/>
              <a:t>." </a:t>
            </a:r>
          </a:p>
          <a:p>
            <a:pPr algn="ctr"/>
            <a:r>
              <a:rPr lang="ko-KR" altLang="en-US" sz="1200" dirty="0"/>
              <a:t>유족분들의 소중한 걸음이 헛되지 않도록</a:t>
            </a:r>
            <a:r>
              <a:rPr lang="en-US" altLang="ko-KR" sz="1200" dirty="0"/>
              <a:t>, </a:t>
            </a:r>
            <a:r>
              <a:rPr lang="ko-KR" altLang="en-US" sz="1200" dirty="0"/>
              <a:t>공원의 운영 일정과 주요 안내 사항을 가장 정직하고 세심하게 전달해 드리겠습니다</a:t>
            </a:r>
            <a:r>
              <a:rPr lang="en-US" altLang="ko-KR" sz="1200" dirty="0"/>
              <a:t>.</a:t>
            </a:r>
            <a:endParaRPr lang="ko-KR" altLang="en-US" sz="1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" name="모서리가 둥근 직사각형 63">
            <a:extLst>
              <a:ext uri="{FF2B5EF4-FFF2-40B4-BE49-F238E27FC236}">
                <a16:creationId xmlns:a16="http://schemas.microsoft.com/office/drawing/2014/main" id="{1E0761D5-26A6-B936-C233-3456B9492D93}"/>
              </a:ext>
            </a:extLst>
          </p:cNvPr>
          <p:cNvSpPr/>
          <p:nvPr/>
        </p:nvSpPr>
        <p:spPr bwMode="auto">
          <a:xfrm>
            <a:off x="1447856" y="6292493"/>
            <a:ext cx="6499763" cy="312422"/>
          </a:xfrm>
          <a:prstGeom prst="roundRect">
            <a:avLst/>
          </a:prstGeom>
          <a:solidFill>
            <a:schemeClr val="tx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400" b="1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더보기</a:t>
            </a:r>
            <a:endParaRPr kumimoji="1" lang="ko-KR" altLang="en-US" sz="1400" b="1" dirty="0">
              <a:ln w="0" cmpd="sng">
                <a:solidFill>
                  <a:schemeClr val="tx2">
                    <a:satMod val="155000"/>
                    <a:alpha val="0"/>
                  </a:schemeClr>
                </a:solidFill>
                <a:prstDash val="solid"/>
                <a:round/>
              </a:ln>
              <a:solidFill>
                <a:schemeClr val="bg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1481FFB-7CFD-BF94-A891-A390C43767C7}"/>
              </a:ext>
            </a:extLst>
          </p:cNvPr>
          <p:cNvSpPr txBox="1"/>
          <p:nvPr/>
        </p:nvSpPr>
        <p:spPr>
          <a:xfrm>
            <a:off x="4328596" y="5981817"/>
            <a:ext cx="6174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......</a:t>
            </a:r>
            <a:endParaRPr lang="ko-KR" altLang="en-US" sz="16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" name="Oval 109">
            <a:extLst>
              <a:ext uri="{FF2B5EF4-FFF2-40B4-BE49-F238E27FC236}">
                <a16:creationId xmlns:a16="http://schemas.microsoft.com/office/drawing/2014/main" id="{D26E4AF5-72F4-A780-4467-0CF1EB9A9D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02301" y="3151901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1</a:t>
            </a:r>
          </a:p>
        </p:txBody>
      </p:sp>
      <p:sp>
        <p:nvSpPr>
          <p:cNvPr id="17" name="Oval 109">
            <a:extLst>
              <a:ext uri="{FF2B5EF4-FFF2-40B4-BE49-F238E27FC236}">
                <a16:creationId xmlns:a16="http://schemas.microsoft.com/office/drawing/2014/main" id="{7B8FA49C-13DE-86B7-FEFD-D52444A512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9450" y="3963084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2</a:t>
            </a:r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6A0B2434-BF3A-E7FD-BFBE-7665E64FFD8F}"/>
              </a:ext>
            </a:extLst>
          </p:cNvPr>
          <p:cNvCxnSpPr/>
          <p:nvPr/>
        </p:nvCxnSpPr>
        <p:spPr>
          <a:xfrm>
            <a:off x="1543795" y="3690168"/>
            <a:ext cx="647839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2EAD3819-31D9-24AF-EDBE-CC65475BC18B}"/>
              </a:ext>
            </a:extLst>
          </p:cNvPr>
          <p:cNvCxnSpPr/>
          <p:nvPr/>
        </p:nvCxnSpPr>
        <p:spPr>
          <a:xfrm>
            <a:off x="1529669" y="4280315"/>
            <a:ext cx="6478390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AA97E015-3E8B-304B-834A-D33C1AE201B0}"/>
              </a:ext>
            </a:extLst>
          </p:cNvPr>
          <p:cNvSpPr txBox="1"/>
          <p:nvPr/>
        </p:nvSpPr>
        <p:spPr>
          <a:xfrm>
            <a:off x="1566083" y="3690168"/>
            <a:ext cx="61291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888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E7A58C0-FDD4-4A74-22F3-FBB12CCFB9B6}"/>
              </a:ext>
            </a:extLst>
          </p:cNvPr>
          <p:cNvSpPr txBox="1"/>
          <p:nvPr/>
        </p:nvSpPr>
        <p:spPr>
          <a:xfrm>
            <a:off x="2340137" y="3705124"/>
            <a:ext cx="924702" cy="230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2026-03-11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A8F08868-8B84-6EEC-4BF2-B674B4AC9D51}"/>
              </a:ext>
            </a:extLst>
          </p:cNvPr>
          <p:cNvCxnSpPr/>
          <p:nvPr/>
        </p:nvCxnSpPr>
        <p:spPr>
          <a:xfrm>
            <a:off x="1543795" y="4872563"/>
            <a:ext cx="6478390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BB40AF4B-D7B9-43D1-2B10-F0808A712957}"/>
              </a:ext>
            </a:extLst>
          </p:cNvPr>
          <p:cNvCxnSpPr/>
          <p:nvPr/>
        </p:nvCxnSpPr>
        <p:spPr>
          <a:xfrm>
            <a:off x="1529669" y="5504861"/>
            <a:ext cx="6478390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1A4E9EA4-742D-5290-5677-5AFA04E89D89}"/>
              </a:ext>
            </a:extLst>
          </p:cNvPr>
          <p:cNvSpPr txBox="1"/>
          <p:nvPr/>
        </p:nvSpPr>
        <p:spPr>
          <a:xfrm>
            <a:off x="1574883" y="4309672"/>
            <a:ext cx="61291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887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72737C4-A6BC-E316-CBEA-87EA09272610}"/>
              </a:ext>
            </a:extLst>
          </p:cNvPr>
          <p:cNvSpPr txBox="1"/>
          <p:nvPr/>
        </p:nvSpPr>
        <p:spPr>
          <a:xfrm>
            <a:off x="1566083" y="4895876"/>
            <a:ext cx="61291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886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9158D88-85B6-4379-AE78-BB89EA81953B}"/>
              </a:ext>
            </a:extLst>
          </p:cNvPr>
          <p:cNvSpPr txBox="1"/>
          <p:nvPr/>
        </p:nvSpPr>
        <p:spPr>
          <a:xfrm>
            <a:off x="1586673" y="5517519"/>
            <a:ext cx="61291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885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6" name="Oval 109">
            <a:extLst>
              <a:ext uri="{FF2B5EF4-FFF2-40B4-BE49-F238E27FC236}">
                <a16:creationId xmlns:a16="http://schemas.microsoft.com/office/drawing/2014/main" id="{68430F50-C224-0665-1B4F-3D69A718C5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5056" y="4722173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4</a:t>
            </a:r>
          </a:p>
        </p:txBody>
      </p:sp>
      <p:sp>
        <p:nvSpPr>
          <p:cNvPr id="47" name="Oval 109">
            <a:extLst>
              <a:ext uri="{FF2B5EF4-FFF2-40B4-BE49-F238E27FC236}">
                <a16:creationId xmlns:a16="http://schemas.microsoft.com/office/drawing/2014/main" id="{D3C460B0-6762-8816-DA85-4CA234270D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1504" y="6121687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060F385-2062-DA4C-4C7C-DEE648FE9EE7}"/>
              </a:ext>
            </a:extLst>
          </p:cNvPr>
          <p:cNvSpPr txBox="1"/>
          <p:nvPr/>
        </p:nvSpPr>
        <p:spPr>
          <a:xfrm>
            <a:off x="2336292" y="3969640"/>
            <a:ext cx="4492524" cy="21603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하늘누리에서　알려드립니다．　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7DA526B-B609-A31B-942C-14CDA02EB14F}"/>
              </a:ext>
            </a:extLst>
          </p:cNvPr>
          <p:cNvSpPr txBox="1"/>
          <p:nvPr/>
        </p:nvSpPr>
        <p:spPr>
          <a:xfrm>
            <a:off x="2377208" y="4338226"/>
            <a:ext cx="924702" cy="230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2026-03-11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60DEB6E-1FC2-5B6B-5827-9972B1178663}"/>
              </a:ext>
            </a:extLst>
          </p:cNvPr>
          <p:cNvSpPr txBox="1"/>
          <p:nvPr/>
        </p:nvSpPr>
        <p:spPr>
          <a:xfrm>
            <a:off x="2336292" y="4602742"/>
            <a:ext cx="4492524" cy="21603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하늘누리에서　알려드립니다．　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858D956-9991-3E1D-C92D-D6B68ABC3EE9}"/>
              </a:ext>
            </a:extLst>
          </p:cNvPr>
          <p:cNvSpPr txBox="1"/>
          <p:nvPr/>
        </p:nvSpPr>
        <p:spPr>
          <a:xfrm>
            <a:off x="2364442" y="4928941"/>
            <a:ext cx="924702" cy="230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2026-03-11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67410EC-6DE8-1E19-35AE-13BCA2E1428A}"/>
              </a:ext>
            </a:extLst>
          </p:cNvPr>
          <p:cNvSpPr txBox="1"/>
          <p:nvPr/>
        </p:nvSpPr>
        <p:spPr>
          <a:xfrm>
            <a:off x="2336292" y="5193457"/>
            <a:ext cx="4492524" cy="21603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하늘누리에서　알려드립니다．　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8F287A7-1981-1E19-D00B-EEBE47DB6A15}"/>
              </a:ext>
            </a:extLst>
          </p:cNvPr>
          <p:cNvSpPr txBox="1"/>
          <p:nvPr/>
        </p:nvSpPr>
        <p:spPr>
          <a:xfrm>
            <a:off x="2456286" y="5539455"/>
            <a:ext cx="924702" cy="230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2026-03-11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FE4AC3A-BC27-F334-89E0-8CDA2E92E165}"/>
              </a:ext>
            </a:extLst>
          </p:cNvPr>
          <p:cNvSpPr txBox="1"/>
          <p:nvPr/>
        </p:nvSpPr>
        <p:spPr>
          <a:xfrm>
            <a:off x="2336292" y="5803971"/>
            <a:ext cx="4492524" cy="21603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하늘누리에서　알려드립니다．　</a:t>
            </a:r>
          </a:p>
        </p:txBody>
      </p: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C410AF14-D7BC-A4E9-BAC1-6FE7244129B9}"/>
              </a:ext>
            </a:extLst>
          </p:cNvPr>
          <p:cNvCxnSpPr/>
          <p:nvPr/>
        </p:nvCxnSpPr>
        <p:spPr>
          <a:xfrm>
            <a:off x="1546627" y="6110963"/>
            <a:ext cx="6478390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30" name="Picture 6" descr="첨부 파일 - 무료 파일 및 폴더개 아이콘">
            <a:extLst>
              <a:ext uri="{FF2B5EF4-FFF2-40B4-BE49-F238E27FC236}">
                <a16:creationId xmlns:a16="http://schemas.microsoft.com/office/drawing/2014/main" id="{E9E160C0-310A-EF7E-6AB9-3536BA59DD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06218" y="3925028"/>
            <a:ext cx="256162" cy="2561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7" name="Picture 6" descr="첨부 파일 - 무료 파일 및 폴더개 아이콘">
            <a:extLst>
              <a:ext uri="{FF2B5EF4-FFF2-40B4-BE49-F238E27FC236}">
                <a16:creationId xmlns:a16="http://schemas.microsoft.com/office/drawing/2014/main" id="{D47122DB-0F0A-0E44-4711-9489437906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06218" y="5092636"/>
            <a:ext cx="256162" cy="2561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8" name="직사각형 57">
            <a:extLst>
              <a:ext uri="{FF2B5EF4-FFF2-40B4-BE49-F238E27FC236}">
                <a16:creationId xmlns:a16="http://schemas.microsoft.com/office/drawing/2014/main" id="{5552B877-46F7-724C-6C3E-035DECCD6309}"/>
              </a:ext>
            </a:extLst>
          </p:cNvPr>
          <p:cNvSpPr/>
          <p:nvPr/>
        </p:nvSpPr>
        <p:spPr bwMode="auto">
          <a:xfrm>
            <a:off x="5311303" y="3351697"/>
            <a:ext cx="2034910" cy="24310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>
              <a:ln w="0" cmpd="sng">
                <a:solidFill>
                  <a:schemeClr val="tx2">
                    <a:satMod val="155000"/>
                    <a:alpha val="0"/>
                  </a:schemeClr>
                </a:solidFill>
                <a:prstDash val="solid"/>
                <a:round/>
              </a:ln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59" name="모서리가 둥근 직사각형 65">
            <a:extLst>
              <a:ext uri="{FF2B5EF4-FFF2-40B4-BE49-F238E27FC236}">
                <a16:creationId xmlns:a16="http://schemas.microsoft.com/office/drawing/2014/main" id="{3E537F2C-F695-681A-8CD7-53FE48766B19}"/>
              </a:ext>
            </a:extLst>
          </p:cNvPr>
          <p:cNvSpPr/>
          <p:nvPr/>
        </p:nvSpPr>
        <p:spPr bwMode="auto">
          <a:xfrm>
            <a:off x="7403227" y="3351698"/>
            <a:ext cx="588963" cy="238064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000" b="1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검색</a:t>
            </a:r>
          </a:p>
        </p:txBody>
      </p:sp>
      <p:sp>
        <p:nvSpPr>
          <p:cNvPr id="63" name="Oval 109">
            <a:extLst>
              <a:ext uri="{FF2B5EF4-FFF2-40B4-BE49-F238E27FC236}">
                <a16:creationId xmlns:a16="http://schemas.microsoft.com/office/drawing/2014/main" id="{FEA0A42F-4950-07BE-C5CC-140A7F9ADA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43400" y="3884370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607036586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4A3E81-6DF7-AE72-8BA7-629F4DD6E6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F19BEE6A-46C2-48E9-41F6-64F8E607B2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9595164"/>
              </p:ext>
            </p:extLst>
          </p:nvPr>
        </p:nvGraphicFramePr>
        <p:xfrm>
          <a:off x="9182101" y="947377"/>
          <a:ext cx="2795588" cy="1847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1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검색결과 내용이 있는 경우 화면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684046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검색결과 내용이 없는 경우 화면</a:t>
                      </a: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723838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3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172599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4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290794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5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922450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6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784800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7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0538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8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199337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9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450365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E80C6FB4-9BC2-6F90-EA08-16A769C5E1DE}"/>
              </a:ext>
            </a:extLst>
          </p:cNvPr>
          <p:cNvSpPr/>
          <p:nvPr/>
        </p:nvSpPr>
        <p:spPr>
          <a:xfrm>
            <a:off x="959895" y="375614"/>
            <a:ext cx="2053767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</a:pP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메인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고객센터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공지사항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(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검색결과 화면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)</a:t>
            </a:r>
            <a:endParaRPr kumimoji="1" lang="ko-KR" altLang="en-US" sz="800" dirty="0"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FB41CC0-B5E4-3D21-76D0-C01B1B6A76FC}"/>
              </a:ext>
            </a:extLst>
          </p:cNvPr>
          <p:cNvSpPr txBox="1"/>
          <p:nvPr/>
        </p:nvSpPr>
        <p:spPr>
          <a:xfrm>
            <a:off x="6003996" y="123825"/>
            <a:ext cx="17303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HN_Customer_Noticelist_001</a:t>
            </a:r>
            <a:endParaRPr lang="ko-KR" altLang="en-US" sz="800" dirty="0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038D53B2-A95C-14DC-DFE5-D736B2860069}"/>
              </a:ext>
            </a:extLst>
          </p:cNvPr>
          <p:cNvGrpSpPr/>
          <p:nvPr/>
        </p:nvGrpSpPr>
        <p:grpSpPr>
          <a:xfrm>
            <a:off x="161925" y="797629"/>
            <a:ext cx="8953500" cy="851943"/>
            <a:chOff x="161925" y="797629"/>
            <a:chExt cx="8953500" cy="851943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FCDEE583-8011-995C-678A-182BD07D632B}"/>
                </a:ext>
              </a:extLst>
            </p:cNvPr>
            <p:cNvSpPr/>
            <p:nvPr/>
          </p:nvSpPr>
          <p:spPr>
            <a:xfrm>
              <a:off x="4144448" y="797629"/>
              <a:ext cx="942784" cy="35821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800" b="1" dirty="0">
                  <a:solidFill>
                    <a:srgbClr val="FF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CI</a:t>
              </a:r>
            </a:p>
          </p:txBody>
        </p: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D70A093A-848F-8F75-AB1A-A1F17E30FD9E}"/>
                </a:ext>
              </a:extLst>
            </p:cNvPr>
            <p:cNvCxnSpPr/>
            <p:nvPr/>
          </p:nvCxnSpPr>
          <p:spPr>
            <a:xfrm>
              <a:off x="161925" y="1649572"/>
              <a:ext cx="8953500" cy="0"/>
            </a:xfrm>
            <a:prstGeom prst="line">
              <a:avLst/>
            </a:prstGeom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FF1A2D3-E273-F39A-F57A-129293819768}"/>
                </a:ext>
              </a:extLst>
            </p:cNvPr>
            <p:cNvSpPr txBox="1"/>
            <p:nvPr/>
          </p:nvSpPr>
          <p:spPr>
            <a:xfrm>
              <a:off x="2031551" y="1301804"/>
              <a:ext cx="120364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하늘누리소개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28ADC1BD-4F80-8AB2-BBD6-06F19AD1BC3E}"/>
                </a:ext>
              </a:extLst>
            </p:cNvPr>
            <p:cNvSpPr txBox="1"/>
            <p:nvPr/>
          </p:nvSpPr>
          <p:spPr>
            <a:xfrm>
              <a:off x="3239720" y="1301804"/>
              <a:ext cx="9144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시설안내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5739AFA1-360A-EC41-FBF6-5825739E861B}"/>
                </a:ext>
              </a:extLst>
            </p:cNvPr>
            <p:cNvSpPr txBox="1"/>
            <p:nvPr/>
          </p:nvSpPr>
          <p:spPr>
            <a:xfrm>
              <a:off x="4158640" y="1301804"/>
              <a:ext cx="9144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분양안내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8AD08849-8342-6C8B-87C6-134F2408CCA9}"/>
                </a:ext>
              </a:extLst>
            </p:cNvPr>
            <p:cNvSpPr txBox="1"/>
            <p:nvPr/>
          </p:nvSpPr>
          <p:spPr>
            <a:xfrm>
              <a:off x="5077560" y="1301804"/>
              <a:ext cx="119120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사이버추모관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D63E6FF9-9558-D151-56A1-7C48811E5D57}"/>
                </a:ext>
              </a:extLst>
            </p:cNvPr>
            <p:cNvSpPr txBox="1"/>
            <p:nvPr/>
          </p:nvSpPr>
          <p:spPr>
            <a:xfrm>
              <a:off x="6273289" y="1301804"/>
              <a:ext cx="9144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고객센터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A6DBDBA-76CE-C827-0586-280C2E858883}"/>
                </a:ext>
              </a:extLst>
            </p:cNvPr>
            <p:cNvSpPr txBox="1"/>
            <p:nvPr/>
          </p:nvSpPr>
          <p:spPr>
            <a:xfrm>
              <a:off x="7734300" y="817862"/>
              <a:ext cx="79388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b="1">
                  <a:latin typeface="나눔고딕" panose="020D0604000000000000" pitchFamily="50" charset="-127"/>
                  <a:ea typeface="나눔고딕" panose="020D0604000000000000" pitchFamily="50" charset="-127"/>
                </a:rPr>
                <a:t>비밀번호변경</a:t>
              </a:r>
              <a:endParaRPr lang="ko-KR" altLang="en-US" sz="8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2DE947B1-427E-B1E7-8B44-B9D12007BE71}"/>
                </a:ext>
              </a:extLst>
            </p:cNvPr>
            <p:cNvSpPr txBox="1"/>
            <p:nvPr/>
          </p:nvSpPr>
          <p:spPr>
            <a:xfrm>
              <a:off x="8472200" y="817862"/>
              <a:ext cx="58783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로그아웃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2699B2ED-D366-4551-57E6-7AD693C1CCD8}"/>
                </a:ext>
              </a:extLst>
            </p:cNvPr>
            <p:cNvSpPr txBox="1"/>
            <p:nvPr/>
          </p:nvSpPr>
          <p:spPr>
            <a:xfrm>
              <a:off x="7203231" y="817862"/>
              <a:ext cx="65313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나의정보</a:t>
              </a: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33DBEA93-7D62-7A5B-24A9-1AFE24FF47F2}"/>
              </a:ext>
            </a:extLst>
          </p:cNvPr>
          <p:cNvSpPr txBox="1"/>
          <p:nvPr/>
        </p:nvSpPr>
        <p:spPr>
          <a:xfrm>
            <a:off x="158621" y="1704392"/>
            <a:ext cx="314441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HOME &gt; </a:t>
            </a:r>
            <a:r>
              <a:rPr lang="ko-KR" altLang="en-US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고객센터 </a:t>
            </a:r>
            <a:r>
              <a:rPr lang="en-US" altLang="ko-KR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공지사항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E398F53-2B4F-1DF5-64F0-E49C6D46EB3C}"/>
              </a:ext>
            </a:extLst>
          </p:cNvPr>
          <p:cNvSpPr txBox="1"/>
          <p:nvPr/>
        </p:nvSpPr>
        <p:spPr>
          <a:xfrm>
            <a:off x="2962325" y="1866963"/>
            <a:ext cx="33499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공지사항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0139566-740F-5AAA-A0A4-14BB3ECFC1C1}"/>
              </a:ext>
            </a:extLst>
          </p:cNvPr>
          <p:cNvSpPr txBox="1"/>
          <p:nvPr/>
        </p:nvSpPr>
        <p:spPr>
          <a:xfrm>
            <a:off x="2169973" y="2561406"/>
            <a:ext cx="49457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/>
              <a:t>"</a:t>
            </a:r>
            <a:r>
              <a:rPr lang="ko-KR" altLang="en-US" sz="1200" b="1" dirty="0"/>
              <a:t>하늘누리의 새로운 소식과 정성 어린 안내를 전합니다</a:t>
            </a:r>
            <a:r>
              <a:rPr lang="en-US" altLang="ko-KR" sz="1200" b="1" dirty="0"/>
              <a:t>." </a:t>
            </a:r>
          </a:p>
          <a:p>
            <a:pPr algn="ctr"/>
            <a:r>
              <a:rPr lang="ko-KR" altLang="en-US" sz="1200" dirty="0"/>
              <a:t>유족분들의 소중한 걸음이 헛되지 않도록</a:t>
            </a:r>
            <a:r>
              <a:rPr lang="en-US" altLang="ko-KR" sz="1200" dirty="0"/>
              <a:t>, </a:t>
            </a:r>
            <a:r>
              <a:rPr lang="ko-KR" altLang="en-US" sz="1200" dirty="0"/>
              <a:t>공원의 운영 일정과 주요 안내 사항을 가장 정직하고 세심하게 전달해 드리겠습니다</a:t>
            </a:r>
            <a:r>
              <a:rPr lang="en-US" altLang="ko-KR" sz="1200" dirty="0"/>
              <a:t>.</a:t>
            </a:r>
            <a:endParaRPr lang="ko-KR" altLang="en-US" sz="1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" name="Oval 109">
            <a:extLst>
              <a:ext uri="{FF2B5EF4-FFF2-40B4-BE49-F238E27FC236}">
                <a16:creationId xmlns:a16="http://schemas.microsoft.com/office/drawing/2014/main" id="{63EFDBD6-0570-E2C0-C60E-529A895BE5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1521" y="5243956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2</a:t>
            </a:r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A0AC9A9C-4D97-20A7-80AA-DA56750CAFD0}"/>
              </a:ext>
            </a:extLst>
          </p:cNvPr>
          <p:cNvCxnSpPr/>
          <p:nvPr/>
        </p:nvCxnSpPr>
        <p:spPr>
          <a:xfrm>
            <a:off x="1543795" y="3690168"/>
            <a:ext cx="6478390" cy="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D23EA100-DFED-791A-FD3E-CBAD26B6AF64}"/>
              </a:ext>
            </a:extLst>
          </p:cNvPr>
          <p:cNvCxnSpPr/>
          <p:nvPr/>
        </p:nvCxnSpPr>
        <p:spPr>
          <a:xfrm>
            <a:off x="1529669" y="4280315"/>
            <a:ext cx="6478390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9B954DCB-E1B4-866F-6845-79882D38ACAB}"/>
              </a:ext>
            </a:extLst>
          </p:cNvPr>
          <p:cNvSpPr txBox="1"/>
          <p:nvPr/>
        </p:nvSpPr>
        <p:spPr>
          <a:xfrm>
            <a:off x="1566083" y="3690168"/>
            <a:ext cx="61291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888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5C1424C-875E-98FC-347B-9F004CEC0D72}"/>
              </a:ext>
            </a:extLst>
          </p:cNvPr>
          <p:cNvSpPr txBox="1"/>
          <p:nvPr/>
        </p:nvSpPr>
        <p:spPr>
          <a:xfrm>
            <a:off x="2340137" y="3705124"/>
            <a:ext cx="924702" cy="230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2026-03-11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B22EF5D-8AB0-9B29-D333-D6F4252CD57D}"/>
              </a:ext>
            </a:extLst>
          </p:cNvPr>
          <p:cNvSpPr txBox="1"/>
          <p:nvPr/>
        </p:nvSpPr>
        <p:spPr>
          <a:xfrm>
            <a:off x="2397498" y="5547149"/>
            <a:ext cx="4492524" cy="21603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검색결과가 없습니다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1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1030" name="Picture 6" descr="첨부 파일 - 무료 파일 및 폴더개 아이콘">
            <a:extLst>
              <a:ext uri="{FF2B5EF4-FFF2-40B4-BE49-F238E27FC236}">
                <a16:creationId xmlns:a16="http://schemas.microsoft.com/office/drawing/2014/main" id="{345124D9-8DED-F3BB-0260-A94A6C4F03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06218" y="3925028"/>
            <a:ext cx="256162" cy="2561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8" name="직사각형 57">
            <a:extLst>
              <a:ext uri="{FF2B5EF4-FFF2-40B4-BE49-F238E27FC236}">
                <a16:creationId xmlns:a16="http://schemas.microsoft.com/office/drawing/2014/main" id="{DCCD89EF-705C-1712-794F-DF27FA52F49F}"/>
              </a:ext>
            </a:extLst>
          </p:cNvPr>
          <p:cNvSpPr/>
          <p:nvPr/>
        </p:nvSpPr>
        <p:spPr bwMode="auto">
          <a:xfrm>
            <a:off x="5311303" y="3351697"/>
            <a:ext cx="2034910" cy="24310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9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  </a:t>
            </a:r>
            <a:r>
              <a:rPr kumimoji="1" lang="ko-KR" altLang="en-US" sz="9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하늘</a:t>
            </a:r>
          </a:p>
        </p:txBody>
      </p:sp>
      <p:sp>
        <p:nvSpPr>
          <p:cNvPr id="59" name="모서리가 둥근 직사각형 65">
            <a:extLst>
              <a:ext uri="{FF2B5EF4-FFF2-40B4-BE49-F238E27FC236}">
                <a16:creationId xmlns:a16="http://schemas.microsoft.com/office/drawing/2014/main" id="{42F5982A-EC15-91B7-E37D-832207DBEA49}"/>
              </a:ext>
            </a:extLst>
          </p:cNvPr>
          <p:cNvSpPr/>
          <p:nvPr/>
        </p:nvSpPr>
        <p:spPr bwMode="auto">
          <a:xfrm>
            <a:off x="7403227" y="3351698"/>
            <a:ext cx="588963" cy="238064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000" b="1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검색</a:t>
            </a: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03030E7B-B1F5-5741-17AF-6395DF0F584B}"/>
              </a:ext>
            </a:extLst>
          </p:cNvPr>
          <p:cNvCxnSpPr/>
          <p:nvPr/>
        </p:nvCxnSpPr>
        <p:spPr>
          <a:xfrm>
            <a:off x="1557921" y="5360094"/>
            <a:ext cx="6478390" cy="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61459B98-1F66-D3BF-547A-01771B9D1F1A}"/>
              </a:ext>
            </a:extLst>
          </p:cNvPr>
          <p:cNvCxnSpPr/>
          <p:nvPr/>
        </p:nvCxnSpPr>
        <p:spPr>
          <a:xfrm>
            <a:off x="1543795" y="5950241"/>
            <a:ext cx="6478390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109">
            <a:extLst>
              <a:ext uri="{FF2B5EF4-FFF2-40B4-BE49-F238E27FC236}">
                <a16:creationId xmlns:a16="http://schemas.microsoft.com/office/drawing/2014/main" id="{3E07282A-6ABD-F18D-B2FD-2B1469B3D1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1176" y="3572646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1</a:t>
            </a: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B0FDD479-3509-F1E9-0466-D5DF7774612F}"/>
              </a:ext>
            </a:extLst>
          </p:cNvPr>
          <p:cNvCxnSpPr/>
          <p:nvPr/>
        </p:nvCxnSpPr>
        <p:spPr>
          <a:xfrm>
            <a:off x="815788" y="4787153"/>
            <a:ext cx="7888941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03499771-E169-83EB-176E-EEF00E9AF0E8}"/>
              </a:ext>
            </a:extLst>
          </p:cNvPr>
          <p:cNvSpPr txBox="1"/>
          <p:nvPr/>
        </p:nvSpPr>
        <p:spPr>
          <a:xfrm>
            <a:off x="2336292" y="3969640"/>
            <a:ext cx="4492524" cy="21603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하늘누리에서　알려드립니다．　</a:t>
            </a:r>
          </a:p>
        </p:txBody>
      </p:sp>
    </p:spTree>
    <p:extLst>
      <p:ext uri="{BB962C8B-B14F-4D97-AF65-F5344CB8AC3E}">
        <p14:creationId xmlns:p14="http://schemas.microsoft.com/office/powerpoint/2010/main" val="2085157220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8DBEA5-6FFB-9B74-203B-221318002C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0793E348-A47B-89E4-4929-DA0C6035B4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0000046"/>
              </p:ext>
            </p:extLst>
          </p:nvPr>
        </p:nvGraphicFramePr>
        <p:xfrm>
          <a:off x="9182101" y="947377"/>
          <a:ext cx="2795588" cy="1969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1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제목영역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684046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내용영역</a:t>
                      </a: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723838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3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첨부파일 영역으로 첨부파일을 등록한 경우에만 노출됨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첨부파일명 또는 다운로드 아이콘 선택 시 다운로드</a:t>
                      </a: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172599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4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290794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5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922450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6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784800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7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0538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8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199337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9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450365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CCF10C58-4333-4744-7EAF-E1203B99707E}"/>
              </a:ext>
            </a:extLst>
          </p:cNvPr>
          <p:cNvSpPr/>
          <p:nvPr/>
        </p:nvSpPr>
        <p:spPr>
          <a:xfrm>
            <a:off x="959895" y="375614"/>
            <a:ext cx="1680268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</a:pP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메인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고객센터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공지사항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상세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09E528A-5388-BF7C-0583-011C0BF9B2E2}"/>
              </a:ext>
            </a:extLst>
          </p:cNvPr>
          <p:cNvSpPr txBox="1"/>
          <p:nvPr/>
        </p:nvSpPr>
        <p:spPr>
          <a:xfrm>
            <a:off x="6003996" y="123825"/>
            <a:ext cx="17303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HN_Customer_Noticeview_001</a:t>
            </a:r>
            <a:endParaRPr lang="ko-KR" altLang="en-US" sz="800" dirty="0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C14FBFBF-E298-AF4C-F287-44FED20F8BA7}"/>
              </a:ext>
            </a:extLst>
          </p:cNvPr>
          <p:cNvGrpSpPr/>
          <p:nvPr/>
        </p:nvGrpSpPr>
        <p:grpSpPr>
          <a:xfrm>
            <a:off x="161925" y="797629"/>
            <a:ext cx="8953500" cy="851943"/>
            <a:chOff x="161925" y="797629"/>
            <a:chExt cx="8953500" cy="851943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447C532C-8C55-B2F6-D23E-A6DAEB581E74}"/>
                </a:ext>
              </a:extLst>
            </p:cNvPr>
            <p:cNvSpPr/>
            <p:nvPr/>
          </p:nvSpPr>
          <p:spPr>
            <a:xfrm>
              <a:off x="4144448" y="797629"/>
              <a:ext cx="942784" cy="35821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800" b="1" dirty="0">
                  <a:solidFill>
                    <a:srgbClr val="FF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CI</a:t>
              </a:r>
            </a:p>
          </p:txBody>
        </p: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8051E8D9-C1F1-28A5-3242-380FBF6F62D1}"/>
                </a:ext>
              </a:extLst>
            </p:cNvPr>
            <p:cNvCxnSpPr/>
            <p:nvPr/>
          </p:nvCxnSpPr>
          <p:spPr>
            <a:xfrm>
              <a:off x="161925" y="1649572"/>
              <a:ext cx="8953500" cy="0"/>
            </a:xfrm>
            <a:prstGeom prst="line">
              <a:avLst/>
            </a:prstGeom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E95632B-B707-F9BF-19EB-2F97F646CAB1}"/>
                </a:ext>
              </a:extLst>
            </p:cNvPr>
            <p:cNvSpPr txBox="1"/>
            <p:nvPr/>
          </p:nvSpPr>
          <p:spPr>
            <a:xfrm>
              <a:off x="2031551" y="1301804"/>
              <a:ext cx="120364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하늘누리소개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646DEE75-3142-4392-D326-2BC1182F5ECD}"/>
                </a:ext>
              </a:extLst>
            </p:cNvPr>
            <p:cNvSpPr txBox="1"/>
            <p:nvPr/>
          </p:nvSpPr>
          <p:spPr>
            <a:xfrm>
              <a:off x="3239720" y="1301804"/>
              <a:ext cx="9144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시설안내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40C04F2A-A8E0-BEF2-9892-4457576BEA0E}"/>
                </a:ext>
              </a:extLst>
            </p:cNvPr>
            <p:cNvSpPr txBox="1"/>
            <p:nvPr/>
          </p:nvSpPr>
          <p:spPr>
            <a:xfrm>
              <a:off x="4158640" y="1301804"/>
              <a:ext cx="9144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분양안내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9D5695C5-7404-9228-E6A6-EA3A8140A5A4}"/>
                </a:ext>
              </a:extLst>
            </p:cNvPr>
            <p:cNvSpPr txBox="1"/>
            <p:nvPr/>
          </p:nvSpPr>
          <p:spPr>
            <a:xfrm>
              <a:off x="5077560" y="1301804"/>
              <a:ext cx="119120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사이버추모관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7E0C970F-B2BC-F31D-2B22-3F68CD7415BB}"/>
                </a:ext>
              </a:extLst>
            </p:cNvPr>
            <p:cNvSpPr txBox="1"/>
            <p:nvPr/>
          </p:nvSpPr>
          <p:spPr>
            <a:xfrm>
              <a:off x="6273289" y="1301804"/>
              <a:ext cx="9144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고객센터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117F41F-DDFF-B1F5-25E4-E3A1B0214E15}"/>
                </a:ext>
              </a:extLst>
            </p:cNvPr>
            <p:cNvSpPr txBox="1"/>
            <p:nvPr/>
          </p:nvSpPr>
          <p:spPr>
            <a:xfrm>
              <a:off x="7734300" y="817862"/>
              <a:ext cx="79388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b="1">
                  <a:latin typeface="나눔고딕" panose="020D0604000000000000" pitchFamily="50" charset="-127"/>
                  <a:ea typeface="나눔고딕" panose="020D0604000000000000" pitchFamily="50" charset="-127"/>
                </a:rPr>
                <a:t>비밀번호변경</a:t>
              </a:r>
              <a:endParaRPr lang="ko-KR" altLang="en-US" sz="8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B742F594-8CBD-5398-2952-2D775B6A2D62}"/>
                </a:ext>
              </a:extLst>
            </p:cNvPr>
            <p:cNvSpPr txBox="1"/>
            <p:nvPr/>
          </p:nvSpPr>
          <p:spPr>
            <a:xfrm>
              <a:off x="8472200" y="817862"/>
              <a:ext cx="58783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로그아웃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4C56379-6C86-CBA3-78CA-8AB3C56FB358}"/>
                </a:ext>
              </a:extLst>
            </p:cNvPr>
            <p:cNvSpPr txBox="1"/>
            <p:nvPr/>
          </p:nvSpPr>
          <p:spPr>
            <a:xfrm>
              <a:off x="7203231" y="817862"/>
              <a:ext cx="65313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나의정보</a:t>
              </a: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A590897F-0687-195A-6709-F95F80FFEDA3}"/>
              </a:ext>
            </a:extLst>
          </p:cNvPr>
          <p:cNvSpPr txBox="1"/>
          <p:nvPr/>
        </p:nvSpPr>
        <p:spPr>
          <a:xfrm>
            <a:off x="158621" y="1704392"/>
            <a:ext cx="314441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HOME &gt; </a:t>
            </a:r>
            <a:r>
              <a:rPr lang="ko-KR" altLang="en-US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고객센터 </a:t>
            </a:r>
            <a:r>
              <a:rPr lang="en-US" altLang="ko-KR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공지사항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F81BC89-0075-94C8-3A2D-7B99EA54CFC1}"/>
              </a:ext>
            </a:extLst>
          </p:cNvPr>
          <p:cNvSpPr txBox="1"/>
          <p:nvPr/>
        </p:nvSpPr>
        <p:spPr>
          <a:xfrm>
            <a:off x="2962325" y="1866963"/>
            <a:ext cx="33499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공지사항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24F74C3-0534-2C6D-8997-AE5BF37EE000}"/>
              </a:ext>
            </a:extLst>
          </p:cNvPr>
          <p:cNvSpPr txBox="1"/>
          <p:nvPr/>
        </p:nvSpPr>
        <p:spPr>
          <a:xfrm>
            <a:off x="2169973" y="2561406"/>
            <a:ext cx="49457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/>
              <a:t>"</a:t>
            </a:r>
            <a:r>
              <a:rPr lang="ko-KR" altLang="en-US" sz="1200" b="1" dirty="0"/>
              <a:t>하늘누리의 새로운 소식과 정성 어린 안내를 전합니다</a:t>
            </a:r>
            <a:r>
              <a:rPr lang="en-US" altLang="ko-KR" sz="1200" b="1" dirty="0"/>
              <a:t>." </a:t>
            </a:r>
          </a:p>
          <a:p>
            <a:pPr algn="ctr"/>
            <a:r>
              <a:rPr lang="ko-KR" altLang="en-US" sz="1200" dirty="0"/>
              <a:t>유족분들의 소중한 걸음이 헛되지 않도록</a:t>
            </a:r>
            <a:r>
              <a:rPr lang="en-US" altLang="ko-KR" sz="1200" dirty="0"/>
              <a:t>, </a:t>
            </a:r>
            <a:r>
              <a:rPr lang="ko-KR" altLang="en-US" sz="1200" dirty="0"/>
              <a:t>공원의 운영 일정과 주요 안내 사항을 가장 정직하고 세심하게 전달해 드리겠습니다</a:t>
            </a:r>
            <a:r>
              <a:rPr lang="en-US" altLang="ko-KR" sz="1200" dirty="0"/>
              <a:t>.</a:t>
            </a:r>
            <a:endParaRPr lang="ko-KR" altLang="en-US" sz="1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" name="모서리가 둥근 직사각형 63">
            <a:extLst>
              <a:ext uri="{FF2B5EF4-FFF2-40B4-BE49-F238E27FC236}">
                <a16:creationId xmlns:a16="http://schemas.microsoft.com/office/drawing/2014/main" id="{C53830DC-5031-F716-F73A-3248725483E2}"/>
              </a:ext>
            </a:extLst>
          </p:cNvPr>
          <p:cNvSpPr/>
          <p:nvPr/>
        </p:nvSpPr>
        <p:spPr bwMode="auto">
          <a:xfrm>
            <a:off x="1447856" y="5971478"/>
            <a:ext cx="6499763" cy="312422"/>
          </a:xfrm>
          <a:prstGeom prst="roundRect">
            <a:avLst/>
          </a:prstGeom>
          <a:solidFill>
            <a:schemeClr val="tx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400" b="1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목록</a:t>
            </a:r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D6FA6EDE-B412-6DB5-704D-20FFBD5629EC}"/>
              </a:ext>
            </a:extLst>
          </p:cNvPr>
          <p:cNvCxnSpPr/>
          <p:nvPr/>
        </p:nvCxnSpPr>
        <p:spPr>
          <a:xfrm>
            <a:off x="1543795" y="3437245"/>
            <a:ext cx="6478390" cy="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5A6A0E7B-7ECF-56D6-C532-0D6BD901DB65}"/>
              </a:ext>
            </a:extLst>
          </p:cNvPr>
          <p:cNvCxnSpPr/>
          <p:nvPr/>
        </p:nvCxnSpPr>
        <p:spPr>
          <a:xfrm>
            <a:off x="1529669" y="3813387"/>
            <a:ext cx="6478390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DBE8A388-603A-B079-46F0-598A983CEF34}"/>
              </a:ext>
            </a:extLst>
          </p:cNvPr>
          <p:cNvCxnSpPr/>
          <p:nvPr/>
        </p:nvCxnSpPr>
        <p:spPr>
          <a:xfrm>
            <a:off x="1543795" y="5456227"/>
            <a:ext cx="6478390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Oval 109">
            <a:extLst>
              <a:ext uri="{FF2B5EF4-FFF2-40B4-BE49-F238E27FC236}">
                <a16:creationId xmlns:a16="http://schemas.microsoft.com/office/drawing/2014/main" id="{F9E58D68-EC6C-34F6-E7DD-08F6946E44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1504" y="6121687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2676F85-21B8-0EEA-95EF-A3610DF5F202}"/>
              </a:ext>
            </a:extLst>
          </p:cNvPr>
          <p:cNvSpPr txBox="1"/>
          <p:nvPr/>
        </p:nvSpPr>
        <p:spPr>
          <a:xfrm>
            <a:off x="1574292" y="3512120"/>
            <a:ext cx="4492524" cy="21603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ko-KR" altLang="en-US" sz="11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하늘누리에서　알려드립니다．　</a:t>
            </a:r>
          </a:p>
        </p:txBody>
      </p: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341DCBB6-A853-78AA-FE1A-CF8D0E698B33}"/>
              </a:ext>
            </a:extLst>
          </p:cNvPr>
          <p:cNvCxnSpPr/>
          <p:nvPr/>
        </p:nvCxnSpPr>
        <p:spPr>
          <a:xfrm>
            <a:off x="1546627" y="5809409"/>
            <a:ext cx="6478390" cy="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Oval 109">
            <a:extLst>
              <a:ext uri="{FF2B5EF4-FFF2-40B4-BE49-F238E27FC236}">
                <a16:creationId xmlns:a16="http://schemas.microsoft.com/office/drawing/2014/main" id="{F640D4E1-C6FE-F6ED-126D-7D3AA7EB6A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5375" y="3533738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A3AB603-6D11-349D-BB0B-5502C58AE5DE}"/>
              </a:ext>
            </a:extLst>
          </p:cNvPr>
          <p:cNvSpPr txBox="1"/>
          <p:nvPr/>
        </p:nvSpPr>
        <p:spPr>
          <a:xfrm>
            <a:off x="1628430" y="3973795"/>
            <a:ext cx="639375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하늘누리 추모공원이 완공되었습니다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유족분들의 소중한 걸음이 헛되지 않도록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공원의 운영 일정과 주요 안내 사항을 가장 정직하고 세심하게 전달해 드리겠습니다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하늘누리 추모공원이 완공되었습니다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유족분들의 소중한 걸음이 헛되지 않도록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공원의 운영 일정과 주요 안내 사항을 가장 정직하고 세심하게 전달해 드리겠습니다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하늘누리 추모공원이 완공되었습니다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유족분들의 소중한 걸음이 헛되지 않도록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공원의 운영 일정과 주요 안내 사항을 가장 정직하고 세심하게 전달해 드리겠습니다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하늘누리 추모공원이 완공되었습니다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유족분들의 소중한 걸음이 헛되지 않도록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공원의 운영 일정과 주요 안내 사항을 가장 정직하고 세심하게 전달해 드리겠습니다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EFF90CD-A543-478F-4D38-4AB6168A0900}"/>
              </a:ext>
            </a:extLst>
          </p:cNvPr>
          <p:cNvSpPr txBox="1"/>
          <p:nvPr/>
        </p:nvSpPr>
        <p:spPr>
          <a:xfrm>
            <a:off x="1614305" y="5554494"/>
            <a:ext cx="66196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첨부파일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45BFA60-56C6-9551-22AD-C230F3CFB270}"/>
              </a:ext>
            </a:extLst>
          </p:cNvPr>
          <p:cNvSpPr txBox="1"/>
          <p:nvPr/>
        </p:nvSpPr>
        <p:spPr>
          <a:xfrm>
            <a:off x="2309178" y="5554494"/>
            <a:ext cx="173752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u="sng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하늘누리 추모공원 안내문</a:t>
            </a:r>
            <a:r>
              <a:rPr lang="en-US" altLang="ko-KR" sz="900" u="sng" dirty="0">
                <a:latin typeface="나눔고딕" panose="020D0604000000000000" pitchFamily="50" charset="-127"/>
                <a:ea typeface="나눔고딕" panose="020D0604000000000000" pitchFamily="50" charset="-127"/>
              </a:rPr>
              <a:t>.pdf</a:t>
            </a:r>
            <a:endParaRPr lang="ko-KR" altLang="en-US" sz="900" u="sng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2" name="Oval 109">
            <a:extLst>
              <a:ext uri="{FF2B5EF4-FFF2-40B4-BE49-F238E27FC236}">
                <a16:creationId xmlns:a16="http://schemas.microsoft.com/office/drawing/2014/main" id="{A7E0738F-B0F4-2A88-BD05-86AB82AE58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8704" y="4549114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2</a:t>
            </a:r>
          </a:p>
        </p:txBody>
      </p:sp>
      <p:sp>
        <p:nvSpPr>
          <p:cNvPr id="36" name="Oval 109">
            <a:extLst>
              <a:ext uri="{FF2B5EF4-FFF2-40B4-BE49-F238E27FC236}">
                <a16:creationId xmlns:a16="http://schemas.microsoft.com/office/drawing/2014/main" id="{896C088D-7F0F-DC99-AB61-72081E75B4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6036" y="5541053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3</a:t>
            </a:r>
          </a:p>
        </p:txBody>
      </p:sp>
      <p:pic>
        <p:nvPicPr>
          <p:cNvPr id="2050" name="Picture 2" descr="다운로드 - 무료 화살개 아이콘">
            <a:extLst>
              <a:ext uri="{FF2B5EF4-FFF2-40B4-BE49-F238E27FC236}">
                <a16:creationId xmlns:a16="http://schemas.microsoft.com/office/drawing/2014/main" id="{18644680-6C49-D289-C26B-E8CA7D308D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4194" y="5536079"/>
            <a:ext cx="230832" cy="2308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430E430-0F0E-67B1-0A45-7E835D4C1D5F}"/>
              </a:ext>
            </a:extLst>
          </p:cNvPr>
          <p:cNvSpPr txBox="1"/>
          <p:nvPr/>
        </p:nvSpPr>
        <p:spPr>
          <a:xfrm>
            <a:off x="7203231" y="3491897"/>
            <a:ext cx="924702" cy="230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2026-03-11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58925956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C45C9C-0CBE-C58C-9C25-73DE9E0D56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직사각형 25">
            <a:extLst>
              <a:ext uri="{FF2B5EF4-FFF2-40B4-BE49-F238E27FC236}">
                <a16:creationId xmlns:a16="http://schemas.microsoft.com/office/drawing/2014/main" id="{17CD8282-3FC5-93EC-5BC3-488C8DD62D29}"/>
              </a:ext>
            </a:extLst>
          </p:cNvPr>
          <p:cNvSpPr/>
          <p:nvPr/>
        </p:nvSpPr>
        <p:spPr>
          <a:xfrm>
            <a:off x="1458174" y="3725837"/>
            <a:ext cx="6478390" cy="1218448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B5B2C6E6-F618-17E7-61B5-028986274E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3852440"/>
              </p:ext>
            </p:extLst>
          </p:nvPr>
        </p:nvGraphicFramePr>
        <p:xfrm>
          <a:off x="9182101" y="947377"/>
          <a:ext cx="2795588" cy="2334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1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자주 묻는 질문은 아코디언 형태로 구성되며 별도의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DB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에서 관리하지 않고 구성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684046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질문영역이나 화살표를 선택하면 답변이 아코디언 형태로 노출됨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다시 한번 질문 영역이나 화살표 선택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답뎐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영역 닫힘</a:t>
                      </a: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723838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3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다른 질문을 선택하면 열려 있는 답변영역 닫힘</a:t>
                      </a: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172599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4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290794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5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922450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6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784800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7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0538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8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199337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9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450365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1731D48E-77CB-D680-3885-8E5771404551}"/>
              </a:ext>
            </a:extLst>
          </p:cNvPr>
          <p:cNvSpPr/>
          <p:nvPr/>
        </p:nvSpPr>
        <p:spPr>
          <a:xfrm>
            <a:off x="959895" y="375614"/>
            <a:ext cx="1624163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</a:pP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메인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고객센터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자주 묻는 질문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A4CEA62-DBB7-0BFE-E216-69379BC460CD}"/>
              </a:ext>
            </a:extLst>
          </p:cNvPr>
          <p:cNvSpPr txBox="1"/>
          <p:nvPr/>
        </p:nvSpPr>
        <p:spPr>
          <a:xfrm>
            <a:off x="6003996" y="123825"/>
            <a:ext cx="17303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HN_Customer_Faq_001</a:t>
            </a:r>
            <a:endParaRPr lang="ko-KR" altLang="en-US" sz="800" dirty="0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A6102ADB-9B18-E6A1-7EA1-C63005FC70DE}"/>
              </a:ext>
            </a:extLst>
          </p:cNvPr>
          <p:cNvGrpSpPr/>
          <p:nvPr/>
        </p:nvGrpSpPr>
        <p:grpSpPr>
          <a:xfrm>
            <a:off x="161925" y="797629"/>
            <a:ext cx="8953500" cy="851943"/>
            <a:chOff x="161925" y="797629"/>
            <a:chExt cx="8953500" cy="851943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A10E9FE4-E68D-97CC-2481-11FE7710291A}"/>
                </a:ext>
              </a:extLst>
            </p:cNvPr>
            <p:cNvSpPr/>
            <p:nvPr/>
          </p:nvSpPr>
          <p:spPr>
            <a:xfrm>
              <a:off x="4144448" y="797629"/>
              <a:ext cx="942784" cy="35821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800" b="1" dirty="0">
                  <a:solidFill>
                    <a:srgbClr val="FF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CI</a:t>
              </a:r>
            </a:p>
          </p:txBody>
        </p: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AB4A5090-E3DF-B92B-A392-24ECBCCC0201}"/>
                </a:ext>
              </a:extLst>
            </p:cNvPr>
            <p:cNvCxnSpPr/>
            <p:nvPr/>
          </p:nvCxnSpPr>
          <p:spPr>
            <a:xfrm>
              <a:off x="161925" y="1649572"/>
              <a:ext cx="8953500" cy="0"/>
            </a:xfrm>
            <a:prstGeom prst="line">
              <a:avLst/>
            </a:prstGeom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58E7281-6D40-4B0A-9CA0-7D21109EFE21}"/>
                </a:ext>
              </a:extLst>
            </p:cNvPr>
            <p:cNvSpPr txBox="1"/>
            <p:nvPr/>
          </p:nvSpPr>
          <p:spPr>
            <a:xfrm>
              <a:off x="2031551" y="1301804"/>
              <a:ext cx="120364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하늘누리소개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A0625401-C26A-57BE-19B4-AE4214A44E3C}"/>
                </a:ext>
              </a:extLst>
            </p:cNvPr>
            <p:cNvSpPr txBox="1"/>
            <p:nvPr/>
          </p:nvSpPr>
          <p:spPr>
            <a:xfrm>
              <a:off x="3239720" y="1301804"/>
              <a:ext cx="9144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시설안내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A745BEE4-E3BC-9B61-94AB-6846B20D19A6}"/>
                </a:ext>
              </a:extLst>
            </p:cNvPr>
            <p:cNvSpPr txBox="1"/>
            <p:nvPr/>
          </p:nvSpPr>
          <p:spPr>
            <a:xfrm>
              <a:off x="4158640" y="1301804"/>
              <a:ext cx="9144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분양안내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CC86ECD7-3293-2517-A391-DD29A81EBD09}"/>
                </a:ext>
              </a:extLst>
            </p:cNvPr>
            <p:cNvSpPr txBox="1"/>
            <p:nvPr/>
          </p:nvSpPr>
          <p:spPr>
            <a:xfrm>
              <a:off x="5077560" y="1301804"/>
              <a:ext cx="119120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사이버추모관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D7EC27A5-28BF-3B70-7EE9-40340A849A4C}"/>
                </a:ext>
              </a:extLst>
            </p:cNvPr>
            <p:cNvSpPr txBox="1"/>
            <p:nvPr/>
          </p:nvSpPr>
          <p:spPr>
            <a:xfrm>
              <a:off x="6273289" y="1301804"/>
              <a:ext cx="9144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고객센터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11D7C94B-9D1A-2A16-D074-7767B58E8026}"/>
                </a:ext>
              </a:extLst>
            </p:cNvPr>
            <p:cNvSpPr txBox="1"/>
            <p:nvPr/>
          </p:nvSpPr>
          <p:spPr>
            <a:xfrm>
              <a:off x="7734300" y="817862"/>
              <a:ext cx="79388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b="1">
                  <a:latin typeface="나눔고딕" panose="020D0604000000000000" pitchFamily="50" charset="-127"/>
                  <a:ea typeface="나눔고딕" panose="020D0604000000000000" pitchFamily="50" charset="-127"/>
                </a:rPr>
                <a:t>비밀번호변경</a:t>
              </a:r>
              <a:endParaRPr lang="ko-KR" altLang="en-US" sz="8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DB5AE5D-DC3D-476C-2ADC-E14000B12468}"/>
                </a:ext>
              </a:extLst>
            </p:cNvPr>
            <p:cNvSpPr txBox="1"/>
            <p:nvPr/>
          </p:nvSpPr>
          <p:spPr>
            <a:xfrm>
              <a:off x="8472200" y="817862"/>
              <a:ext cx="58783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로그아웃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C5EBE15-BC84-A826-1384-A089E51F2E12}"/>
                </a:ext>
              </a:extLst>
            </p:cNvPr>
            <p:cNvSpPr txBox="1"/>
            <p:nvPr/>
          </p:nvSpPr>
          <p:spPr>
            <a:xfrm>
              <a:off x="7203231" y="817862"/>
              <a:ext cx="65313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나의정보</a:t>
              </a: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509B08AF-E9B6-DF74-ACFF-434555BFD2C8}"/>
              </a:ext>
            </a:extLst>
          </p:cNvPr>
          <p:cNvSpPr txBox="1"/>
          <p:nvPr/>
        </p:nvSpPr>
        <p:spPr>
          <a:xfrm>
            <a:off x="158621" y="1704392"/>
            <a:ext cx="314441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HOME &gt; </a:t>
            </a:r>
            <a:r>
              <a:rPr lang="ko-KR" altLang="en-US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고객센터 </a:t>
            </a:r>
            <a:r>
              <a:rPr lang="en-US" altLang="ko-KR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공지사항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32E747B-40B6-77DC-DED2-978F03FFD60C}"/>
              </a:ext>
            </a:extLst>
          </p:cNvPr>
          <p:cNvSpPr txBox="1"/>
          <p:nvPr/>
        </p:nvSpPr>
        <p:spPr>
          <a:xfrm>
            <a:off x="2962325" y="1866963"/>
            <a:ext cx="33499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자주 묻는 질문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CF8D320-DC26-40A6-A8A5-345EAAD3F0E4}"/>
              </a:ext>
            </a:extLst>
          </p:cNvPr>
          <p:cNvSpPr txBox="1"/>
          <p:nvPr/>
        </p:nvSpPr>
        <p:spPr>
          <a:xfrm>
            <a:off x="2169973" y="2561406"/>
            <a:ext cx="49457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/>
              <a:t>"</a:t>
            </a:r>
            <a:r>
              <a:rPr lang="ko-KR" altLang="en-US" sz="1200" b="1" dirty="0"/>
              <a:t>낯설고 어려운 마음을 보듬는 하늘누리의 작은 길잡이</a:t>
            </a:r>
            <a:r>
              <a:rPr lang="en-US" altLang="ko-KR" sz="1200" b="1" dirty="0"/>
              <a:t>“</a:t>
            </a:r>
          </a:p>
          <a:p>
            <a:pPr algn="ctr"/>
            <a:r>
              <a:rPr lang="ko-KR" altLang="en-US" sz="1200" dirty="0"/>
              <a:t>유족분들께서 가장 자주 궁금해하시는 내용들을 세세하게 모았습니다</a:t>
            </a:r>
            <a:r>
              <a:rPr lang="en-US" altLang="ko-KR" sz="1200" dirty="0"/>
              <a:t>. </a:t>
            </a:r>
            <a:r>
              <a:rPr lang="ko-KR" altLang="en-US" sz="1200" dirty="0"/>
              <a:t>궁금하신 점을 차근차근 확인해 보세요</a:t>
            </a:r>
            <a:r>
              <a:rPr lang="en-US" altLang="ko-KR" sz="1200" dirty="0"/>
              <a:t>.</a:t>
            </a:r>
            <a:endParaRPr lang="ko-KR" altLang="en-US" sz="1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54033F5E-F05D-40F6-4F68-1C7A9018815C}"/>
              </a:ext>
            </a:extLst>
          </p:cNvPr>
          <p:cNvCxnSpPr>
            <a:cxnSpLocks/>
          </p:cNvCxnSpPr>
          <p:nvPr/>
        </p:nvCxnSpPr>
        <p:spPr>
          <a:xfrm>
            <a:off x="1458175" y="3349695"/>
            <a:ext cx="647839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0000D02B-C9D8-62D8-4F27-ACC0D6E8DD6C}"/>
              </a:ext>
            </a:extLst>
          </p:cNvPr>
          <p:cNvCxnSpPr>
            <a:cxnSpLocks/>
          </p:cNvCxnSpPr>
          <p:nvPr/>
        </p:nvCxnSpPr>
        <p:spPr>
          <a:xfrm>
            <a:off x="1458175" y="3725837"/>
            <a:ext cx="6478390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3836827E-3F26-7C03-947D-D9161DD57A04}"/>
              </a:ext>
            </a:extLst>
          </p:cNvPr>
          <p:cNvCxnSpPr>
            <a:cxnSpLocks/>
          </p:cNvCxnSpPr>
          <p:nvPr/>
        </p:nvCxnSpPr>
        <p:spPr>
          <a:xfrm>
            <a:off x="1458175" y="5368677"/>
            <a:ext cx="6478390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FA899BC2-F913-5149-0591-0A8785A004A5}"/>
              </a:ext>
            </a:extLst>
          </p:cNvPr>
          <p:cNvSpPr txBox="1"/>
          <p:nvPr/>
        </p:nvSpPr>
        <p:spPr>
          <a:xfrm>
            <a:off x="1924489" y="3424570"/>
            <a:ext cx="4492524" cy="21603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ko-KR" altLang="en-US" sz="11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하늘누리 추모공원의 운영시간은 어떻게 되나요</a:t>
            </a:r>
            <a:r>
              <a:rPr lang="en-US" altLang="ko-KR" sz="11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?</a:t>
            </a:r>
            <a:r>
              <a:rPr lang="ko-KR" altLang="en-US" sz="11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　</a:t>
            </a:r>
          </a:p>
        </p:txBody>
      </p: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60C67C76-ADBA-2707-27E1-6A76A1CBE4BF}"/>
              </a:ext>
            </a:extLst>
          </p:cNvPr>
          <p:cNvCxnSpPr>
            <a:cxnSpLocks/>
          </p:cNvCxnSpPr>
          <p:nvPr/>
        </p:nvCxnSpPr>
        <p:spPr>
          <a:xfrm>
            <a:off x="1458175" y="6461162"/>
            <a:ext cx="647839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Oval 109">
            <a:extLst>
              <a:ext uri="{FF2B5EF4-FFF2-40B4-BE49-F238E27FC236}">
                <a16:creationId xmlns:a16="http://schemas.microsoft.com/office/drawing/2014/main" id="{2DABEB3B-41AA-CF3A-E25C-F2A85C7B83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8283" y="3189836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A7EEDBE-07B0-C686-3149-7158BAC5752F}"/>
              </a:ext>
            </a:extLst>
          </p:cNvPr>
          <p:cNvSpPr txBox="1"/>
          <p:nvPr/>
        </p:nvSpPr>
        <p:spPr>
          <a:xfrm>
            <a:off x="1924489" y="3886245"/>
            <a:ext cx="5574801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하늘누리 추모공원 운영시간</a:t>
            </a: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연중무휴</a:t>
            </a: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오전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08:00 ~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오후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18:00</a:t>
            </a:r>
          </a:p>
          <a:p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하늘누리 추모공원은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"</a:t>
            </a:r>
            <a:r>
              <a:rPr lang="ko-KR" altLang="en-US" sz="1000" b="1" dirty="0">
                <a:solidFill>
                  <a:srgbClr val="2324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고인께서는 편안히 영면하실 수 있는 성스러운 안식처가</a:t>
            </a:r>
            <a:r>
              <a:rPr lang="en-US" altLang="ko-KR" sz="1000" b="1" dirty="0">
                <a:solidFill>
                  <a:srgbClr val="2324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”</a:t>
            </a:r>
            <a:r>
              <a:rPr lang="ko-KR" altLang="en-US" sz="1000" b="1" dirty="0">
                <a:solidFill>
                  <a:srgbClr val="2324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000" dirty="0">
                <a:solidFill>
                  <a:srgbClr val="2324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되겠습니다</a:t>
            </a:r>
            <a:r>
              <a:rPr lang="en-US" altLang="ko-KR" sz="1000" dirty="0">
                <a:solidFill>
                  <a:srgbClr val="2324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3E39C01D-4271-F9B8-74AA-6EB2F142F4C4}"/>
              </a:ext>
            </a:extLst>
          </p:cNvPr>
          <p:cNvCxnSpPr>
            <a:cxnSpLocks/>
          </p:cNvCxnSpPr>
          <p:nvPr/>
        </p:nvCxnSpPr>
        <p:spPr>
          <a:xfrm>
            <a:off x="1458175" y="5777239"/>
            <a:ext cx="6478390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4F08C1E8-3314-691C-0243-130AE3B97515}"/>
              </a:ext>
            </a:extLst>
          </p:cNvPr>
          <p:cNvCxnSpPr>
            <a:cxnSpLocks/>
          </p:cNvCxnSpPr>
          <p:nvPr/>
        </p:nvCxnSpPr>
        <p:spPr>
          <a:xfrm>
            <a:off x="1458175" y="6167037"/>
            <a:ext cx="6478390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074" name="Picture 2" descr="아래쪽 화살표 - 무료 화살개 아이콘">
            <a:extLst>
              <a:ext uri="{FF2B5EF4-FFF2-40B4-BE49-F238E27FC236}">
                <a16:creationId xmlns:a16="http://schemas.microsoft.com/office/drawing/2014/main" id="{D7BEC219-3C8A-A04B-11F7-0166A4B892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83568" y="5510547"/>
            <a:ext cx="172801" cy="172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2" descr="아래쪽 화살표 - 무료 화살개 아이콘">
            <a:extLst>
              <a:ext uri="{FF2B5EF4-FFF2-40B4-BE49-F238E27FC236}">
                <a16:creationId xmlns:a16="http://schemas.microsoft.com/office/drawing/2014/main" id="{5D1956CA-E859-2446-0CA7-A9DA55FBE6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83568" y="5871131"/>
            <a:ext cx="172801" cy="172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위쪽 화살표 아이콘 Basic Black Outline | Freepik">
            <a:extLst>
              <a:ext uri="{FF2B5EF4-FFF2-40B4-BE49-F238E27FC236}">
                <a16:creationId xmlns:a16="http://schemas.microsoft.com/office/drawing/2014/main" id="{82989C3D-FB36-29EA-D647-111DA3A327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83567" y="3477684"/>
            <a:ext cx="172801" cy="172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A7C07DB9-A9B3-6163-D9E5-186C2D0206DA}"/>
              </a:ext>
            </a:extLst>
          </p:cNvPr>
          <p:cNvCxnSpPr>
            <a:cxnSpLocks/>
          </p:cNvCxnSpPr>
          <p:nvPr/>
        </p:nvCxnSpPr>
        <p:spPr>
          <a:xfrm>
            <a:off x="1458174" y="4944285"/>
            <a:ext cx="6478390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2" name="Picture 2" descr="아래쪽 화살표 - 무료 화살개 아이콘">
            <a:extLst>
              <a:ext uri="{FF2B5EF4-FFF2-40B4-BE49-F238E27FC236}">
                <a16:creationId xmlns:a16="http://schemas.microsoft.com/office/drawing/2014/main" id="{E7CFC868-3A87-F21D-F52C-F78280F3B2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83567" y="5086155"/>
            <a:ext cx="172801" cy="172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642604EC-04BC-01E1-2FB3-658A9FFF30B9}"/>
              </a:ext>
            </a:extLst>
          </p:cNvPr>
          <p:cNvSpPr txBox="1"/>
          <p:nvPr/>
        </p:nvSpPr>
        <p:spPr>
          <a:xfrm>
            <a:off x="1484114" y="3375930"/>
            <a:ext cx="3009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Q</a:t>
            </a:r>
            <a:endParaRPr lang="ko-KR" altLang="en-US" sz="14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92CCCB6-179A-1536-8437-A2BBDD0722B1}"/>
              </a:ext>
            </a:extLst>
          </p:cNvPr>
          <p:cNvSpPr txBox="1"/>
          <p:nvPr/>
        </p:nvSpPr>
        <p:spPr>
          <a:xfrm>
            <a:off x="1484114" y="4141175"/>
            <a:ext cx="3009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A</a:t>
            </a:r>
            <a:endParaRPr lang="ko-KR" altLang="en-US" sz="14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27C6B2D-7845-645A-461E-03117D1BE4DE}"/>
              </a:ext>
            </a:extLst>
          </p:cNvPr>
          <p:cNvSpPr txBox="1"/>
          <p:nvPr/>
        </p:nvSpPr>
        <p:spPr>
          <a:xfrm>
            <a:off x="1907858" y="5066058"/>
            <a:ext cx="4492524" cy="21603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ko-KR" altLang="en-US" sz="11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하늘누리의 의미는</a:t>
            </a:r>
            <a:r>
              <a:rPr lang="en-US" altLang="ko-KR" sz="11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?</a:t>
            </a:r>
            <a:endParaRPr lang="ko-KR" altLang="en-US" sz="11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80DF6BF-86CE-66FD-376B-6C35342A1C02}"/>
              </a:ext>
            </a:extLst>
          </p:cNvPr>
          <p:cNvSpPr txBox="1"/>
          <p:nvPr/>
        </p:nvSpPr>
        <p:spPr>
          <a:xfrm>
            <a:off x="1467483" y="5017418"/>
            <a:ext cx="3009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Q</a:t>
            </a:r>
            <a:endParaRPr lang="ko-KR" altLang="en-US" sz="14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099E72B-101F-17E8-FDAF-E81815566A9B}"/>
              </a:ext>
            </a:extLst>
          </p:cNvPr>
          <p:cNvSpPr txBox="1"/>
          <p:nvPr/>
        </p:nvSpPr>
        <p:spPr>
          <a:xfrm>
            <a:off x="1898186" y="5460793"/>
            <a:ext cx="4492524" cy="21603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ko-KR" altLang="en-US" sz="11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하늘누리 추모공원의 운영시간은 어떻게 되나요</a:t>
            </a:r>
            <a:r>
              <a:rPr lang="en-US" altLang="ko-KR" sz="11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?</a:t>
            </a:r>
            <a:endParaRPr lang="ko-KR" altLang="en-US" sz="11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04C13A3-6542-03EE-41B1-D81CB0146BCE}"/>
              </a:ext>
            </a:extLst>
          </p:cNvPr>
          <p:cNvSpPr txBox="1"/>
          <p:nvPr/>
        </p:nvSpPr>
        <p:spPr>
          <a:xfrm>
            <a:off x="1457811" y="5412153"/>
            <a:ext cx="3009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Q</a:t>
            </a:r>
            <a:endParaRPr lang="ko-KR" altLang="en-US" sz="14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8A9C7CF-B7ED-72F4-CB16-72AE63EE758A}"/>
              </a:ext>
            </a:extLst>
          </p:cNvPr>
          <p:cNvSpPr txBox="1"/>
          <p:nvPr/>
        </p:nvSpPr>
        <p:spPr>
          <a:xfrm>
            <a:off x="1898186" y="5847854"/>
            <a:ext cx="4492524" cy="21603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ko-KR" altLang="en-US" sz="11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하늘누리의 의미는</a:t>
            </a:r>
            <a:r>
              <a:rPr lang="en-US" altLang="ko-KR" sz="11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?</a:t>
            </a:r>
            <a:endParaRPr lang="ko-KR" altLang="en-US" sz="11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EBECC01-F94E-A583-4C2F-4E1ED80985E0}"/>
              </a:ext>
            </a:extLst>
          </p:cNvPr>
          <p:cNvSpPr txBox="1"/>
          <p:nvPr/>
        </p:nvSpPr>
        <p:spPr>
          <a:xfrm>
            <a:off x="1457811" y="5799214"/>
            <a:ext cx="3009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Q</a:t>
            </a:r>
            <a:endParaRPr lang="ko-KR" altLang="en-US" sz="14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572FB22-9CFB-EBAB-9A0C-FD5296095994}"/>
              </a:ext>
            </a:extLst>
          </p:cNvPr>
          <p:cNvSpPr txBox="1"/>
          <p:nvPr/>
        </p:nvSpPr>
        <p:spPr>
          <a:xfrm>
            <a:off x="4392104" y="6106991"/>
            <a:ext cx="4474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...</a:t>
            </a:r>
            <a:endParaRPr lang="ko-KR" altLang="en-US" sz="14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4" name="Oval 109">
            <a:extLst>
              <a:ext uri="{FF2B5EF4-FFF2-40B4-BE49-F238E27FC236}">
                <a16:creationId xmlns:a16="http://schemas.microsoft.com/office/drawing/2014/main" id="{9CF5BE37-7970-689E-B490-408F3447D4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99290" y="3405085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2</a:t>
            </a:r>
          </a:p>
        </p:txBody>
      </p:sp>
      <p:sp>
        <p:nvSpPr>
          <p:cNvPr id="45" name="Oval 109">
            <a:extLst>
              <a:ext uri="{FF2B5EF4-FFF2-40B4-BE49-F238E27FC236}">
                <a16:creationId xmlns:a16="http://schemas.microsoft.com/office/drawing/2014/main" id="{34E4FCC6-F497-235D-2B61-AA7AC2F2FA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29800" y="4969732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4214142587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4CFE48-2FA3-CDE3-8289-A6A00D6DA5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A1A578B6-F2E3-8033-5E63-B841FE7AE3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5572700"/>
              </p:ext>
            </p:extLst>
          </p:nvPr>
        </p:nvGraphicFramePr>
        <p:xfrm>
          <a:off x="9182101" y="947377"/>
          <a:ext cx="2795588" cy="257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1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1:1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상담은 로그인 메뉴로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1:1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상담 선택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로그인 여부 체크 후 로그인 전 상태에서는 로그인 화면으로 이동하고 로그인 후 상태에서는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1:1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상담 화면으로 이동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684046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나의 상담 보기 선택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해당 회원이 상담 등록 및 답변등록 목록 화면으로 이동</a:t>
                      </a: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723838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3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작성자와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e-mail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은 회원정보에서 호출하여 노출</a:t>
                      </a: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172599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4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취소 버튼 선택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입력한 문의 내역을 저장하지 않고 메인 화면으로 이동</a:t>
                      </a: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290794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5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작성완료 선택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유효성 체크 후 문의내용 저장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제목 또는 문의내용을 입력하지 않은 경우에는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Alert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메시지 노출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“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입력항목을 확인해주시기 바랍니다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.”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922450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6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784800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7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0538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8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199337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9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450365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6399DAC3-885D-DB24-4297-CE4BC89D94F5}"/>
              </a:ext>
            </a:extLst>
          </p:cNvPr>
          <p:cNvSpPr/>
          <p:nvPr/>
        </p:nvSpPr>
        <p:spPr>
          <a:xfrm>
            <a:off x="959895" y="375614"/>
            <a:ext cx="1366080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</a:pP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메인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고객센터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1:1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상담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8A50815-C46D-752E-F33E-6E6048ED1821}"/>
              </a:ext>
            </a:extLst>
          </p:cNvPr>
          <p:cNvSpPr txBox="1"/>
          <p:nvPr/>
        </p:nvSpPr>
        <p:spPr>
          <a:xfrm>
            <a:off x="6003996" y="123825"/>
            <a:ext cx="17303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HN_Customer_Councelregi_001</a:t>
            </a:r>
            <a:endParaRPr lang="ko-KR" altLang="en-US" sz="800" dirty="0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C92AD596-7F01-958B-8AFE-6101254135B3}"/>
              </a:ext>
            </a:extLst>
          </p:cNvPr>
          <p:cNvGrpSpPr/>
          <p:nvPr/>
        </p:nvGrpSpPr>
        <p:grpSpPr>
          <a:xfrm>
            <a:off x="161925" y="797629"/>
            <a:ext cx="8953500" cy="851943"/>
            <a:chOff x="161925" y="797629"/>
            <a:chExt cx="8953500" cy="851943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53E55486-FF80-6D01-2DD0-99BB45FDA2BF}"/>
                </a:ext>
              </a:extLst>
            </p:cNvPr>
            <p:cNvSpPr/>
            <p:nvPr/>
          </p:nvSpPr>
          <p:spPr>
            <a:xfrm>
              <a:off x="4144448" y="797629"/>
              <a:ext cx="942784" cy="35821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800" b="1" dirty="0">
                  <a:solidFill>
                    <a:srgbClr val="FF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CI</a:t>
              </a:r>
            </a:p>
          </p:txBody>
        </p: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086C3686-C0AD-6812-80E1-77BEEDE87657}"/>
                </a:ext>
              </a:extLst>
            </p:cNvPr>
            <p:cNvCxnSpPr/>
            <p:nvPr/>
          </p:nvCxnSpPr>
          <p:spPr>
            <a:xfrm>
              <a:off x="161925" y="1649572"/>
              <a:ext cx="8953500" cy="0"/>
            </a:xfrm>
            <a:prstGeom prst="line">
              <a:avLst/>
            </a:prstGeom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E34FE34-8442-84C2-8569-04DB71B6AEDF}"/>
                </a:ext>
              </a:extLst>
            </p:cNvPr>
            <p:cNvSpPr txBox="1"/>
            <p:nvPr/>
          </p:nvSpPr>
          <p:spPr>
            <a:xfrm>
              <a:off x="2031551" y="1301804"/>
              <a:ext cx="120364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하늘누리소개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26B76524-55D0-1AB6-97F4-A94EC249F78C}"/>
                </a:ext>
              </a:extLst>
            </p:cNvPr>
            <p:cNvSpPr txBox="1"/>
            <p:nvPr/>
          </p:nvSpPr>
          <p:spPr>
            <a:xfrm>
              <a:off x="3239720" y="1301804"/>
              <a:ext cx="9144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시설안내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62D8485B-9861-AF19-456F-EA7947171450}"/>
                </a:ext>
              </a:extLst>
            </p:cNvPr>
            <p:cNvSpPr txBox="1"/>
            <p:nvPr/>
          </p:nvSpPr>
          <p:spPr>
            <a:xfrm>
              <a:off x="4158640" y="1301804"/>
              <a:ext cx="9144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분양안내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AED96D90-06DD-D1FE-A99A-6B8CB1EFF8A2}"/>
                </a:ext>
              </a:extLst>
            </p:cNvPr>
            <p:cNvSpPr txBox="1"/>
            <p:nvPr/>
          </p:nvSpPr>
          <p:spPr>
            <a:xfrm>
              <a:off x="5077560" y="1301804"/>
              <a:ext cx="119120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사이버추모관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6800C0CE-842F-366B-C990-4F60743CB610}"/>
                </a:ext>
              </a:extLst>
            </p:cNvPr>
            <p:cNvSpPr txBox="1"/>
            <p:nvPr/>
          </p:nvSpPr>
          <p:spPr>
            <a:xfrm>
              <a:off x="6273289" y="1301804"/>
              <a:ext cx="9144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고객센터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DED3EB5-26C8-49D1-D864-A0972EC600A4}"/>
                </a:ext>
              </a:extLst>
            </p:cNvPr>
            <p:cNvSpPr txBox="1"/>
            <p:nvPr/>
          </p:nvSpPr>
          <p:spPr>
            <a:xfrm>
              <a:off x="7734300" y="817862"/>
              <a:ext cx="79388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b="1">
                  <a:latin typeface="나눔고딕" panose="020D0604000000000000" pitchFamily="50" charset="-127"/>
                  <a:ea typeface="나눔고딕" panose="020D0604000000000000" pitchFamily="50" charset="-127"/>
                </a:rPr>
                <a:t>비밀번호변경</a:t>
              </a:r>
              <a:endParaRPr lang="ko-KR" altLang="en-US" sz="8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D872F82A-D38A-1E08-6FEB-F27A7288BC58}"/>
                </a:ext>
              </a:extLst>
            </p:cNvPr>
            <p:cNvSpPr txBox="1"/>
            <p:nvPr/>
          </p:nvSpPr>
          <p:spPr>
            <a:xfrm>
              <a:off x="8472200" y="817862"/>
              <a:ext cx="58783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로그아웃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488EF67C-95C8-DF70-3B54-6705018682F6}"/>
                </a:ext>
              </a:extLst>
            </p:cNvPr>
            <p:cNvSpPr txBox="1"/>
            <p:nvPr/>
          </p:nvSpPr>
          <p:spPr>
            <a:xfrm>
              <a:off x="7203231" y="817862"/>
              <a:ext cx="65313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나의정보</a:t>
              </a: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1A8A6A71-5B4F-4BD5-400F-8F33179ECF6D}"/>
              </a:ext>
            </a:extLst>
          </p:cNvPr>
          <p:cNvSpPr txBox="1"/>
          <p:nvPr/>
        </p:nvSpPr>
        <p:spPr>
          <a:xfrm>
            <a:off x="158621" y="1704392"/>
            <a:ext cx="314441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HOME &gt; </a:t>
            </a:r>
            <a:r>
              <a:rPr lang="ko-KR" altLang="en-US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고객센터 </a:t>
            </a:r>
            <a:r>
              <a:rPr lang="en-US" altLang="ko-KR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&gt; 1:1 </a:t>
            </a:r>
            <a:r>
              <a:rPr lang="ko-KR" altLang="en-US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상담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CA11050-74F0-814A-23C2-57F21D13D52C}"/>
              </a:ext>
            </a:extLst>
          </p:cNvPr>
          <p:cNvSpPr txBox="1"/>
          <p:nvPr/>
        </p:nvSpPr>
        <p:spPr>
          <a:xfrm>
            <a:off x="2962325" y="1866963"/>
            <a:ext cx="33499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1:1 </a:t>
            </a:r>
            <a:r>
              <a:rPr lang="ko-KR" altLang="en-US" sz="4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상담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DD2D984-ED38-6E6D-1ACD-7D9516CB44F4}"/>
              </a:ext>
            </a:extLst>
          </p:cNvPr>
          <p:cNvSpPr txBox="1"/>
          <p:nvPr/>
        </p:nvSpPr>
        <p:spPr>
          <a:xfrm>
            <a:off x="2169973" y="2561406"/>
            <a:ext cx="49457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/>
              <a:t>"</a:t>
            </a:r>
            <a:r>
              <a:rPr lang="ko-KR" altLang="en-US" sz="1200" b="1" dirty="0"/>
              <a:t>마음을 다해 듣고</a:t>
            </a:r>
            <a:r>
              <a:rPr lang="en-US" altLang="ko-KR" sz="1200" b="1" dirty="0"/>
              <a:t>, </a:t>
            </a:r>
            <a:r>
              <a:rPr lang="ko-KR" altLang="en-US" sz="1200" b="1" dirty="0"/>
              <a:t>정성을 다해 답하겠습니다</a:t>
            </a:r>
            <a:r>
              <a:rPr lang="en-US" altLang="ko-KR" sz="1200" b="1" dirty="0"/>
              <a:t>." </a:t>
            </a:r>
          </a:p>
          <a:p>
            <a:pPr algn="ctr"/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말로 다 전하기 어려운 유족분들의 고민과 궁금증을 귀 기울여 듣겠습니다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하늘누리가 가족의 마음으로 함께 고민하고 답변해 드립니다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1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3" name="Oval 109">
            <a:extLst>
              <a:ext uri="{FF2B5EF4-FFF2-40B4-BE49-F238E27FC236}">
                <a16:creationId xmlns:a16="http://schemas.microsoft.com/office/drawing/2014/main" id="{E193FE8B-6C4D-E748-BED4-934AA6EC8A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0520" y="1846289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1</a:t>
            </a:r>
          </a:p>
        </p:txBody>
      </p:sp>
      <p:sp>
        <p:nvSpPr>
          <p:cNvPr id="28" name="모서리가 둥근 직사각형 63">
            <a:extLst>
              <a:ext uri="{FF2B5EF4-FFF2-40B4-BE49-F238E27FC236}">
                <a16:creationId xmlns:a16="http://schemas.microsoft.com/office/drawing/2014/main" id="{482B9271-05D6-13D4-B1BC-5883C99BFA60}"/>
              </a:ext>
            </a:extLst>
          </p:cNvPr>
          <p:cNvSpPr/>
          <p:nvPr/>
        </p:nvSpPr>
        <p:spPr bwMode="auto">
          <a:xfrm>
            <a:off x="1575879" y="6185485"/>
            <a:ext cx="3043746" cy="312422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400" b="1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취소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9A43ED0-BF32-D11D-9830-5D4C35C4FA9D}"/>
              </a:ext>
            </a:extLst>
          </p:cNvPr>
          <p:cNvSpPr txBox="1"/>
          <p:nvPr/>
        </p:nvSpPr>
        <p:spPr>
          <a:xfrm>
            <a:off x="1575879" y="4043863"/>
            <a:ext cx="8142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E-Mail</a:t>
            </a:r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endParaRPr lang="ko-KR" altLang="en-US" sz="10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06A5C073-926F-FF62-8A4B-028986310D9D}"/>
              </a:ext>
            </a:extLst>
          </p:cNvPr>
          <p:cNvCxnSpPr>
            <a:cxnSpLocks/>
          </p:cNvCxnSpPr>
          <p:nvPr/>
        </p:nvCxnSpPr>
        <p:spPr>
          <a:xfrm flipV="1">
            <a:off x="2399885" y="4220201"/>
            <a:ext cx="2318025" cy="11515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A00FB7FF-57C4-0A80-15F6-67730026120E}"/>
              </a:ext>
            </a:extLst>
          </p:cNvPr>
          <p:cNvSpPr txBox="1"/>
          <p:nvPr/>
        </p:nvSpPr>
        <p:spPr>
          <a:xfrm>
            <a:off x="1594639" y="4820839"/>
            <a:ext cx="100264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>
                <a:latin typeface="나눔고딕" panose="020D0604000000000000" pitchFamily="50" charset="-127"/>
                <a:ea typeface="나눔고딕" panose="020D0604000000000000" pitchFamily="50" charset="-127"/>
              </a:rPr>
              <a:t>문의내용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*</a:t>
            </a:r>
            <a:endParaRPr lang="ko-KR" altLang="en-US" sz="10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5A92B530-69EA-3717-1052-108AA65FD11A}"/>
              </a:ext>
            </a:extLst>
          </p:cNvPr>
          <p:cNvSpPr/>
          <p:nvPr/>
        </p:nvSpPr>
        <p:spPr>
          <a:xfrm>
            <a:off x="2399885" y="4902740"/>
            <a:ext cx="5255783" cy="113165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1" name="모서리가 둥근 직사각형 63">
            <a:extLst>
              <a:ext uri="{FF2B5EF4-FFF2-40B4-BE49-F238E27FC236}">
                <a16:creationId xmlns:a16="http://schemas.microsoft.com/office/drawing/2014/main" id="{1DA34BE2-724F-A25A-A7AB-7A4A6F366D7B}"/>
              </a:ext>
            </a:extLst>
          </p:cNvPr>
          <p:cNvSpPr/>
          <p:nvPr/>
        </p:nvSpPr>
        <p:spPr bwMode="auto">
          <a:xfrm>
            <a:off x="4627586" y="6185485"/>
            <a:ext cx="3043746" cy="312422"/>
          </a:xfrm>
          <a:prstGeom prst="roundRect">
            <a:avLst/>
          </a:prstGeom>
          <a:solidFill>
            <a:schemeClr val="tx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400" b="1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작성완료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77DC712-773A-D59F-2849-D8B2457D421A}"/>
              </a:ext>
            </a:extLst>
          </p:cNvPr>
          <p:cNvSpPr txBox="1"/>
          <p:nvPr/>
        </p:nvSpPr>
        <p:spPr>
          <a:xfrm>
            <a:off x="2471725" y="4024407"/>
            <a:ext cx="224544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gildong@abc.co.kr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A0DCFFB-0352-69B6-85B3-2315AA4736E2}"/>
              </a:ext>
            </a:extLst>
          </p:cNvPr>
          <p:cNvSpPr txBox="1"/>
          <p:nvPr/>
        </p:nvSpPr>
        <p:spPr>
          <a:xfrm>
            <a:off x="2417101" y="4951644"/>
            <a:ext cx="138035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내용을 입력하세요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779B0F2-CFC4-C217-0382-2020D87C7A25}"/>
              </a:ext>
            </a:extLst>
          </p:cNvPr>
          <p:cNvSpPr txBox="1"/>
          <p:nvPr/>
        </p:nvSpPr>
        <p:spPr>
          <a:xfrm>
            <a:off x="1575138" y="3729747"/>
            <a:ext cx="8142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작성자 </a:t>
            </a:r>
            <a:endParaRPr lang="ko-KR" altLang="en-US" sz="10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A2DF30AD-CCED-4F94-4ECA-2AEBEB2B6337}"/>
              </a:ext>
            </a:extLst>
          </p:cNvPr>
          <p:cNvCxnSpPr>
            <a:cxnSpLocks/>
          </p:cNvCxnSpPr>
          <p:nvPr/>
        </p:nvCxnSpPr>
        <p:spPr>
          <a:xfrm flipV="1">
            <a:off x="2399144" y="3906085"/>
            <a:ext cx="2318025" cy="11515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8CCCCB91-2F03-EC1B-B4DB-419E0822DBD7}"/>
              </a:ext>
            </a:extLst>
          </p:cNvPr>
          <p:cNvSpPr txBox="1"/>
          <p:nvPr/>
        </p:nvSpPr>
        <p:spPr>
          <a:xfrm>
            <a:off x="2470984" y="3710291"/>
            <a:ext cx="215660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홍길동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EE82817-9EC4-2F24-ED32-FD966FEDC6A4}"/>
              </a:ext>
            </a:extLst>
          </p:cNvPr>
          <p:cNvSpPr txBox="1"/>
          <p:nvPr/>
        </p:nvSpPr>
        <p:spPr>
          <a:xfrm>
            <a:off x="1608807" y="4509944"/>
            <a:ext cx="8142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제목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*</a:t>
            </a:r>
            <a:r>
              <a:rPr lang="ko-KR" altLang="en-US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</p:txBody>
      </p:sp>
      <p:cxnSp>
        <p:nvCxnSpPr>
          <p:cNvPr id="62" name="직선 연결선 61">
            <a:extLst>
              <a:ext uri="{FF2B5EF4-FFF2-40B4-BE49-F238E27FC236}">
                <a16:creationId xmlns:a16="http://schemas.microsoft.com/office/drawing/2014/main" id="{168E6DC5-CA77-9F6D-CEB6-68643E15F24B}"/>
              </a:ext>
            </a:extLst>
          </p:cNvPr>
          <p:cNvCxnSpPr>
            <a:cxnSpLocks/>
          </p:cNvCxnSpPr>
          <p:nvPr/>
        </p:nvCxnSpPr>
        <p:spPr>
          <a:xfrm>
            <a:off x="2379667" y="4721320"/>
            <a:ext cx="5276001" cy="11665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4" name="TextBox 1023">
            <a:extLst>
              <a:ext uri="{FF2B5EF4-FFF2-40B4-BE49-F238E27FC236}">
                <a16:creationId xmlns:a16="http://schemas.microsoft.com/office/drawing/2014/main" id="{1FD4AE98-6951-8394-B4F8-6C0774BF61CE}"/>
              </a:ext>
            </a:extLst>
          </p:cNvPr>
          <p:cNvSpPr txBox="1"/>
          <p:nvPr/>
        </p:nvSpPr>
        <p:spPr>
          <a:xfrm>
            <a:off x="2417101" y="4490488"/>
            <a:ext cx="119341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제목을 입력하세요</a:t>
            </a:r>
            <a:endParaRPr lang="ko-KR" altLang="en-US" sz="90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26" name="Oval 109">
            <a:extLst>
              <a:ext uri="{FF2B5EF4-FFF2-40B4-BE49-F238E27FC236}">
                <a16:creationId xmlns:a16="http://schemas.microsoft.com/office/drawing/2014/main" id="{DF23AEEA-FE6C-E653-6011-7390E79739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6145" y="3861335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3</a:t>
            </a:r>
          </a:p>
        </p:txBody>
      </p:sp>
      <p:sp>
        <p:nvSpPr>
          <p:cNvPr id="1027" name="Oval 109">
            <a:extLst>
              <a:ext uri="{FF2B5EF4-FFF2-40B4-BE49-F238E27FC236}">
                <a16:creationId xmlns:a16="http://schemas.microsoft.com/office/drawing/2014/main" id="{D517BF5D-6789-8C98-BDF7-8A3717B565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64717" y="6005258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4</a:t>
            </a:r>
          </a:p>
        </p:txBody>
      </p:sp>
      <p:sp>
        <p:nvSpPr>
          <p:cNvPr id="1028" name="모서리가 둥근 직사각형 63">
            <a:extLst>
              <a:ext uri="{FF2B5EF4-FFF2-40B4-BE49-F238E27FC236}">
                <a16:creationId xmlns:a16="http://schemas.microsoft.com/office/drawing/2014/main" id="{7A070633-FCCA-F80A-3456-C8A1E40FA463}"/>
              </a:ext>
            </a:extLst>
          </p:cNvPr>
          <p:cNvSpPr/>
          <p:nvPr/>
        </p:nvSpPr>
        <p:spPr bwMode="auto">
          <a:xfrm>
            <a:off x="1602677" y="3291181"/>
            <a:ext cx="961009" cy="312422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000" b="1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나의 상담 보기</a:t>
            </a:r>
          </a:p>
        </p:txBody>
      </p:sp>
      <p:sp>
        <p:nvSpPr>
          <p:cNvPr id="1029" name="Oval 109">
            <a:extLst>
              <a:ext uri="{FF2B5EF4-FFF2-40B4-BE49-F238E27FC236}">
                <a16:creationId xmlns:a16="http://schemas.microsoft.com/office/drawing/2014/main" id="{2203C3CE-D743-9C4E-BD90-23070D0001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5770" y="3201865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2</a:t>
            </a:r>
          </a:p>
        </p:txBody>
      </p:sp>
      <p:sp>
        <p:nvSpPr>
          <p:cNvPr id="1031" name="Oval 109">
            <a:extLst>
              <a:ext uri="{FF2B5EF4-FFF2-40B4-BE49-F238E27FC236}">
                <a16:creationId xmlns:a16="http://schemas.microsoft.com/office/drawing/2014/main" id="{88C770FF-2487-2DB1-CB34-1FBBB540D4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8805" y="6012685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402784201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3023BC-6268-CEC0-9DFD-EEDAC87897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62711C30-73C0-C579-472E-5391E2D4D0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5773100"/>
              </p:ext>
            </p:extLst>
          </p:nvPr>
        </p:nvGraphicFramePr>
        <p:xfrm>
          <a:off x="9182101" y="947377"/>
          <a:ext cx="2795588" cy="294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1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나의 상담은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1:!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문의 내용을 확인 할 수 있는 화면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684046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1:1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상담으로 이동할 수 있는 버튼</a:t>
                      </a: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723838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3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키워드를 입력하고 검색 버튼 선택하면 해당 키워드에 맞는 검색화면 노출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검색은 제목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/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내용 모두 검색하는 전체검색으로 함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172599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4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답변 완료된 문의는 하단에 댓글형태로 노출되고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상태값이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답변완료로 노출 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행을 선택 시 상세화면에서 문의 내용과 답변 내용이 동시에 노출됨</a:t>
                      </a: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290794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5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미답변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상태의 문의 목록은 댓글이 달려있지 않고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상태값이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미답변으로 노출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행을 선택 시 상세화면에서 문의한 내용만 노출됨 </a:t>
                      </a: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922450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6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더보기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버튼을 선택하면 추가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10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개가 목록하단에 노출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더보기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버튼은 목록이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10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개 이하일 때는 노출되지 않음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. 10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개 초과시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더보기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버튼 노출됨</a:t>
                      </a: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784800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7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0538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8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199337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9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450365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AD52D5ED-8808-A2BC-DDE2-B23A539FDD42}"/>
              </a:ext>
            </a:extLst>
          </p:cNvPr>
          <p:cNvSpPr/>
          <p:nvPr/>
        </p:nvSpPr>
        <p:spPr>
          <a:xfrm>
            <a:off x="959895" y="375614"/>
            <a:ext cx="1374094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</a:pP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메인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고객센터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나의상담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0FF79C4-6006-6BC6-5E32-0B0AAA99C836}"/>
              </a:ext>
            </a:extLst>
          </p:cNvPr>
          <p:cNvSpPr txBox="1"/>
          <p:nvPr/>
        </p:nvSpPr>
        <p:spPr>
          <a:xfrm>
            <a:off x="6003996" y="123825"/>
            <a:ext cx="17303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HN_Memorial_Letterlist_001</a:t>
            </a:r>
            <a:endParaRPr lang="ko-KR" altLang="en-US" sz="800" dirty="0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6C9E8CCC-67D1-E291-DF48-7F0CB9943748}"/>
              </a:ext>
            </a:extLst>
          </p:cNvPr>
          <p:cNvGrpSpPr/>
          <p:nvPr/>
        </p:nvGrpSpPr>
        <p:grpSpPr>
          <a:xfrm>
            <a:off x="161925" y="797629"/>
            <a:ext cx="8953500" cy="851943"/>
            <a:chOff x="161925" y="797629"/>
            <a:chExt cx="8953500" cy="851943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3BB0043A-D034-A78F-3AB4-0484EBA679F3}"/>
                </a:ext>
              </a:extLst>
            </p:cNvPr>
            <p:cNvSpPr/>
            <p:nvPr/>
          </p:nvSpPr>
          <p:spPr>
            <a:xfrm>
              <a:off x="4144448" y="797629"/>
              <a:ext cx="942784" cy="35821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800" b="1" dirty="0">
                  <a:solidFill>
                    <a:srgbClr val="FF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CI</a:t>
              </a:r>
            </a:p>
          </p:txBody>
        </p: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56659675-1009-4441-0956-8857AD815261}"/>
                </a:ext>
              </a:extLst>
            </p:cNvPr>
            <p:cNvCxnSpPr/>
            <p:nvPr/>
          </p:nvCxnSpPr>
          <p:spPr>
            <a:xfrm>
              <a:off x="161925" y="1649572"/>
              <a:ext cx="8953500" cy="0"/>
            </a:xfrm>
            <a:prstGeom prst="line">
              <a:avLst/>
            </a:prstGeom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9A23B4E-ACC1-07AA-8BBC-FFFE994EAE8F}"/>
                </a:ext>
              </a:extLst>
            </p:cNvPr>
            <p:cNvSpPr txBox="1"/>
            <p:nvPr/>
          </p:nvSpPr>
          <p:spPr>
            <a:xfrm>
              <a:off x="2031551" y="1301804"/>
              <a:ext cx="120364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하늘누리소개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8CEDDA5C-94CD-B063-F466-B3CF6D3FC537}"/>
                </a:ext>
              </a:extLst>
            </p:cNvPr>
            <p:cNvSpPr txBox="1"/>
            <p:nvPr/>
          </p:nvSpPr>
          <p:spPr>
            <a:xfrm>
              <a:off x="3239720" y="1301804"/>
              <a:ext cx="9144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시설안내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14E0FCC4-224F-8625-6628-17DAAFAA375D}"/>
                </a:ext>
              </a:extLst>
            </p:cNvPr>
            <p:cNvSpPr txBox="1"/>
            <p:nvPr/>
          </p:nvSpPr>
          <p:spPr>
            <a:xfrm>
              <a:off x="4158640" y="1301804"/>
              <a:ext cx="9144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분양안내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A64EA268-72A5-6CA3-BCFC-93EF60C722AC}"/>
                </a:ext>
              </a:extLst>
            </p:cNvPr>
            <p:cNvSpPr txBox="1"/>
            <p:nvPr/>
          </p:nvSpPr>
          <p:spPr>
            <a:xfrm>
              <a:off x="5077560" y="1301804"/>
              <a:ext cx="119120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사이버추모관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E69AAE0E-F9F2-D3D9-5892-5B53F0BF5BA8}"/>
                </a:ext>
              </a:extLst>
            </p:cNvPr>
            <p:cNvSpPr txBox="1"/>
            <p:nvPr/>
          </p:nvSpPr>
          <p:spPr>
            <a:xfrm>
              <a:off x="6273289" y="1301804"/>
              <a:ext cx="9144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고객센터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5C16656-117A-4D3C-01F3-27ED091BA893}"/>
                </a:ext>
              </a:extLst>
            </p:cNvPr>
            <p:cNvSpPr txBox="1"/>
            <p:nvPr/>
          </p:nvSpPr>
          <p:spPr>
            <a:xfrm>
              <a:off x="7734300" y="817862"/>
              <a:ext cx="79388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b="1">
                  <a:latin typeface="나눔고딕" panose="020D0604000000000000" pitchFamily="50" charset="-127"/>
                  <a:ea typeface="나눔고딕" panose="020D0604000000000000" pitchFamily="50" charset="-127"/>
                </a:rPr>
                <a:t>비밀번호변경</a:t>
              </a:r>
              <a:endParaRPr lang="ko-KR" altLang="en-US" sz="8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E488C55-F21F-7F4C-445B-B82B7C75A914}"/>
                </a:ext>
              </a:extLst>
            </p:cNvPr>
            <p:cNvSpPr txBox="1"/>
            <p:nvPr/>
          </p:nvSpPr>
          <p:spPr>
            <a:xfrm>
              <a:off x="8472200" y="817862"/>
              <a:ext cx="58783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로그아웃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E479797E-2A50-7D96-67FB-14CCD26987E3}"/>
                </a:ext>
              </a:extLst>
            </p:cNvPr>
            <p:cNvSpPr txBox="1"/>
            <p:nvPr/>
          </p:nvSpPr>
          <p:spPr>
            <a:xfrm>
              <a:off x="7203231" y="817862"/>
              <a:ext cx="65313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나의정보</a:t>
              </a: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352DF652-8095-C06F-0ED7-0BA7AFEB7C53}"/>
              </a:ext>
            </a:extLst>
          </p:cNvPr>
          <p:cNvSpPr txBox="1"/>
          <p:nvPr/>
        </p:nvSpPr>
        <p:spPr>
          <a:xfrm>
            <a:off x="158621" y="1704392"/>
            <a:ext cx="314441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HOME &gt; </a:t>
            </a:r>
            <a:r>
              <a:rPr lang="ko-KR" altLang="en-US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고객센터 </a:t>
            </a:r>
            <a:r>
              <a:rPr lang="en-US" altLang="ko-KR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나의상담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6CD9FCB-EB64-5272-F6A9-A6225228D69A}"/>
              </a:ext>
            </a:extLst>
          </p:cNvPr>
          <p:cNvSpPr txBox="1"/>
          <p:nvPr/>
        </p:nvSpPr>
        <p:spPr>
          <a:xfrm>
            <a:off x="2962325" y="1866963"/>
            <a:ext cx="33499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나의 상담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C10809F-5EC0-3306-949B-46FC84D3BBB2}"/>
              </a:ext>
            </a:extLst>
          </p:cNvPr>
          <p:cNvSpPr txBox="1"/>
          <p:nvPr/>
        </p:nvSpPr>
        <p:spPr>
          <a:xfrm>
            <a:off x="2169973" y="2561406"/>
            <a:ext cx="49457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/>
              <a:t>"</a:t>
            </a:r>
            <a:r>
              <a:rPr lang="ko-KR" altLang="en-US" sz="1200" b="1" dirty="0"/>
              <a:t>마음을 다해 듣고</a:t>
            </a:r>
            <a:r>
              <a:rPr lang="en-US" altLang="ko-KR" sz="1200" b="1" dirty="0"/>
              <a:t>, </a:t>
            </a:r>
            <a:r>
              <a:rPr lang="ko-KR" altLang="en-US" sz="1200" b="1" dirty="0"/>
              <a:t>정성을 다해 답하겠습니다</a:t>
            </a:r>
            <a:r>
              <a:rPr lang="en-US" altLang="ko-KR" sz="1200" b="1" dirty="0"/>
              <a:t>." </a:t>
            </a:r>
          </a:p>
          <a:p>
            <a:pPr algn="ctr"/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말로 다 전하기 어려운 유족분들의 고민과 궁금증을 귀 기울여 듣겠습니다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하늘누리가 가족의 마음으로 함께 고민하고 답변해 드립니다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1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3" name="Oval 109">
            <a:extLst>
              <a:ext uri="{FF2B5EF4-FFF2-40B4-BE49-F238E27FC236}">
                <a16:creationId xmlns:a16="http://schemas.microsoft.com/office/drawing/2014/main" id="{DCE104B5-A301-A4A3-1797-3538D861FE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45525" y="1792921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1</a:t>
            </a:r>
          </a:p>
        </p:txBody>
      </p:sp>
      <p:sp>
        <p:nvSpPr>
          <p:cNvPr id="1028" name="모서리가 둥근 직사각형 63">
            <a:extLst>
              <a:ext uri="{FF2B5EF4-FFF2-40B4-BE49-F238E27FC236}">
                <a16:creationId xmlns:a16="http://schemas.microsoft.com/office/drawing/2014/main" id="{FE487D42-1F08-E140-CFB4-51E5B0294EEE}"/>
              </a:ext>
            </a:extLst>
          </p:cNvPr>
          <p:cNvSpPr/>
          <p:nvPr/>
        </p:nvSpPr>
        <p:spPr bwMode="auto">
          <a:xfrm>
            <a:off x="1574883" y="3230907"/>
            <a:ext cx="961009" cy="312422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1000" b="1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1:1 </a:t>
            </a:r>
            <a:r>
              <a:rPr kumimoji="1" lang="ko-KR" altLang="en-US" sz="1000" b="1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상담 가기</a:t>
            </a:r>
          </a:p>
        </p:txBody>
      </p:sp>
      <p:sp>
        <p:nvSpPr>
          <p:cNvPr id="1029" name="Oval 109">
            <a:extLst>
              <a:ext uri="{FF2B5EF4-FFF2-40B4-BE49-F238E27FC236}">
                <a16:creationId xmlns:a16="http://schemas.microsoft.com/office/drawing/2014/main" id="{26471852-5AF9-52DC-0CC4-19D06F935B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4816" y="3055770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2</a:t>
            </a:r>
          </a:p>
        </p:txBody>
      </p:sp>
      <p:sp>
        <p:nvSpPr>
          <p:cNvPr id="4" name="모서리가 둥근 직사각형 63">
            <a:extLst>
              <a:ext uri="{FF2B5EF4-FFF2-40B4-BE49-F238E27FC236}">
                <a16:creationId xmlns:a16="http://schemas.microsoft.com/office/drawing/2014/main" id="{6EC562E6-3A32-AB7A-5691-E9940D7DE33E}"/>
              </a:ext>
            </a:extLst>
          </p:cNvPr>
          <p:cNvSpPr/>
          <p:nvPr/>
        </p:nvSpPr>
        <p:spPr bwMode="auto">
          <a:xfrm>
            <a:off x="1447856" y="6292493"/>
            <a:ext cx="6499763" cy="312422"/>
          </a:xfrm>
          <a:prstGeom prst="roundRect">
            <a:avLst/>
          </a:prstGeom>
          <a:solidFill>
            <a:schemeClr val="tx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400" b="1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더보기</a:t>
            </a:r>
            <a:endParaRPr kumimoji="1" lang="ko-KR" altLang="en-US" sz="1400" b="1" dirty="0">
              <a:ln w="0" cmpd="sng">
                <a:solidFill>
                  <a:schemeClr val="tx2">
                    <a:satMod val="155000"/>
                    <a:alpha val="0"/>
                  </a:schemeClr>
                </a:solidFill>
                <a:prstDash val="solid"/>
                <a:round/>
              </a:ln>
              <a:solidFill>
                <a:schemeClr val="bg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67840A7-3CCB-1576-70D2-A3C9D7822769}"/>
              </a:ext>
            </a:extLst>
          </p:cNvPr>
          <p:cNvSpPr txBox="1"/>
          <p:nvPr/>
        </p:nvSpPr>
        <p:spPr>
          <a:xfrm>
            <a:off x="4328596" y="5981817"/>
            <a:ext cx="6174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......</a:t>
            </a:r>
            <a:endParaRPr lang="ko-KR" altLang="en-US" sz="16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" name="Oval 109">
            <a:extLst>
              <a:ext uri="{FF2B5EF4-FFF2-40B4-BE49-F238E27FC236}">
                <a16:creationId xmlns:a16="http://schemas.microsoft.com/office/drawing/2014/main" id="{7881356E-79F4-7401-3DC1-E53EE0AE48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02301" y="3151901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3</a:t>
            </a:r>
          </a:p>
        </p:txBody>
      </p:sp>
      <p:sp>
        <p:nvSpPr>
          <p:cNvPr id="12" name="Oval 109">
            <a:extLst>
              <a:ext uri="{FF2B5EF4-FFF2-40B4-BE49-F238E27FC236}">
                <a16:creationId xmlns:a16="http://schemas.microsoft.com/office/drawing/2014/main" id="{A212C1B8-BE70-501F-C1B6-2C8E76E516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9450" y="3963084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4</a:t>
            </a:r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95D9F669-3CE6-3C58-1648-70A1AE6F1036}"/>
              </a:ext>
            </a:extLst>
          </p:cNvPr>
          <p:cNvCxnSpPr/>
          <p:nvPr/>
        </p:nvCxnSpPr>
        <p:spPr>
          <a:xfrm>
            <a:off x="1543795" y="3690168"/>
            <a:ext cx="647839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98AE7779-B421-A62C-3508-5A032ED5A156}"/>
              </a:ext>
            </a:extLst>
          </p:cNvPr>
          <p:cNvCxnSpPr/>
          <p:nvPr/>
        </p:nvCxnSpPr>
        <p:spPr>
          <a:xfrm>
            <a:off x="1529669" y="4280315"/>
            <a:ext cx="6478390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D41D3FAF-AD88-5E27-EF29-7C39846A5D3C}"/>
              </a:ext>
            </a:extLst>
          </p:cNvPr>
          <p:cNvSpPr txBox="1"/>
          <p:nvPr/>
        </p:nvSpPr>
        <p:spPr>
          <a:xfrm>
            <a:off x="1566083" y="3690168"/>
            <a:ext cx="61291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888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75057D7-C7B7-C404-77D1-3769B64A11D9}"/>
              </a:ext>
            </a:extLst>
          </p:cNvPr>
          <p:cNvSpPr txBox="1"/>
          <p:nvPr/>
        </p:nvSpPr>
        <p:spPr>
          <a:xfrm>
            <a:off x="2340137" y="3705124"/>
            <a:ext cx="924702" cy="230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2026-03-11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64EACC83-D391-DBC3-A2C2-AABC6BE963EC}"/>
              </a:ext>
            </a:extLst>
          </p:cNvPr>
          <p:cNvCxnSpPr/>
          <p:nvPr/>
        </p:nvCxnSpPr>
        <p:spPr>
          <a:xfrm>
            <a:off x="1543795" y="4872563"/>
            <a:ext cx="6478390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5CD7B256-017F-EFDA-31A6-C29871EACD22}"/>
              </a:ext>
            </a:extLst>
          </p:cNvPr>
          <p:cNvCxnSpPr/>
          <p:nvPr/>
        </p:nvCxnSpPr>
        <p:spPr>
          <a:xfrm>
            <a:off x="1529669" y="5504861"/>
            <a:ext cx="6478390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F004BBDA-3F97-3324-8F58-00A45130D289}"/>
              </a:ext>
            </a:extLst>
          </p:cNvPr>
          <p:cNvSpPr txBox="1"/>
          <p:nvPr/>
        </p:nvSpPr>
        <p:spPr>
          <a:xfrm>
            <a:off x="1566083" y="4895876"/>
            <a:ext cx="61291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886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7AA84D3-FC61-52D9-0A49-43303A01C3B2}"/>
              </a:ext>
            </a:extLst>
          </p:cNvPr>
          <p:cNvSpPr txBox="1"/>
          <p:nvPr/>
        </p:nvSpPr>
        <p:spPr>
          <a:xfrm>
            <a:off x="1586673" y="5517519"/>
            <a:ext cx="61291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885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8" name="Oval 109">
            <a:extLst>
              <a:ext uri="{FF2B5EF4-FFF2-40B4-BE49-F238E27FC236}">
                <a16:creationId xmlns:a16="http://schemas.microsoft.com/office/drawing/2014/main" id="{C992CE8C-E0B1-E0CF-5935-72CCF159FD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1504" y="6121687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CB183A6-F0EB-E51A-365C-386A4C5ACCE3}"/>
              </a:ext>
            </a:extLst>
          </p:cNvPr>
          <p:cNvSpPr txBox="1"/>
          <p:nvPr/>
        </p:nvSpPr>
        <p:spPr>
          <a:xfrm>
            <a:off x="2336292" y="3969640"/>
            <a:ext cx="4492524" cy="21603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하늘누리에 고인을 모실려면 어떻게 하면 되나요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?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113C759-138F-0BB1-E999-C405D6C92F68}"/>
              </a:ext>
            </a:extLst>
          </p:cNvPr>
          <p:cNvSpPr txBox="1"/>
          <p:nvPr/>
        </p:nvSpPr>
        <p:spPr>
          <a:xfrm>
            <a:off x="2678765" y="4338226"/>
            <a:ext cx="924702" cy="230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2026-03-11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21D5D02-EC92-9F52-611C-322EAE53C4D9}"/>
              </a:ext>
            </a:extLst>
          </p:cNvPr>
          <p:cNvSpPr txBox="1"/>
          <p:nvPr/>
        </p:nvSpPr>
        <p:spPr>
          <a:xfrm>
            <a:off x="2637849" y="4602742"/>
            <a:ext cx="4492524" cy="21603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[Re} </a:t>
            </a:r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답변 드립니다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038C959-D330-29F2-1E93-4E6A7BB86B12}"/>
              </a:ext>
            </a:extLst>
          </p:cNvPr>
          <p:cNvSpPr txBox="1"/>
          <p:nvPr/>
        </p:nvSpPr>
        <p:spPr>
          <a:xfrm>
            <a:off x="2364442" y="4928941"/>
            <a:ext cx="924702" cy="230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2026-03-11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BF7209D-3949-A7BF-5EC1-ACA57E38E638}"/>
              </a:ext>
            </a:extLst>
          </p:cNvPr>
          <p:cNvSpPr txBox="1"/>
          <p:nvPr/>
        </p:nvSpPr>
        <p:spPr>
          <a:xfrm>
            <a:off x="2336292" y="5193457"/>
            <a:ext cx="4492524" cy="21603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하늘누리에 고인을 모실려면 어떻게 하면 되나요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?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3C865D7-32CF-8CE9-21F3-012D460D2FFE}"/>
              </a:ext>
            </a:extLst>
          </p:cNvPr>
          <p:cNvSpPr txBox="1"/>
          <p:nvPr/>
        </p:nvSpPr>
        <p:spPr>
          <a:xfrm>
            <a:off x="2456286" y="5539455"/>
            <a:ext cx="924702" cy="230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2026-03-11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CBDA42F-47B6-AC42-F92F-81A5252545A2}"/>
              </a:ext>
            </a:extLst>
          </p:cNvPr>
          <p:cNvSpPr txBox="1"/>
          <p:nvPr/>
        </p:nvSpPr>
        <p:spPr>
          <a:xfrm>
            <a:off x="2336292" y="5803971"/>
            <a:ext cx="4492524" cy="21603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하늘누리에 고인을 모실려면 어떻게 하면 되나요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?</a:t>
            </a:r>
          </a:p>
        </p:txBody>
      </p:sp>
      <p:cxnSp>
        <p:nvCxnSpPr>
          <p:cNvPr id="53" name="직선 연결선 52">
            <a:extLst>
              <a:ext uri="{FF2B5EF4-FFF2-40B4-BE49-F238E27FC236}">
                <a16:creationId xmlns:a16="http://schemas.microsoft.com/office/drawing/2014/main" id="{5E400BC3-EA4A-0D41-CC4E-2385B86D6B5B}"/>
              </a:ext>
            </a:extLst>
          </p:cNvPr>
          <p:cNvCxnSpPr/>
          <p:nvPr/>
        </p:nvCxnSpPr>
        <p:spPr>
          <a:xfrm>
            <a:off x="1546627" y="6110963"/>
            <a:ext cx="6478390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9C3F0362-2E28-2636-2108-0425ED77A118}"/>
              </a:ext>
            </a:extLst>
          </p:cNvPr>
          <p:cNvSpPr/>
          <p:nvPr/>
        </p:nvSpPr>
        <p:spPr bwMode="auto">
          <a:xfrm>
            <a:off x="5311303" y="3351697"/>
            <a:ext cx="2034910" cy="24310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>
              <a:ln w="0" cmpd="sng">
                <a:solidFill>
                  <a:schemeClr val="tx2">
                    <a:satMod val="155000"/>
                    <a:alpha val="0"/>
                  </a:schemeClr>
                </a:solidFill>
                <a:prstDash val="solid"/>
                <a:round/>
              </a:ln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57" name="모서리가 둥근 직사각형 65">
            <a:extLst>
              <a:ext uri="{FF2B5EF4-FFF2-40B4-BE49-F238E27FC236}">
                <a16:creationId xmlns:a16="http://schemas.microsoft.com/office/drawing/2014/main" id="{96D0041F-9FF7-13E9-9244-88956A31E604}"/>
              </a:ext>
            </a:extLst>
          </p:cNvPr>
          <p:cNvSpPr/>
          <p:nvPr/>
        </p:nvSpPr>
        <p:spPr bwMode="auto">
          <a:xfrm>
            <a:off x="7403227" y="3351698"/>
            <a:ext cx="588963" cy="238064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000" b="1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검색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3C93F4A-E42B-E291-D241-6F0ACF42556D}"/>
              </a:ext>
            </a:extLst>
          </p:cNvPr>
          <p:cNvSpPr txBox="1"/>
          <p:nvPr/>
        </p:nvSpPr>
        <p:spPr>
          <a:xfrm>
            <a:off x="2178997" y="4290924"/>
            <a:ext cx="6444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┕</a:t>
            </a:r>
          </a:p>
        </p:txBody>
      </p:sp>
      <p:sp>
        <p:nvSpPr>
          <p:cNvPr id="1025" name="TextBox 1024">
            <a:extLst>
              <a:ext uri="{FF2B5EF4-FFF2-40B4-BE49-F238E27FC236}">
                <a16:creationId xmlns:a16="http://schemas.microsoft.com/office/drawing/2014/main" id="{649A68A7-A40A-F3E6-330F-BFF8A4A1865F}"/>
              </a:ext>
            </a:extLst>
          </p:cNvPr>
          <p:cNvSpPr txBox="1"/>
          <p:nvPr/>
        </p:nvSpPr>
        <p:spPr>
          <a:xfrm>
            <a:off x="7206539" y="3896360"/>
            <a:ext cx="74108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b="1">
                <a:latin typeface="나눔고딕" panose="020D0604000000000000" pitchFamily="50" charset="-127"/>
                <a:ea typeface="나눔고딕" panose="020D0604000000000000" pitchFamily="50" charset="-127"/>
              </a:rPr>
              <a:t>답변완료</a:t>
            </a:r>
            <a:endParaRPr lang="ko-KR" altLang="en-US" sz="9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30" name="TextBox 1029">
            <a:extLst>
              <a:ext uri="{FF2B5EF4-FFF2-40B4-BE49-F238E27FC236}">
                <a16:creationId xmlns:a16="http://schemas.microsoft.com/office/drawing/2014/main" id="{B6C65D13-A2BD-6160-8341-9993802F9D3D}"/>
              </a:ext>
            </a:extLst>
          </p:cNvPr>
          <p:cNvSpPr txBox="1"/>
          <p:nvPr/>
        </p:nvSpPr>
        <p:spPr>
          <a:xfrm>
            <a:off x="7228878" y="5111322"/>
            <a:ext cx="74108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미답변</a:t>
            </a:r>
          </a:p>
        </p:txBody>
      </p:sp>
      <p:sp>
        <p:nvSpPr>
          <p:cNvPr id="1032" name="TextBox 1031">
            <a:extLst>
              <a:ext uri="{FF2B5EF4-FFF2-40B4-BE49-F238E27FC236}">
                <a16:creationId xmlns:a16="http://schemas.microsoft.com/office/drawing/2014/main" id="{C4C59585-E426-A12B-1990-15CE8CF65DE8}"/>
              </a:ext>
            </a:extLst>
          </p:cNvPr>
          <p:cNvSpPr txBox="1"/>
          <p:nvPr/>
        </p:nvSpPr>
        <p:spPr>
          <a:xfrm>
            <a:off x="7203231" y="5741157"/>
            <a:ext cx="74108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미답변</a:t>
            </a:r>
          </a:p>
        </p:txBody>
      </p:sp>
      <p:sp>
        <p:nvSpPr>
          <p:cNvPr id="1033" name="TextBox 1032">
            <a:extLst>
              <a:ext uri="{FF2B5EF4-FFF2-40B4-BE49-F238E27FC236}">
                <a16:creationId xmlns:a16="http://schemas.microsoft.com/office/drawing/2014/main" id="{F723233B-DB6C-E329-50A0-B7E6406EB549}"/>
              </a:ext>
            </a:extLst>
          </p:cNvPr>
          <p:cNvSpPr txBox="1"/>
          <p:nvPr/>
        </p:nvSpPr>
        <p:spPr>
          <a:xfrm>
            <a:off x="3293104" y="3688068"/>
            <a:ext cx="924702" cy="230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gildong</a:t>
            </a:r>
            <a:endParaRPr lang="ko-KR" altLang="en-US" sz="9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34" name="TextBox 1033">
            <a:extLst>
              <a:ext uri="{FF2B5EF4-FFF2-40B4-BE49-F238E27FC236}">
                <a16:creationId xmlns:a16="http://schemas.microsoft.com/office/drawing/2014/main" id="{9CACE4A9-B1F0-3E6D-B982-124722108988}"/>
              </a:ext>
            </a:extLst>
          </p:cNvPr>
          <p:cNvSpPr txBox="1"/>
          <p:nvPr/>
        </p:nvSpPr>
        <p:spPr>
          <a:xfrm>
            <a:off x="3255120" y="4913051"/>
            <a:ext cx="924702" cy="230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gildong</a:t>
            </a:r>
            <a:endParaRPr lang="ko-KR" altLang="en-US" sz="9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35" name="TextBox 1034">
            <a:extLst>
              <a:ext uri="{FF2B5EF4-FFF2-40B4-BE49-F238E27FC236}">
                <a16:creationId xmlns:a16="http://schemas.microsoft.com/office/drawing/2014/main" id="{82719C84-9754-26F4-376B-4972FA1C5065}"/>
              </a:ext>
            </a:extLst>
          </p:cNvPr>
          <p:cNvSpPr txBox="1"/>
          <p:nvPr/>
        </p:nvSpPr>
        <p:spPr>
          <a:xfrm>
            <a:off x="3255120" y="5536688"/>
            <a:ext cx="924702" cy="230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gildong</a:t>
            </a:r>
            <a:endParaRPr lang="ko-KR" altLang="en-US" sz="9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36" name="TextBox 1035">
            <a:extLst>
              <a:ext uri="{FF2B5EF4-FFF2-40B4-BE49-F238E27FC236}">
                <a16:creationId xmlns:a16="http://schemas.microsoft.com/office/drawing/2014/main" id="{F8CAD0BC-5ED5-FF44-2DE0-4A7B32AAEB65}"/>
              </a:ext>
            </a:extLst>
          </p:cNvPr>
          <p:cNvSpPr txBox="1"/>
          <p:nvPr/>
        </p:nvSpPr>
        <p:spPr>
          <a:xfrm>
            <a:off x="3589844" y="4320365"/>
            <a:ext cx="924702" cy="230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관리자</a:t>
            </a:r>
          </a:p>
        </p:txBody>
      </p:sp>
      <p:sp>
        <p:nvSpPr>
          <p:cNvPr id="24" name="Oval 109">
            <a:extLst>
              <a:ext uri="{FF2B5EF4-FFF2-40B4-BE49-F238E27FC236}">
                <a16:creationId xmlns:a16="http://schemas.microsoft.com/office/drawing/2014/main" id="{EEC2D1E1-7398-56A7-AEF7-7EC379BABB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35623" y="4654568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4</a:t>
            </a:r>
          </a:p>
        </p:txBody>
      </p:sp>
      <p:sp>
        <p:nvSpPr>
          <p:cNvPr id="28" name="Oval 109">
            <a:extLst>
              <a:ext uri="{FF2B5EF4-FFF2-40B4-BE49-F238E27FC236}">
                <a16:creationId xmlns:a16="http://schemas.microsoft.com/office/drawing/2014/main" id="{24D60ADA-3A14-352B-8654-0727E3E5FC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9450" y="5203620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092910644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A25F8F-96E3-B5B0-E48D-355FC12879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C09FADF9-6FFB-6C22-7F51-C6B61CCC0C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1331854"/>
              </p:ext>
            </p:extLst>
          </p:nvPr>
        </p:nvGraphicFramePr>
        <p:xfrm>
          <a:off x="9182101" y="947377"/>
          <a:ext cx="2795588" cy="22130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1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아직 답변을 하지 않은 문의의 상세화면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미답변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상태에서는 수정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삭제 가능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684046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선택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목록화면으로 이동</a:t>
                      </a: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723838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3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선택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Alert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노출되어 확인 선택 시 삭제 처리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Alert “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삭제하시면 되돌릴 수 없습니다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.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정말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삭제하시겠습니까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?”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172599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4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선택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문의글을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수정할 수 있는 수정화면으로 이동</a:t>
                      </a: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290794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5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922450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6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784800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7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0538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8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199337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9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450365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EF4F2AB6-836C-CEBC-B55E-8FC840E8A7A7}"/>
              </a:ext>
            </a:extLst>
          </p:cNvPr>
          <p:cNvSpPr/>
          <p:nvPr/>
        </p:nvSpPr>
        <p:spPr>
          <a:xfrm>
            <a:off x="959895" y="375614"/>
            <a:ext cx="1680268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</a:pP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메인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고객센터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나의상담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상세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C6C0011-147E-7F18-92BF-0B2889A25265}"/>
              </a:ext>
            </a:extLst>
          </p:cNvPr>
          <p:cNvSpPr txBox="1"/>
          <p:nvPr/>
        </p:nvSpPr>
        <p:spPr>
          <a:xfrm>
            <a:off x="6003996" y="123825"/>
            <a:ext cx="17303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HN_Customer_Councelview_001</a:t>
            </a:r>
            <a:endParaRPr lang="ko-KR" altLang="en-US" sz="800" dirty="0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78DAA65A-1BCB-2897-72CB-11C2308DB410}"/>
              </a:ext>
            </a:extLst>
          </p:cNvPr>
          <p:cNvGrpSpPr/>
          <p:nvPr/>
        </p:nvGrpSpPr>
        <p:grpSpPr>
          <a:xfrm>
            <a:off x="161925" y="797629"/>
            <a:ext cx="8953500" cy="851943"/>
            <a:chOff x="161925" y="797629"/>
            <a:chExt cx="8953500" cy="851943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CEC58496-AE5C-9508-CC23-E874659A8C2A}"/>
                </a:ext>
              </a:extLst>
            </p:cNvPr>
            <p:cNvSpPr/>
            <p:nvPr/>
          </p:nvSpPr>
          <p:spPr>
            <a:xfrm>
              <a:off x="4144448" y="797629"/>
              <a:ext cx="942784" cy="35821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800" b="1" dirty="0">
                  <a:solidFill>
                    <a:srgbClr val="FF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CI</a:t>
              </a:r>
            </a:p>
          </p:txBody>
        </p: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E0F526F8-A0C7-B397-ACDA-6AEB98E0DC94}"/>
                </a:ext>
              </a:extLst>
            </p:cNvPr>
            <p:cNvCxnSpPr/>
            <p:nvPr/>
          </p:nvCxnSpPr>
          <p:spPr>
            <a:xfrm>
              <a:off x="161925" y="1649572"/>
              <a:ext cx="8953500" cy="0"/>
            </a:xfrm>
            <a:prstGeom prst="line">
              <a:avLst/>
            </a:prstGeom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BC2BA9E-7AF9-F383-45E4-8C43005B7A80}"/>
                </a:ext>
              </a:extLst>
            </p:cNvPr>
            <p:cNvSpPr txBox="1"/>
            <p:nvPr/>
          </p:nvSpPr>
          <p:spPr>
            <a:xfrm>
              <a:off x="2031551" y="1301804"/>
              <a:ext cx="120364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하늘누리소개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C9E22B41-293B-B1CF-8D95-444EA30640A7}"/>
                </a:ext>
              </a:extLst>
            </p:cNvPr>
            <p:cNvSpPr txBox="1"/>
            <p:nvPr/>
          </p:nvSpPr>
          <p:spPr>
            <a:xfrm>
              <a:off x="3239720" y="1301804"/>
              <a:ext cx="9144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시설안내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ADDB077B-7C39-3747-DD01-31B60B5E1F1A}"/>
                </a:ext>
              </a:extLst>
            </p:cNvPr>
            <p:cNvSpPr txBox="1"/>
            <p:nvPr/>
          </p:nvSpPr>
          <p:spPr>
            <a:xfrm>
              <a:off x="4158640" y="1301804"/>
              <a:ext cx="9144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분양안내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39969DA8-FE00-A435-D692-769DF5B3B0F6}"/>
                </a:ext>
              </a:extLst>
            </p:cNvPr>
            <p:cNvSpPr txBox="1"/>
            <p:nvPr/>
          </p:nvSpPr>
          <p:spPr>
            <a:xfrm>
              <a:off x="5077560" y="1301804"/>
              <a:ext cx="119120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사이버추모관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1E716D49-2FCB-8313-3A3A-BFC282A8BBD3}"/>
                </a:ext>
              </a:extLst>
            </p:cNvPr>
            <p:cNvSpPr txBox="1"/>
            <p:nvPr/>
          </p:nvSpPr>
          <p:spPr>
            <a:xfrm>
              <a:off x="6273289" y="1301804"/>
              <a:ext cx="9144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고객센터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0CBC3B6C-892B-5CF0-1271-FABA3AC4ACA9}"/>
                </a:ext>
              </a:extLst>
            </p:cNvPr>
            <p:cNvSpPr txBox="1"/>
            <p:nvPr/>
          </p:nvSpPr>
          <p:spPr>
            <a:xfrm>
              <a:off x="7734300" y="817862"/>
              <a:ext cx="79388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b="1">
                  <a:latin typeface="나눔고딕" panose="020D0604000000000000" pitchFamily="50" charset="-127"/>
                  <a:ea typeface="나눔고딕" panose="020D0604000000000000" pitchFamily="50" charset="-127"/>
                </a:rPr>
                <a:t>비밀번호변경</a:t>
              </a:r>
              <a:endParaRPr lang="ko-KR" altLang="en-US" sz="8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67BE7CDE-6C99-E5F9-F2EE-E3A05B56F304}"/>
                </a:ext>
              </a:extLst>
            </p:cNvPr>
            <p:cNvSpPr txBox="1"/>
            <p:nvPr/>
          </p:nvSpPr>
          <p:spPr>
            <a:xfrm>
              <a:off x="8472200" y="817862"/>
              <a:ext cx="58783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로그아웃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E2FF45E2-04F9-9776-D915-8A49CFFB5AED}"/>
                </a:ext>
              </a:extLst>
            </p:cNvPr>
            <p:cNvSpPr txBox="1"/>
            <p:nvPr/>
          </p:nvSpPr>
          <p:spPr>
            <a:xfrm>
              <a:off x="7203231" y="817862"/>
              <a:ext cx="65313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나의정보</a:t>
              </a: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7B43CEAE-4C11-3698-090C-368ADEFB7CBD}"/>
              </a:ext>
            </a:extLst>
          </p:cNvPr>
          <p:cNvSpPr txBox="1"/>
          <p:nvPr/>
        </p:nvSpPr>
        <p:spPr>
          <a:xfrm>
            <a:off x="158621" y="1704392"/>
            <a:ext cx="314441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HOME &gt; </a:t>
            </a:r>
            <a:r>
              <a:rPr lang="ko-KR" altLang="en-US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고객센터 </a:t>
            </a:r>
            <a:r>
              <a:rPr lang="en-US" altLang="ko-KR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나의상담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4D709B6-DA9D-5BBF-9089-30FD1623E700}"/>
              </a:ext>
            </a:extLst>
          </p:cNvPr>
          <p:cNvSpPr txBox="1"/>
          <p:nvPr/>
        </p:nvSpPr>
        <p:spPr>
          <a:xfrm>
            <a:off x="2962325" y="1866963"/>
            <a:ext cx="33499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나의 상담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4181666-2D67-E8B1-4AF6-49F02FC2ED0D}"/>
              </a:ext>
            </a:extLst>
          </p:cNvPr>
          <p:cNvSpPr txBox="1"/>
          <p:nvPr/>
        </p:nvSpPr>
        <p:spPr>
          <a:xfrm>
            <a:off x="2169973" y="2561406"/>
            <a:ext cx="49457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/>
              <a:t>"</a:t>
            </a:r>
            <a:r>
              <a:rPr lang="ko-KR" altLang="en-US" sz="1200" b="1" dirty="0"/>
              <a:t>마음을 다해 듣고</a:t>
            </a:r>
            <a:r>
              <a:rPr lang="en-US" altLang="ko-KR" sz="1200" b="1" dirty="0"/>
              <a:t>, </a:t>
            </a:r>
            <a:r>
              <a:rPr lang="ko-KR" altLang="en-US" sz="1200" b="1" dirty="0"/>
              <a:t>정성을 다해 답하겠습니다</a:t>
            </a:r>
            <a:r>
              <a:rPr lang="en-US" altLang="ko-KR" sz="1200" b="1" dirty="0"/>
              <a:t>." </a:t>
            </a:r>
          </a:p>
          <a:p>
            <a:pPr algn="ctr"/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말로 다 전하기 어려운 유족분들의 고민과 궁금증을 귀 기울여 듣겠습니다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하늘누리가 가족의 마음으로 함께 고민하고 답변해 드립니다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1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3" name="Oval 109">
            <a:extLst>
              <a:ext uri="{FF2B5EF4-FFF2-40B4-BE49-F238E27FC236}">
                <a16:creationId xmlns:a16="http://schemas.microsoft.com/office/drawing/2014/main" id="{CAEA2BD1-C19D-D0AD-289C-01F4460A3A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5108" y="1839089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1</a:t>
            </a:r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35DC2978-25A3-75E8-9D32-8962F870238D}"/>
              </a:ext>
            </a:extLst>
          </p:cNvPr>
          <p:cNvCxnSpPr/>
          <p:nvPr/>
        </p:nvCxnSpPr>
        <p:spPr>
          <a:xfrm>
            <a:off x="1543795" y="3437245"/>
            <a:ext cx="6478390" cy="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43A7923D-7CF2-93B0-60FC-BD648DC8CC1C}"/>
              </a:ext>
            </a:extLst>
          </p:cNvPr>
          <p:cNvCxnSpPr/>
          <p:nvPr/>
        </p:nvCxnSpPr>
        <p:spPr>
          <a:xfrm>
            <a:off x="1529669" y="4027394"/>
            <a:ext cx="6478390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F6676BF6-82B1-9794-9B05-1AE477DF910E}"/>
              </a:ext>
            </a:extLst>
          </p:cNvPr>
          <p:cNvSpPr txBox="1"/>
          <p:nvPr/>
        </p:nvSpPr>
        <p:spPr>
          <a:xfrm>
            <a:off x="1574292" y="3726127"/>
            <a:ext cx="4492524" cy="21603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ko-KR" altLang="en-US" sz="11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하늘누리에 고인을 모실려면 어떻게 하면 되나요</a:t>
            </a:r>
            <a:r>
              <a:rPr lang="en-US" altLang="ko-KR" sz="11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?</a:t>
            </a:r>
          </a:p>
        </p:txBody>
      </p: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F0296EE8-147B-45B9-DC4F-BFFCF97B4C15}"/>
              </a:ext>
            </a:extLst>
          </p:cNvPr>
          <p:cNvCxnSpPr/>
          <p:nvPr/>
        </p:nvCxnSpPr>
        <p:spPr>
          <a:xfrm>
            <a:off x="1546627" y="5537035"/>
            <a:ext cx="6478390" cy="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C126DC84-9D8C-9C30-DD6C-974563E7B365}"/>
              </a:ext>
            </a:extLst>
          </p:cNvPr>
          <p:cNvSpPr txBox="1"/>
          <p:nvPr/>
        </p:nvSpPr>
        <p:spPr>
          <a:xfrm>
            <a:off x="1628430" y="4187802"/>
            <a:ext cx="63937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하늘누리에 저희 어머님을 모시려하고 있습니다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어떤 절차를 거쳐야 모실 수 있는지 자세히 설명 </a:t>
            </a:r>
            <a:r>
              <a:rPr lang="ko-KR" altLang="en-US" sz="1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부탁드려요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097BB15-E65D-D730-C4E4-23DF662FF243}"/>
              </a:ext>
            </a:extLst>
          </p:cNvPr>
          <p:cNvSpPr txBox="1"/>
          <p:nvPr/>
        </p:nvSpPr>
        <p:spPr>
          <a:xfrm>
            <a:off x="1574292" y="3488328"/>
            <a:ext cx="924702" cy="230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2026-03-11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9774442-E4F9-277E-E374-C5F4F0C38876}"/>
              </a:ext>
            </a:extLst>
          </p:cNvPr>
          <p:cNvSpPr txBox="1"/>
          <p:nvPr/>
        </p:nvSpPr>
        <p:spPr>
          <a:xfrm>
            <a:off x="2527259" y="3471272"/>
            <a:ext cx="924702" cy="230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gildong</a:t>
            </a:r>
            <a:endParaRPr lang="ko-KR" altLang="en-US" sz="9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89DADA7-CA5E-DC82-9E48-BD0E731BC542}"/>
              </a:ext>
            </a:extLst>
          </p:cNvPr>
          <p:cNvSpPr txBox="1"/>
          <p:nvPr/>
        </p:nvSpPr>
        <p:spPr>
          <a:xfrm>
            <a:off x="6809362" y="3473028"/>
            <a:ext cx="120405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gildong@abc.co.kr</a:t>
            </a:r>
            <a:endParaRPr lang="ko-KR" altLang="en-US" sz="9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5" name="모서리가 둥근 직사각형 63">
            <a:extLst>
              <a:ext uri="{FF2B5EF4-FFF2-40B4-BE49-F238E27FC236}">
                <a16:creationId xmlns:a16="http://schemas.microsoft.com/office/drawing/2014/main" id="{EE6D247B-06C0-1F42-0D1C-AA547B2AE4A6}"/>
              </a:ext>
            </a:extLst>
          </p:cNvPr>
          <p:cNvSpPr/>
          <p:nvPr/>
        </p:nvSpPr>
        <p:spPr bwMode="auto">
          <a:xfrm>
            <a:off x="5907741" y="5792190"/>
            <a:ext cx="1987952" cy="312422"/>
          </a:xfrm>
          <a:prstGeom prst="roundRect">
            <a:avLst/>
          </a:prstGeom>
          <a:solidFill>
            <a:schemeClr val="tx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400" b="1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수정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48A457-EE2B-06B0-5507-01ADF1572760}"/>
              </a:ext>
            </a:extLst>
          </p:cNvPr>
          <p:cNvSpPr txBox="1"/>
          <p:nvPr/>
        </p:nvSpPr>
        <p:spPr>
          <a:xfrm>
            <a:off x="6125076" y="3476146"/>
            <a:ext cx="66833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b="1">
                <a:latin typeface="나눔고딕" panose="020D0604000000000000" pitchFamily="50" charset="-127"/>
                <a:ea typeface="나눔고딕" panose="020D0604000000000000" pitchFamily="50" charset="-127"/>
              </a:rPr>
              <a:t>미답변</a:t>
            </a:r>
            <a:endParaRPr lang="ko-KR" altLang="en-US" sz="9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" name="Oval 109">
            <a:extLst>
              <a:ext uri="{FF2B5EF4-FFF2-40B4-BE49-F238E27FC236}">
                <a16:creationId xmlns:a16="http://schemas.microsoft.com/office/drawing/2014/main" id="{7CA185F3-1556-2E5C-6007-2AD1EFC0C2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74292" y="5591916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2</a:t>
            </a:r>
          </a:p>
        </p:txBody>
      </p:sp>
      <p:sp>
        <p:nvSpPr>
          <p:cNvPr id="12" name="모서리가 둥근 직사각형 63">
            <a:extLst>
              <a:ext uri="{FF2B5EF4-FFF2-40B4-BE49-F238E27FC236}">
                <a16:creationId xmlns:a16="http://schemas.microsoft.com/office/drawing/2014/main" id="{B6799D4B-7FBC-1B4B-7E1A-A0FF29BFB027}"/>
              </a:ext>
            </a:extLst>
          </p:cNvPr>
          <p:cNvSpPr/>
          <p:nvPr/>
        </p:nvSpPr>
        <p:spPr bwMode="auto">
          <a:xfrm>
            <a:off x="1538432" y="5792190"/>
            <a:ext cx="2172956" cy="312422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400" b="1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목록</a:t>
            </a:r>
          </a:p>
        </p:txBody>
      </p:sp>
      <p:sp>
        <p:nvSpPr>
          <p:cNvPr id="16" name="모서리가 둥근 직사각형 63">
            <a:extLst>
              <a:ext uri="{FF2B5EF4-FFF2-40B4-BE49-F238E27FC236}">
                <a16:creationId xmlns:a16="http://schemas.microsoft.com/office/drawing/2014/main" id="{39F7CF24-F8A5-E740-BF48-BB976977DB14}"/>
              </a:ext>
            </a:extLst>
          </p:cNvPr>
          <p:cNvSpPr/>
          <p:nvPr/>
        </p:nvSpPr>
        <p:spPr bwMode="auto">
          <a:xfrm>
            <a:off x="3723086" y="5792190"/>
            <a:ext cx="2172956" cy="312422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400" b="1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삭제</a:t>
            </a:r>
          </a:p>
        </p:txBody>
      </p:sp>
      <p:sp>
        <p:nvSpPr>
          <p:cNvPr id="17" name="Oval 109">
            <a:extLst>
              <a:ext uri="{FF2B5EF4-FFF2-40B4-BE49-F238E27FC236}">
                <a16:creationId xmlns:a16="http://schemas.microsoft.com/office/drawing/2014/main" id="{3597E029-4950-5FD2-7E04-1EAD45467C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3983" y="5582599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3</a:t>
            </a:r>
          </a:p>
        </p:txBody>
      </p:sp>
      <p:sp>
        <p:nvSpPr>
          <p:cNvPr id="19" name="Oval 109">
            <a:extLst>
              <a:ext uri="{FF2B5EF4-FFF2-40B4-BE49-F238E27FC236}">
                <a16:creationId xmlns:a16="http://schemas.microsoft.com/office/drawing/2014/main" id="{01B4B366-C3BF-0651-CA37-0490253352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23200" y="5591916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246248060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1B08CA-4093-40A1-0975-EF5A283C93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6C5C05C3-5E1A-B497-44C6-B42192A3DF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8378890"/>
              </p:ext>
            </p:extLst>
          </p:nvPr>
        </p:nvGraphicFramePr>
        <p:xfrm>
          <a:off x="9182101" y="947377"/>
          <a:ext cx="2795588" cy="1969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1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상태값이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답변완료 상태의 문의 글 상세화면으로 답변완료시에는 수정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삭제가 불가함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684046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첨부파일 명 또는 아이콘 선택 시 해당 파일 다운로드</a:t>
                      </a: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723838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3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목록 선택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목록 화면으로 이동</a:t>
                      </a: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172599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4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290794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5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922450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6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784800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7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0538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8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199337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9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450365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D3A11BB8-2D3B-E9BE-200D-6D61E9453483}"/>
              </a:ext>
            </a:extLst>
          </p:cNvPr>
          <p:cNvSpPr/>
          <p:nvPr/>
        </p:nvSpPr>
        <p:spPr>
          <a:xfrm>
            <a:off x="959895" y="375614"/>
            <a:ext cx="1680268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</a:pP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메인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고객센터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나의상담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상세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E27BC39-A395-8EA2-B15E-D6B05FA26E95}"/>
              </a:ext>
            </a:extLst>
          </p:cNvPr>
          <p:cNvSpPr txBox="1"/>
          <p:nvPr/>
        </p:nvSpPr>
        <p:spPr>
          <a:xfrm>
            <a:off x="6003996" y="123825"/>
            <a:ext cx="17303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HN_Customer_Councelview_001</a:t>
            </a:r>
            <a:endParaRPr lang="ko-KR" altLang="en-US" sz="800" dirty="0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A2B9B91D-3047-5719-1B5D-A718F00A841F}"/>
              </a:ext>
            </a:extLst>
          </p:cNvPr>
          <p:cNvGrpSpPr/>
          <p:nvPr/>
        </p:nvGrpSpPr>
        <p:grpSpPr>
          <a:xfrm>
            <a:off x="161925" y="797629"/>
            <a:ext cx="8953500" cy="851943"/>
            <a:chOff x="161925" y="797629"/>
            <a:chExt cx="8953500" cy="851943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8F61F2B7-03DF-1859-1F45-592E1DB9F580}"/>
                </a:ext>
              </a:extLst>
            </p:cNvPr>
            <p:cNvSpPr/>
            <p:nvPr/>
          </p:nvSpPr>
          <p:spPr>
            <a:xfrm>
              <a:off x="4144448" y="797629"/>
              <a:ext cx="942784" cy="35821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800" b="1" dirty="0">
                  <a:solidFill>
                    <a:srgbClr val="FF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CI</a:t>
              </a:r>
            </a:p>
          </p:txBody>
        </p: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F1AC147D-2B7A-04F1-2889-5A1B6ACDE0A9}"/>
                </a:ext>
              </a:extLst>
            </p:cNvPr>
            <p:cNvCxnSpPr/>
            <p:nvPr/>
          </p:nvCxnSpPr>
          <p:spPr>
            <a:xfrm>
              <a:off x="161925" y="1649572"/>
              <a:ext cx="8953500" cy="0"/>
            </a:xfrm>
            <a:prstGeom prst="line">
              <a:avLst/>
            </a:prstGeom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7A65E84-5FAD-E8E0-8582-42D0026E1173}"/>
                </a:ext>
              </a:extLst>
            </p:cNvPr>
            <p:cNvSpPr txBox="1"/>
            <p:nvPr/>
          </p:nvSpPr>
          <p:spPr>
            <a:xfrm>
              <a:off x="2031551" y="1301804"/>
              <a:ext cx="120364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하늘누리소개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04EEC03F-2396-2CE5-7B74-5CF4930A86D4}"/>
                </a:ext>
              </a:extLst>
            </p:cNvPr>
            <p:cNvSpPr txBox="1"/>
            <p:nvPr/>
          </p:nvSpPr>
          <p:spPr>
            <a:xfrm>
              <a:off x="3239720" y="1301804"/>
              <a:ext cx="9144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시설안내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37971B09-92CC-E1A4-57A8-140D5A2FE2EF}"/>
                </a:ext>
              </a:extLst>
            </p:cNvPr>
            <p:cNvSpPr txBox="1"/>
            <p:nvPr/>
          </p:nvSpPr>
          <p:spPr>
            <a:xfrm>
              <a:off x="4158640" y="1301804"/>
              <a:ext cx="9144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분양안내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10990D26-D223-B01E-F2A2-8480DDA8CBD7}"/>
                </a:ext>
              </a:extLst>
            </p:cNvPr>
            <p:cNvSpPr txBox="1"/>
            <p:nvPr/>
          </p:nvSpPr>
          <p:spPr>
            <a:xfrm>
              <a:off x="5077560" y="1301804"/>
              <a:ext cx="119120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사이버추모관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621D54ED-3D1E-EE1D-F8BD-AF56FE80BCD0}"/>
                </a:ext>
              </a:extLst>
            </p:cNvPr>
            <p:cNvSpPr txBox="1"/>
            <p:nvPr/>
          </p:nvSpPr>
          <p:spPr>
            <a:xfrm>
              <a:off x="6273289" y="1301804"/>
              <a:ext cx="9144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고객센터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C5C4833-F674-6D77-8599-B0EC1A443A0D}"/>
                </a:ext>
              </a:extLst>
            </p:cNvPr>
            <p:cNvSpPr txBox="1"/>
            <p:nvPr/>
          </p:nvSpPr>
          <p:spPr>
            <a:xfrm>
              <a:off x="7734300" y="817862"/>
              <a:ext cx="79388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b="1">
                  <a:latin typeface="나눔고딕" panose="020D0604000000000000" pitchFamily="50" charset="-127"/>
                  <a:ea typeface="나눔고딕" panose="020D0604000000000000" pitchFamily="50" charset="-127"/>
                </a:rPr>
                <a:t>비밀번호변경</a:t>
              </a:r>
              <a:endParaRPr lang="ko-KR" altLang="en-US" sz="8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1F5F439A-C2F5-6822-B767-0F223472C991}"/>
                </a:ext>
              </a:extLst>
            </p:cNvPr>
            <p:cNvSpPr txBox="1"/>
            <p:nvPr/>
          </p:nvSpPr>
          <p:spPr>
            <a:xfrm>
              <a:off x="8472200" y="817862"/>
              <a:ext cx="58783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로그아웃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040F4ABE-A90C-5797-1A5C-E97BDA852205}"/>
                </a:ext>
              </a:extLst>
            </p:cNvPr>
            <p:cNvSpPr txBox="1"/>
            <p:nvPr/>
          </p:nvSpPr>
          <p:spPr>
            <a:xfrm>
              <a:off x="7203231" y="817862"/>
              <a:ext cx="65313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나의정보</a:t>
              </a: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F09A67C8-4A71-622B-A187-EC94931FDFDA}"/>
              </a:ext>
            </a:extLst>
          </p:cNvPr>
          <p:cNvSpPr txBox="1"/>
          <p:nvPr/>
        </p:nvSpPr>
        <p:spPr>
          <a:xfrm>
            <a:off x="158621" y="1704392"/>
            <a:ext cx="314441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HOME &gt; </a:t>
            </a:r>
            <a:r>
              <a:rPr lang="ko-KR" altLang="en-US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고객센터 </a:t>
            </a:r>
            <a:r>
              <a:rPr lang="en-US" altLang="ko-KR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나의상담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EB3C0AA-FBB2-843E-1190-19245496544A}"/>
              </a:ext>
            </a:extLst>
          </p:cNvPr>
          <p:cNvSpPr txBox="1"/>
          <p:nvPr/>
        </p:nvSpPr>
        <p:spPr>
          <a:xfrm>
            <a:off x="2962325" y="1866963"/>
            <a:ext cx="33499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나의 상담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6B3A398-1424-E162-93CE-515101A7FE97}"/>
              </a:ext>
            </a:extLst>
          </p:cNvPr>
          <p:cNvSpPr txBox="1"/>
          <p:nvPr/>
        </p:nvSpPr>
        <p:spPr>
          <a:xfrm>
            <a:off x="2169973" y="2561406"/>
            <a:ext cx="49457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/>
              <a:t>"</a:t>
            </a:r>
            <a:r>
              <a:rPr lang="ko-KR" altLang="en-US" sz="1200" b="1" dirty="0"/>
              <a:t>마음을 다해 듣고</a:t>
            </a:r>
            <a:r>
              <a:rPr lang="en-US" altLang="ko-KR" sz="1200" b="1" dirty="0"/>
              <a:t>, </a:t>
            </a:r>
            <a:r>
              <a:rPr lang="ko-KR" altLang="en-US" sz="1200" b="1" dirty="0"/>
              <a:t>정성을 다해 답하겠습니다</a:t>
            </a:r>
            <a:r>
              <a:rPr lang="en-US" altLang="ko-KR" sz="1200" b="1" dirty="0"/>
              <a:t>." </a:t>
            </a:r>
          </a:p>
          <a:p>
            <a:pPr algn="ctr"/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말로 다 전하기 어려운 유족분들의 고민과 궁금증을 귀 기울여 듣겠습니다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하늘누리가 가족의 마음으로 함께 고민하고 답변해 드립니다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1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3" name="Oval 109">
            <a:extLst>
              <a:ext uri="{FF2B5EF4-FFF2-40B4-BE49-F238E27FC236}">
                <a16:creationId xmlns:a16="http://schemas.microsoft.com/office/drawing/2014/main" id="{D830E237-5F07-6613-EA19-F6BD090BA3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03894" y="1855002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1</a:t>
            </a:r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2C885768-89CA-80FD-456E-F4BDD08AD1EF}"/>
              </a:ext>
            </a:extLst>
          </p:cNvPr>
          <p:cNvCxnSpPr/>
          <p:nvPr/>
        </p:nvCxnSpPr>
        <p:spPr>
          <a:xfrm>
            <a:off x="1543795" y="3281597"/>
            <a:ext cx="6478390" cy="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FD53AB1F-E663-B7BF-E3C3-71DD7265D7D5}"/>
              </a:ext>
            </a:extLst>
          </p:cNvPr>
          <p:cNvCxnSpPr/>
          <p:nvPr/>
        </p:nvCxnSpPr>
        <p:spPr>
          <a:xfrm>
            <a:off x="1529669" y="3881476"/>
            <a:ext cx="6478390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E36ADD89-25C0-F0F9-7663-58E60AFECD23}"/>
              </a:ext>
            </a:extLst>
          </p:cNvPr>
          <p:cNvSpPr txBox="1"/>
          <p:nvPr/>
        </p:nvSpPr>
        <p:spPr>
          <a:xfrm>
            <a:off x="1574292" y="3580209"/>
            <a:ext cx="4492524" cy="21603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ko-KR" altLang="en-US" sz="11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하늘누리에 고인을 모실려면 어떻게 하면 되나요</a:t>
            </a:r>
            <a:r>
              <a:rPr lang="en-US" altLang="ko-KR" sz="11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?</a:t>
            </a:r>
          </a:p>
        </p:txBody>
      </p: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2C0F1E21-641B-476A-D508-34DFD2FDB695}"/>
              </a:ext>
            </a:extLst>
          </p:cNvPr>
          <p:cNvCxnSpPr/>
          <p:nvPr/>
        </p:nvCxnSpPr>
        <p:spPr>
          <a:xfrm>
            <a:off x="1546627" y="4525348"/>
            <a:ext cx="6478390" cy="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E22B024F-2551-13B0-A898-59A87523704E}"/>
              </a:ext>
            </a:extLst>
          </p:cNvPr>
          <p:cNvSpPr txBox="1"/>
          <p:nvPr/>
        </p:nvSpPr>
        <p:spPr>
          <a:xfrm>
            <a:off x="1628430" y="4041884"/>
            <a:ext cx="63937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하늘누리에 저희 어머님을 모시려하고 있습니다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어떤 절차를 거쳐야 모실 수 있는지 자세히 설명 </a:t>
            </a:r>
            <a:r>
              <a:rPr lang="ko-KR" altLang="en-US" sz="1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부탁드려요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4" name="모서리가 둥근 직사각형 63">
            <a:extLst>
              <a:ext uri="{FF2B5EF4-FFF2-40B4-BE49-F238E27FC236}">
                <a16:creationId xmlns:a16="http://schemas.microsoft.com/office/drawing/2014/main" id="{0A57D06A-1B33-D91B-23A7-2660FFD8C843}"/>
              </a:ext>
            </a:extLst>
          </p:cNvPr>
          <p:cNvSpPr/>
          <p:nvPr/>
        </p:nvSpPr>
        <p:spPr bwMode="auto">
          <a:xfrm>
            <a:off x="1447856" y="6399496"/>
            <a:ext cx="6499763" cy="312422"/>
          </a:xfrm>
          <a:prstGeom prst="roundRect">
            <a:avLst/>
          </a:prstGeom>
          <a:solidFill>
            <a:schemeClr val="tx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400" b="1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목록</a:t>
            </a: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FF6C627C-E995-B13E-5CE4-34E7D8CC9E8C}"/>
              </a:ext>
            </a:extLst>
          </p:cNvPr>
          <p:cNvCxnSpPr/>
          <p:nvPr/>
        </p:nvCxnSpPr>
        <p:spPr>
          <a:xfrm>
            <a:off x="1539397" y="4817178"/>
            <a:ext cx="6478390" cy="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0E4DFF1-0B34-041E-C4A0-18D7D4051FDC}"/>
              </a:ext>
            </a:extLst>
          </p:cNvPr>
          <p:cNvSpPr/>
          <p:nvPr/>
        </p:nvSpPr>
        <p:spPr>
          <a:xfrm>
            <a:off x="1574292" y="4525348"/>
            <a:ext cx="6433767" cy="270263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답변</a:t>
            </a:r>
            <a:endParaRPr lang="ko-KR" altLang="en-US" sz="1050" b="1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76F5F62-4E5B-4D25-162B-B7E36B0BCF37}"/>
              </a:ext>
            </a:extLst>
          </p:cNvPr>
          <p:cNvSpPr txBox="1"/>
          <p:nvPr/>
        </p:nvSpPr>
        <p:spPr>
          <a:xfrm>
            <a:off x="1574292" y="3332680"/>
            <a:ext cx="924702" cy="230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2026-03-11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18EB84B-CD11-46D0-3BEE-14B26B9CFD78}"/>
              </a:ext>
            </a:extLst>
          </p:cNvPr>
          <p:cNvSpPr txBox="1"/>
          <p:nvPr/>
        </p:nvSpPr>
        <p:spPr>
          <a:xfrm>
            <a:off x="2527259" y="3315624"/>
            <a:ext cx="924702" cy="230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gildong</a:t>
            </a:r>
            <a:endParaRPr lang="ko-KR" altLang="en-US" sz="9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A3EB42E-F96A-C2FB-7B91-F38F3949520F}"/>
              </a:ext>
            </a:extLst>
          </p:cNvPr>
          <p:cNvSpPr txBox="1"/>
          <p:nvPr/>
        </p:nvSpPr>
        <p:spPr>
          <a:xfrm>
            <a:off x="6809362" y="3317380"/>
            <a:ext cx="120405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gildong@abc.co.kr</a:t>
            </a:r>
            <a:endParaRPr lang="ko-KR" altLang="en-US" sz="9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DA6AD669-475A-05DA-AB4C-6C548023182B}"/>
              </a:ext>
            </a:extLst>
          </p:cNvPr>
          <p:cNvCxnSpPr/>
          <p:nvPr/>
        </p:nvCxnSpPr>
        <p:spPr>
          <a:xfrm>
            <a:off x="1481602" y="5383030"/>
            <a:ext cx="6478390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5CA2CE9E-2907-CF8B-DC6B-5B0D5CAEDC4B}"/>
              </a:ext>
            </a:extLst>
          </p:cNvPr>
          <p:cNvSpPr txBox="1"/>
          <p:nvPr/>
        </p:nvSpPr>
        <p:spPr>
          <a:xfrm>
            <a:off x="1526225" y="5081763"/>
            <a:ext cx="4492524" cy="21603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ko-KR" altLang="en-US" sz="11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안치절차에 대하여 </a:t>
            </a:r>
            <a:r>
              <a:rPr lang="ko-KR" altLang="en-US" sz="11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답변드립니다</a:t>
            </a:r>
            <a:r>
              <a:rPr lang="en-US" altLang="ko-KR" sz="11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</p:txBody>
      </p: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FE793A0E-B669-E67C-1F43-AE62855CD924}"/>
              </a:ext>
            </a:extLst>
          </p:cNvPr>
          <p:cNvCxnSpPr/>
          <p:nvPr/>
        </p:nvCxnSpPr>
        <p:spPr>
          <a:xfrm>
            <a:off x="1498560" y="5987990"/>
            <a:ext cx="6478390" cy="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048537C8-2623-2DA2-A656-92F53E461F8E}"/>
              </a:ext>
            </a:extLst>
          </p:cNvPr>
          <p:cNvSpPr txBox="1"/>
          <p:nvPr/>
        </p:nvSpPr>
        <p:spPr>
          <a:xfrm>
            <a:off x="1580363" y="5485070"/>
            <a:ext cx="63937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문의주신 안치절차에 대하여 자세한 내용은 첨부파일을 확인하시면 됩니다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첨부파일 확인하시고 기타 문의사항은 하늘누리의 다양한 문의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카카오톡 문의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전화상담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1:1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문의를 주시면 감사하겠습니다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6A2AEF6-857D-CDBA-39B2-6ECC8A959D6C}"/>
              </a:ext>
            </a:extLst>
          </p:cNvPr>
          <p:cNvSpPr txBox="1"/>
          <p:nvPr/>
        </p:nvSpPr>
        <p:spPr>
          <a:xfrm>
            <a:off x="1526225" y="4834234"/>
            <a:ext cx="924702" cy="230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2026-03-11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35AD324-BBDF-2D33-14E6-F87B15F9DD8C}"/>
              </a:ext>
            </a:extLst>
          </p:cNvPr>
          <p:cNvSpPr txBox="1"/>
          <p:nvPr/>
        </p:nvSpPr>
        <p:spPr>
          <a:xfrm>
            <a:off x="2479192" y="4817178"/>
            <a:ext cx="924702" cy="230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관리자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2BA31AE-B362-3DDE-AD9A-E97B68D5E1CB}"/>
              </a:ext>
            </a:extLst>
          </p:cNvPr>
          <p:cNvSpPr txBox="1"/>
          <p:nvPr/>
        </p:nvSpPr>
        <p:spPr>
          <a:xfrm>
            <a:off x="1614305" y="6060331"/>
            <a:ext cx="66196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첨부파일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D0F6296-0EEE-AC08-6C6F-0132D8CAE2A4}"/>
              </a:ext>
            </a:extLst>
          </p:cNvPr>
          <p:cNvSpPr txBox="1"/>
          <p:nvPr/>
        </p:nvSpPr>
        <p:spPr>
          <a:xfrm>
            <a:off x="2309178" y="6060331"/>
            <a:ext cx="173752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u="sng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하늘누리 안치절차 안내</a:t>
            </a:r>
            <a:r>
              <a:rPr lang="en-US" altLang="ko-KR" sz="900" u="sng" dirty="0">
                <a:latin typeface="나눔고딕" panose="020D0604000000000000" pitchFamily="50" charset="-127"/>
                <a:ea typeface="나눔고딕" panose="020D0604000000000000" pitchFamily="50" charset="-127"/>
              </a:rPr>
              <a:t>.pdf</a:t>
            </a:r>
            <a:endParaRPr lang="ko-KR" altLang="en-US" sz="900" u="sng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38" name="Picture 2" descr="다운로드 - 무료 화살개 아이콘">
            <a:extLst>
              <a:ext uri="{FF2B5EF4-FFF2-40B4-BE49-F238E27FC236}">
                <a16:creationId xmlns:a16="http://schemas.microsoft.com/office/drawing/2014/main" id="{899AC296-A39F-09AB-A388-D244ADBA5E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4194" y="6061372"/>
            <a:ext cx="230832" cy="2308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1E804C36-F9FB-8DC8-6B6D-D27858BA2E29}"/>
              </a:ext>
            </a:extLst>
          </p:cNvPr>
          <p:cNvCxnSpPr/>
          <p:nvPr/>
        </p:nvCxnSpPr>
        <p:spPr>
          <a:xfrm>
            <a:off x="1517443" y="6363885"/>
            <a:ext cx="6478390" cy="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D82069C2-DD8E-5E04-0A59-AAE9802DE75B}"/>
              </a:ext>
            </a:extLst>
          </p:cNvPr>
          <p:cNvSpPr txBox="1"/>
          <p:nvPr/>
        </p:nvSpPr>
        <p:spPr>
          <a:xfrm>
            <a:off x="6105794" y="3334733"/>
            <a:ext cx="70699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b="1">
                <a:latin typeface="나눔고딕" panose="020D0604000000000000" pitchFamily="50" charset="-127"/>
                <a:ea typeface="나눔고딕" panose="020D0604000000000000" pitchFamily="50" charset="-127"/>
              </a:rPr>
              <a:t>답변완료</a:t>
            </a:r>
            <a:endParaRPr lang="ko-KR" altLang="en-US" sz="9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1" name="Oval 109">
            <a:extLst>
              <a:ext uri="{FF2B5EF4-FFF2-40B4-BE49-F238E27FC236}">
                <a16:creationId xmlns:a16="http://schemas.microsoft.com/office/drawing/2014/main" id="{04AAC07A-45D4-453F-4B7B-FC8AD0F04C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26194" y="5879291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2</a:t>
            </a:r>
          </a:p>
        </p:txBody>
      </p:sp>
      <p:sp>
        <p:nvSpPr>
          <p:cNvPr id="42" name="Oval 109">
            <a:extLst>
              <a:ext uri="{FF2B5EF4-FFF2-40B4-BE49-F238E27FC236}">
                <a16:creationId xmlns:a16="http://schemas.microsoft.com/office/drawing/2014/main" id="{7E8F66C1-29DF-C8CC-50E0-AAEBB6C150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7679" y="6227865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599241058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7B409B-8380-AD8D-3D3E-6F0C688C15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4A279ABC-39B6-E4A3-9AE0-F66A96FD51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7360014"/>
              </p:ext>
            </p:extLst>
          </p:nvPr>
        </p:nvGraphicFramePr>
        <p:xfrm>
          <a:off x="9182101" y="947377"/>
          <a:ext cx="2795588" cy="23348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1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상태값이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미답변인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문의글에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대한 수정화면으로 문의한 내용을 수정할 수 있음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684046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취소 버튼 선택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수정한 내용을 저장하지 않고 목록화면으로 이동</a:t>
                      </a: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723838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3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수정 선택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유효성 체크 후 저장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제목 또는 문의내용을 입력하지 않은 경우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Alert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메시지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Alert “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입력항목을 다시한번 학인해주세요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.”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172599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4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290794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5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922450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6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784800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7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0538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8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199337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9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450365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1BF50EA8-01C9-8124-0854-92A35FD45DEE}"/>
              </a:ext>
            </a:extLst>
          </p:cNvPr>
          <p:cNvSpPr/>
          <p:nvPr/>
        </p:nvSpPr>
        <p:spPr>
          <a:xfrm>
            <a:off x="959895" y="375614"/>
            <a:ext cx="1680268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</a:pP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메인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고객센터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나의상담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수정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CA88D4B-3064-1D89-9194-0A9513BA4DAD}"/>
              </a:ext>
            </a:extLst>
          </p:cNvPr>
          <p:cNvSpPr txBox="1"/>
          <p:nvPr/>
        </p:nvSpPr>
        <p:spPr>
          <a:xfrm>
            <a:off x="6003996" y="123825"/>
            <a:ext cx="17303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HN_Memorial_Lettermodi_001</a:t>
            </a:r>
            <a:endParaRPr lang="ko-KR" altLang="en-US" sz="800" dirty="0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74D57763-1D56-B506-CF90-6E710582B6B3}"/>
              </a:ext>
            </a:extLst>
          </p:cNvPr>
          <p:cNvGrpSpPr/>
          <p:nvPr/>
        </p:nvGrpSpPr>
        <p:grpSpPr>
          <a:xfrm>
            <a:off x="161925" y="797629"/>
            <a:ext cx="8953500" cy="851943"/>
            <a:chOff x="161925" y="797629"/>
            <a:chExt cx="8953500" cy="851943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4AA90F23-E3C9-2561-C9FA-26116A814C71}"/>
                </a:ext>
              </a:extLst>
            </p:cNvPr>
            <p:cNvSpPr/>
            <p:nvPr/>
          </p:nvSpPr>
          <p:spPr>
            <a:xfrm>
              <a:off x="4144448" y="797629"/>
              <a:ext cx="942784" cy="35821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800" b="1" dirty="0">
                  <a:solidFill>
                    <a:srgbClr val="FF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CI</a:t>
              </a:r>
            </a:p>
          </p:txBody>
        </p: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3615A689-528E-9063-6432-A50A0843E14A}"/>
                </a:ext>
              </a:extLst>
            </p:cNvPr>
            <p:cNvCxnSpPr/>
            <p:nvPr/>
          </p:nvCxnSpPr>
          <p:spPr>
            <a:xfrm>
              <a:off x="161925" y="1649572"/>
              <a:ext cx="8953500" cy="0"/>
            </a:xfrm>
            <a:prstGeom prst="line">
              <a:avLst/>
            </a:prstGeom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F167EAD-F273-69F4-2ACD-02642C13CBA1}"/>
                </a:ext>
              </a:extLst>
            </p:cNvPr>
            <p:cNvSpPr txBox="1"/>
            <p:nvPr/>
          </p:nvSpPr>
          <p:spPr>
            <a:xfrm>
              <a:off x="2031551" y="1301804"/>
              <a:ext cx="120364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하늘누리소개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F88CED1A-A9D7-51FA-2491-8EAF7F6D4617}"/>
                </a:ext>
              </a:extLst>
            </p:cNvPr>
            <p:cNvSpPr txBox="1"/>
            <p:nvPr/>
          </p:nvSpPr>
          <p:spPr>
            <a:xfrm>
              <a:off x="3239720" y="1301804"/>
              <a:ext cx="9144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시설안내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7F8DBDC3-6619-59EA-EF21-5FAD84A76F1F}"/>
                </a:ext>
              </a:extLst>
            </p:cNvPr>
            <p:cNvSpPr txBox="1"/>
            <p:nvPr/>
          </p:nvSpPr>
          <p:spPr>
            <a:xfrm>
              <a:off x="4158640" y="1301804"/>
              <a:ext cx="9144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분양안내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2FEAD6BD-F9D3-C20D-E558-6F7CE1593D8E}"/>
                </a:ext>
              </a:extLst>
            </p:cNvPr>
            <p:cNvSpPr txBox="1"/>
            <p:nvPr/>
          </p:nvSpPr>
          <p:spPr>
            <a:xfrm>
              <a:off x="5077560" y="1301804"/>
              <a:ext cx="119120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사이버추모관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5B58E743-1DE3-6FAB-C884-7C0641F93D40}"/>
                </a:ext>
              </a:extLst>
            </p:cNvPr>
            <p:cNvSpPr txBox="1"/>
            <p:nvPr/>
          </p:nvSpPr>
          <p:spPr>
            <a:xfrm>
              <a:off x="6273289" y="1301804"/>
              <a:ext cx="9144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고객센터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0D18789F-0727-F853-8F4B-708FAC672DFE}"/>
                </a:ext>
              </a:extLst>
            </p:cNvPr>
            <p:cNvSpPr txBox="1"/>
            <p:nvPr/>
          </p:nvSpPr>
          <p:spPr>
            <a:xfrm>
              <a:off x="7734300" y="817862"/>
              <a:ext cx="79388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b="1">
                  <a:latin typeface="나눔고딕" panose="020D0604000000000000" pitchFamily="50" charset="-127"/>
                  <a:ea typeface="나눔고딕" panose="020D0604000000000000" pitchFamily="50" charset="-127"/>
                </a:rPr>
                <a:t>비밀번호변경</a:t>
              </a:r>
              <a:endParaRPr lang="ko-KR" altLang="en-US" sz="8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0124291-2822-5D3A-780E-F00E68D18835}"/>
                </a:ext>
              </a:extLst>
            </p:cNvPr>
            <p:cNvSpPr txBox="1"/>
            <p:nvPr/>
          </p:nvSpPr>
          <p:spPr>
            <a:xfrm>
              <a:off x="8472200" y="817862"/>
              <a:ext cx="58783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로그아웃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16EA62E-19F0-5139-819B-D77457FB9F27}"/>
                </a:ext>
              </a:extLst>
            </p:cNvPr>
            <p:cNvSpPr txBox="1"/>
            <p:nvPr/>
          </p:nvSpPr>
          <p:spPr>
            <a:xfrm>
              <a:off x="7203231" y="817862"/>
              <a:ext cx="65313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나의정보</a:t>
              </a: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6E3AD0F2-48B0-8760-0AF0-7D65293FADEF}"/>
              </a:ext>
            </a:extLst>
          </p:cNvPr>
          <p:cNvSpPr txBox="1"/>
          <p:nvPr/>
        </p:nvSpPr>
        <p:spPr>
          <a:xfrm>
            <a:off x="158621" y="1704392"/>
            <a:ext cx="314441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HOME &gt; </a:t>
            </a:r>
            <a:r>
              <a:rPr lang="ko-KR" altLang="en-US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고객센터 </a:t>
            </a:r>
            <a:r>
              <a:rPr lang="en-US" altLang="ko-KR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나의상담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12D5B8C-29D7-D5E9-310E-09325BF3C305}"/>
              </a:ext>
            </a:extLst>
          </p:cNvPr>
          <p:cNvSpPr txBox="1"/>
          <p:nvPr/>
        </p:nvSpPr>
        <p:spPr>
          <a:xfrm>
            <a:off x="2962325" y="1866963"/>
            <a:ext cx="33499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나의 상담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99356D2-8563-D181-BAA2-D4B276C4CCFC}"/>
              </a:ext>
            </a:extLst>
          </p:cNvPr>
          <p:cNvSpPr txBox="1"/>
          <p:nvPr/>
        </p:nvSpPr>
        <p:spPr>
          <a:xfrm>
            <a:off x="2169973" y="2561406"/>
            <a:ext cx="49457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/>
              <a:t>"</a:t>
            </a:r>
            <a:r>
              <a:rPr lang="ko-KR" altLang="en-US" sz="1200" b="1" dirty="0"/>
              <a:t>마음을 다해 듣고</a:t>
            </a:r>
            <a:r>
              <a:rPr lang="en-US" altLang="ko-KR" sz="1200" b="1" dirty="0"/>
              <a:t>, </a:t>
            </a:r>
            <a:r>
              <a:rPr lang="ko-KR" altLang="en-US" sz="1200" b="1" dirty="0"/>
              <a:t>정성을 다해 답하겠습니다</a:t>
            </a:r>
            <a:r>
              <a:rPr lang="en-US" altLang="ko-KR" sz="1200" b="1" dirty="0"/>
              <a:t>." </a:t>
            </a:r>
          </a:p>
          <a:p>
            <a:pPr algn="ctr"/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말로 다 전하기 어려운 유족분들의 고민과 궁금증을 귀 기울여 듣겠습니다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하늘누리가 가족의 마음으로 함께 고민하고 답변해 드립니다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1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3" name="Oval 109">
            <a:extLst>
              <a:ext uri="{FF2B5EF4-FFF2-40B4-BE49-F238E27FC236}">
                <a16:creationId xmlns:a16="http://schemas.microsoft.com/office/drawing/2014/main" id="{98613CF7-1222-9492-3A63-BF7B418338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5108" y="1879617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1</a:t>
            </a:r>
          </a:p>
        </p:txBody>
      </p:sp>
      <p:sp>
        <p:nvSpPr>
          <p:cNvPr id="4" name="모서리가 둥근 직사각형 63">
            <a:extLst>
              <a:ext uri="{FF2B5EF4-FFF2-40B4-BE49-F238E27FC236}">
                <a16:creationId xmlns:a16="http://schemas.microsoft.com/office/drawing/2014/main" id="{FD2EB334-A6AA-8F19-048B-F5032F1FD472}"/>
              </a:ext>
            </a:extLst>
          </p:cNvPr>
          <p:cNvSpPr/>
          <p:nvPr/>
        </p:nvSpPr>
        <p:spPr bwMode="auto">
          <a:xfrm>
            <a:off x="1710350" y="5925508"/>
            <a:ext cx="3043746" cy="312422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400" b="1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취소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A146F6E-858C-7CF3-073A-25CFFB7D442F}"/>
              </a:ext>
            </a:extLst>
          </p:cNvPr>
          <p:cNvSpPr txBox="1"/>
          <p:nvPr/>
        </p:nvSpPr>
        <p:spPr>
          <a:xfrm>
            <a:off x="1710350" y="3783886"/>
            <a:ext cx="8142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E-Mail</a:t>
            </a:r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endParaRPr lang="ko-KR" altLang="en-US" sz="10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136118EA-5E48-6BE2-40CE-4F8875D07038}"/>
              </a:ext>
            </a:extLst>
          </p:cNvPr>
          <p:cNvCxnSpPr>
            <a:cxnSpLocks/>
          </p:cNvCxnSpPr>
          <p:nvPr/>
        </p:nvCxnSpPr>
        <p:spPr>
          <a:xfrm flipV="1">
            <a:off x="2534356" y="3960224"/>
            <a:ext cx="2318025" cy="11515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5E382921-3B58-09D5-02C8-65820CEA8687}"/>
              </a:ext>
            </a:extLst>
          </p:cNvPr>
          <p:cNvSpPr txBox="1"/>
          <p:nvPr/>
        </p:nvSpPr>
        <p:spPr>
          <a:xfrm>
            <a:off x="1729110" y="4560862"/>
            <a:ext cx="100264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>
                <a:latin typeface="나눔고딕" panose="020D0604000000000000" pitchFamily="50" charset="-127"/>
                <a:ea typeface="나눔고딕" panose="020D0604000000000000" pitchFamily="50" charset="-127"/>
              </a:rPr>
              <a:t>문의내용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*</a:t>
            </a:r>
            <a:endParaRPr lang="ko-KR" altLang="en-US" sz="10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6C11A256-856A-2DB6-5695-0F27373D10A1}"/>
              </a:ext>
            </a:extLst>
          </p:cNvPr>
          <p:cNvSpPr/>
          <p:nvPr/>
        </p:nvSpPr>
        <p:spPr>
          <a:xfrm>
            <a:off x="2534356" y="4642763"/>
            <a:ext cx="5255783" cy="113165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" name="모서리가 둥근 직사각형 63">
            <a:extLst>
              <a:ext uri="{FF2B5EF4-FFF2-40B4-BE49-F238E27FC236}">
                <a16:creationId xmlns:a16="http://schemas.microsoft.com/office/drawing/2014/main" id="{F8FB6796-E638-5349-4B4D-73A39645B24E}"/>
              </a:ext>
            </a:extLst>
          </p:cNvPr>
          <p:cNvSpPr/>
          <p:nvPr/>
        </p:nvSpPr>
        <p:spPr bwMode="auto">
          <a:xfrm>
            <a:off x="4762057" y="5925508"/>
            <a:ext cx="3043746" cy="312422"/>
          </a:xfrm>
          <a:prstGeom prst="roundRect">
            <a:avLst/>
          </a:prstGeom>
          <a:solidFill>
            <a:schemeClr val="tx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400" b="1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수정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67EEB99-8F20-9266-F1D4-1052A9B2F385}"/>
              </a:ext>
            </a:extLst>
          </p:cNvPr>
          <p:cNvSpPr txBox="1"/>
          <p:nvPr/>
        </p:nvSpPr>
        <p:spPr>
          <a:xfrm>
            <a:off x="2606196" y="3764430"/>
            <a:ext cx="224544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gildong@abc.co.kr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0C1E04A-9A57-7623-3BFB-B259E78A0A99}"/>
              </a:ext>
            </a:extLst>
          </p:cNvPr>
          <p:cNvSpPr txBox="1"/>
          <p:nvPr/>
        </p:nvSpPr>
        <p:spPr>
          <a:xfrm>
            <a:off x="2551571" y="4691667"/>
            <a:ext cx="51042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하늘누리에 저희 어머님을 </a:t>
            </a:r>
            <a:r>
              <a:rPr lang="ko-KR" altLang="en-US" sz="9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모시려하고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있습니다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어떤 절차를 거쳐야 모실 수 있는지 자세히 설명 </a:t>
            </a:r>
            <a:r>
              <a:rPr lang="ko-KR" altLang="en-US" sz="9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부탁드려요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AAE030D-F3EB-89F9-41CB-9C61D84F6C6C}"/>
              </a:ext>
            </a:extLst>
          </p:cNvPr>
          <p:cNvSpPr txBox="1"/>
          <p:nvPr/>
        </p:nvSpPr>
        <p:spPr>
          <a:xfrm>
            <a:off x="1709609" y="3469770"/>
            <a:ext cx="8142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작성자 </a:t>
            </a:r>
            <a:endParaRPr lang="ko-KR" altLang="en-US" sz="10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D80324AB-81BA-F110-04E6-0BF12FBADA37}"/>
              </a:ext>
            </a:extLst>
          </p:cNvPr>
          <p:cNvCxnSpPr>
            <a:cxnSpLocks/>
          </p:cNvCxnSpPr>
          <p:nvPr/>
        </p:nvCxnSpPr>
        <p:spPr>
          <a:xfrm flipV="1">
            <a:off x="2533615" y="3646108"/>
            <a:ext cx="2318025" cy="11515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1244305C-994C-FE54-FCD0-33C04869A336}"/>
              </a:ext>
            </a:extLst>
          </p:cNvPr>
          <p:cNvSpPr txBox="1"/>
          <p:nvPr/>
        </p:nvSpPr>
        <p:spPr>
          <a:xfrm>
            <a:off x="2605455" y="3450314"/>
            <a:ext cx="215660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홍길동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4E8B4D2-8FDE-DEC5-747B-003B83D7CD0C}"/>
              </a:ext>
            </a:extLst>
          </p:cNvPr>
          <p:cNvSpPr txBox="1"/>
          <p:nvPr/>
        </p:nvSpPr>
        <p:spPr>
          <a:xfrm>
            <a:off x="1743278" y="4249967"/>
            <a:ext cx="8142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제목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*</a:t>
            </a:r>
            <a:r>
              <a:rPr lang="ko-KR" altLang="en-US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</p:txBody>
      </p: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F906B121-825B-C327-4D67-6FFA8E83FA92}"/>
              </a:ext>
            </a:extLst>
          </p:cNvPr>
          <p:cNvCxnSpPr>
            <a:cxnSpLocks/>
          </p:cNvCxnSpPr>
          <p:nvPr/>
        </p:nvCxnSpPr>
        <p:spPr>
          <a:xfrm>
            <a:off x="2514138" y="4461343"/>
            <a:ext cx="5276001" cy="11665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CC862DFC-B380-207D-B46F-EDC5F264A972}"/>
              </a:ext>
            </a:extLst>
          </p:cNvPr>
          <p:cNvSpPr txBox="1"/>
          <p:nvPr/>
        </p:nvSpPr>
        <p:spPr>
          <a:xfrm>
            <a:off x="2551572" y="4230511"/>
            <a:ext cx="494570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하늘누리에 고인을 </a:t>
            </a:r>
            <a:r>
              <a:rPr lang="ko-KR" altLang="en-US" sz="9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모실려면</a:t>
            </a:r>
            <a:r>
              <a:rPr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어떻게 하면 되나요</a:t>
            </a:r>
            <a:r>
              <a:rPr lang="en-US" altLang="ko-KR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?</a:t>
            </a:r>
          </a:p>
        </p:txBody>
      </p:sp>
      <p:sp>
        <p:nvSpPr>
          <p:cNvPr id="40" name="Oval 109">
            <a:extLst>
              <a:ext uri="{FF2B5EF4-FFF2-40B4-BE49-F238E27FC236}">
                <a16:creationId xmlns:a16="http://schemas.microsoft.com/office/drawing/2014/main" id="{7E0FF0C2-1F58-BE9A-39C8-47AE4076AA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9188" y="5745281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4</a:t>
            </a:r>
          </a:p>
        </p:txBody>
      </p:sp>
      <p:sp>
        <p:nvSpPr>
          <p:cNvPr id="41" name="Oval 109">
            <a:extLst>
              <a:ext uri="{FF2B5EF4-FFF2-40B4-BE49-F238E27FC236}">
                <a16:creationId xmlns:a16="http://schemas.microsoft.com/office/drawing/2014/main" id="{1766AFE7-51BD-FADA-8FA4-EEBC07B911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13276" y="5752708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376409076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3B13D5-84F7-C01C-F07F-7B1D668B1F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12003958-E309-A9CD-115E-6346F5A0EBBF}"/>
              </a:ext>
            </a:extLst>
          </p:cNvPr>
          <p:cNvGraphicFramePr>
            <a:graphicFrameLocks noGrp="1"/>
          </p:cNvGraphicFramePr>
          <p:nvPr/>
        </p:nvGraphicFramePr>
        <p:xfrm>
          <a:off x="9182101" y="947377"/>
          <a:ext cx="2795588" cy="2334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1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키워드를 입력하고 검색 버튼 선택하면 해당 키워드에 맞는 검색화면 노출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검색은 제목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/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내용 모두 검색하는 전체검색으로 함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684046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제목 행을 선택하면 공지사항의 상세화면으로 이동</a:t>
                      </a: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723838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3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첨부파일이 있는 경우에는 첨부파일 아이콘 노출</a:t>
                      </a: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172599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4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목록갯수는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최초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10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개가 노출됨</a:t>
                      </a: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290794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5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더보기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버튼을 선택하면 추가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10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개가 목록하단에 노출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더보기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버튼은 목록이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10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개 이하일 때는 노출되지 않음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. 10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개 초과시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더보기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버튼 노출됨</a:t>
                      </a: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922450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6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784800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7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0538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8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199337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9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450365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00DF3EE5-12A7-FAA0-5D74-CE392E488234}"/>
              </a:ext>
            </a:extLst>
          </p:cNvPr>
          <p:cNvSpPr/>
          <p:nvPr/>
        </p:nvSpPr>
        <p:spPr>
          <a:xfrm>
            <a:off x="959895" y="375614"/>
            <a:ext cx="1277914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</a:pP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메인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고객센터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자료실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ECC71D2-151F-8998-C47E-A3825A02952A}"/>
              </a:ext>
            </a:extLst>
          </p:cNvPr>
          <p:cNvSpPr txBox="1"/>
          <p:nvPr/>
        </p:nvSpPr>
        <p:spPr>
          <a:xfrm>
            <a:off x="6003996" y="123825"/>
            <a:ext cx="17303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HN_Customer_Noticelist_001</a:t>
            </a:r>
            <a:endParaRPr lang="ko-KR" altLang="en-US" sz="800" dirty="0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CDFBE684-ADEC-CEF1-32C1-33A06457C013}"/>
              </a:ext>
            </a:extLst>
          </p:cNvPr>
          <p:cNvGrpSpPr/>
          <p:nvPr/>
        </p:nvGrpSpPr>
        <p:grpSpPr>
          <a:xfrm>
            <a:off x="161925" y="797629"/>
            <a:ext cx="8953500" cy="851943"/>
            <a:chOff x="161925" y="797629"/>
            <a:chExt cx="8953500" cy="851943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F9BAB219-89B8-077A-B728-2EFDB5684FEE}"/>
                </a:ext>
              </a:extLst>
            </p:cNvPr>
            <p:cNvSpPr/>
            <p:nvPr/>
          </p:nvSpPr>
          <p:spPr>
            <a:xfrm>
              <a:off x="4144448" y="797629"/>
              <a:ext cx="942784" cy="35821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800" b="1" dirty="0">
                  <a:solidFill>
                    <a:srgbClr val="FF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CI</a:t>
              </a:r>
            </a:p>
          </p:txBody>
        </p: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77C30FCA-9741-B7CD-BAE2-A8FADC11B688}"/>
                </a:ext>
              </a:extLst>
            </p:cNvPr>
            <p:cNvCxnSpPr/>
            <p:nvPr/>
          </p:nvCxnSpPr>
          <p:spPr>
            <a:xfrm>
              <a:off x="161925" y="1649572"/>
              <a:ext cx="8953500" cy="0"/>
            </a:xfrm>
            <a:prstGeom prst="line">
              <a:avLst/>
            </a:prstGeom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1FF3AEE-EECE-8472-C200-CE4B9E8E43A7}"/>
                </a:ext>
              </a:extLst>
            </p:cNvPr>
            <p:cNvSpPr txBox="1"/>
            <p:nvPr/>
          </p:nvSpPr>
          <p:spPr>
            <a:xfrm>
              <a:off x="2031551" y="1301804"/>
              <a:ext cx="120364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하늘누리소개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F1A61143-036B-D583-87A8-48CAD97D25BF}"/>
                </a:ext>
              </a:extLst>
            </p:cNvPr>
            <p:cNvSpPr txBox="1"/>
            <p:nvPr/>
          </p:nvSpPr>
          <p:spPr>
            <a:xfrm>
              <a:off x="3239720" y="1301804"/>
              <a:ext cx="9144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시설안내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6769CB3C-C0C5-B598-BBFD-E8A7D3DDA680}"/>
                </a:ext>
              </a:extLst>
            </p:cNvPr>
            <p:cNvSpPr txBox="1"/>
            <p:nvPr/>
          </p:nvSpPr>
          <p:spPr>
            <a:xfrm>
              <a:off x="4158640" y="1301804"/>
              <a:ext cx="9144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분양안내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B238711A-BD9B-3577-A9E5-FCECD4619226}"/>
                </a:ext>
              </a:extLst>
            </p:cNvPr>
            <p:cNvSpPr txBox="1"/>
            <p:nvPr/>
          </p:nvSpPr>
          <p:spPr>
            <a:xfrm>
              <a:off x="5077560" y="1301804"/>
              <a:ext cx="119120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사이버추모관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11748791-6D03-3041-2BC2-95570D10DA57}"/>
                </a:ext>
              </a:extLst>
            </p:cNvPr>
            <p:cNvSpPr txBox="1"/>
            <p:nvPr/>
          </p:nvSpPr>
          <p:spPr>
            <a:xfrm>
              <a:off x="6273289" y="1301804"/>
              <a:ext cx="9144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고객센터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10928961-9374-8DE8-0BB2-D521895566AF}"/>
                </a:ext>
              </a:extLst>
            </p:cNvPr>
            <p:cNvSpPr txBox="1"/>
            <p:nvPr/>
          </p:nvSpPr>
          <p:spPr>
            <a:xfrm>
              <a:off x="7734300" y="817862"/>
              <a:ext cx="79388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b="1">
                  <a:latin typeface="나눔고딕" panose="020D0604000000000000" pitchFamily="50" charset="-127"/>
                  <a:ea typeface="나눔고딕" panose="020D0604000000000000" pitchFamily="50" charset="-127"/>
                </a:rPr>
                <a:t>비밀번호변경</a:t>
              </a:r>
              <a:endParaRPr lang="ko-KR" altLang="en-US" sz="8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763E53F-6C95-624B-DA0F-6AF340E24CB1}"/>
                </a:ext>
              </a:extLst>
            </p:cNvPr>
            <p:cNvSpPr txBox="1"/>
            <p:nvPr/>
          </p:nvSpPr>
          <p:spPr>
            <a:xfrm>
              <a:off x="8472200" y="817862"/>
              <a:ext cx="58783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로그아웃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9F8DC1C9-1F11-A5B3-C01E-09EF51F81EBD}"/>
                </a:ext>
              </a:extLst>
            </p:cNvPr>
            <p:cNvSpPr txBox="1"/>
            <p:nvPr/>
          </p:nvSpPr>
          <p:spPr>
            <a:xfrm>
              <a:off x="7203231" y="817862"/>
              <a:ext cx="65313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나의정보</a:t>
              </a: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B79C26F8-0E19-DA86-ECD6-E2E30AFD6A71}"/>
              </a:ext>
            </a:extLst>
          </p:cNvPr>
          <p:cNvSpPr txBox="1"/>
          <p:nvPr/>
        </p:nvSpPr>
        <p:spPr>
          <a:xfrm>
            <a:off x="158621" y="1704392"/>
            <a:ext cx="314441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HOME &gt; </a:t>
            </a:r>
            <a:r>
              <a:rPr lang="ko-KR" altLang="en-US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고객센터 </a:t>
            </a:r>
            <a:r>
              <a:rPr lang="en-US" altLang="ko-KR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자료실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FBD6EB9-A1F7-E27E-25A8-6D6058A4E2F0}"/>
              </a:ext>
            </a:extLst>
          </p:cNvPr>
          <p:cNvSpPr txBox="1"/>
          <p:nvPr/>
        </p:nvSpPr>
        <p:spPr>
          <a:xfrm>
            <a:off x="2962325" y="1866963"/>
            <a:ext cx="33499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자료실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287C256-552F-B92E-D684-0C13CA63D8E0}"/>
              </a:ext>
            </a:extLst>
          </p:cNvPr>
          <p:cNvSpPr txBox="1"/>
          <p:nvPr/>
        </p:nvSpPr>
        <p:spPr>
          <a:xfrm>
            <a:off x="2169973" y="2561406"/>
            <a:ext cx="49457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/>
              <a:t>"</a:t>
            </a:r>
            <a:r>
              <a:rPr lang="ko-KR" altLang="en-US" sz="1200" b="1" dirty="0"/>
              <a:t>하늘누리 이용을 돕는 투명하고 정확한 기록들</a:t>
            </a:r>
            <a:r>
              <a:rPr lang="en-US" altLang="ko-KR" sz="1200" b="1" dirty="0"/>
              <a:t>“</a:t>
            </a:r>
          </a:p>
          <a:p>
            <a:pPr algn="ctr"/>
            <a:r>
              <a:rPr lang="ko-KR" altLang="en-US" sz="1200" dirty="0"/>
              <a:t>이곳저곳 찾아보시는 번거로움을 덜어드리기 위해 관련 서식과 가이드북을 한곳에 정리했습니다</a:t>
            </a:r>
            <a:r>
              <a:rPr lang="en-US" altLang="ko-KR" sz="1200" dirty="0"/>
              <a:t>. </a:t>
            </a:r>
            <a:r>
              <a:rPr lang="ko-KR" altLang="en-US" sz="1200" dirty="0"/>
              <a:t>편안하게 내려 받아 확인해 보세요</a:t>
            </a:r>
            <a:r>
              <a:rPr lang="en-US" altLang="ko-KR" sz="1200" dirty="0"/>
              <a:t>.</a:t>
            </a:r>
            <a:endParaRPr lang="ko-KR" altLang="en-US" sz="1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" name="모서리가 둥근 직사각형 63">
            <a:extLst>
              <a:ext uri="{FF2B5EF4-FFF2-40B4-BE49-F238E27FC236}">
                <a16:creationId xmlns:a16="http://schemas.microsoft.com/office/drawing/2014/main" id="{791A5DF7-FF2A-518D-541D-C9F3CEBD7CA3}"/>
              </a:ext>
            </a:extLst>
          </p:cNvPr>
          <p:cNvSpPr/>
          <p:nvPr/>
        </p:nvSpPr>
        <p:spPr bwMode="auto">
          <a:xfrm>
            <a:off x="1447856" y="6292493"/>
            <a:ext cx="6499763" cy="312422"/>
          </a:xfrm>
          <a:prstGeom prst="roundRect">
            <a:avLst/>
          </a:prstGeom>
          <a:solidFill>
            <a:schemeClr val="tx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400" b="1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더보기</a:t>
            </a:r>
            <a:endParaRPr kumimoji="1" lang="ko-KR" altLang="en-US" sz="1400" b="1" dirty="0">
              <a:ln w="0" cmpd="sng">
                <a:solidFill>
                  <a:schemeClr val="tx2">
                    <a:satMod val="155000"/>
                    <a:alpha val="0"/>
                  </a:schemeClr>
                </a:solidFill>
                <a:prstDash val="solid"/>
                <a:round/>
              </a:ln>
              <a:solidFill>
                <a:schemeClr val="bg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956D551-A10A-A7C6-B9D5-3F14C24ABE5B}"/>
              </a:ext>
            </a:extLst>
          </p:cNvPr>
          <p:cNvSpPr txBox="1"/>
          <p:nvPr/>
        </p:nvSpPr>
        <p:spPr>
          <a:xfrm>
            <a:off x="4328596" y="5981817"/>
            <a:ext cx="6174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......</a:t>
            </a:r>
            <a:endParaRPr lang="ko-KR" altLang="en-US" sz="16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" name="Oval 109">
            <a:extLst>
              <a:ext uri="{FF2B5EF4-FFF2-40B4-BE49-F238E27FC236}">
                <a16:creationId xmlns:a16="http://schemas.microsoft.com/office/drawing/2014/main" id="{2F1D9BAC-2BFC-A626-78D5-D131F47093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02301" y="3151901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1</a:t>
            </a:r>
          </a:p>
        </p:txBody>
      </p:sp>
      <p:sp>
        <p:nvSpPr>
          <p:cNvPr id="17" name="Oval 109">
            <a:extLst>
              <a:ext uri="{FF2B5EF4-FFF2-40B4-BE49-F238E27FC236}">
                <a16:creationId xmlns:a16="http://schemas.microsoft.com/office/drawing/2014/main" id="{821E41F8-04B8-4511-30CD-202F88E657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9450" y="3963084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2</a:t>
            </a:r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661B52EE-31E2-CC7E-9815-F8972FCD9C37}"/>
              </a:ext>
            </a:extLst>
          </p:cNvPr>
          <p:cNvCxnSpPr/>
          <p:nvPr/>
        </p:nvCxnSpPr>
        <p:spPr>
          <a:xfrm>
            <a:off x="1543795" y="3690168"/>
            <a:ext cx="647839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F043F341-D108-70A6-1FE6-535D90541F46}"/>
              </a:ext>
            </a:extLst>
          </p:cNvPr>
          <p:cNvCxnSpPr/>
          <p:nvPr/>
        </p:nvCxnSpPr>
        <p:spPr>
          <a:xfrm>
            <a:off x="1529669" y="4280315"/>
            <a:ext cx="6478390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7243185B-59C9-888A-308C-8D4706A17653}"/>
              </a:ext>
            </a:extLst>
          </p:cNvPr>
          <p:cNvSpPr txBox="1"/>
          <p:nvPr/>
        </p:nvSpPr>
        <p:spPr>
          <a:xfrm>
            <a:off x="1566083" y="3690168"/>
            <a:ext cx="61291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888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E1D5059-8130-8743-BE99-DEE94D29D27D}"/>
              </a:ext>
            </a:extLst>
          </p:cNvPr>
          <p:cNvSpPr txBox="1"/>
          <p:nvPr/>
        </p:nvSpPr>
        <p:spPr>
          <a:xfrm>
            <a:off x="2340137" y="3705124"/>
            <a:ext cx="924702" cy="230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2026-03-11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F04D3116-E147-EA7A-0A91-9B02E87FBA35}"/>
              </a:ext>
            </a:extLst>
          </p:cNvPr>
          <p:cNvCxnSpPr/>
          <p:nvPr/>
        </p:nvCxnSpPr>
        <p:spPr>
          <a:xfrm>
            <a:off x="1543795" y="4872563"/>
            <a:ext cx="6478390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728856EA-04CE-B66B-F581-C17C61709A13}"/>
              </a:ext>
            </a:extLst>
          </p:cNvPr>
          <p:cNvCxnSpPr/>
          <p:nvPr/>
        </p:nvCxnSpPr>
        <p:spPr>
          <a:xfrm>
            <a:off x="1529669" y="5504861"/>
            <a:ext cx="6478390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2BAF0351-1086-1354-6FBB-31AF1EB01E51}"/>
              </a:ext>
            </a:extLst>
          </p:cNvPr>
          <p:cNvSpPr txBox="1"/>
          <p:nvPr/>
        </p:nvSpPr>
        <p:spPr>
          <a:xfrm>
            <a:off x="1574883" y="4309672"/>
            <a:ext cx="61291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887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4482E45-B34C-09E6-F4CA-1798D39471B4}"/>
              </a:ext>
            </a:extLst>
          </p:cNvPr>
          <p:cNvSpPr txBox="1"/>
          <p:nvPr/>
        </p:nvSpPr>
        <p:spPr>
          <a:xfrm>
            <a:off x="1566083" y="4895876"/>
            <a:ext cx="61291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886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6C315A2-C93D-8DBD-1473-4F9735F8A86D}"/>
              </a:ext>
            </a:extLst>
          </p:cNvPr>
          <p:cNvSpPr txBox="1"/>
          <p:nvPr/>
        </p:nvSpPr>
        <p:spPr>
          <a:xfrm>
            <a:off x="1586673" y="5517519"/>
            <a:ext cx="61291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885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6" name="Oval 109">
            <a:extLst>
              <a:ext uri="{FF2B5EF4-FFF2-40B4-BE49-F238E27FC236}">
                <a16:creationId xmlns:a16="http://schemas.microsoft.com/office/drawing/2014/main" id="{9E95A6D4-44A7-CFAA-932D-4F4C9D9665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5056" y="4722173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4</a:t>
            </a:r>
          </a:p>
        </p:txBody>
      </p:sp>
      <p:sp>
        <p:nvSpPr>
          <p:cNvPr id="47" name="Oval 109">
            <a:extLst>
              <a:ext uri="{FF2B5EF4-FFF2-40B4-BE49-F238E27FC236}">
                <a16:creationId xmlns:a16="http://schemas.microsoft.com/office/drawing/2014/main" id="{18B51527-FD3A-71BF-FC50-43B6DAE691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1504" y="6121687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52683D0-8669-1112-7C52-F727CAB8C172}"/>
              </a:ext>
            </a:extLst>
          </p:cNvPr>
          <p:cNvSpPr txBox="1"/>
          <p:nvPr/>
        </p:nvSpPr>
        <p:spPr>
          <a:xfrm>
            <a:off x="2336292" y="3969640"/>
            <a:ext cx="4492524" cy="21603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하늘누리의 시설 운영 규정입니다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1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AB7C72E-2418-3A16-11EF-CDEDAB7D5525}"/>
              </a:ext>
            </a:extLst>
          </p:cNvPr>
          <p:cNvSpPr txBox="1"/>
          <p:nvPr/>
        </p:nvSpPr>
        <p:spPr>
          <a:xfrm>
            <a:off x="2377208" y="4338226"/>
            <a:ext cx="924702" cy="230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2026-03-11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AA99BAB-A977-E2C5-4C2E-EC095C82D3AE}"/>
              </a:ext>
            </a:extLst>
          </p:cNvPr>
          <p:cNvSpPr txBox="1"/>
          <p:nvPr/>
        </p:nvSpPr>
        <p:spPr>
          <a:xfrm>
            <a:off x="2336292" y="4602742"/>
            <a:ext cx="4492524" cy="21603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하늘누리의 계약관련 서류 입니다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1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895C5AE-35F5-D016-E169-A42AC0363116}"/>
              </a:ext>
            </a:extLst>
          </p:cNvPr>
          <p:cNvSpPr txBox="1"/>
          <p:nvPr/>
        </p:nvSpPr>
        <p:spPr>
          <a:xfrm>
            <a:off x="2364442" y="4928941"/>
            <a:ext cx="924702" cy="230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2026-03-11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D01775B-ACE1-71D2-9E79-1BCCC9914976}"/>
              </a:ext>
            </a:extLst>
          </p:cNvPr>
          <p:cNvSpPr txBox="1"/>
          <p:nvPr/>
        </p:nvSpPr>
        <p:spPr>
          <a:xfrm>
            <a:off x="2336292" y="5193457"/>
            <a:ext cx="4492524" cy="21603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하늘누리에서 진행하는 안치 절차에 대한 안내서입니다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1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E55B999-EC0E-4359-8DA7-84F9AD706577}"/>
              </a:ext>
            </a:extLst>
          </p:cNvPr>
          <p:cNvSpPr txBox="1"/>
          <p:nvPr/>
        </p:nvSpPr>
        <p:spPr>
          <a:xfrm>
            <a:off x="2456286" y="5539455"/>
            <a:ext cx="924702" cy="230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2026-03-11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B22BE12-6477-20AF-FF95-6B277FAA7BAE}"/>
              </a:ext>
            </a:extLst>
          </p:cNvPr>
          <p:cNvSpPr txBox="1"/>
          <p:nvPr/>
        </p:nvSpPr>
        <p:spPr>
          <a:xfrm>
            <a:off x="2336292" y="5803971"/>
            <a:ext cx="4492524" cy="21603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하늘누리의 시설 운영 규정입니다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1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CF372295-F20C-3604-49C9-2BB0F031F013}"/>
              </a:ext>
            </a:extLst>
          </p:cNvPr>
          <p:cNvCxnSpPr/>
          <p:nvPr/>
        </p:nvCxnSpPr>
        <p:spPr>
          <a:xfrm>
            <a:off x="1546627" y="6110963"/>
            <a:ext cx="6478390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30" name="Picture 6" descr="첨부 파일 - 무료 파일 및 폴더개 아이콘">
            <a:extLst>
              <a:ext uri="{FF2B5EF4-FFF2-40B4-BE49-F238E27FC236}">
                <a16:creationId xmlns:a16="http://schemas.microsoft.com/office/drawing/2014/main" id="{F57EF718-7D0C-90BE-0689-0C1754F561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06218" y="3925028"/>
            <a:ext cx="256162" cy="2561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7" name="Picture 6" descr="첨부 파일 - 무료 파일 및 폴더개 아이콘">
            <a:extLst>
              <a:ext uri="{FF2B5EF4-FFF2-40B4-BE49-F238E27FC236}">
                <a16:creationId xmlns:a16="http://schemas.microsoft.com/office/drawing/2014/main" id="{F960C4E3-5AA4-C0A1-C06D-066A8EEA33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06218" y="5092636"/>
            <a:ext cx="256162" cy="2561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8" name="직사각형 57">
            <a:extLst>
              <a:ext uri="{FF2B5EF4-FFF2-40B4-BE49-F238E27FC236}">
                <a16:creationId xmlns:a16="http://schemas.microsoft.com/office/drawing/2014/main" id="{D0ACB316-FCBF-4F40-3E13-8972A48FBD44}"/>
              </a:ext>
            </a:extLst>
          </p:cNvPr>
          <p:cNvSpPr/>
          <p:nvPr/>
        </p:nvSpPr>
        <p:spPr bwMode="auto">
          <a:xfrm>
            <a:off x="5311303" y="3351697"/>
            <a:ext cx="2034910" cy="24310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>
              <a:ln w="0" cmpd="sng">
                <a:solidFill>
                  <a:schemeClr val="tx2">
                    <a:satMod val="155000"/>
                    <a:alpha val="0"/>
                  </a:schemeClr>
                </a:solidFill>
                <a:prstDash val="solid"/>
                <a:round/>
              </a:ln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59" name="모서리가 둥근 직사각형 65">
            <a:extLst>
              <a:ext uri="{FF2B5EF4-FFF2-40B4-BE49-F238E27FC236}">
                <a16:creationId xmlns:a16="http://schemas.microsoft.com/office/drawing/2014/main" id="{6133B762-A252-2182-4EDB-F2086FE83509}"/>
              </a:ext>
            </a:extLst>
          </p:cNvPr>
          <p:cNvSpPr/>
          <p:nvPr/>
        </p:nvSpPr>
        <p:spPr bwMode="auto">
          <a:xfrm>
            <a:off x="7403227" y="3351698"/>
            <a:ext cx="588963" cy="238064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000" b="1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검색</a:t>
            </a:r>
          </a:p>
        </p:txBody>
      </p:sp>
      <p:sp>
        <p:nvSpPr>
          <p:cNvPr id="63" name="Oval 109">
            <a:extLst>
              <a:ext uri="{FF2B5EF4-FFF2-40B4-BE49-F238E27FC236}">
                <a16:creationId xmlns:a16="http://schemas.microsoft.com/office/drawing/2014/main" id="{4F66AE42-9DA1-454E-CA3F-2D2A544A43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43400" y="3884370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3</a:t>
            </a:r>
          </a:p>
        </p:txBody>
      </p:sp>
      <p:pic>
        <p:nvPicPr>
          <p:cNvPr id="4" name="Picture 6" descr="첨부 파일 - 무료 파일 및 폴더개 아이콘">
            <a:extLst>
              <a:ext uri="{FF2B5EF4-FFF2-40B4-BE49-F238E27FC236}">
                <a16:creationId xmlns:a16="http://schemas.microsoft.com/office/drawing/2014/main" id="{16F0FFF9-C803-81F8-71E9-6844762D04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6200" y="4508834"/>
            <a:ext cx="256162" cy="2561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6" descr="첨부 파일 - 무료 파일 및 폴더개 아이콘">
            <a:extLst>
              <a:ext uri="{FF2B5EF4-FFF2-40B4-BE49-F238E27FC236}">
                <a16:creationId xmlns:a16="http://schemas.microsoft.com/office/drawing/2014/main" id="{D7658D17-E8C8-943B-2513-6FAF44C66F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06218" y="5712627"/>
            <a:ext cx="256162" cy="2561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99930871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009DFD-B086-7CDE-7AD8-4388408936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D0900730-2F08-83B1-6227-CA7BA88EFD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1668384"/>
              </p:ext>
            </p:extLst>
          </p:nvPr>
        </p:nvGraphicFramePr>
        <p:xfrm>
          <a:off x="9182101" y="947377"/>
          <a:ext cx="2795588" cy="1847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1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첨부파일 명 또는 아이콘 선택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해당 파일 다운로드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684046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목록 선택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목록화면으로 이동</a:t>
                      </a: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723838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3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172599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4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290794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5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922450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6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784800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7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0538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8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199337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9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450365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11F80964-A371-BD62-8240-26F937F94D76}"/>
              </a:ext>
            </a:extLst>
          </p:cNvPr>
          <p:cNvSpPr/>
          <p:nvPr/>
        </p:nvSpPr>
        <p:spPr>
          <a:xfrm>
            <a:off x="959895" y="375614"/>
            <a:ext cx="1584088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</a:pP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메인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고객센터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자료실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상세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5C38574-1D59-AABC-646E-BED24FEAC827}"/>
              </a:ext>
            </a:extLst>
          </p:cNvPr>
          <p:cNvSpPr txBox="1"/>
          <p:nvPr/>
        </p:nvSpPr>
        <p:spPr>
          <a:xfrm>
            <a:off x="6003996" y="123825"/>
            <a:ext cx="17303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HN_Customer_Referenview_001</a:t>
            </a:r>
            <a:endParaRPr lang="ko-KR" altLang="en-US" sz="800" dirty="0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41F46675-55A6-2327-FD70-73E8FDAE84EB}"/>
              </a:ext>
            </a:extLst>
          </p:cNvPr>
          <p:cNvGrpSpPr/>
          <p:nvPr/>
        </p:nvGrpSpPr>
        <p:grpSpPr>
          <a:xfrm>
            <a:off x="161925" y="797629"/>
            <a:ext cx="8953500" cy="851943"/>
            <a:chOff x="161925" y="797629"/>
            <a:chExt cx="8953500" cy="851943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E94F9250-4428-F8DC-2A1E-B6EDDEC011D5}"/>
                </a:ext>
              </a:extLst>
            </p:cNvPr>
            <p:cNvSpPr/>
            <p:nvPr/>
          </p:nvSpPr>
          <p:spPr>
            <a:xfrm>
              <a:off x="4144448" y="797629"/>
              <a:ext cx="942784" cy="35821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800" b="1" dirty="0">
                  <a:solidFill>
                    <a:srgbClr val="FF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CI</a:t>
              </a:r>
            </a:p>
          </p:txBody>
        </p: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56A6346F-60D6-E2F0-57CA-F9601C79F4A2}"/>
                </a:ext>
              </a:extLst>
            </p:cNvPr>
            <p:cNvCxnSpPr/>
            <p:nvPr/>
          </p:nvCxnSpPr>
          <p:spPr>
            <a:xfrm>
              <a:off x="161925" y="1649572"/>
              <a:ext cx="8953500" cy="0"/>
            </a:xfrm>
            <a:prstGeom prst="line">
              <a:avLst/>
            </a:prstGeom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13451BA-E2B0-D88C-0719-07592BCF7DA2}"/>
                </a:ext>
              </a:extLst>
            </p:cNvPr>
            <p:cNvSpPr txBox="1"/>
            <p:nvPr/>
          </p:nvSpPr>
          <p:spPr>
            <a:xfrm>
              <a:off x="2031551" y="1301804"/>
              <a:ext cx="120364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하늘누리소개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61A6E449-12C6-EA9E-5506-21E0321EA6C2}"/>
                </a:ext>
              </a:extLst>
            </p:cNvPr>
            <p:cNvSpPr txBox="1"/>
            <p:nvPr/>
          </p:nvSpPr>
          <p:spPr>
            <a:xfrm>
              <a:off x="3239720" y="1301804"/>
              <a:ext cx="9144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시설안내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1A43803F-D810-D9BF-60D4-C11E2C539BEC}"/>
                </a:ext>
              </a:extLst>
            </p:cNvPr>
            <p:cNvSpPr txBox="1"/>
            <p:nvPr/>
          </p:nvSpPr>
          <p:spPr>
            <a:xfrm>
              <a:off x="4158640" y="1301804"/>
              <a:ext cx="9144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분양안내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72429A01-8384-1487-BF2D-EF7E662C6AAE}"/>
                </a:ext>
              </a:extLst>
            </p:cNvPr>
            <p:cNvSpPr txBox="1"/>
            <p:nvPr/>
          </p:nvSpPr>
          <p:spPr>
            <a:xfrm>
              <a:off x="5077560" y="1301804"/>
              <a:ext cx="119120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사이버추모관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AFB6341B-D7D7-0842-FDCD-79E8797F3448}"/>
                </a:ext>
              </a:extLst>
            </p:cNvPr>
            <p:cNvSpPr txBox="1"/>
            <p:nvPr/>
          </p:nvSpPr>
          <p:spPr>
            <a:xfrm>
              <a:off x="6273289" y="1301804"/>
              <a:ext cx="9144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고객센터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2EE8D5C-A6DB-5792-DA6C-2A818CDCB406}"/>
                </a:ext>
              </a:extLst>
            </p:cNvPr>
            <p:cNvSpPr txBox="1"/>
            <p:nvPr/>
          </p:nvSpPr>
          <p:spPr>
            <a:xfrm>
              <a:off x="7734300" y="817862"/>
              <a:ext cx="79388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b="1">
                  <a:latin typeface="나눔고딕" panose="020D0604000000000000" pitchFamily="50" charset="-127"/>
                  <a:ea typeface="나눔고딕" panose="020D0604000000000000" pitchFamily="50" charset="-127"/>
                </a:rPr>
                <a:t>비밀번호변경</a:t>
              </a:r>
              <a:endParaRPr lang="ko-KR" altLang="en-US" sz="8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A79305E9-2DD9-76FD-203D-CDBF8FCEB670}"/>
                </a:ext>
              </a:extLst>
            </p:cNvPr>
            <p:cNvSpPr txBox="1"/>
            <p:nvPr/>
          </p:nvSpPr>
          <p:spPr>
            <a:xfrm>
              <a:off x="8472200" y="817862"/>
              <a:ext cx="58783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로그아웃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181B576-7BE2-E521-7416-1C7C099CEBD2}"/>
                </a:ext>
              </a:extLst>
            </p:cNvPr>
            <p:cNvSpPr txBox="1"/>
            <p:nvPr/>
          </p:nvSpPr>
          <p:spPr>
            <a:xfrm>
              <a:off x="7203231" y="817862"/>
              <a:ext cx="65313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나의정보</a:t>
              </a: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1E8FFA4D-2B1F-2BC8-F54D-06D85C5984BB}"/>
              </a:ext>
            </a:extLst>
          </p:cNvPr>
          <p:cNvSpPr txBox="1"/>
          <p:nvPr/>
        </p:nvSpPr>
        <p:spPr>
          <a:xfrm>
            <a:off x="158621" y="1704392"/>
            <a:ext cx="314441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HOME &gt; </a:t>
            </a:r>
            <a:r>
              <a:rPr lang="ko-KR" altLang="en-US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고객센터 </a:t>
            </a:r>
            <a:r>
              <a:rPr lang="en-US" altLang="ko-KR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자료실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F7D9596-3BA3-6BE9-E108-D20D96437DF1}"/>
              </a:ext>
            </a:extLst>
          </p:cNvPr>
          <p:cNvSpPr txBox="1"/>
          <p:nvPr/>
        </p:nvSpPr>
        <p:spPr>
          <a:xfrm>
            <a:off x="2962325" y="1866963"/>
            <a:ext cx="33499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자료실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0E150FE-8799-5448-88ED-BCFF8E5A2A8C}"/>
              </a:ext>
            </a:extLst>
          </p:cNvPr>
          <p:cNvSpPr txBox="1"/>
          <p:nvPr/>
        </p:nvSpPr>
        <p:spPr>
          <a:xfrm>
            <a:off x="2169973" y="2561406"/>
            <a:ext cx="49457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/>
              <a:t>"</a:t>
            </a:r>
            <a:r>
              <a:rPr lang="ko-KR" altLang="en-US" sz="1200" b="1" dirty="0"/>
              <a:t>하늘누리 이용을 돕는 투명하고 정확한 기록들</a:t>
            </a:r>
            <a:r>
              <a:rPr lang="en-US" altLang="ko-KR" sz="1200" b="1" dirty="0"/>
              <a:t>“</a:t>
            </a:r>
          </a:p>
          <a:p>
            <a:pPr algn="ctr"/>
            <a:r>
              <a:rPr lang="ko-KR" altLang="en-US" sz="1200" dirty="0"/>
              <a:t>이곳저곳 찾아보시는 번거로움을 덜어드리기 위해 관련 서식과 가이드북을 한곳에 정리했습니다</a:t>
            </a:r>
            <a:r>
              <a:rPr lang="en-US" altLang="ko-KR" sz="1200" dirty="0"/>
              <a:t>. </a:t>
            </a:r>
            <a:r>
              <a:rPr lang="ko-KR" altLang="en-US" sz="1200" dirty="0"/>
              <a:t>편안하게 내려 받아 확인해 보세요</a:t>
            </a:r>
            <a:r>
              <a:rPr lang="en-US" altLang="ko-KR" sz="1200" dirty="0"/>
              <a:t>.</a:t>
            </a:r>
            <a:endParaRPr lang="ko-KR" altLang="en-US" sz="1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3" name="모서리가 둥근 직사각형 63">
            <a:extLst>
              <a:ext uri="{FF2B5EF4-FFF2-40B4-BE49-F238E27FC236}">
                <a16:creationId xmlns:a16="http://schemas.microsoft.com/office/drawing/2014/main" id="{9FF9D75C-1AB4-B069-6939-042D44A8E61F}"/>
              </a:ext>
            </a:extLst>
          </p:cNvPr>
          <p:cNvSpPr/>
          <p:nvPr/>
        </p:nvSpPr>
        <p:spPr bwMode="auto">
          <a:xfrm>
            <a:off x="1447856" y="6204945"/>
            <a:ext cx="6499763" cy="312422"/>
          </a:xfrm>
          <a:prstGeom prst="roundRect">
            <a:avLst/>
          </a:prstGeom>
          <a:solidFill>
            <a:schemeClr val="tx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400" b="1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목록</a:t>
            </a:r>
          </a:p>
        </p:txBody>
      </p: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A6E4B797-F4BC-33E8-9038-A81886CF6804}"/>
              </a:ext>
            </a:extLst>
          </p:cNvPr>
          <p:cNvCxnSpPr/>
          <p:nvPr/>
        </p:nvCxnSpPr>
        <p:spPr>
          <a:xfrm>
            <a:off x="1543795" y="3252419"/>
            <a:ext cx="6478390" cy="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5AE46F9B-B783-030B-595C-BEFB10B6C45E}"/>
              </a:ext>
            </a:extLst>
          </p:cNvPr>
          <p:cNvCxnSpPr/>
          <p:nvPr/>
        </p:nvCxnSpPr>
        <p:spPr>
          <a:xfrm>
            <a:off x="1529669" y="3628561"/>
            <a:ext cx="6478390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5345FB57-DA86-1035-31AF-92301AFBD259}"/>
              </a:ext>
            </a:extLst>
          </p:cNvPr>
          <p:cNvCxnSpPr/>
          <p:nvPr/>
        </p:nvCxnSpPr>
        <p:spPr>
          <a:xfrm>
            <a:off x="1543795" y="5271401"/>
            <a:ext cx="6478390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109">
            <a:extLst>
              <a:ext uri="{FF2B5EF4-FFF2-40B4-BE49-F238E27FC236}">
                <a16:creationId xmlns:a16="http://schemas.microsoft.com/office/drawing/2014/main" id="{CD133B31-F36F-4D71-C21F-6508A526AB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1505" y="6071019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D9FC1B9-CD2B-C0F5-44FA-8E0F96A5BDED}"/>
              </a:ext>
            </a:extLst>
          </p:cNvPr>
          <p:cNvSpPr txBox="1"/>
          <p:nvPr/>
        </p:nvSpPr>
        <p:spPr>
          <a:xfrm>
            <a:off x="1574292" y="3327294"/>
            <a:ext cx="4492524" cy="21603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ko-KR" altLang="en-US" sz="11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하늘누리 시설운영 규정입니다</a:t>
            </a:r>
            <a:r>
              <a:rPr lang="en-US" altLang="ko-KR" sz="11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11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C1610EFE-D70C-72C8-FCF7-4BF5D3E58B72}"/>
              </a:ext>
            </a:extLst>
          </p:cNvPr>
          <p:cNvCxnSpPr/>
          <p:nvPr/>
        </p:nvCxnSpPr>
        <p:spPr>
          <a:xfrm>
            <a:off x="1546627" y="6042876"/>
            <a:ext cx="6478390" cy="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Oval 109">
            <a:extLst>
              <a:ext uri="{FF2B5EF4-FFF2-40B4-BE49-F238E27FC236}">
                <a16:creationId xmlns:a16="http://schemas.microsoft.com/office/drawing/2014/main" id="{C37F4D54-2588-FB27-85C3-925F293D4A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76273" y="5245481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2509F77-A8E3-0E64-24C8-54E55A2843CE}"/>
              </a:ext>
            </a:extLst>
          </p:cNvPr>
          <p:cNvSpPr txBox="1"/>
          <p:nvPr/>
        </p:nvSpPr>
        <p:spPr>
          <a:xfrm>
            <a:off x="1628430" y="3788969"/>
            <a:ext cx="6393755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하늘누리 시설운영 규정을 공유합니다 </a:t>
            </a: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&lt;</a:t>
            </a:r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등록파일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&gt;</a:t>
            </a:r>
          </a:p>
          <a:p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하늘누리 시설운영 규정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1.pdf</a:t>
            </a:r>
          </a:p>
          <a:p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하늘누리 시설운영 규정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2.pdf</a:t>
            </a:r>
            <a:endParaRPr lang="ko-KR" altLang="en-US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endParaRPr lang="ko-KR" altLang="en-US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47E58C3-B494-A3DD-2659-0F1CB92C5083}"/>
              </a:ext>
            </a:extLst>
          </p:cNvPr>
          <p:cNvSpPr txBox="1"/>
          <p:nvPr/>
        </p:nvSpPr>
        <p:spPr>
          <a:xfrm>
            <a:off x="1614305" y="5369668"/>
            <a:ext cx="66196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첨부파일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B1C7BB7-CC9D-CA84-B276-B95E84F4D37E}"/>
              </a:ext>
            </a:extLst>
          </p:cNvPr>
          <p:cNvSpPr txBox="1"/>
          <p:nvPr/>
        </p:nvSpPr>
        <p:spPr>
          <a:xfrm>
            <a:off x="2309178" y="5369668"/>
            <a:ext cx="173752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u="sng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하늘누리 시설운영 규정 </a:t>
            </a:r>
            <a:r>
              <a:rPr lang="en-US" altLang="ko-KR" sz="900" u="sng" dirty="0">
                <a:latin typeface="나눔고딕" panose="020D0604000000000000" pitchFamily="50" charset="-127"/>
                <a:ea typeface="나눔고딕" panose="020D0604000000000000" pitchFamily="50" charset="-127"/>
              </a:rPr>
              <a:t>1.pdf</a:t>
            </a:r>
            <a:endParaRPr lang="ko-KR" altLang="en-US" sz="900" u="sng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60" name="Picture 2" descr="다운로드 - 무료 화살개 아이콘">
            <a:extLst>
              <a:ext uri="{FF2B5EF4-FFF2-40B4-BE49-F238E27FC236}">
                <a16:creationId xmlns:a16="http://schemas.microsoft.com/office/drawing/2014/main" id="{CFFD8055-F282-5D1D-0AB8-7A1FC1B143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4194" y="5351253"/>
            <a:ext cx="230832" cy="2308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1" name="TextBox 60">
            <a:extLst>
              <a:ext uri="{FF2B5EF4-FFF2-40B4-BE49-F238E27FC236}">
                <a16:creationId xmlns:a16="http://schemas.microsoft.com/office/drawing/2014/main" id="{93D4C5D1-FCF9-812F-6B36-78DE75DB7D94}"/>
              </a:ext>
            </a:extLst>
          </p:cNvPr>
          <p:cNvSpPr txBox="1"/>
          <p:nvPr/>
        </p:nvSpPr>
        <p:spPr>
          <a:xfrm>
            <a:off x="2309178" y="5687857"/>
            <a:ext cx="173752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u="sng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하늘누리 시설운영 규정 </a:t>
            </a:r>
            <a:r>
              <a:rPr lang="en-US" altLang="ko-KR" sz="900" u="sng" dirty="0">
                <a:latin typeface="나눔고딕" panose="020D0604000000000000" pitchFamily="50" charset="-127"/>
                <a:ea typeface="나눔고딕" panose="020D0604000000000000" pitchFamily="50" charset="-127"/>
              </a:rPr>
              <a:t>2.pdf</a:t>
            </a:r>
            <a:endParaRPr lang="ko-KR" altLang="en-US" sz="900" u="sng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62" name="Picture 2" descr="다운로드 - 무료 화살개 아이콘">
            <a:extLst>
              <a:ext uri="{FF2B5EF4-FFF2-40B4-BE49-F238E27FC236}">
                <a16:creationId xmlns:a16="http://schemas.microsoft.com/office/drawing/2014/main" id="{E68DB942-92C2-68FC-AD21-7DA6A7C477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4194" y="5669442"/>
            <a:ext cx="230832" cy="2308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595E73E-F68F-8A3D-D8FB-F58C2BDA95F7}"/>
              </a:ext>
            </a:extLst>
          </p:cNvPr>
          <p:cNvSpPr txBox="1"/>
          <p:nvPr/>
        </p:nvSpPr>
        <p:spPr>
          <a:xfrm>
            <a:off x="7271948" y="3335638"/>
            <a:ext cx="924702" cy="230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2026-03-11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31686909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7E6C4E-149B-D5AD-E31F-6DB219EBFA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6BDB3A9-BAA3-DFBD-A5F8-12C38CF4F74B}"/>
              </a:ext>
            </a:extLst>
          </p:cNvPr>
          <p:cNvSpPr txBox="1"/>
          <p:nvPr/>
        </p:nvSpPr>
        <p:spPr>
          <a:xfrm>
            <a:off x="1047750" y="2476500"/>
            <a:ext cx="2390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나눔고딕" pitchFamily="2" charset="-127"/>
                <a:ea typeface="나눔고딕" pitchFamily="2" charset="-127"/>
              </a:rPr>
              <a:t>08. </a:t>
            </a:r>
            <a:r>
              <a:rPr lang="ko-KR" altLang="en-US" b="1" dirty="0">
                <a:latin typeface="나눔고딕" pitchFamily="2" charset="-127"/>
                <a:ea typeface="나눔고딕" pitchFamily="2" charset="-127"/>
              </a:rPr>
              <a:t>기타</a:t>
            </a:r>
          </a:p>
        </p:txBody>
      </p:sp>
    </p:spTree>
    <p:extLst>
      <p:ext uri="{BB962C8B-B14F-4D97-AF65-F5344CB8AC3E}">
        <p14:creationId xmlns:p14="http://schemas.microsoft.com/office/powerpoint/2010/main" val="1973510650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C44740-B7A3-304C-41C3-82CF0CDAE5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6FC4085F-9BD6-E4FF-0A9C-4B10411338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8695723"/>
              </p:ext>
            </p:extLst>
          </p:nvPr>
        </p:nvGraphicFramePr>
        <p:xfrm>
          <a:off x="9182101" y="947377"/>
          <a:ext cx="2795588" cy="1847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1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684046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723838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3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172599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4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290794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5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922450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6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784800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7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0538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8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199337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9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450365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4C2E338C-7848-11B9-5911-576998785D05}"/>
              </a:ext>
            </a:extLst>
          </p:cNvPr>
          <p:cNvSpPr/>
          <p:nvPr/>
        </p:nvSpPr>
        <p:spPr>
          <a:xfrm>
            <a:off x="959895" y="375614"/>
            <a:ext cx="1192955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</a:pP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메인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서비스 이용약관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2353521-21BF-D445-AE51-1322653CE78C}"/>
              </a:ext>
            </a:extLst>
          </p:cNvPr>
          <p:cNvSpPr txBox="1"/>
          <p:nvPr/>
        </p:nvSpPr>
        <p:spPr>
          <a:xfrm>
            <a:off x="6003996" y="123825"/>
            <a:ext cx="17303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HN_Serviceagree_001</a:t>
            </a:r>
            <a:endParaRPr lang="ko-KR" altLang="en-US" sz="800" dirty="0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BE807ABF-F6ED-5CEE-11F1-BEE51133285B}"/>
              </a:ext>
            </a:extLst>
          </p:cNvPr>
          <p:cNvGrpSpPr/>
          <p:nvPr/>
        </p:nvGrpSpPr>
        <p:grpSpPr>
          <a:xfrm>
            <a:off x="161925" y="797629"/>
            <a:ext cx="8953500" cy="851943"/>
            <a:chOff x="161925" y="797629"/>
            <a:chExt cx="8953500" cy="851943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EC6F70B6-7C11-F272-2CF5-8B442D46C2C7}"/>
                </a:ext>
              </a:extLst>
            </p:cNvPr>
            <p:cNvSpPr/>
            <p:nvPr/>
          </p:nvSpPr>
          <p:spPr>
            <a:xfrm>
              <a:off x="4144448" y="797629"/>
              <a:ext cx="942784" cy="35821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800" b="1" dirty="0">
                  <a:solidFill>
                    <a:srgbClr val="FF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CI</a:t>
              </a:r>
            </a:p>
          </p:txBody>
        </p: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624DBEA8-7872-4267-2547-3038021A9CBE}"/>
                </a:ext>
              </a:extLst>
            </p:cNvPr>
            <p:cNvCxnSpPr/>
            <p:nvPr/>
          </p:nvCxnSpPr>
          <p:spPr>
            <a:xfrm>
              <a:off x="161925" y="1649572"/>
              <a:ext cx="8953500" cy="0"/>
            </a:xfrm>
            <a:prstGeom prst="line">
              <a:avLst/>
            </a:prstGeom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BB24CE9-E890-F99F-BCDF-6AF56728BA8C}"/>
                </a:ext>
              </a:extLst>
            </p:cNvPr>
            <p:cNvSpPr txBox="1"/>
            <p:nvPr/>
          </p:nvSpPr>
          <p:spPr>
            <a:xfrm>
              <a:off x="2031551" y="1301804"/>
              <a:ext cx="120364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하늘누리소개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A530BD00-D258-ED07-D2FD-9046C9E7A618}"/>
                </a:ext>
              </a:extLst>
            </p:cNvPr>
            <p:cNvSpPr txBox="1"/>
            <p:nvPr/>
          </p:nvSpPr>
          <p:spPr>
            <a:xfrm>
              <a:off x="3239720" y="1301804"/>
              <a:ext cx="9144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시설안내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BB66223C-A133-55CA-BA42-864A46513ADD}"/>
                </a:ext>
              </a:extLst>
            </p:cNvPr>
            <p:cNvSpPr txBox="1"/>
            <p:nvPr/>
          </p:nvSpPr>
          <p:spPr>
            <a:xfrm>
              <a:off x="4158640" y="1301804"/>
              <a:ext cx="9144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분양안내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7E080633-C2F1-8054-03D9-26FC4DD39E15}"/>
                </a:ext>
              </a:extLst>
            </p:cNvPr>
            <p:cNvSpPr txBox="1"/>
            <p:nvPr/>
          </p:nvSpPr>
          <p:spPr>
            <a:xfrm>
              <a:off x="5077560" y="1301804"/>
              <a:ext cx="119120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사이버추모관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0E006655-746A-05D0-15B5-3A1530ADB011}"/>
                </a:ext>
              </a:extLst>
            </p:cNvPr>
            <p:cNvSpPr txBox="1"/>
            <p:nvPr/>
          </p:nvSpPr>
          <p:spPr>
            <a:xfrm>
              <a:off x="6273289" y="1301804"/>
              <a:ext cx="9144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고객센터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DE90B3B-12A1-00BB-6DED-680991747D43}"/>
                </a:ext>
              </a:extLst>
            </p:cNvPr>
            <p:cNvSpPr txBox="1"/>
            <p:nvPr/>
          </p:nvSpPr>
          <p:spPr>
            <a:xfrm>
              <a:off x="7734300" y="817862"/>
              <a:ext cx="79388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b="1">
                  <a:latin typeface="나눔고딕" panose="020D0604000000000000" pitchFamily="50" charset="-127"/>
                  <a:ea typeface="나눔고딕" panose="020D0604000000000000" pitchFamily="50" charset="-127"/>
                </a:rPr>
                <a:t>비밀번호변경</a:t>
              </a:r>
              <a:endParaRPr lang="ko-KR" altLang="en-US" sz="8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E94FDB8-06B0-31EE-9B23-159D8E376FD2}"/>
                </a:ext>
              </a:extLst>
            </p:cNvPr>
            <p:cNvSpPr txBox="1"/>
            <p:nvPr/>
          </p:nvSpPr>
          <p:spPr>
            <a:xfrm>
              <a:off x="8472200" y="817862"/>
              <a:ext cx="58783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로그아웃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CB2AB4D-E03D-D4E8-BFB6-7E1519CC18C6}"/>
                </a:ext>
              </a:extLst>
            </p:cNvPr>
            <p:cNvSpPr txBox="1"/>
            <p:nvPr/>
          </p:nvSpPr>
          <p:spPr>
            <a:xfrm>
              <a:off x="7203231" y="817862"/>
              <a:ext cx="65313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나의정보</a:t>
              </a: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A0AE7392-1D32-1F54-DB62-56DD7B76CF56}"/>
              </a:ext>
            </a:extLst>
          </p:cNvPr>
          <p:cNvSpPr txBox="1"/>
          <p:nvPr/>
        </p:nvSpPr>
        <p:spPr>
          <a:xfrm>
            <a:off x="158621" y="1704392"/>
            <a:ext cx="314441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HOME &gt; </a:t>
            </a:r>
            <a:r>
              <a:rPr lang="ko-KR" altLang="en-US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서비스 이용약관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2251F0E-505D-A342-8E16-14C5AFFADB76}"/>
              </a:ext>
            </a:extLst>
          </p:cNvPr>
          <p:cNvSpPr txBox="1"/>
          <p:nvPr/>
        </p:nvSpPr>
        <p:spPr>
          <a:xfrm>
            <a:off x="1986726" y="1860411"/>
            <a:ext cx="530231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b="1">
                <a:latin typeface="나눔고딕" panose="020D0604000000000000" pitchFamily="50" charset="-127"/>
                <a:ea typeface="나눔고딕" panose="020D0604000000000000" pitchFamily="50" charset="-127"/>
              </a:rPr>
              <a:t>서비스 이용약관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6ABF99-A1AF-00BC-E842-B51A49A070B6}"/>
              </a:ext>
            </a:extLst>
          </p:cNvPr>
          <p:cNvSpPr txBox="1"/>
          <p:nvPr/>
        </p:nvSpPr>
        <p:spPr>
          <a:xfrm>
            <a:off x="2565394" y="3766484"/>
            <a:ext cx="41449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Contents Text </a:t>
            </a:r>
            <a:r>
              <a:rPr lang="ko-KR" altLang="en-US" sz="28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파일 참조</a:t>
            </a:r>
          </a:p>
        </p:txBody>
      </p:sp>
    </p:spTree>
    <p:extLst>
      <p:ext uri="{BB962C8B-B14F-4D97-AF65-F5344CB8AC3E}">
        <p14:creationId xmlns:p14="http://schemas.microsoft.com/office/powerpoint/2010/main" val="2652908813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4B783B-4FAA-333E-E87F-382C927436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CE01A09D-3919-C385-B033-05A53274E0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4874501"/>
              </p:ext>
            </p:extLst>
          </p:nvPr>
        </p:nvGraphicFramePr>
        <p:xfrm>
          <a:off x="9182101" y="947377"/>
          <a:ext cx="2795588" cy="1847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1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684046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723838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3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172599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4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290794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5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922450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6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784800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7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0538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8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199337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9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450365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E6F8F1C1-BEE8-7C39-95B6-E522594CD7CE}"/>
              </a:ext>
            </a:extLst>
          </p:cNvPr>
          <p:cNvSpPr/>
          <p:nvPr/>
        </p:nvSpPr>
        <p:spPr>
          <a:xfrm>
            <a:off x="959895" y="375614"/>
            <a:ext cx="1289135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</a:pP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메인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개인정보 처리방침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E57C3F6-43D9-5CE9-D748-9684DD23E92B}"/>
              </a:ext>
            </a:extLst>
          </p:cNvPr>
          <p:cNvSpPr txBox="1"/>
          <p:nvPr/>
        </p:nvSpPr>
        <p:spPr>
          <a:xfrm>
            <a:off x="6003996" y="123825"/>
            <a:ext cx="17303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HN_Perinfo_001</a:t>
            </a:r>
            <a:endParaRPr lang="ko-KR" altLang="en-US" sz="800" dirty="0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E7822D85-D69B-699B-6457-E9BE7CADB5E7}"/>
              </a:ext>
            </a:extLst>
          </p:cNvPr>
          <p:cNvGrpSpPr/>
          <p:nvPr/>
        </p:nvGrpSpPr>
        <p:grpSpPr>
          <a:xfrm>
            <a:off x="161925" y="797629"/>
            <a:ext cx="8953500" cy="851943"/>
            <a:chOff x="161925" y="797629"/>
            <a:chExt cx="8953500" cy="851943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B949E3BA-4A73-FF50-CA4B-61DC9CAB2209}"/>
                </a:ext>
              </a:extLst>
            </p:cNvPr>
            <p:cNvSpPr/>
            <p:nvPr/>
          </p:nvSpPr>
          <p:spPr>
            <a:xfrm>
              <a:off x="4144448" y="797629"/>
              <a:ext cx="942784" cy="35821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800" b="1" dirty="0">
                  <a:solidFill>
                    <a:srgbClr val="FF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CI</a:t>
              </a:r>
            </a:p>
          </p:txBody>
        </p: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4DB69E68-5E7B-9443-13A0-F1773DD70313}"/>
                </a:ext>
              </a:extLst>
            </p:cNvPr>
            <p:cNvCxnSpPr/>
            <p:nvPr/>
          </p:nvCxnSpPr>
          <p:spPr>
            <a:xfrm>
              <a:off x="161925" y="1649572"/>
              <a:ext cx="8953500" cy="0"/>
            </a:xfrm>
            <a:prstGeom prst="line">
              <a:avLst/>
            </a:prstGeom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2667491-980D-44A1-687C-E8EF2BB3EA1E}"/>
                </a:ext>
              </a:extLst>
            </p:cNvPr>
            <p:cNvSpPr txBox="1"/>
            <p:nvPr/>
          </p:nvSpPr>
          <p:spPr>
            <a:xfrm>
              <a:off x="2031551" y="1301804"/>
              <a:ext cx="120364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하늘누리소개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7C0AF135-F673-E726-E174-7A4AE850292E}"/>
                </a:ext>
              </a:extLst>
            </p:cNvPr>
            <p:cNvSpPr txBox="1"/>
            <p:nvPr/>
          </p:nvSpPr>
          <p:spPr>
            <a:xfrm>
              <a:off x="3239720" y="1301804"/>
              <a:ext cx="9144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시설안내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26C560E5-7927-BC74-29AD-910E493BAD16}"/>
                </a:ext>
              </a:extLst>
            </p:cNvPr>
            <p:cNvSpPr txBox="1"/>
            <p:nvPr/>
          </p:nvSpPr>
          <p:spPr>
            <a:xfrm>
              <a:off x="4158640" y="1301804"/>
              <a:ext cx="9144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분양안내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327E2676-9D66-D8C7-C95F-D692EE6EDC57}"/>
                </a:ext>
              </a:extLst>
            </p:cNvPr>
            <p:cNvSpPr txBox="1"/>
            <p:nvPr/>
          </p:nvSpPr>
          <p:spPr>
            <a:xfrm>
              <a:off x="5077560" y="1301804"/>
              <a:ext cx="119120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사이버추모관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7EB5FC1E-B457-9574-F691-C72D24B84B2F}"/>
                </a:ext>
              </a:extLst>
            </p:cNvPr>
            <p:cNvSpPr txBox="1"/>
            <p:nvPr/>
          </p:nvSpPr>
          <p:spPr>
            <a:xfrm>
              <a:off x="6273289" y="1301804"/>
              <a:ext cx="9144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고객센터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1083FF9D-931F-D577-C469-D14819B1C944}"/>
                </a:ext>
              </a:extLst>
            </p:cNvPr>
            <p:cNvSpPr txBox="1"/>
            <p:nvPr/>
          </p:nvSpPr>
          <p:spPr>
            <a:xfrm>
              <a:off x="7734300" y="817862"/>
              <a:ext cx="79388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b="1">
                  <a:latin typeface="나눔고딕" panose="020D0604000000000000" pitchFamily="50" charset="-127"/>
                  <a:ea typeface="나눔고딕" panose="020D0604000000000000" pitchFamily="50" charset="-127"/>
                </a:rPr>
                <a:t>비밀번호변경</a:t>
              </a:r>
              <a:endParaRPr lang="ko-KR" altLang="en-US" sz="8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6CCC2E7-937A-F517-D089-A37174218DBD}"/>
                </a:ext>
              </a:extLst>
            </p:cNvPr>
            <p:cNvSpPr txBox="1"/>
            <p:nvPr/>
          </p:nvSpPr>
          <p:spPr>
            <a:xfrm>
              <a:off x="8472200" y="817862"/>
              <a:ext cx="58783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로그아웃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9398138-5A1F-BCDA-8C41-B2143A6F847B}"/>
                </a:ext>
              </a:extLst>
            </p:cNvPr>
            <p:cNvSpPr txBox="1"/>
            <p:nvPr/>
          </p:nvSpPr>
          <p:spPr>
            <a:xfrm>
              <a:off x="7203231" y="817862"/>
              <a:ext cx="65313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나의정보</a:t>
              </a: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0783CDC0-E100-4EA9-E971-46432A7FBE42}"/>
              </a:ext>
            </a:extLst>
          </p:cNvPr>
          <p:cNvSpPr txBox="1"/>
          <p:nvPr/>
        </p:nvSpPr>
        <p:spPr>
          <a:xfrm>
            <a:off x="158621" y="1704392"/>
            <a:ext cx="314441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HOME &gt; </a:t>
            </a:r>
            <a:r>
              <a:rPr lang="ko-KR" altLang="en-US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개인정보 처리방침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8282F25-6D2E-2F1D-45A3-ACBBF1C32668}"/>
              </a:ext>
            </a:extLst>
          </p:cNvPr>
          <p:cNvSpPr txBox="1"/>
          <p:nvPr/>
        </p:nvSpPr>
        <p:spPr>
          <a:xfrm>
            <a:off x="1986726" y="1860411"/>
            <a:ext cx="530231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개인정보 처리방침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6C5401-D737-3465-D11E-4ED5C332F86F}"/>
              </a:ext>
            </a:extLst>
          </p:cNvPr>
          <p:cNvSpPr txBox="1"/>
          <p:nvPr/>
        </p:nvSpPr>
        <p:spPr>
          <a:xfrm>
            <a:off x="2565394" y="3766484"/>
            <a:ext cx="41449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Contents Text </a:t>
            </a:r>
            <a:r>
              <a:rPr lang="ko-KR" altLang="en-US" sz="28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파일 참조</a:t>
            </a:r>
          </a:p>
        </p:txBody>
      </p:sp>
    </p:spTree>
    <p:extLst>
      <p:ext uri="{BB962C8B-B14F-4D97-AF65-F5344CB8AC3E}">
        <p14:creationId xmlns:p14="http://schemas.microsoft.com/office/powerpoint/2010/main" val="3707684116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E64165-732A-09E9-5C19-15132EE002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BAC85FB-899E-BEC8-F8B4-4C2351BA6B13}"/>
              </a:ext>
            </a:extLst>
          </p:cNvPr>
          <p:cNvSpPr txBox="1"/>
          <p:nvPr/>
        </p:nvSpPr>
        <p:spPr>
          <a:xfrm>
            <a:off x="1047750" y="2476500"/>
            <a:ext cx="2390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latin typeface="나눔고딕" pitchFamily="2" charset="-127"/>
                <a:ea typeface="나눔고딕" pitchFamily="2" charset="-127"/>
              </a:rPr>
              <a:t>공통</a:t>
            </a:r>
          </a:p>
        </p:txBody>
      </p:sp>
    </p:spTree>
    <p:extLst>
      <p:ext uri="{BB962C8B-B14F-4D97-AF65-F5344CB8AC3E}">
        <p14:creationId xmlns:p14="http://schemas.microsoft.com/office/powerpoint/2010/main" val="3343630587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AC2EF8-3774-7445-0BC4-5708E30F6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B91E9091-5844-23E8-A837-A227C202A9FD}"/>
              </a:ext>
            </a:extLst>
          </p:cNvPr>
          <p:cNvGraphicFramePr>
            <a:graphicFrameLocks noGrp="1"/>
          </p:cNvGraphicFramePr>
          <p:nvPr/>
        </p:nvGraphicFramePr>
        <p:xfrm>
          <a:off x="9182101" y="947377"/>
          <a:ext cx="2795588" cy="1969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1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로그인 전의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Utility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메뉴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(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로그인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회원가입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)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684046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로그인 후의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Utility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메뉴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(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나의정보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비밀번호변경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로그아웃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)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723838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3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172599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4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290794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5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922450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6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784800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7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0538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8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199337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9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450365"/>
                  </a:ext>
                </a:extLst>
              </a:tr>
            </a:tbl>
          </a:graphicData>
        </a:graphic>
      </p:graphicFrame>
      <p:sp>
        <p:nvSpPr>
          <p:cNvPr id="3" name="직사각형 2"/>
          <p:cNvSpPr/>
          <p:nvPr/>
        </p:nvSpPr>
        <p:spPr>
          <a:xfrm>
            <a:off x="959895" y="375614"/>
            <a:ext cx="833883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</a:pP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공통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Header</a:t>
            </a:r>
            <a:endParaRPr kumimoji="1" lang="ko-KR" altLang="en-US" sz="800" dirty="0"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22CF4E3D-7870-524B-67E2-62A5C7347707}"/>
              </a:ext>
            </a:extLst>
          </p:cNvPr>
          <p:cNvCxnSpPr>
            <a:cxnSpLocks/>
          </p:cNvCxnSpPr>
          <p:nvPr/>
        </p:nvCxnSpPr>
        <p:spPr>
          <a:xfrm>
            <a:off x="681318" y="1658469"/>
            <a:ext cx="3109526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C5B8287D-AD5C-8E29-A55A-6470894C65A0}"/>
              </a:ext>
            </a:extLst>
          </p:cNvPr>
          <p:cNvSpPr txBox="1"/>
          <p:nvPr/>
        </p:nvSpPr>
        <p:spPr>
          <a:xfrm>
            <a:off x="1819139" y="1190457"/>
            <a:ext cx="83388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하늘누리</a:t>
            </a:r>
            <a:endParaRPr lang="en-US" altLang="ko-KR" sz="11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en-US" altLang="ko-KR" sz="11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CI</a:t>
            </a:r>
            <a:endParaRPr lang="ko-KR" altLang="en-US" sz="11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13" name="그림 12" descr="블랙, 어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3933899-8DBD-1AA6-E339-A37750F6039D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8346" y="1191723"/>
            <a:ext cx="383533" cy="383533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B1F579A1-2857-8509-5003-78BCA7E3AD78}"/>
              </a:ext>
            </a:extLst>
          </p:cNvPr>
          <p:cNvSpPr txBox="1"/>
          <p:nvPr/>
        </p:nvSpPr>
        <p:spPr>
          <a:xfrm>
            <a:off x="2837079" y="1284732"/>
            <a:ext cx="54139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" panose="020D0604000000000000" pitchFamily="50" charset="-127"/>
                <a:ea typeface="나눔고딕" panose="020D0604000000000000" pitchFamily="50" charset="-127"/>
              </a:rPr>
              <a:t>로그인</a:t>
            </a:r>
          </a:p>
        </p:txBody>
      </p: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528ACC28-445D-9A90-ADD9-E58E9A592F28}"/>
              </a:ext>
            </a:extLst>
          </p:cNvPr>
          <p:cNvCxnSpPr>
            <a:cxnSpLocks/>
          </p:cNvCxnSpPr>
          <p:nvPr/>
        </p:nvCxnSpPr>
        <p:spPr>
          <a:xfrm>
            <a:off x="5216790" y="1658468"/>
            <a:ext cx="3109526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6400F343-7659-2535-0F1C-8425C551372F}"/>
              </a:ext>
            </a:extLst>
          </p:cNvPr>
          <p:cNvSpPr txBox="1"/>
          <p:nvPr/>
        </p:nvSpPr>
        <p:spPr>
          <a:xfrm>
            <a:off x="6354611" y="1181491"/>
            <a:ext cx="83388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하늘누리</a:t>
            </a:r>
            <a:endParaRPr lang="en-US" altLang="ko-KR" sz="11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en-US" altLang="ko-KR" sz="11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CI</a:t>
            </a:r>
            <a:endParaRPr lang="ko-KR" altLang="en-US" sz="11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37" name="그림 36" descr="블랙, 어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7DCE755-502E-07E2-8921-0F3C950C53CA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3818" y="1191723"/>
            <a:ext cx="383533" cy="383533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C05968C7-9D33-B245-A205-1012F3D65A37}"/>
              </a:ext>
            </a:extLst>
          </p:cNvPr>
          <p:cNvSpPr txBox="1"/>
          <p:nvPr/>
        </p:nvSpPr>
        <p:spPr>
          <a:xfrm>
            <a:off x="7386919" y="1293697"/>
            <a:ext cx="57184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" panose="020D0604000000000000" pitchFamily="50" charset="-127"/>
                <a:ea typeface="나눔고딕" panose="020D0604000000000000" pitchFamily="50" charset="-127"/>
              </a:rPr>
              <a:t>르그아웃</a:t>
            </a:r>
          </a:p>
        </p:txBody>
      </p:sp>
      <p:pic>
        <p:nvPicPr>
          <p:cNvPr id="1028" name="Picture 4" descr="로그 아웃 아이콘">
            <a:extLst>
              <a:ext uri="{FF2B5EF4-FFF2-40B4-BE49-F238E27FC236}">
                <a16:creationId xmlns:a16="http://schemas.microsoft.com/office/drawing/2014/main" id="{B4D6B710-1A95-CD39-65DF-BC9017ECD3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60464" y="1283929"/>
            <a:ext cx="217049" cy="217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로그인 - 무료 ui개 아이콘">
            <a:extLst>
              <a:ext uri="{FF2B5EF4-FFF2-40B4-BE49-F238E27FC236}">
                <a16:creationId xmlns:a16="http://schemas.microsoft.com/office/drawing/2014/main" id="{C80511D9-5EFD-71F3-F4B4-0949F4E2CA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1021" y="1293695"/>
            <a:ext cx="181111" cy="181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BFDA361B-9BE1-33B0-D753-B41A716B74D7}"/>
              </a:ext>
            </a:extLst>
          </p:cNvPr>
          <p:cNvSpPr txBox="1"/>
          <p:nvPr/>
        </p:nvSpPr>
        <p:spPr>
          <a:xfrm>
            <a:off x="681318" y="824753"/>
            <a:ext cx="14343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로그인 </a:t>
            </a:r>
            <a:r>
              <a:rPr lang="ko-KR" altLang="en-US" sz="12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E8809DE-49A0-69AE-623D-7BDC997FB3DE}"/>
              </a:ext>
            </a:extLst>
          </p:cNvPr>
          <p:cNvSpPr txBox="1"/>
          <p:nvPr/>
        </p:nvSpPr>
        <p:spPr>
          <a:xfrm>
            <a:off x="5200385" y="824753"/>
            <a:ext cx="14343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로그인 후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6F58B01-3501-516B-0FA7-7BF3D80628C8}"/>
              </a:ext>
            </a:extLst>
          </p:cNvPr>
          <p:cNvSpPr txBox="1"/>
          <p:nvPr/>
        </p:nvSpPr>
        <p:spPr>
          <a:xfrm>
            <a:off x="1470212" y="3429000"/>
            <a:ext cx="13668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본문 영역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C6883C2-7658-DE38-2121-DFB1B0C0BD4E}"/>
              </a:ext>
            </a:extLst>
          </p:cNvPr>
          <p:cNvSpPr txBox="1"/>
          <p:nvPr/>
        </p:nvSpPr>
        <p:spPr>
          <a:xfrm>
            <a:off x="6221506" y="3460234"/>
            <a:ext cx="13668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본문 영역</a:t>
            </a:r>
          </a:p>
        </p:txBody>
      </p:sp>
    </p:spTree>
    <p:extLst>
      <p:ext uri="{BB962C8B-B14F-4D97-AF65-F5344CB8AC3E}">
        <p14:creationId xmlns:p14="http://schemas.microsoft.com/office/powerpoint/2010/main" val="1705630144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856997-A9C8-8E0C-1A68-4758DC661D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40D2468E-6045-DF5A-609A-EA1612BD213E}"/>
              </a:ext>
            </a:extLst>
          </p:cNvPr>
          <p:cNvGraphicFramePr>
            <a:graphicFrameLocks noGrp="1"/>
          </p:cNvGraphicFramePr>
          <p:nvPr/>
        </p:nvGraphicFramePr>
        <p:xfrm>
          <a:off x="9182101" y="947377"/>
          <a:ext cx="2795588" cy="1969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1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로그인 전의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Utility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메뉴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(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로그인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회원가입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)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684046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로그인 후의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Utility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메뉴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(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나의정보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비밀번호변경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로그아웃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)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723838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3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172599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4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290794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5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922450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6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784800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7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0538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8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199337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9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450365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EA10C820-B267-DDD5-1367-6DC06DD26AA1}"/>
              </a:ext>
            </a:extLst>
          </p:cNvPr>
          <p:cNvSpPr/>
          <p:nvPr/>
        </p:nvSpPr>
        <p:spPr>
          <a:xfrm>
            <a:off x="959895" y="375614"/>
            <a:ext cx="875561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</a:pP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공통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전체메뉴</a:t>
            </a: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6670BB06-6233-59B6-FB9C-5CD08AE2A3D0}"/>
              </a:ext>
            </a:extLst>
          </p:cNvPr>
          <p:cNvCxnSpPr>
            <a:cxnSpLocks/>
          </p:cNvCxnSpPr>
          <p:nvPr/>
        </p:nvCxnSpPr>
        <p:spPr>
          <a:xfrm>
            <a:off x="681318" y="1658469"/>
            <a:ext cx="3109526" cy="0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C1B30D75-A34B-0BBE-C48E-26E870BF7FE8}"/>
              </a:ext>
            </a:extLst>
          </p:cNvPr>
          <p:cNvSpPr txBox="1"/>
          <p:nvPr/>
        </p:nvSpPr>
        <p:spPr>
          <a:xfrm>
            <a:off x="1819139" y="1190457"/>
            <a:ext cx="83388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하늘누리</a:t>
            </a:r>
            <a:endParaRPr lang="en-US" altLang="ko-KR" sz="11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en-US" altLang="ko-KR" sz="11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CI</a:t>
            </a:r>
            <a:endParaRPr lang="ko-KR" altLang="en-US" sz="11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13" name="그림 12" descr="블랙, 어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B2F0913-DF6B-5456-6DF9-50BD8B97D0AB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8346" y="1191723"/>
            <a:ext cx="383533" cy="383533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6E33069B-0516-AD14-513C-9B3D0EC2DD24}"/>
              </a:ext>
            </a:extLst>
          </p:cNvPr>
          <p:cNvSpPr txBox="1"/>
          <p:nvPr/>
        </p:nvSpPr>
        <p:spPr>
          <a:xfrm>
            <a:off x="2837079" y="1284732"/>
            <a:ext cx="54139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" panose="020D0604000000000000" pitchFamily="50" charset="-127"/>
                <a:ea typeface="나눔고딕" panose="020D0604000000000000" pitchFamily="50" charset="-127"/>
              </a:rPr>
              <a:t>로그인</a:t>
            </a:r>
          </a:p>
        </p:txBody>
      </p: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C2FD692D-7C7A-12C4-EC58-A50F9BA28BE7}"/>
              </a:ext>
            </a:extLst>
          </p:cNvPr>
          <p:cNvCxnSpPr>
            <a:cxnSpLocks/>
          </p:cNvCxnSpPr>
          <p:nvPr/>
        </p:nvCxnSpPr>
        <p:spPr>
          <a:xfrm>
            <a:off x="5216790" y="1658468"/>
            <a:ext cx="3109526" cy="0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D04FF312-DCF8-ECBE-C128-52E7C68698B1}"/>
              </a:ext>
            </a:extLst>
          </p:cNvPr>
          <p:cNvSpPr txBox="1"/>
          <p:nvPr/>
        </p:nvSpPr>
        <p:spPr>
          <a:xfrm>
            <a:off x="6354611" y="1181491"/>
            <a:ext cx="83388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하늘누리</a:t>
            </a:r>
            <a:endParaRPr lang="en-US" altLang="ko-KR" sz="11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en-US" altLang="ko-KR" sz="11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CI</a:t>
            </a:r>
            <a:endParaRPr lang="ko-KR" altLang="en-US" sz="11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37" name="그림 36" descr="블랙, 어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CCDEA8A-2D4A-19E6-CD19-04FF49676286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3818" y="1191723"/>
            <a:ext cx="383533" cy="383533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433E2120-191F-7D3D-90C4-3110E13C54B1}"/>
              </a:ext>
            </a:extLst>
          </p:cNvPr>
          <p:cNvSpPr txBox="1"/>
          <p:nvPr/>
        </p:nvSpPr>
        <p:spPr>
          <a:xfrm>
            <a:off x="7386919" y="1293697"/>
            <a:ext cx="57184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" panose="020D0604000000000000" pitchFamily="50" charset="-127"/>
                <a:ea typeface="나눔고딕" panose="020D0604000000000000" pitchFamily="50" charset="-127"/>
              </a:rPr>
              <a:t>르그아웃</a:t>
            </a:r>
          </a:p>
        </p:txBody>
      </p:sp>
      <p:pic>
        <p:nvPicPr>
          <p:cNvPr id="1028" name="Picture 4" descr="로그 아웃 아이콘">
            <a:extLst>
              <a:ext uri="{FF2B5EF4-FFF2-40B4-BE49-F238E27FC236}">
                <a16:creationId xmlns:a16="http://schemas.microsoft.com/office/drawing/2014/main" id="{A3E1EFEB-FE54-8D72-C693-30F5ED170A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60464" y="1283929"/>
            <a:ext cx="217049" cy="217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로그인 - 무료 ui개 아이콘">
            <a:extLst>
              <a:ext uri="{FF2B5EF4-FFF2-40B4-BE49-F238E27FC236}">
                <a16:creationId xmlns:a16="http://schemas.microsoft.com/office/drawing/2014/main" id="{DF802FBF-D7A8-C67D-933A-581D0977E6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1021" y="1293695"/>
            <a:ext cx="181111" cy="181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3B2616D0-8056-30E7-80FE-28180A639D63}"/>
              </a:ext>
            </a:extLst>
          </p:cNvPr>
          <p:cNvSpPr/>
          <p:nvPr/>
        </p:nvSpPr>
        <p:spPr>
          <a:xfrm>
            <a:off x="681318" y="1100809"/>
            <a:ext cx="3181496" cy="5084838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DB8EBB-44FE-4CB3-383F-D688838FB471}"/>
              </a:ext>
            </a:extLst>
          </p:cNvPr>
          <p:cNvSpPr txBox="1"/>
          <p:nvPr/>
        </p:nvSpPr>
        <p:spPr>
          <a:xfrm>
            <a:off x="681318" y="824753"/>
            <a:ext cx="14343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로그인 </a:t>
            </a:r>
            <a:r>
              <a:rPr lang="ko-KR" altLang="en-US" sz="12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53DB3C-E8E9-E5FE-36D0-89C26044A2DF}"/>
              </a:ext>
            </a:extLst>
          </p:cNvPr>
          <p:cNvSpPr txBox="1"/>
          <p:nvPr/>
        </p:nvSpPr>
        <p:spPr>
          <a:xfrm>
            <a:off x="5200385" y="824753"/>
            <a:ext cx="14343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로그인 후</a:t>
            </a: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A37D8E29-58F0-1CCE-3652-E9079CBBC223}"/>
              </a:ext>
            </a:extLst>
          </p:cNvPr>
          <p:cNvCxnSpPr/>
          <p:nvPr/>
        </p:nvCxnSpPr>
        <p:spPr>
          <a:xfrm>
            <a:off x="681318" y="1612378"/>
            <a:ext cx="3181496" cy="0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D1B73B03-0386-21C5-EA87-16EF54EA42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8831665"/>
              </p:ext>
            </p:extLst>
          </p:nvPr>
        </p:nvGraphicFramePr>
        <p:xfrm>
          <a:off x="752480" y="1975592"/>
          <a:ext cx="3029399" cy="1183065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543551">
                  <a:extLst>
                    <a:ext uri="{9D8B030D-6E8A-4147-A177-3AD203B41FA5}">
                      <a16:colId xmlns:a16="http://schemas.microsoft.com/office/drawing/2014/main" val="2912823855"/>
                    </a:ext>
                  </a:extLst>
                </a:gridCol>
                <a:gridCol w="1485848">
                  <a:extLst>
                    <a:ext uri="{9D8B030D-6E8A-4147-A177-3AD203B41FA5}">
                      <a16:colId xmlns:a16="http://schemas.microsoft.com/office/drawing/2014/main" val="420109590"/>
                    </a:ext>
                  </a:extLst>
                </a:gridCol>
              </a:tblGrid>
              <a:tr h="236613"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하늘누리 소개</a:t>
                      </a:r>
                      <a:endParaRPr lang="en-US" altLang="ko-KR" sz="9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시설안내</a:t>
                      </a:r>
                      <a:endParaRPr lang="en-US" altLang="ko-KR" sz="9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0268165"/>
                  </a:ext>
                </a:extLst>
              </a:tr>
              <a:tr h="23661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9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인사말</a:t>
                      </a:r>
                      <a:endParaRPr lang="en-US" altLang="ko-KR" sz="9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9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봉안당</a:t>
                      </a:r>
                      <a:r>
                        <a:rPr lang="en-US" altLang="ko-KR" sz="9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9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하늘누리관</a:t>
                      </a:r>
                      <a:r>
                        <a:rPr lang="en-US" altLang="ko-KR" sz="9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1090331"/>
                  </a:ext>
                </a:extLst>
              </a:tr>
              <a:tr h="23661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9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하늘누리 이야기</a:t>
                      </a:r>
                      <a:endParaRPr lang="en-US" altLang="ko-KR" sz="9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9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수목장</a:t>
                      </a:r>
                      <a:r>
                        <a:rPr lang="en-US" altLang="ko-KR" sz="9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9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자연장</a:t>
                      </a:r>
                      <a:r>
                        <a:rPr lang="en-US" altLang="ko-KR" sz="9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0626559"/>
                  </a:ext>
                </a:extLst>
              </a:tr>
              <a:tr h="23661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9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재단</a:t>
                      </a:r>
                      <a:r>
                        <a:rPr lang="en-US" altLang="ko-KR" sz="9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</a:t>
                      </a:r>
                      <a:r>
                        <a:rPr lang="ko-KR" altLang="en-US" sz="9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허가 현황</a:t>
                      </a:r>
                      <a:endParaRPr lang="en-US" altLang="ko-KR" sz="9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9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부대시설</a:t>
                      </a:r>
                      <a:endParaRPr lang="en-US" altLang="ko-KR" sz="9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6155432"/>
                  </a:ext>
                </a:extLst>
              </a:tr>
              <a:tr h="23661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9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오시는 길</a:t>
                      </a:r>
                      <a:endParaRPr lang="en-US" altLang="ko-KR" sz="9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9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주변 둘러보기</a:t>
                      </a:r>
                      <a:endParaRPr lang="en-US" altLang="ko-KR" sz="9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5006852"/>
                  </a:ext>
                </a:extLst>
              </a:tr>
            </a:tbl>
          </a:graphicData>
        </a:graphic>
      </p:graphicFrame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DDF5F121-D157-9D38-1D83-BD76874E02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8642133"/>
              </p:ext>
            </p:extLst>
          </p:nvPr>
        </p:nvGraphicFramePr>
        <p:xfrm>
          <a:off x="721380" y="3241624"/>
          <a:ext cx="3029399" cy="946452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543551">
                  <a:extLst>
                    <a:ext uri="{9D8B030D-6E8A-4147-A177-3AD203B41FA5}">
                      <a16:colId xmlns:a16="http://schemas.microsoft.com/office/drawing/2014/main" val="2912823855"/>
                    </a:ext>
                  </a:extLst>
                </a:gridCol>
                <a:gridCol w="1485848">
                  <a:extLst>
                    <a:ext uri="{9D8B030D-6E8A-4147-A177-3AD203B41FA5}">
                      <a16:colId xmlns:a16="http://schemas.microsoft.com/office/drawing/2014/main" val="420109590"/>
                    </a:ext>
                  </a:extLst>
                </a:gridCol>
              </a:tblGrid>
              <a:tr h="236613"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10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분양안내</a:t>
                      </a:r>
                      <a:endParaRPr lang="en-US" altLang="ko-KR" sz="10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10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사이버 추모관</a:t>
                      </a:r>
                      <a:endParaRPr lang="en-US" altLang="ko-KR" sz="10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0268165"/>
                  </a:ext>
                </a:extLst>
              </a:tr>
              <a:tr h="23661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9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분양절차</a:t>
                      </a:r>
                      <a:endParaRPr lang="en-US" altLang="ko-KR" sz="9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9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고인 검색</a:t>
                      </a:r>
                      <a:endParaRPr lang="en-US" altLang="ko-KR" sz="9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1090331"/>
                  </a:ext>
                </a:extLst>
              </a:tr>
              <a:tr h="23661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9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분양가격</a:t>
                      </a:r>
                      <a:endParaRPr lang="en-US" altLang="ko-KR" sz="9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9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하늘편지</a:t>
                      </a:r>
                      <a:endParaRPr lang="en-US" altLang="ko-KR" sz="9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0626559"/>
                  </a:ext>
                </a:extLst>
              </a:tr>
              <a:tr h="23661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9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사전청약 혜택</a:t>
                      </a:r>
                      <a:endParaRPr lang="en-US" altLang="ko-KR" sz="9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9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6155432"/>
                  </a:ext>
                </a:extLst>
              </a:tr>
            </a:tbl>
          </a:graphicData>
        </a:graphic>
      </p:graphicFrame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09975949-E7FD-960D-1A4E-460C415966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5248252"/>
              </p:ext>
            </p:extLst>
          </p:nvPr>
        </p:nvGraphicFramePr>
        <p:xfrm>
          <a:off x="761444" y="4241867"/>
          <a:ext cx="3029399" cy="1396938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543551">
                  <a:extLst>
                    <a:ext uri="{9D8B030D-6E8A-4147-A177-3AD203B41FA5}">
                      <a16:colId xmlns:a16="http://schemas.microsoft.com/office/drawing/2014/main" val="2912823855"/>
                    </a:ext>
                  </a:extLst>
                </a:gridCol>
                <a:gridCol w="1485848">
                  <a:extLst>
                    <a:ext uri="{9D8B030D-6E8A-4147-A177-3AD203B41FA5}">
                      <a16:colId xmlns:a16="http://schemas.microsoft.com/office/drawing/2014/main" val="420109590"/>
                    </a:ext>
                  </a:extLst>
                </a:gridCol>
              </a:tblGrid>
              <a:tr h="236613"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10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고객센터</a:t>
                      </a:r>
                      <a:endParaRPr lang="en-US" altLang="ko-KR" sz="10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10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서비스 이용약관</a:t>
                      </a:r>
                      <a:endParaRPr lang="en-US" altLang="ko-KR" sz="10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0268165"/>
                  </a:ext>
                </a:extLst>
              </a:tr>
              <a:tr h="23661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9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공지사항</a:t>
                      </a:r>
                      <a:endParaRPr lang="en-US" altLang="ko-KR" sz="9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개인정보 처리방침</a:t>
                      </a:r>
                      <a:endParaRPr lang="en-US" altLang="ko-KR" sz="10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1090331"/>
                  </a:ext>
                </a:extLst>
              </a:tr>
              <a:tr h="23661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9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자주묻는 질문</a:t>
                      </a:r>
                      <a:endParaRPr lang="en-US" altLang="ko-KR" sz="9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10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0626559"/>
                  </a:ext>
                </a:extLst>
              </a:tr>
              <a:tr h="23661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9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en-US" altLang="ko-KR" sz="9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1:1 </a:t>
                      </a:r>
                      <a:r>
                        <a:rPr lang="ko-KR" altLang="en-US" sz="9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상담</a:t>
                      </a:r>
                      <a:endParaRPr lang="en-US" altLang="ko-KR" sz="9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10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6155432"/>
                  </a:ext>
                </a:extLst>
              </a:tr>
              <a:tr h="23661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9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ko-KR" altLang="en-US" sz="9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나의상담</a:t>
                      </a:r>
                      <a:endParaRPr lang="en-US" altLang="ko-KR" sz="9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10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1999532"/>
                  </a:ext>
                </a:extLst>
              </a:tr>
              <a:tr h="21387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9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ko-KR" altLang="en-US" sz="9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자료실</a:t>
                      </a:r>
                      <a:endParaRPr lang="en-US" altLang="ko-KR" sz="9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10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90794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BD0365CA-C2D0-E9D8-3547-0280E58E7041}"/>
              </a:ext>
            </a:extLst>
          </p:cNvPr>
          <p:cNvSpPr txBox="1"/>
          <p:nvPr/>
        </p:nvSpPr>
        <p:spPr>
          <a:xfrm>
            <a:off x="3459154" y="1154597"/>
            <a:ext cx="4123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X</a:t>
            </a:r>
            <a:endParaRPr lang="ko-KR" altLang="en-US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60CAC024-1F1D-D321-D023-127358CCF49F}"/>
              </a:ext>
            </a:extLst>
          </p:cNvPr>
          <p:cNvSpPr/>
          <p:nvPr/>
        </p:nvSpPr>
        <p:spPr>
          <a:xfrm>
            <a:off x="5208498" y="1122551"/>
            <a:ext cx="3181496" cy="5084838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B2448CEA-1AE8-36FE-C291-8EBAFE0972CF}"/>
              </a:ext>
            </a:extLst>
          </p:cNvPr>
          <p:cNvCxnSpPr/>
          <p:nvPr/>
        </p:nvCxnSpPr>
        <p:spPr>
          <a:xfrm>
            <a:off x="5208498" y="1634120"/>
            <a:ext cx="3181496" cy="0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0919115D-0ECD-3B0D-080A-9E85F160AD48}"/>
              </a:ext>
            </a:extLst>
          </p:cNvPr>
          <p:cNvSpPr txBox="1"/>
          <p:nvPr/>
        </p:nvSpPr>
        <p:spPr>
          <a:xfrm>
            <a:off x="7986334" y="1176339"/>
            <a:ext cx="4123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X</a:t>
            </a:r>
            <a:endParaRPr lang="ko-KR" altLang="en-US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14B05E2-A76C-892B-8655-0290A3AC2760}"/>
              </a:ext>
            </a:extLst>
          </p:cNvPr>
          <p:cNvSpPr txBox="1"/>
          <p:nvPr/>
        </p:nvSpPr>
        <p:spPr>
          <a:xfrm>
            <a:off x="5908748" y="1284731"/>
            <a:ext cx="57184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" panose="020D0604000000000000" pitchFamily="50" charset="-127"/>
                <a:ea typeface="나눔고딕" panose="020D0604000000000000" pitchFamily="50" charset="-127"/>
              </a:rPr>
              <a:t>나의정보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612AD1E-50EE-F038-B3EB-8BACC5A683B1}"/>
              </a:ext>
            </a:extLst>
          </p:cNvPr>
          <p:cNvSpPr txBox="1"/>
          <p:nvPr/>
        </p:nvSpPr>
        <p:spPr>
          <a:xfrm>
            <a:off x="7400042" y="1284731"/>
            <a:ext cx="57184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" panose="020D0604000000000000" pitchFamily="50" charset="-127"/>
                <a:ea typeface="나눔고딕" panose="020D0604000000000000" pitchFamily="50" charset="-127"/>
              </a:rPr>
              <a:t>르그아웃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89E0EA7-A296-3947-18B2-70C84124D915}"/>
              </a:ext>
            </a:extLst>
          </p:cNvPr>
          <p:cNvSpPr txBox="1"/>
          <p:nvPr/>
        </p:nvSpPr>
        <p:spPr>
          <a:xfrm>
            <a:off x="6435455" y="1284731"/>
            <a:ext cx="83388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" panose="020D0604000000000000" pitchFamily="50" charset="-127"/>
                <a:ea typeface="나눔고딕" panose="020D0604000000000000" pitchFamily="50" charset="-127"/>
              </a:rPr>
              <a:t>비밀번호 변경</a:t>
            </a:r>
          </a:p>
        </p:txBody>
      </p:sp>
      <p:pic>
        <p:nvPicPr>
          <p:cNvPr id="27" name="Picture 4" descr="로그 아웃 아이콘">
            <a:extLst>
              <a:ext uri="{FF2B5EF4-FFF2-40B4-BE49-F238E27FC236}">
                <a16:creationId xmlns:a16="http://schemas.microsoft.com/office/drawing/2014/main" id="{1BB65810-05B4-CFEB-E43A-8038B8A29F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60462" y="1292894"/>
            <a:ext cx="217049" cy="217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CC133612-62D3-9733-C8EF-54DAD0595522}"/>
              </a:ext>
            </a:extLst>
          </p:cNvPr>
          <p:cNvSpPr txBox="1"/>
          <p:nvPr/>
        </p:nvSpPr>
        <p:spPr>
          <a:xfrm>
            <a:off x="2989479" y="1257836"/>
            <a:ext cx="54139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" panose="020D0604000000000000" pitchFamily="50" charset="-127"/>
                <a:ea typeface="나눔고딕" panose="020D0604000000000000" pitchFamily="50" charset="-127"/>
              </a:rPr>
              <a:t>로그인</a:t>
            </a:r>
          </a:p>
        </p:txBody>
      </p:sp>
      <p:pic>
        <p:nvPicPr>
          <p:cNvPr id="29" name="Picture 6" descr="로그인 - 무료 ui개 아이콘">
            <a:extLst>
              <a:ext uri="{FF2B5EF4-FFF2-40B4-BE49-F238E27FC236}">
                <a16:creationId xmlns:a16="http://schemas.microsoft.com/office/drawing/2014/main" id="{E3CAF392-D648-540D-519E-4B838E06AF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3421" y="1266799"/>
            <a:ext cx="181111" cy="181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A9958DF1-C495-B6B7-5658-821BA79ACAC9}"/>
              </a:ext>
            </a:extLst>
          </p:cNvPr>
          <p:cNvSpPr txBox="1"/>
          <p:nvPr/>
        </p:nvSpPr>
        <p:spPr>
          <a:xfrm>
            <a:off x="2254394" y="1257836"/>
            <a:ext cx="67683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" panose="020D0604000000000000" pitchFamily="50" charset="-127"/>
                <a:ea typeface="나눔고딕" panose="020D0604000000000000" pitchFamily="50" charset="-127"/>
              </a:rPr>
              <a:t>회원가입</a:t>
            </a:r>
          </a:p>
        </p:txBody>
      </p:sp>
      <p:graphicFrame>
        <p:nvGraphicFramePr>
          <p:cNvPr id="31" name="표 30">
            <a:extLst>
              <a:ext uri="{FF2B5EF4-FFF2-40B4-BE49-F238E27FC236}">
                <a16:creationId xmlns:a16="http://schemas.microsoft.com/office/drawing/2014/main" id="{DB862B4C-E7E7-A52C-0717-DFCE2927BE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3794629"/>
              </p:ext>
            </p:extLst>
          </p:nvPr>
        </p:nvGraphicFramePr>
        <p:xfrm>
          <a:off x="5328969" y="2047314"/>
          <a:ext cx="3029399" cy="1183065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543551">
                  <a:extLst>
                    <a:ext uri="{9D8B030D-6E8A-4147-A177-3AD203B41FA5}">
                      <a16:colId xmlns:a16="http://schemas.microsoft.com/office/drawing/2014/main" val="2912823855"/>
                    </a:ext>
                  </a:extLst>
                </a:gridCol>
                <a:gridCol w="1485848">
                  <a:extLst>
                    <a:ext uri="{9D8B030D-6E8A-4147-A177-3AD203B41FA5}">
                      <a16:colId xmlns:a16="http://schemas.microsoft.com/office/drawing/2014/main" val="420109590"/>
                    </a:ext>
                  </a:extLst>
                </a:gridCol>
              </a:tblGrid>
              <a:tr h="236613"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하늘누리 소개</a:t>
                      </a:r>
                      <a:endParaRPr lang="en-US" altLang="ko-KR" sz="9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시설안내</a:t>
                      </a:r>
                      <a:endParaRPr lang="en-US" altLang="ko-KR" sz="9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0268165"/>
                  </a:ext>
                </a:extLst>
              </a:tr>
              <a:tr h="23661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9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인사말</a:t>
                      </a:r>
                      <a:endParaRPr lang="en-US" altLang="ko-KR" sz="9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9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봉안당</a:t>
                      </a:r>
                      <a:r>
                        <a:rPr lang="en-US" altLang="ko-KR" sz="9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9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하늘누리관</a:t>
                      </a:r>
                      <a:r>
                        <a:rPr lang="en-US" altLang="ko-KR" sz="9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1090331"/>
                  </a:ext>
                </a:extLst>
              </a:tr>
              <a:tr h="23661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9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하늘누리 이야기</a:t>
                      </a:r>
                      <a:endParaRPr lang="en-US" altLang="ko-KR" sz="9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9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수목장</a:t>
                      </a:r>
                      <a:r>
                        <a:rPr lang="en-US" altLang="ko-KR" sz="9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9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자연장</a:t>
                      </a:r>
                      <a:r>
                        <a:rPr lang="en-US" altLang="ko-KR" sz="9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0626559"/>
                  </a:ext>
                </a:extLst>
              </a:tr>
              <a:tr h="23661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9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재단</a:t>
                      </a:r>
                      <a:r>
                        <a:rPr lang="en-US" altLang="ko-KR" sz="9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</a:t>
                      </a:r>
                      <a:r>
                        <a:rPr lang="ko-KR" altLang="en-US" sz="9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허가 현황</a:t>
                      </a:r>
                      <a:endParaRPr lang="en-US" altLang="ko-KR" sz="9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9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부대시설</a:t>
                      </a:r>
                      <a:endParaRPr lang="en-US" altLang="ko-KR" sz="9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6155432"/>
                  </a:ext>
                </a:extLst>
              </a:tr>
              <a:tr h="23661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9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오시는 길</a:t>
                      </a:r>
                      <a:endParaRPr lang="en-US" altLang="ko-KR" sz="9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9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주변 둘러보기</a:t>
                      </a:r>
                      <a:endParaRPr lang="en-US" altLang="ko-KR" sz="9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5006852"/>
                  </a:ext>
                </a:extLst>
              </a:tr>
            </a:tbl>
          </a:graphicData>
        </a:graphic>
      </p:graphicFrame>
      <p:graphicFrame>
        <p:nvGraphicFramePr>
          <p:cNvPr id="32" name="표 31">
            <a:extLst>
              <a:ext uri="{FF2B5EF4-FFF2-40B4-BE49-F238E27FC236}">
                <a16:creationId xmlns:a16="http://schemas.microsoft.com/office/drawing/2014/main" id="{7CC999E8-27BF-042E-FD01-347A091F65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0124467"/>
              </p:ext>
            </p:extLst>
          </p:nvPr>
        </p:nvGraphicFramePr>
        <p:xfrm>
          <a:off x="5297869" y="3313346"/>
          <a:ext cx="3029399" cy="946452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543551">
                  <a:extLst>
                    <a:ext uri="{9D8B030D-6E8A-4147-A177-3AD203B41FA5}">
                      <a16:colId xmlns:a16="http://schemas.microsoft.com/office/drawing/2014/main" val="2912823855"/>
                    </a:ext>
                  </a:extLst>
                </a:gridCol>
                <a:gridCol w="1485848">
                  <a:extLst>
                    <a:ext uri="{9D8B030D-6E8A-4147-A177-3AD203B41FA5}">
                      <a16:colId xmlns:a16="http://schemas.microsoft.com/office/drawing/2014/main" val="420109590"/>
                    </a:ext>
                  </a:extLst>
                </a:gridCol>
              </a:tblGrid>
              <a:tr h="236613"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10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분양안내</a:t>
                      </a:r>
                      <a:endParaRPr lang="en-US" altLang="ko-KR" sz="10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10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사이버 추모관</a:t>
                      </a:r>
                      <a:endParaRPr lang="en-US" altLang="ko-KR" sz="10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0268165"/>
                  </a:ext>
                </a:extLst>
              </a:tr>
              <a:tr h="23661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9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분양절차</a:t>
                      </a:r>
                      <a:endParaRPr lang="en-US" altLang="ko-KR" sz="9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9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고인 검색</a:t>
                      </a:r>
                      <a:endParaRPr lang="en-US" altLang="ko-KR" sz="9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1090331"/>
                  </a:ext>
                </a:extLst>
              </a:tr>
              <a:tr h="23661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9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분양가격</a:t>
                      </a:r>
                      <a:endParaRPr lang="en-US" altLang="ko-KR" sz="9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9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하늘편지</a:t>
                      </a:r>
                      <a:endParaRPr lang="en-US" altLang="ko-KR" sz="9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0626559"/>
                  </a:ext>
                </a:extLst>
              </a:tr>
              <a:tr h="23661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9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사전청약 혜택</a:t>
                      </a:r>
                      <a:endParaRPr lang="en-US" altLang="ko-KR" sz="9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9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6155432"/>
                  </a:ext>
                </a:extLst>
              </a:tr>
            </a:tbl>
          </a:graphicData>
        </a:graphic>
      </p:graphicFrame>
      <p:graphicFrame>
        <p:nvGraphicFramePr>
          <p:cNvPr id="33" name="표 32">
            <a:extLst>
              <a:ext uri="{FF2B5EF4-FFF2-40B4-BE49-F238E27FC236}">
                <a16:creationId xmlns:a16="http://schemas.microsoft.com/office/drawing/2014/main" id="{54225204-B4BE-5CCF-F473-DFAECE0BBF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9834284"/>
              </p:ext>
            </p:extLst>
          </p:nvPr>
        </p:nvGraphicFramePr>
        <p:xfrm>
          <a:off x="5337933" y="4313589"/>
          <a:ext cx="3029399" cy="1419678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543551">
                  <a:extLst>
                    <a:ext uri="{9D8B030D-6E8A-4147-A177-3AD203B41FA5}">
                      <a16:colId xmlns:a16="http://schemas.microsoft.com/office/drawing/2014/main" val="2912823855"/>
                    </a:ext>
                  </a:extLst>
                </a:gridCol>
                <a:gridCol w="1485848">
                  <a:extLst>
                    <a:ext uri="{9D8B030D-6E8A-4147-A177-3AD203B41FA5}">
                      <a16:colId xmlns:a16="http://schemas.microsoft.com/office/drawing/2014/main" val="420109590"/>
                    </a:ext>
                  </a:extLst>
                </a:gridCol>
              </a:tblGrid>
              <a:tr h="236613"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10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고객센터</a:t>
                      </a:r>
                      <a:endParaRPr lang="en-US" altLang="ko-KR" sz="10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10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서비스 이용약관</a:t>
                      </a:r>
                      <a:endParaRPr lang="en-US" altLang="ko-KR" sz="10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0268165"/>
                  </a:ext>
                </a:extLst>
              </a:tr>
              <a:tr h="23661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9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공지사항</a:t>
                      </a:r>
                      <a:endParaRPr lang="en-US" altLang="ko-KR" sz="9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개인정보 처리방침</a:t>
                      </a:r>
                      <a:endParaRPr lang="en-US" altLang="ko-KR" sz="10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1090331"/>
                  </a:ext>
                </a:extLst>
              </a:tr>
              <a:tr h="23661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9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자주묻는 질문</a:t>
                      </a:r>
                      <a:endParaRPr lang="en-US" altLang="ko-KR" sz="9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10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0626559"/>
                  </a:ext>
                </a:extLst>
              </a:tr>
              <a:tr h="23661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9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en-US" altLang="ko-KR" sz="9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1:1 </a:t>
                      </a:r>
                      <a:r>
                        <a:rPr lang="ko-KR" altLang="en-US" sz="9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상담</a:t>
                      </a:r>
                      <a:endParaRPr lang="en-US" altLang="ko-KR" sz="9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10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6155432"/>
                  </a:ext>
                </a:extLst>
              </a:tr>
              <a:tr h="23661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9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ko-KR" altLang="en-US" sz="9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나의상담</a:t>
                      </a:r>
                      <a:endParaRPr lang="en-US" altLang="ko-KR" sz="9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10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1999532"/>
                  </a:ext>
                </a:extLst>
              </a:tr>
              <a:tr h="23661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9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ko-KR" altLang="en-US" sz="9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자료실</a:t>
                      </a:r>
                      <a:endParaRPr lang="en-US" altLang="ko-KR" sz="9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10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907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73848217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4E25C2-2B45-3806-A2A9-14BB98F4E8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ACBAA906-D860-07F7-6791-A6A6711C58A9}"/>
              </a:ext>
            </a:extLst>
          </p:cNvPr>
          <p:cNvGraphicFramePr>
            <a:graphicFrameLocks noGrp="1"/>
          </p:cNvGraphicFramePr>
          <p:nvPr/>
        </p:nvGraphicFramePr>
        <p:xfrm>
          <a:off x="9182101" y="947377"/>
          <a:ext cx="2795588" cy="1969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1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로그인 전의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Utility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메뉴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(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로그인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회원가입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)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684046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로그인 후의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Utility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메뉴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(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나의정보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비밀번호변경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로그아웃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)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723838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3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172599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4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290794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5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922450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6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784800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7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0538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8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199337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9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450365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0AFB0CB6-4D94-33C4-35DD-5883E9931CF6}"/>
              </a:ext>
            </a:extLst>
          </p:cNvPr>
          <p:cNvSpPr/>
          <p:nvPr/>
        </p:nvSpPr>
        <p:spPr>
          <a:xfrm>
            <a:off x="959895" y="375614"/>
            <a:ext cx="797013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</a:pP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공통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Footer</a:t>
            </a:r>
            <a:endParaRPr kumimoji="1" lang="ko-KR" altLang="en-US" sz="800" dirty="0"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97A0C649-6995-EC5D-15F4-E39B2D1E9A94}"/>
              </a:ext>
            </a:extLst>
          </p:cNvPr>
          <p:cNvCxnSpPr>
            <a:cxnSpLocks/>
          </p:cNvCxnSpPr>
          <p:nvPr/>
        </p:nvCxnSpPr>
        <p:spPr>
          <a:xfrm>
            <a:off x="681318" y="1658469"/>
            <a:ext cx="3109526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A34515DD-FD8C-F796-0B92-68CDEAD89911}"/>
              </a:ext>
            </a:extLst>
          </p:cNvPr>
          <p:cNvSpPr txBox="1"/>
          <p:nvPr/>
        </p:nvSpPr>
        <p:spPr>
          <a:xfrm>
            <a:off x="1819139" y="1190457"/>
            <a:ext cx="83388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하늘누리</a:t>
            </a:r>
            <a:endParaRPr lang="en-US" altLang="ko-KR" sz="11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en-US" altLang="ko-KR" sz="11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CI</a:t>
            </a:r>
            <a:endParaRPr lang="ko-KR" altLang="en-US" sz="11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13" name="그림 12" descr="블랙, 어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E6AC567-FAF0-B1CA-7BB3-DEA0F3CC82A8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8346" y="1191723"/>
            <a:ext cx="383533" cy="383533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1EA0D4F5-D95D-489B-C967-0CF7A99C82D9}"/>
              </a:ext>
            </a:extLst>
          </p:cNvPr>
          <p:cNvSpPr txBox="1"/>
          <p:nvPr/>
        </p:nvSpPr>
        <p:spPr>
          <a:xfrm>
            <a:off x="2837079" y="1284732"/>
            <a:ext cx="54139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" panose="020D0604000000000000" pitchFamily="50" charset="-127"/>
                <a:ea typeface="나눔고딕" panose="020D0604000000000000" pitchFamily="50" charset="-127"/>
              </a:rPr>
              <a:t>로그인</a:t>
            </a:r>
          </a:p>
        </p:txBody>
      </p:sp>
      <p:pic>
        <p:nvPicPr>
          <p:cNvPr id="1030" name="Picture 6" descr="로그인 - 무료 ui개 아이콘">
            <a:extLst>
              <a:ext uri="{FF2B5EF4-FFF2-40B4-BE49-F238E27FC236}">
                <a16:creationId xmlns:a16="http://schemas.microsoft.com/office/drawing/2014/main" id="{3AE10C1A-1AD1-1DD4-5938-9D23A3722A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1021" y="1293695"/>
            <a:ext cx="181111" cy="181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FE07910-1AE0-AC4A-B9EF-1FF3C813DEAA}"/>
              </a:ext>
            </a:extLst>
          </p:cNvPr>
          <p:cNvSpPr txBox="1"/>
          <p:nvPr/>
        </p:nvSpPr>
        <p:spPr>
          <a:xfrm>
            <a:off x="650714" y="5709406"/>
            <a:ext cx="110619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하늘누리 추모공원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A3AF7FA-5B9A-CDE9-D80F-86539385966C}"/>
              </a:ext>
            </a:extLst>
          </p:cNvPr>
          <p:cNvSpPr/>
          <p:nvPr/>
        </p:nvSpPr>
        <p:spPr>
          <a:xfrm>
            <a:off x="950238" y="5300623"/>
            <a:ext cx="497813" cy="35821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CI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DB35B6-A212-05FA-6E71-155F88DCB602}"/>
              </a:ext>
            </a:extLst>
          </p:cNvPr>
          <p:cNvSpPr txBox="1"/>
          <p:nvPr/>
        </p:nvSpPr>
        <p:spPr>
          <a:xfrm>
            <a:off x="1674640" y="5426479"/>
            <a:ext cx="21430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재단법인 하늘누리 추모공원 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l </a:t>
            </a:r>
          </a:p>
          <a:p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사업자등록번호 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155-77-88888</a:t>
            </a:r>
          </a:p>
          <a:p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대표번호 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031-999-9999 l </a:t>
            </a:r>
          </a:p>
          <a:p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주소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경기도 양주시 산북동 산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67-20</a:t>
            </a:r>
          </a:p>
          <a:p>
            <a:r>
              <a:rPr lang="en-US" altLang="ko-KR" sz="7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Copyright 2026 haneulnuri. All Right Reserved</a:t>
            </a:r>
            <a:r>
              <a:rPr lang="ko-KR" altLang="en-US" sz="7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38D130-8C54-2EE0-A24B-2F5F20688F16}"/>
              </a:ext>
            </a:extLst>
          </p:cNvPr>
          <p:cNvSpPr txBox="1"/>
          <p:nvPr/>
        </p:nvSpPr>
        <p:spPr>
          <a:xfrm>
            <a:off x="1682377" y="5203536"/>
            <a:ext cx="97838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서비스 이용약관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023F9EC-921A-6F5D-AA7C-3C1E947A6831}"/>
              </a:ext>
            </a:extLst>
          </p:cNvPr>
          <p:cNvSpPr txBox="1"/>
          <p:nvPr/>
        </p:nvSpPr>
        <p:spPr>
          <a:xfrm>
            <a:off x="2660759" y="5203536"/>
            <a:ext cx="105683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개인정보 처리방침</a:t>
            </a: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85EE1D06-EF6F-8DBB-4882-794C31CF1024}"/>
              </a:ext>
            </a:extLst>
          </p:cNvPr>
          <p:cNvCxnSpPr/>
          <p:nvPr/>
        </p:nvCxnSpPr>
        <p:spPr>
          <a:xfrm>
            <a:off x="681318" y="5100918"/>
            <a:ext cx="3109526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4860442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78BDE4-A3B8-DDBA-DB60-4611B19A6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FA0BBB83-84E5-8AEB-E25F-A9451A967A63}"/>
              </a:ext>
            </a:extLst>
          </p:cNvPr>
          <p:cNvGraphicFramePr>
            <a:graphicFrameLocks noGrp="1"/>
          </p:cNvGraphicFramePr>
          <p:nvPr/>
        </p:nvGraphicFramePr>
        <p:xfrm>
          <a:off x="9182101" y="947377"/>
          <a:ext cx="2795588" cy="27006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1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롤오버시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전화상담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말풍선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노출되며 웹에서는 전화상담 선택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전화상담 안내 팝업 노출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rgbClr val="FF0000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모바일에서는 전화번호가 입력된 상태에서 전화 앱이 실행된다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.</a:t>
                      </a: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684046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카카오 상담을 선택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하늘 누리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카카오채널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추가를 안한 상태에서는 카카오의 하늘누리채널 안내 화면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호줄되고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하늘누리 카카오채널을 등록한 상태에서는 바로 하늘누리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카카오톡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대화창을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호출한다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.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723838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3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브로슈어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신청 선택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로그인이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안된 상태에서는 로그인화면으로 이동하고 로그인 후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브로슈어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신청 화면으로 자동 이동</a:t>
                      </a: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172599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4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290794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5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922450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6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784800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7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0538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8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199337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9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450365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604F923C-C327-A29B-08F4-2731B3098D26}"/>
              </a:ext>
            </a:extLst>
          </p:cNvPr>
          <p:cNvSpPr/>
          <p:nvPr/>
        </p:nvSpPr>
        <p:spPr>
          <a:xfrm>
            <a:off x="959895" y="375614"/>
            <a:ext cx="1000595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</a:pP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공통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 err="1">
                <a:latin typeface="나눔고딕" pitchFamily="50" charset="-127"/>
                <a:ea typeface="나눔고딕" pitchFamily="50" charset="-127"/>
              </a:rPr>
              <a:t>플로팅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 메뉴</a:t>
            </a: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23C93835-48C0-243E-6951-F15795E0F5D5}"/>
              </a:ext>
            </a:extLst>
          </p:cNvPr>
          <p:cNvCxnSpPr>
            <a:cxnSpLocks/>
          </p:cNvCxnSpPr>
          <p:nvPr/>
        </p:nvCxnSpPr>
        <p:spPr>
          <a:xfrm>
            <a:off x="681318" y="1658469"/>
            <a:ext cx="3109526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F2762BCF-8E89-6140-40B4-3D0F920B308F}"/>
              </a:ext>
            </a:extLst>
          </p:cNvPr>
          <p:cNvSpPr txBox="1"/>
          <p:nvPr/>
        </p:nvSpPr>
        <p:spPr>
          <a:xfrm>
            <a:off x="1819139" y="1190457"/>
            <a:ext cx="83388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하늘누리</a:t>
            </a:r>
            <a:endParaRPr lang="en-US" altLang="ko-KR" sz="11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en-US" altLang="ko-KR" sz="11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CI</a:t>
            </a:r>
            <a:endParaRPr lang="ko-KR" altLang="en-US" sz="11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13" name="그림 12" descr="블랙, 어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3435384-0E26-BE98-192B-5A6FB3A2BC9E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8346" y="1191723"/>
            <a:ext cx="383533" cy="383533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9562FC7E-27F1-C7CD-67FE-A522E897AE40}"/>
              </a:ext>
            </a:extLst>
          </p:cNvPr>
          <p:cNvSpPr txBox="1"/>
          <p:nvPr/>
        </p:nvSpPr>
        <p:spPr>
          <a:xfrm>
            <a:off x="2837079" y="1284732"/>
            <a:ext cx="54139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" panose="020D0604000000000000" pitchFamily="50" charset="-127"/>
                <a:ea typeface="나눔고딕" panose="020D0604000000000000" pitchFamily="50" charset="-127"/>
              </a:rPr>
              <a:t>로그인</a:t>
            </a:r>
          </a:p>
        </p:txBody>
      </p:sp>
      <p:pic>
        <p:nvPicPr>
          <p:cNvPr id="1030" name="Picture 6" descr="로그인 - 무료 ui개 아이콘">
            <a:extLst>
              <a:ext uri="{FF2B5EF4-FFF2-40B4-BE49-F238E27FC236}">
                <a16:creationId xmlns:a16="http://schemas.microsoft.com/office/drawing/2014/main" id="{F4DD18F8-9142-9969-F020-E4D18F8D00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1021" y="1293695"/>
            <a:ext cx="181111" cy="181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836BBAB-C444-B2AF-7882-BA033563429E}"/>
              </a:ext>
            </a:extLst>
          </p:cNvPr>
          <p:cNvSpPr txBox="1"/>
          <p:nvPr/>
        </p:nvSpPr>
        <p:spPr>
          <a:xfrm>
            <a:off x="650714" y="5709406"/>
            <a:ext cx="110619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하늘누리 추모공원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DE18DEE-33B4-3FDE-40E8-76265C4EB397}"/>
              </a:ext>
            </a:extLst>
          </p:cNvPr>
          <p:cNvSpPr/>
          <p:nvPr/>
        </p:nvSpPr>
        <p:spPr>
          <a:xfrm>
            <a:off x="950238" y="5300623"/>
            <a:ext cx="497813" cy="35821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CI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0A58AB-5C92-566A-B6E1-A51DDE398801}"/>
              </a:ext>
            </a:extLst>
          </p:cNvPr>
          <p:cNvSpPr txBox="1"/>
          <p:nvPr/>
        </p:nvSpPr>
        <p:spPr>
          <a:xfrm>
            <a:off x="1674640" y="5426479"/>
            <a:ext cx="21430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재단법인 하늘누리 추모공원 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l </a:t>
            </a:r>
          </a:p>
          <a:p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사업자등록번호 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155-77-88888</a:t>
            </a:r>
          </a:p>
          <a:p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대표번호 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031-999-9999 l </a:t>
            </a:r>
          </a:p>
          <a:p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주소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경기도 양주시 산북동 산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67-20</a:t>
            </a:r>
          </a:p>
          <a:p>
            <a:r>
              <a:rPr lang="en-US" altLang="ko-KR" sz="7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Copyright 2026 haneulnuri. All Right Reserved</a:t>
            </a:r>
            <a:r>
              <a:rPr lang="ko-KR" altLang="en-US" sz="7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E321D5-D805-5297-EA33-BCC2D2274372}"/>
              </a:ext>
            </a:extLst>
          </p:cNvPr>
          <p:cNvSpPr txBox="1"/>
          <p:nvPr/>
        </p:nvSpPr>
        <p:spPr>
          <a:xfrm>
            <a:off x="1682377" y="5203536"/>
            <a:ext cx="97838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서비스 이용약관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00D27B3-2C52-33C4-6EE2-C1CE420FB996}"/>
              </a:ext>
            </a:extLst>
          </p:cNvPr>
          <p:cNvSpPr txBox="1"/>
          <p:nvPr/>
        </p:nvSpPr>
        <p:spPr>
          <a:xfrm>
            <a:off x="2660759" y="5203536"/>
            <a:ext cx="105683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개인정보 처리방침</a:t>
            </a: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281A15BC-2741-1603-4D5E-D8969F737601}"/>
              </a:ext>
            </a:extLst>
          </p:cNvPr>
          <p:cNvCxnSpPr/>
          <p:nvPr/>
        </p:nvCxnSpPr>
        <p:spPr>
          <a:xfrm>
            <a:off x="681318" y="5100918"/>
            <a:ext cx="3109526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9" name="그룹 8">
            <a:extLst>
              <a:ext uri="{FF2B5EF4-FFF2-40B4-BE49-F238E27FC236}">
                <a16:creationId xmlns:a16="http://schemas.microsoft.com/office/drawing/2014/main" id="{5D1A9FB5-24F6-2A7F-7BF4-078A2E1A82C9}"/>
              </a:ext>
            </a:extLst>
          </p:cNvPr>
          <p:cNvGrpSpPr/>
          <p:nvPr/>
        </p:nvGrpSpPr>
        <p:grpSpPr>
          <a:xfrm>
            <a:off x="3165659" y="3480319"/>
            <a:ext cx="465374" cy="1581150"/>
            <a:chOff x="8308915" y="4381500"/>
            <a:chExt cx="465374" cy="1581150"/>
          </a:xfrm>
        </p:grpSpPr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ED014060-35A3-6F68-AB24-3FCA2BC18FFF}"/>
                </a:ext>
              </a:extLst>
            </p:cNvPr>
            <p:cNvSpPr/>
            <p:nvPr/>
          </p:nvSpPr>
          <p:spPr>
            <a:xfrm>
              <a:off x="8308915" y="4943475"/>
              <a:ext cx="457200" cy="45720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04912FE4-FDE7-A239-0B10-663DF9D49DC8}"/>
                </a:ext>
              </a:extLst>
            </p:cNvPr>
            <p:cNvSpPr/>
            <p:nvPr/>
          </p:nvSpPr>
          <p:spPr>
            <a:xfrm>
              <a:off x="8308915" y="5505450"/>
              <a:ext cx="457200" cy="45720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pic>
          <p:nvPicPr>
            <p:cNvPr id="16" name="Picture 2" descr="카카오 톡 - 무료 소셜 미디어개 아이콘">
              <a:extLst>
                <a:ext uri="{FF2B5EF4-FFF2-40B4-BE49-F238E27FC236}">
                  <a16:creationId xmlns:a16="http://schemas.microsoft.com/office/drawing/2014/main" id="{A1BB3D5C-D23C-EAAE-8E3F-CC226064036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84156" y="5029592"/>
              <a:ext cx="323066" cy="32306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7B6FB024-F629-A5C1-F798-5EA788A26917}"/>
                </a:ext>
              </a:extLst>
            </p:cNvPr>
            <p:cNvSpPr/>
            <p:nvPr/>
          </p:nvSpPr>
          <p:spPr>
            <a:xfrm>
              <a:off x="8317089" y="4381500"/>
              <a:ext cx="457200" cy="45720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pic>
          <p:nvPicPr>
            <p:cNvPr id="18" name="Picture 8" descr="전화기 아이콘 일러스트 | Canva">
              <a:extLst>
                <a:ext uri="{FF2B5EF4-FFF2-40B4-BE49-F238E27FC236}">
                  <a16:creationId xmlns:a16="http://schemas.microsoft.com/office/drawing/2014/main" id="{D2186A13-D8BF-330C-E187-375AD3FBE65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84156" y="4447921"/>
              <a:ext cx="324358" cy="32435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9" name="Picture 10" descr="브로슈어 - 무료 마케팅개 아이콘">
              <a:extLst>
                <a:ext uri="{FF2B5EF4-FFF2-40B4-BE49-F238E27FC236}">
                  <a16:creationId xmlns:a16="http://schemas.microsoft.com/office/drawing/2014/main" id="{3BDF5BC4-EB27-732C-E500-1769BADC543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hqprint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saturation sat="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54671" y="5542615"/>
              <a:ext cx="382869" cy="38286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0" name="Oval 109">
            <a:extLst>
              <a:ext uri="{FF2B5EF4-FFF2-40B4-BE49-F238E27FC236}">
                <a16:creationId xmlns:a16="http://schemas.microsoft.com/office/drawing/2014/main" id="{A1BD7F6A-40F8-5E58-204C-A4E166F9CB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92859" y="3393919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1</a:t>
            </a:r>
          </a:p>
        </p:txBody>
      </p:sp>
      <p:sp>
        <p:nvSpPr>
          <p:cNvPr id="21" name="Oval 109">
            <a:extLst>
              <a:ext uri="{FF2B5EF4-FFF2-40B4-BE49-F238E27FC236}">
                <a16:creationId xmlns:a16="http://schemas.microsoft.com/office/drawing/2014/main" id="{3F3FCA41-19D8-7038-64A7-9A9E4E8763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92859" y="4070615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2</a:t>
            </a:r>
          </a:p>
        </p:txBody>
      </p:sp>
      <p:sp>
        <p:nvSpPr>
          <p:cNvPr id="22" name="Oval 109">
            <a:extLst>
              <a:ext uri="{FF2B5EF4-FFF2-40B4-BE49-F238E27FC236}">
                <a16:creationId xmlns:a16="http://schemas.microsoft.com/office/drawing/2014/main" id="{568F1FDC-D1F1-E8A9-9AD9-E18C8B966D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10040" y="4614890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7931502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59124F-E304-BB0B-7F67-489697C1E5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3AC3980F-69C9-8DE8-669A-654CB6773DA9}"/>
              </a:ext>
            </a:extLst>
          </p:cNvPr>
          <p:cNvGraphicFramePr>
            <a:graphicFrameLocks noGrp="1"/>
          </p:cNvGraphicFramePr>
          <p:nvPr/>
        </p:nvGraphicFramePr>
        <p:xfrm>
          <a:off x="9182101" y="947377"/>
          <a:ext cx="2795588" cy="1847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1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선택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팝업 닫힘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684046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723838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3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172599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4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290794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5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922450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6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784800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7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0538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8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199337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9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450365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B5C983C3-640B-8255-7743-1F3E2F1B3B42}"/>
              </a:ext>
            </a:extLst>
          </p:cNvPr>
          <p:cNvSpPr/>
          <p:nvPr/>
        </p:nvSpPr>
        <p:spPr>
          <a:xfrm>
            <a:off x="959895" y="375614"/>
            <a:ext cx="683200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</a:pP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공통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팝업</a:t>
            </a: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AD1E4123-0ACE-9561-9C98-A4627ECF9931}"/>
              </a:ext>
            </a:extLst>
          </p:cNvPr>
          <p:cNvCxnSpPr>
            <a:cxnSpLocks/>
          </p:cNvCxnSpPr>
          <p:nvPr/>
        </p:nvCxnSpPr>
        <p:spPr>
          <a:xfrm>
            <a:off x="681318" y="1658469"/>
            <a:ext cx="3109526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5675D338-A1C5-F00F-53AE-3880EFFAE38F}"/>
              </a:ext>
            </a:extLst>
          </p:cNvPr>
          <p:cNvSpPr txBox="1"/>
          <p:nvPr/>
        </p:nvSpPr>
        <p:spPr>
          <a:xfrm>
            <a:off x="1819139" y="1190457"/>
            <a:ext cx="83388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하늘누리</a:t>
            </a:r>
            <a:endParaRPr lang="en-US" altLang="ko-KR" sz="11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en-US" altLang="ko-KR" sz="11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CI</a:t>
            </a:r>
            <a:endParaRPr lang="ko-KR" altLang="en-US" sz="11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13" name="그림 12" descr="블랙, 어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7EDA165-D96C-7048-11A3-CDE4BAD49CB6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8346" y="1191723"/>
            <a:ext cx="383533" cy="383533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E7618F76-893B-6534-9240-5ED3130CD955}"/>
              </a:ext>
            </a:extLst>
          </p:cNvPr>
          <p:cNvSpPr txBox="1"/>
          <p:nvPr/>
        </p:nvSpPr>
        <p:spPr>
          <a:xfrm>
            <a:off x="2837079" y="1284732"/>
            <a:ext cx="54139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" panose="020D0604000000000000" pitchFamily="50" charset="-127"/>
                <a:ea typeface="나눔고딕" panose="020D0604000000000000" pitchFamily="50" charset="-127"/>
              </a:rPr>
              <a:t>로그인</a:t>
            </a:r>
          </a:p>
        </p:txBody>
      </p:sp>
      <p:pic>
        <p:nvPicPr>
          <p:cNvPr id="1030" name="Picture 6" descr="로그인 - 무료 ui개 아이콘">
            <a:extLst>
              <a:ext uri="{FF2B5EF4-FFF2-40B4-BE49-F238E27FC236}">
                <a16:creationId xmlns:a16="http://schemas.microsoft.com/office/drawing/2014/main" id="{DCB1B6E1-FE4A-DFD0-938F-BB3852D063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1021" y="1293695"/>
            <a:ext cx="181111" cy="181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CC48DE0-7EB6-C624-1465-F05AFAD3C5C2}"/>
              </a:ext>
            </a:extLst>
          </p:cNvPr>
          <p:cNvSpPr txBox="1"/>
          <p:nvPr/>
        </p:nvSpPr>
        <p:spPr>
          <a:xfrm>
            <a:off x="650714" y="5709406"/>
            <a:ext cx="110619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하늘누리 추모공원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73DFB36-FAAB-A2E8-57AE-E451ECDD9A3D}"/>
              </a:ext>
            </a:extLst>
          </p:cNvPr>
          <p:cNvSpPr/>
          <p:nvPr/>
        </p:nvSpPr>
        <p:spPr>
          <a:xfrm>
            <a:off x="950238" y="5300623"/>
            <a:ext cx="497813" cy="35821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CI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017704E-A7F1-F9F2-6880-94FFF353AE05}"/>
              </a:ext>
            </a:extLst>
          </p:cNvPr>
          <p:cNvSpPr txBox="1"/>
          <p:nvPr/>
        </p:nvSpPr>
        <p:spPr>
          <a:xfrm>
            <a:off x="1674640" y="5426479"/>
            <a:ext cx="21430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재단법인 하늘누리 추모공원 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l </a:t>
            </a:r>
          </a:p>
          <a:p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사업자등록번호 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155-77-88888</a:t>
            </a:r>
          </a:p>
          <a:p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대표번호 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031-999-9999 l </a:t>
            </a:r>
          </a:p>
          <a:p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주소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경기도 양주시 산북동 산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67-20</a:t>
            </a:r>
          </a:p>
          <a:p>
            <a:r>
              <a:rPr lang="en-US" altLang="ko-KR" sz="7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Copyright 2026 haneulnuri. All Right Reserved</a:t>
            </a:r>
            <a:r>
              <a:rPr lang="ko-KR" altLang="en-US" sz="7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CA50EF-A882-2CDA-31F1-A829715EB2ED}"/>
              </a:ext>
            </a:extLst>
          </p:cNvPr>
          <p:cNvSpPr txBox="1"/>
          <p:nvPr/>
        </p:nvSpPr>
        <p:spPr>
          <a:xfrm>
            <a:off x="1682377" y="5203536"/>
            <a:ext cx="97838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서비스 이용약관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418FB8-0351-8E7A-7971-4BE87E74A990}"/>
              </a:ext>
            </a:extLst>
          </p:cNvPr>
          <p:cNvSpPr txBox="1"/>
          <p:nvPr/>
        </p:nvSpPr>
        <p:spPr>
          <a:xfrm>
            <a:off x="2660759" y="5203536"/>
            <a:ext cx="105683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개인정보 처리방침</a:t>
            </a: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55CDCBD4-6AFE-7D0D-6617-C9F1B12C9F36}"/>
              </a:ext>
            </a:extLst>
          </p:cNvPr>
          <p:cNvCxnSpPr/>
          <p:nvPr/>
        </p:nvCxnSpPr>
        <p:spPr>
          <a:xfrm>
            <a:off x="681318" y="5100918"/>
            <a:ext cx="3109526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9" name="그룹 8">
            <a:extLst>
              <a:ext uri="{FF2B5EF4-FFF2-40B4-BE49-F238E27FC236}">
                <a16:creationId xmlns:a16="http://schemas.microsoft.com/office/drawing/2014/main" id="{94E05F5E-E543-6E13-573D-EBD10DF94CCC}"/>
              </a:ext>
            </a:extLst>
          </p:cNvPr>
          <p:cNvGrpSpPr/>
          <p:nvPr/>
        </p:nvGrpSpPr>
        <p:grpSpPr>
          <a:xfrm>
            <a:off x="3165659" y="3480319"/>
            <a:ext cx="465374" cy="1581150"/>
            <a:chOff x="8308915" y="4381500"/>
            <a:chExt cx="465374" cy="1581150"/>
          </a:xfrm>
        </p:grpSpPr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DF9B9516-0D98-E889-F880-92E439F2348A}"/>
                </a:ext>
              </a:extLst>
            </p:cNvPr>
            <p:cNvSpPr/>
            <p:nvPr/>
          </p:nvSpPr>
          <p:spPr>
            <a:xfrm>
              <a:off x="8308915" y="4943475"/>
              <a:ext cx="457200" cy="45720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54148A2E-649F-E798-AB72-C33F7C48B82A}"/>
                </a:ext>
              </a:extLst>
            </p:cNvPr>
            <p:cNvSpPr/>
            <p:nvPr/>
          </p:nvSpPr>
          <p:spPr>
            <a:xfrm>
              <a:off x="8308915" y="5505450"/>
              <a:ext cx="457200" cy="45720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pic>
          <p:nvPicPr>
            <p:cNvPr id="16" name="Picture 2" descr="카카오 톡 - 무료 소셜 미디어개 아이콘">
              <a:extLst>
                <a:ext uri="{FF2B5EF4-FFF2-40B4-BE49-F238E27FC236}">
                  <a16:creationId xmlns:a16="http://schemas.microsoft.com/office/drawing/2014/main" id="{C39DCBB4-62A5-049D-9F96-3CC63B7B084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84156" y="5029592"/>
              <a:ext cx="323066" cy="32306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D945FB8D-5D0F-1388-58C3-3E1DCF59FFC6}"/>
                </a:ext>
              </a:extLst>
            </p:cNvPr>
            <p:cNvSpPr/>
            <p:nvPr/>
          </p:nvSpPr>
          <p:spPr>
            <a:xfrm>
              <a:off x="8317089" y="4381500"/>
              <a:ext cx="457200" cy="45720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pic>
          <p:nvPicPr>
            <p:cNvPr id="18" name="Picture 8" descr="전화기 아이콘 일러스트 | Canva">
              <a:extLst>
                <a:ext uri="{FF2B5EF4-FFF2-40B4-BE49-F238E27FC236}">
                  <a16:creationId xmlns:a16="http://schemas.microsoft.com/office/drawing/2014/main" id="{86DF5FD7-4D1A-DF1A-BB45-28FF7FF797F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84156" y="4447921"/>
              <a:ext cx="324358" cy="32435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9" name="Picture 10" descr="브로슈어 - 무료 마케팅개 아이콘">
              <a:extLst>
                <a:ext uri="{FF2B5EF4-FFF2-40B4-BE49-F238E27FC236}">
                  <a16:creationId xmlns:a16="http://schemas.microsoft.com/office/drawing/2014/main" id="{1842FCD5-1238-5D13-45F1-6C28E79CFDF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hqprint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saturation sat="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54671" y="5542615"/>
              <a:ext cx="382869" cy="38286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0" name="Oval 109">
            <a:extLst>
              <a:ext uri="{FF2B5EF4-FFF2-40B4-BE49-F238E27FC236}">
                <a16:creationId xmlns:a16="http://schemas.microsoft.com/office/drawing/2014/main" id="{45C1F8D3-2600-4093-DD7C-772FF6BB65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92859" y="3393919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1</a:t>
            </a:r>
          </a:p>
        </p:txBody>
      </p:sp>
      <p:sp>
        <p:nvSpPr>
          <p:cNvPr id="21" name="Oval 109">
            <a:extLst>
              <a:ext uri="{FF2B5EF4-FFF2-40B4-BE49-F238E27FC236}">
                <a16:creationId xmlns:a16="http://schemas.microsoft.com/office/drawing/2014/main" id="{D79A405B-0627-C75B-FA95-C9319EB749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92859" y="4070615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2</a:t>
            </a:r>
          </a:p>
        </p:txBody>
      </p:sp>
      <p:sp>
        <p:nvSpPr>
          <p:cNvPr id="22" name="Oval 109">
            <a:extLst>
              <a:ext uri="{FF2B5EF4-FFF2-40B4-BE49-F238E27FC236}">
                <a16:creationId xmlns:a16="http://schemas.microsoft.com/office/drawing/2014/main" id="{12EF446D-09D6-829D-4839-B9F7D04AB9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10040" y="4614890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3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974E6B06-2281-05D8-319E-460136DB5570}"/>
              </a:ext>
            </a:extLst>
          </p:cNvPr>
          <p:cNvSpPr/>
          <p:nvPr/>
        </p:nvSpPr>
        <p:spPr>
          <a:xfrm>
            <a:off x="650713" y="1120589"/>
            <a:ext cx="3167025" cy="5100918"/>
          </a:xfrm>
          <a:prstGeom prst="rect">
            <a:avLst/>
          </a:prstGeom>
          <a:solidFill>
            <a:schemeClr val="bg1">
              <a:lumMod val="95000"/>
              <a:alpha val="49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D428E7B5-10D1-0EFD-3CA5-D7BC739627D3}"/>
              </a:ext>
            </a:extLst>
          </p:cNvPr>
          <p:cNvGrpSpPr/>
          <p:nvPr/>
        </p:nvGrpSpPr>
        <p:grpSpPr>
          <a:xfrm>
            <a:off x="1066330" y="2403536"/>
            <a:ext cx="2336103" cy="2297754"/>
            <a:chOff x="5507805" y="1639765"/>
            <a:chExt cx="2336103" cy="2297754"/>
          </a:xfrm>
        </p:grpSpPr>
        <p:sp>
          <p:nvSpPr>
            <p:cNvPr id="26" name="모서리가 둥근 직사각형 3">
              <a:extLst>
                <a:ext uri="{FF2B5EF4-FFF2-40B4-BE49-F238E27FC236}">
                  <a16:creationId xmlns:a16="http://schemas.microsoft.com/office/drawing/2014/main" id="{4AA7959F-338A-D56B-B717-FF81BE81E5EC}"/>
                </a:ext>
              </a:extLst>
            </p:cNvPr>
            <p:cNvSpPr/>
            <p:nvPr/>
          </p:nvSpPr>
          <p:spPr>
            <a:xfrm>
              <a:off x="5507805" y="1639765"/>
              <a:ext cx="2336103" cy="2297754"/>
            </a:xfrm>
            <a:prstGeom prst="roundRect">
              <a:avLst>
                <a:gd name="adj" fmla="val 3334"/>
              </a:avLst>
            </a:prstGeom>
            <a:solidFill>
              <a:schemeClr val="bg1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931A9A18-697B-8A54-9A14-4D9A3F4BA848}"/>
                </a:ext>
              </a:extLst>
            </p:cNvPr>
            <p:cNvCxnSpPr/>
            <p:nvPr/>
          </p:nvCxnSpPr>
          <p:spPr>
            <a:xfrm flipV="1">
              <a:off x="5507805" y="1964873"/>
              <a:ext cx="2336103" cy="9331"/>
            </a:xfrm>
            <a:prstGeom prst="line">
              <a:avLst/>
            </a:prstGeom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95A54E8E-E5E6-2452-A5F2-41E18C59B94B}"/>
                </a:ext>
              </a:extLst>
            </p:cNvPr>
            <p:cNvSpPr txBox="1"/>
            <p:nvPr/>
          </p:nvSpPr>
          <p:spPr>
            <a:xfrm>
              <a:off x="5543665" y="1703562"/>
              <a:ext cx="746175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9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화면명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A09E16B2-5DC2-8A86-7B28-D43D20AD0E6F}"/>
                </a:ext>
              </a:extLst>
            </p:cNvPr>
            <p:cNvSpPr txBox="1"/>
            <p:nvPr/>
          </p:nvSpPr>
          <p:spPr>
            <a:xfrm>
              <a:off x="7549072" y="1658073"/>
              <a:ext cx="170269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1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X</a:t>
              </a:r>
              <a:endParaRPr lang="ko-KR" altLang="en-US" sz="11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BB898771-2B9F-2B0B-FB4B-B32FCFD68362}"/>
                </a:ext>
              </a:extLst>
            </p:cNvPr>
            <p:cNvSpPr/>
            <p:nvPr/>
          </p:nvSpPr>
          <p:spPr>
            <a:xfrm>
              <a:off x="5593977" y="2214888"/>
              <a:ext cx="2170190" cy="121411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C6944BBA-A38E-28DB-1E29-079DD5FEB5C9}"/>
                </a:ext>
              </a:extLst>
            </p:cNvPr>
            <p:cNvSpPr txBox="1"/>
            <p:nvPr/>
          </p:nvSpPr>
          <p:spPr>
            <a:xfrm>
              <a:off x="5626621" y="2737787"/>
              <a:ext cx="217019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9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모든 항목에 동의를 선택하셔야 합니다</a:t>
              </a:r>
              <a:r>
                <a:rPr lang="en-US" altLang="ko-KR" sz="9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.</a:t>
              </a:r>
              <a:endParaRPr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2" name="모서리가 둥근 직사각형 63">
              <a:extLst>
                <a:ext uri="{FF2B5EF4-FFF2-40B4-BE49-F238E27FC236}">
                  <a16:creationId xmlns:a16="http://schemas.microsoft.com/office/drawing/2014/main" id="{85DE048C-D0E2-DA65-5195-C5D0A5EB9629}"/>
                </a:ext>
              </a:extLst>
            </p:cNvPr>
            <p:cNvSpPr/>
            <p:nvPr/>
          </p:nvSpPr>
          <p:spPr bwMode="auto">
            <a:xfrm>
              <a:off x="6376718" y="3596370"/>
              <a:ext cx="588190" cy="200025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ko-KR" altLang="en-US" sz="800" dirty="0">
                  <a:ln w="0" cmpd="sng">
                    <a:solidFill>
                      <a:schemeClr val="tx2">
                        <a:satMod val="155000"/>
                        <a:alpha val="0"/>
                      </a:schemeClr>
                    </a:solidFill>
                    <a:prstDash val="solid"/>
                    <a:round/>
                  </a:ln>
                  <a:solidFill>
                    <a:schemeClr val="tx1"/>
                  </a:solidFill>
                  <a:latin typeface="나눔고딕" pitchFamily="50" charset="-127"/>
                  <a:ea typeface="나눔고딕" pitchFamily="50" charset="-127"/>
                </a:rPr>
                <a:t>확인</a:t>
              </a:r>
            </a:p>
          </p:txBody>
        </p:sp>
      </p:grpSp>
      <p:sp>
        <p:nvSpPr>
          <p:cNvPr id="34" name="Oval 109">
            <a:extLst>
              <a:ext uri="{FF2B5EF4-FFF2-40B4-BE49-F238E27FC236}">
                <a16:creationId xmlns:a16="http://schemas.microsoft.com/office/drawing/2014/main" id="{E21BFC9D-BD8D-5D05-5849-8DEFB5ABAD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19139" y="4231769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251284425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1DFFF4-9872-F3C7-C818-77BB016564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5645145A-101A-AE67-1957-EA1D5B11EC96}"/>
              </a:ext>
            </a:extLst>
          </p:cNvPr>
          <p:cNvGraphicFramePr>
            <a:graphicFrameLocks noGrp="1"/>
          </p:cNvGraphicFramePr>
          <p:nvPr/>
        </p:nvGraphicFramePr>
        <p:xfrm>
          <a:off x="9182101" y="947377"/>
          <a:ext cx="2795588" cy="27006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1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롤오버시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전화상담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말풍선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노출되며 웹에서는 전화상담 선택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전화상담 안내 팝업 노출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rgbClr val="FF0000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모바일에서는 전화번호가 입력된 상태에서 전화 앱이 실행된다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.</a:t>
                      </a: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684046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카카오 상담을 선택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하늘 누리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카카오채널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추가를 안한 상태에서는 카카오의 하늘누리채널 안내 화면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호줄되고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하늘누리 카카오채널을 등록한 상태에서는 바로 하늘누리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카카오톡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대화창을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호출한다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.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723838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3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브로슈어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신청 선택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로그인이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안된 상태에서는 로그인화면으로 이동하고 로그인 후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브로슈어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신청 화면으로 자동 이동</a:t>
                      </a: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172599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4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290794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5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922450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6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784800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7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0538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8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199337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9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450365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4C9569C4-F3A3-2693-11DF-C9D4D706B98C}"/>
              </a:ext>
            </a:extLst>
          </p:cNvPr>
          <p:cNvSpPr/>
          <p:nvPr/>
        </p:nvSpPr>
        <p:spPr>
          <a:xfrm>
            <a:off x="959895" y="375614"/>
            <a:ext cx="1385316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</a:pP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공통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서브페이지 레이아웃</a:t>
            </a: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7BFB5E17-2381-A8DB-33B5-EDC982369BA3}"/>
              </a:ext>
            </a:extLst>
          </p:cNvPr>
          <p:cNvCxnSpPr>
            <a:cxnSpLocks/>
          </p:cNvCxnSpPr>
          <p:nvPr/>
        </p:nvCxnSpPr>
        <p:spPr>
          <a:xfrm>
            <a:off x="681318" y="1658469"/>
            <a:ext cx="3109526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0E5B21A6-EAF5-6295-99DB-EB6673F93948}"/>
              </a:ext>
            </a:extLst>
          </p:cNvPr>
          <p:cNvSpPr txBox="1"/>
          <p:nvPr/>
        </p:nvSpPr>
        <p:spPr>
          <a:xfrm>
            <a:off x="1819139" y="1190457"/>
            <a:ext cx="83388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하늘누리</a:t>
            </a:r>
            <a:endParaRPr lang="en-US" altLang="ko-KR" sz="11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en-US" altLang="ko-KR" sz="11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CI</a:t>
            </a:r>
            <a:endParaRPr lang="ko-KR" altLang="en-US" sz="11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13" name="그림 12" descr="블랙, 어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F9BF0F0-10A6-77FA-0E29-8545C6AE3340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8346" y="1191723"/>
            <a:ext cx="383533" cy="383533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59C9B3B6-7D11-CF3B-5930-C2B0800CD6AB}"/>
              </a:ext>
            </a:extLst>
          </p:cNvPr>
          <p:cNvSpPr txBox="1"/>
          <p:nvPr/>
        </p:nvSpPr>
        <p:spPr>
          <a:xfrm>
            <a:off x="2837079" y="1284732"/>
            <a:ext cx="54139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" panose="020D0604000000000000" pitchFamily="50" charset="-127"/>
                <a:ea typeface="나눔고딕" panose="020D0604000000000000" pitchFamily="50" charset="-127"/>
              </a:rPr>
              <a:t>로그인</a:t>
            </a:r>
          </a:p>
        </p:txBody>
      </p:sp>
      <p:pic>
        <p:nvPicPr>
          <p:cNvPr id="1030" name="Picture 6" descr="로그인 - 무료 ui개 아이콘">
            <a:extLst>
              <a:ext uri="{FF2B5EF4-FFF2-40B4-BE49-F238E27FC236}">
                <a16:creationId xmlns:a16="http://schemas.microsoft.com/office/drawing/2014/main" id="{C8208898-5EDD-1463-5679-27484F9A36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1021" y="1293695"/>
            <a:ext cx="181111" cy="181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56AC160-D2C5-8238-F058-8380A9F40A14}"/>
              </a:ext>
            </a:extLst>
          </p:cNvPr>
          <p:cNvSpPr txBox="1"/>
          <p:nvPr/>
        </p:nvSpPr>
        <p:spPr>
          <a:xfrm>
            <a:off x="650714" y="5709406"/>
            <a:ext cx="110619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하늘누리 추모공원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38058B9-3110-C46B-313A-9180D8D5CAAA}"/>
              </a:ext>
            </a:extLst>
          </p:cNvPr>
          <p:cNvSpPr/>
          <p:nvPr/>
        </p:nvSpPr>
        <p:spPr>
          <a:xfrm>
            <a:off x="950238" y="5300623"/>
            <a:ext cx="497813" cy="35821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CI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518A57-CFE7-2C48-2F79-FA0259B5FC23}"/>
              </a:ext>
            </a:extLst>
          </p:cNvPr>
          <p:cNvSpPr txBox="1"/>
          <p:nvPr/>
        </p:nvSpPr>
        <p:spPr>
          <a:xfrm>
            <a:off x="1674640" y="5426479"/>
            <a:ext cx="21430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재단법인 하늘누리 추모공원 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l </a:t>
            </a:r>
          </a:p>
          <a:p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사업자등록번호 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155-77-88888</a:t>
            </a:r>
          </a:p>
          <a:p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대표번호 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031-999-9999 l </a:t>
            </a:r>
          </a:p>
          <a:p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주소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경기도 양주시 산북동 산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67-20</a:t>
            </a:r>
          </a:p>
          <a:p>
            <a:r>
              <a:rPr lang="en-US" altLang="ko-KR" sz="7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Copyright 2026 haneulnuri. All Right Reserved</a:t>
            </a:r>
            <a:r>
              <a:rPr lang="ko-KR" altLang="en-US" sz="7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81F02E6-4E38-B8E8-B61F-61A2F6C016F9}"/>
              </a:ext>
            </a:extLst>
          </p:cNvPr>
          <p:cNvSpPr txBox="1"/>
          <p:nvPr/>
        </p:nvSpPr>
        <p:spPr>
          <a:xfrm>
            <a:off x="1682377" y="5203536"/>
            <a:ext cx="97838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서비스 이용약관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C8A6FE9-494A-2687-8AF1-F162708DA502}"/>
              </a:ext>
            </a:extLst>
          </p:cNvPr>
          <p:cNvSpPr txBox="1"/>
          <p:nvPr/>
        </p:nvSpPr>
        <p:spPr>
          <a:xfrm>
            <a:off x="2660759" y="5203536"/>
            <a:ext cx="105683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개인정보 처리방침</a:t>
            </a: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732877DB-5C6D-F0A5-7828-4932BC051FD7}"/>
              </a:ext>
            </a:extLst>
          </p:cNvPr>
          <p:cNvCxnSpPr/>
          <p:nvPr/>
        </p:nvCxnSpPr>
        <p:spPr>
          <a:xfrm>
            <a:off x="681318" y="5100918"/>
            <a:ext cx="3109526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3A9E239B-5BE4-1EA6-E5D3-C098C296541D}"/>
              </a:ext>
            </a:extLst>
          </p:cNvPr>
          <p:cNvSpPr txBox="1"/>
          <p:nvPr/>
        </p:nvSpPr>
        <p:spPr>
          <a:xfrm>
            <a:off x="1448051" y="1785539"/>
            <a:ext cx="15827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인사말</a:t>
            </a:r>
            <a:endParaRPr lang="en-US" altLang="ko-KR" sz="16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346F4E7-01E3-C86A-21F4-2F02AD72708C}"/>
              </a:ext>
            </a:extLst>
          </p:cNvPr>
          <p:cNvSpPr txBox="1"/>
          <p:nvPr/>
        </p:nvSpPr>
        <p:spPr>
          <a:xfrm>
            <a:off x="983805" y="2107422"/>
            <a:ext cx="2566221" cy="4401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spcAft>
                <a:spcPts val="900"/>
              </a:spcAft>
            </a:pP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하늘누리 추모공원은 </a:t>
            </a:r>
            <a:r>
              <a:rPr lang="en-US" altLang="ko-KR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"</a:t>
            </a:r>
            <a:r>
              <a:rPr lang="ko-KR" altLang="en-US" sz="800" b="1" dirty="0">
                <a:solidFill>
                  <a:srgbClr val="2324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고인께서는 편안히 영면하실 수 있는 성스러운 안식처</a:t>
            </a:r>
            <a:r>
              <a:rPr lang="en-US" altLang="ko-KR" sz="800" b="1" dirty="0">
                <a:solidFill>
                  <a:srgbClr val="2324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”</a:t>
            </a:r>
            <a:r>
              <a:rPr lang="ko-KR" altLang="en-US" sz="800" dirty="0">
                <a:solidFill>
                  <a:srgbClr val="2324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가</a:t>
            </a:r>
            <a:r>
              <a:rPr lang="ko-KR" altLang="en-US" sz="800" b="1" dirty="0">
                <a:solidFill>
                  <a:srgbClr val="2324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800" dirty="0">
                <a:solidFill>
                  <a:srgbClr val="2324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되고자 합니다</a:t>
            </a:r>
            <a:r>
              <a:rPr lang="en-US" altLang="ko-KR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8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477E2EB-23F1-4303-515A-07940BA01484}"/>
              </a:ext>
            </a:extLst>
          </p:cNvPr>
          <p:cNvSpPr txBox="1"/>
          <p:nvPr/>
        </p:nvSpPr>
        <p:spPr>
          <a:xfrm>
            <a:off x="1470212" y="3429000"/>
            <a:ext cx="13668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본문 영역</a:t>
            </a:r>
          </a:p>
        </p:txBody>
      </p:sp>
    </p:spTree>
    <p:extLst>
      <p:ext uri="{BB962C8B-B14F-4D97-AF65-F5344CB8AC3E}">
        <p14:creationId xmlns:p14="http://schemas.microsoft.com/office/powerpoint/2010/main" val="3778658062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E64165-732A-09E9-5C19-15132EE002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BAC85FB-899E-BEC8-F8B4-4C2351BA6B13}"/>
              </a:ext>
            </a:extLst>
          </p:cNvPr>
          <p:cNvSpPr txBox="1"/>
          <p:nvPr/>
        </p:nvSpPr>
        <p:spPr>
          <a:xfrm>
            <a:off x="1047750" y="2476500"/>
            <a:ext cx="2390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나눔고딕" pitchFamily="2" charset="-127"/>
                <a:ea typeface="나눔고딕" pitchFamily="2" charset="-127"/>
              </a:rPr>
              <a:t>01. </a:t>
            </a:r>
            <a:r>
              <a:rPr lang="ko-KR" altLang="en-US" b="1" dirty="0">
                <a:latin typeface="나눔고딕" pitchFamily="2" charset="-127"/>
                <a:ea typeface="나눔고딕" pitchFamily="2" charset="-127"/>
              </a:rPr>
              <a:t>메인</a:t>
            </a:r>
          </a:p>
        </p:txBody>
      </p:sp>
    </p:spTree>
    <p:extLst>
      <p:ext uri="{BB962C8B-B14F-4D97-AF65-F5344CB8AC3E}">
        <p14:creationId xmlns:p14="http://schemas.microsoft.com/office/powerpoint/2010/main" val="359204412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A4698C-A8D0-8B87-D886-A206542BA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B57B2982-8DBA-D16D-A655-43C42644A65B}"/>
              </a:ext>
            </a:extLst>
          </p:cNvPr>
          <p:cNvGraphicFramePr>
            <a:graphicFrameLocks noGrp="1"/>
          </p:cNvGraphicFramePr>
          <p:nvPr/>
        </p:nvGraphicFramePr>
        <p:xfrm>
          <a:off x="9182101" y="947377"/>
          <a:ext cx="2795588" cy="1847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1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선택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하늘누리 소개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&gt;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인사말로 이동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684046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선택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하늘누리 소개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&gt;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하늘누리 이야기로 이동</a:t>
                      </a: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723838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3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선택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재단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/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허가 현황으로 이동</a:t>
                      </a: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172599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4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290794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5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922450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6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784800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7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0538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8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199337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9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450365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13B5E5BF-A901-8598-2312-8F5C72942AE6}"/>
              </a:ext>
            </a:extLst>
          </p:cNvPr>
          <p:cNvSpPr/>
          <p:nvPr/>
        </p:nvSpPr>
        <p:spPr>
          <a:xfrm>
            <a:off x="959895" y="375614"/>
            <a:ext cx="377026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</a:pP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메인</a:t>
            </a: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8DAD1512-5961-102F-A3CE-EBC7176E02C8}"/>
              </a:ext>
            </a:extLst>
          </p:cNvPr>
          <p:cNvCxnSpPr>
            <a:cxnSpLocks/>
          </p:cNvCxnSpPr>
          <p:nvPr/>
        </p:nvCxnSpPr>
        <p:spPr>
          <a:xfrm>
            <a:off x="655957" y="1658468"/>
            <a:ext cx="3109526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D811C372-6115-84D3-C95D-EF2DAD898CEE}"/>
              </a:ext>
            </a:extLst>
          </p:cNvPr>
          <p:cNvSpPr txBox="1"/>
          <p:nvPr/>
        </p:nvSpPr>
        <p:spPr>
          <a:xfrm>
            <a:off x="1793778" y="1181491"/>
            <a:ext cx="83388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하늘누리</a:t>
            </a:r>
            <a:endParaRPr lang="en-US" altLang="ko-KR" sz="11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en-US" altLang="ko-KR" sz="11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CI</a:t>
            </a:r>
            <a:endParaRPr lang="ko-KR" altLang="en-US" sz="11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6" name="그림 5" descr="블랙, 어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C25916C-76C9-7CE7-5EEB-1321D327E743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2985" y="1191723"/>
            <a:ext cx="383533" cy="38353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4201DAC-8C45-F826-45D4-056938A823A3}"/>
              </a:ext>
            </a:extLst>
          </p:cNvPr>
          <p:cNvSpPr txBox="1"/>
          <p:nvPr/>
        </p:nvSpPr>
        <p:spPr>
          <a:xfrm>
            <a:off x="2826086" y="1293697"/>
            <a:ext cx="57184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" panose="020D0604000000000000" pitchFamily="50" charset="-127"/>
                <a:ea typeface="나눔고딕" panose="020D0604000000000000" pitchFamily="50" charset="-127"/>
              </a:rPr>
              <a:t>르그아웃</a:t>
            </a:r>
          </a:p>
        </p:txBody>
      </p:sp>
      <p:pic>
        <p:nvPicPr>
          <p:cNvPr id="8" name="Picture 4" descr="로그 아웃 아이콘">
            <a:extLst>
              <a:ext uri="{FF2B5EF4-FFF2-40B4-BE49-F238E27FC236}">
                <a16:creationId xmlns:a16="http://schemas.microsoft.com/office/drawing/2014/main" id="{189611B9-0AFC-A184-1928-F6A5DE8A0A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9631" y="1283929"/>
            <a:ext cx="217049" cy="217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1BFBC68-CC20-FC96-B76A-98607F27F9EE}"/>
              </a:ext>
            </a:extLst>
          </p:cNvPr>
          <p:cNvSpPr txBox="1"/>
          <p:nvPr/>
        </p:nvSpPr>
        <p:spPr>
          <a:xfrm>
            <a:off x="985885" y="1946660"/>
            <a:ext cx="24496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하늘누리</a:t>
            </a:r>
            <a:endParaRPr lang="en-US" altLang="ko-KR" sz="16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ko-KR" altLang="en-US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하늘</a:t>
            </a:r>
            <a:r>
              <a:rPr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 머무는 언덕</a:t>
            </a:r>
            <a:r>
              <a:rPr lang="en-US" altLang="ko-KR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누리</a:t>
            </a:r>
            <a:r>
              <a:rPr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가 펼쳐지는 곳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040790E-F6D6-0BE8-73F5-A0FC481E0D67}"/>
              </a:ext>
            </a:extLst>
          </p:cNvPr>
          <p:cNvSpPr txBox="1"/>
          <p:nvPr/>
        </p:nvSpPr>
        <p:spPr>
          <a:xfrm>
            <a:off x="872298" y="2725879"/>
            <a:ext cx="26586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자연의 품으로 돌아가 영원히 쉬는 곳 </a:t>
            </a:r>
            <a:endParaRPr lang="en-US" altLang="ko-KR" sz="900" b="1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ko-KR" altLang="en-US" sz="9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사계절 아름다움 속에서 고인의 존엄을 지키고 </a:t>
            </a:r>
            <a:endParaRPr lang="en-US" altLang="ko-KR" sz="900" b="1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ko-KR" altLang="en-US" sz="9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사랑하는 이들의 그리움을 위로하는 </a:t>
            </a:r>
            <a:endParaRPr lang="en-US" altLang="ko-KR" sz="900" b="1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ko-KR" altLang="en-US" sz="9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하늘과 땅이 함께하는 성스러운 안식처입니다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0D6F344-2DB4-6712-0726-017B818723FE}"/>
              </a:ext>
            </a:extLst>
          </p:cNvPr>
          <p:cNvSpPr txBox="1"/>
          <p:nvPr/>
        </p:nvSpPr>
        <p:spPr>
          <a:xfrm rot="18950903">
            <a:off x="1686159" y="3789831"/>
            <a:ext cx="103094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IMAGE</a:t>
            </a:r>
            <a:endParaRPr lang="ko-KR" altLang="en-US" sz="16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7243D60-AF02-858F-F2A7-A26E472FAEBD}"/>
              </a:ext>
            </a:extLst>
          </p:cNvPr>
          <p:cNvSpPr txBox="1"/>
          <p:nvPr/>
        </p:nvSpPr>
        <p:spPr>
          <a:xfrm>
            <a:off x="5304143" y="1283929"/>
            <a:ext cx="16567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하늘누리</a:t>
            </a:r>
            <a:r>
              <a:rPr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이야기</a:t>
            </a:r>
            <a:endParaRPr lang="en-US" altLang="ko-KR" sz="9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8A8FF5C-D7B7-4CB5-196C-3D8FB993F44B}"/>
              </a:ext>
            </a:extLst>
          </p:cNvPr>
          <p:cNvSpPr txBox="1"/>
          <p:nvPr/>
        </p:nvSpPr>
        <p:spPr>
          <a:xfrm>
            <a:off x="5286214" y="1746605"/>
            <a:ext cx="1858657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하늘누리는</a:t>
            </a:r>
            <a:endParaRPr lang="en-US" altLang="ko-KR" sz="900" b="1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ko-KR" altLang="en-US" sz="9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하늘이 내린 평화로운 세상에서</a:t>
            </a:r>
            <a:endParaRPr lang="en-US" altLang="ko-KR" sz="900" b="1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ko-KR" altLang="en-US" sz="9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고인께서 편안히 쉬시고</a:t>
            </a:r>
            <a:endParaRPr lang="en-US" altLang="ko-KR" sz="900" b="1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ko-KR" altLang="en-US" sz="9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유가족께 위안을 얻는 성스러운</a:t>
            </a:r>
            <a:endParaRPr lang="en-US" altLang="ko-KR" sz="900" b="1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ko-KR" altLang="en-US" sz="9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안식처입니다</a:t>
            </a:r>
            <a:r>
              <a:rPr lang="en-US" altLang="ko-KR" sz="9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r>
              <a:rPr lang="ko-KR" altLang="en-US" sz="9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09715E9-872C-FB5D-092D-959C82A7D844}"/>
              </a:ext>
            </a:extLst>
          </p:cNvPr>
          <p:cNvSpPr txBox="1"/>
          <p:nvPr/>
        </p:nvSpPr>
        <p:spPr>
          <a:xfrm>
            <a:off x="5246085" y="5291008"/>
            <a:ext cx="254424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하늘누리는 </a:t>
            </a:r>
            <a:endParaRPr lang="en-US" altLang="ko-KR" sz="900" b="1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ko-KR" altLang="en-US" sz="9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죽음을 끝이 아닌 또다른 시작으로 생각합니다</a:t>
            </a:r>
            <a:endParaRPr lang="en-US" altLang="ko-KR" sz="900" b="1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ko-KR" altLang="en-US" sz="9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자연으로 돌아가 영원히 쉬는 곳</a:t>
            </a:r>
            <a:endParaRPr lang="en-US" altLang="ko-KR" sz="900" b="1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ko-KR" altLang="en-US" sz="9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고인의 존엄과 유가족의 평안을 최우선으로</a:t>
            </a:r>
            <a:endParaRPr lang="en-US" altLang="ko-KR" sz="900" b="1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ko-KR" altLang="en-US" sz="9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생각합니다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82E35916-2E4F-9F1F-CD16-744E72F01376}"/>
              </a:ext>
            </a:extLst>
          </p:cNvPr>
          <p:cNvSpPr/>
          <p:nvPr/>
        </p:nvSpPr>
        <p:spPr>
          <a:xfrm>
            <a:off x="6822141" y="4108510"/>
            <a:ext cx="1426485" cy="29292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인사말 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A581EAD5-1A9A-5DBD-6385-03AD9FF565C2}"/>
              </a:ext>
            </a:extLst>
          </p:cNvPr>
          <p:cNvSpPr/>
          <p:nvPr/>
        </p:nvSpPr>
        <p:spPr>
          <a:xfrm>
            <a:off x="6822141" y="4439534"/>
            <a:ext cx="1426485" cy="29292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하늘누리 이야기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56BB47D5-056C-038F-105C-E4B7A9B08090}"/>
              </a:ext>
            </a:extLst>
          </p:cNvPr>
          <p:cNvSpPr/>
          <p:nvPr/>
        </p:nvSpPr>
        <p:spPr>
          <a:xfrm>
            <a:off x="6822141" y="4778607"/>
            <a:ext cx="1426485" cy="29292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재단</a:t>
            </a:r>
            <a:r>
              <a:rPr lang="en-US" altLang="ko-KR" sz="9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9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허가 현황</a:t>
            </a:r>
          </a:p>
        </p:txBody>
      </p:sp>
      <p:pic>
        <p:nvPicPr>
          <p:cNvPr id="21" name="Picture 2" descr="PNG, SVG 형식의 왼쪽을 가리키는 화살표 원형 아이콘">
            <a:extLst>
              <a:ext uri="{FF2B5EF4-FFF2-40B4-BE49-F238E27FC236}">
                <a16:creationId xmlns:a16="http://schemas.microsoft.com/office/drawing/2014/main" id="{DB7B9DAA-01E8-ED81-A5D1-07978C15AA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8000409" y="4165874"/>
            <a:ext cx="172800" cy="172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2" descr="PNG, SVG 형식의 왼쪽을 가리키는 화살표 원형 아이콘">
            <a:extLst>
              <a:ext uri="{FF2B5EF4-FFF2-40B4-BE49-F238E27FC236}">
                <a16:creationId xmlns:a16="http://schemas.microsoft.com/office/drawing/2014/main" id="{E5FF8686-2606-3EA3-5258-45BD1EAC16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8000408" y="4495552"/>
            <a:ext cx="172800" cy="172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2" descr="PNG, SVG 형식의 왼쪽을 가리키는 화살표 원형 아이콘">
            <a:extLst>
              <a:ext uri="{FF2B5EF4-FFF2-40B4-BE49-F238E27FC236}">
                <a16:creationId xmlns:a16="http://schemas.microsoft.com/office/drawing/2014/main" id="{21A6957B-6D98-2CE9-ABEB-142C368407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8000409" y="4844936"/>
            <a:ext cx="172800" cy="172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Oval 109">
            <a:extLst>
              <a:ext uri="{FF2B5EF4-FFF2-40B4-BE49-F238E27FC236}">
                <a16:creationId xmlns:a16="http://schemas.microsoft.com/office/drawing/2014/main" id="{D2027D82-D015-4B8F-AB5A-16088A60FF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5741" y="3919182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1</a:t>
            </a:r>
          </a:p>
        </p:txBody>
      </p:sp>
      <p:sp>
        <p:nvSpPr>
          <p:cNvPr id="26" name="Oval 109">
            <a:extLst>
              <a:ext uri="{FF2B5EF4-FFF2-40B4-BE49-F238E27FC236}">
                <a16:creationId xmlns:a16="http://schemas.microsoft.com/office/drawing/2014/main" id="{570DBA45-17D0-68E2-5188-25CEF57704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5741" y="4403345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2</a:t>
            </a:r>
          </a:p>
        </p:txBody>
      </p:sp>
      <p:sp>
        <p:nvSpPr>
          <p:cNvPr id="27" name="Oval 109">
            <a:extLst>
              <a:ext uri="{FF2B5EF4-FFF2-40B4-BE49-F238E27FC236}">
                <a16:creationId xmlns:a16="http://schemas.microsoft.com/office/drawing/2014/main" id="{09EA056D-EF2A-57C2-14B1-7F7D521508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5741" y="4778607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201F64F-FB10-C502-96B8-0D6D2E7C30F4}"/>
              </a:ext>
            </a:extLst>
          </p:cNvPr>
          <p:cNvSpPr txBox="1"/>
          <p:nvPr/>
        </p:nvSpPr>
        <p:spPr>
          <a:xfrm rot="18950903">
            <a:off x="6306669" y="3212203"/>
            <a:ext cx="103094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IMAGE</a:t>
            </a:r>
            <a:endParaRPr lang="ko-KR" altLang="en-US" sz="16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83483EB4-F7A9-769F-4E86-7E0B022E0215}"/>
              </a:ext>
            </a:extLst>
          </p:cNvPr>
          <p:cNvSpPr/>
          <p:nvPr/>
        </p:nvSpPr>
        <p:spPr>
          <a:xfrm>
            <a:off x="6034793" y="138005"/>
            <a:ext cx="877163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</a:pP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HN_Main_001</a:t>
            </a:r>
            <a:endParaRPr kumimoji="1" lang="ko-KR" altLang="en-US" sz="800" dirty="0">
              <a:latin typeface="나눔고딕" pitchFamily="50" charset="-127"/>
              <a:ea typeface="나눔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11957245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180BF4-0C24-6E89-4EB6-93F9078A31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3D3495C0-762C-50E2-5CA1-BA7C552D7B2F}"/>
              </a:ext>
            </a:extLst>
          </p:cNvPr>
          <p:cNvGraphicFramePr>
            <a:graphicFrameLocks noGrp="1"/>
          </p:cNvGraphicFramePr>
          <p:nvPr/>
        </p:nvGraphicFramePr>
        <p:xfrm>
          <a:off x="9182101" y="947377"/>
          <a:ext cx="2795588" cy="1847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1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선택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시설안내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&gt;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봉안당 화면으로 이동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684046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선택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시설안내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&gt;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자연장 화면으로 이동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723838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3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172599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4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290794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5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922450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6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784800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7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0538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8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199337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9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450365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2845A457-22DA-6269-ADEF-A6BB5CE89D10}"/>
              </a:ext>
            </a:extLst>
          </p:cNvPr>
          <p:cNvSpPr txBox="1"/>
          <p:nvPr/>
        </p:nvSpPr>
        <p:spPr>
          <a:xfrm rot="18950903">
            <a:off x="1686159" y="3789831"/>
            <a:ext cx="103094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IMAGE</a:t>
            </a:r>
            <a:endParaRPr lang="ko-KR" altLang="en-US" sz="16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8FADA0B-44FB-828E-8CBF-FFC036DBE984}"/>
              </a:ext>
            </a:extLst>
          </p:cNvPr>
          <p:cNvSpPr txBox="1"/>
          <p:nvPr/>
        </p:nvSpPr>
        <p:spPr>
          <a:xfrm>
            <a:off x="742316" y="1204177"/>
            <a:ext cx="14540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하늘누리</a:t>
            </a:r>
            <a:r>
              <a:rPr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시설</a:t>
            </a:r>
            <a:endParaRPr lang="en-US" altLang="ko-KR" sz="9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B99AD0D-8182-168E-7879-49760C9A2A8F}"/>
              </a:ext>
            </a:extLst>
          </p:cNvPr>
          <p:cNvSpPr txBox="1"/>
          <p:nvPr/>
        </p:nvSpPr>
        <p:spPr>
          <a:xfrm>
            <a:off x="1172855" y="1725833"/>
            <a:ext cx="20469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봉안당</a:t>
            </a:r>
            <a:endParaRPr lang="en-US" altLang="ko-KR" sz="14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하늘누리관</a:t>
            </a:r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4C76834-7A3D-9329-882B-6991BC350142}"/>
              </a:ext>
            </a:extLst>
          </p:cNvPr>
          <p:cNvSpPr txBox="1"/>
          <p:nvPr/>
        </p:nvSpPr>
        <p:spPr>
          <a:xfrm>
            <a:off x="821759" y="2627587"/>
            <a:ext cx="27491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하늘누리관은 단순한 봉안시설이 아닙니다</a:t>
            </a:r>
            <a:endParaRPr lang="en-US" altLang="ko-KR" sz="900" b="1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ko-KR" altLang="en-US" sz="9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고인께서는 평안을 얻으시고 </a:t>
            </a:r>
            <a:endParaRPr lang="en-US" altLang="ko-KR" sz="900" b="1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ko-KR" altLang="en-US" sz="9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유가족께서는 위안을 받으시는</a:t>
            </a:r>
            <a:endParaRPr lang="en-US" altLang="ko-KR" sz="900" b="1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ko-KR" altLang="en-US" sz="9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하늘과 땅이 함께하는 성스러운 안식처입니다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AF709DE-E6F9-E7DB-6C18-BB763B234E39}"/>
              </a:ext>
            </a:extLst>
          </p:cNvPr>
          <p:cNvSpPr txBox="1"/>
          <p:nvPr/>
        </p:nvSpPr>
        <p:spPr>
          <a:xfrm>
            <a:off x="1024936" y="2285214"/>
            <a:ext cx="23428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천년을 이어갈 품격의 공간</a:t>
            </a:r>
            <a:endParaRPr lang="en-US" altLang="ko-KR" sz="1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08A4680F-206B-FD54-E4FA-D16A12D69BF6}"/>
              </a:ext>
            </a:extLst>
          </p:cNvPr>
          <p:cNvSpPr/>
          <p:nvPr/>
        </p:nvSpPr>
        <p:spPr>
          <a:xfrm>
            <a:off x="1559858" y="4662721"/>
            <a:ext cx="1426485" cy="29292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봉안당 </a:t>
            </a:r>
          </a:p>
        </p:txBody>
      </p:sp>
      <p:pic>
        <p:nvPicPr>
          <p:cNvPr id="29" name="Picture 2" descr="PNG, SVG 형식의 왼쪽을 가리키는 화살표 원형 아이콘">
            <a:extLst>
              <a:ext uri="{FF2B5EF4-FFF2-40B4-BE49-F238E27FC236}">
                <a16:creationId xmlns:a16="http://schemas.microsoft.com/office/drawing/2014/main" id="{306160D0-5C4F-327D-0AC1-0608DDA322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2738126" y="4720085"/>
            <a:ext cx="172800" cy="172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598E00C6-A9C1-704C-09C2-9B9583DBB3CE}"/>
              </a:ext>
            </a:extLst>
          </p:cNvPr>
          <p:cNvSpPr txBox="1"/>
          <p:nvPr/>
        </p:nvSpPr>
        <p:spPr>
          <a:xfrm>
            <a:off x="5712244" y="1725833"/>
            <a:ext cx="20469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자연장</a:t>
            </a:r>
          </a:p>
          <a:p>
            <a:pPr algn="ctr"/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수목장</a:t>
            </a:r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0D18B88-2D87-DBF8-8947-3418EAE85B33}"/>
              </a:ext>
            </a:extLst>
          </p:cNvPr>
          <p:cNvSpPr txBox="1"/>
          <p:nvPr/>
        </p:nvSpPr>
        <p:spPr>
          <a:xfrm>
            <a:off x="5361148" y="2627587"/>
            <a:ext cx="27491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생명은 자연에서 태어나 자연으로 돌아갑니다</a:t>
            </a:r>
          </a:p>
          <a:p>
            <a:pPr algn="ctr"/>
            <a:r>
              <a:rPr lang="ko-KR" altLang="en-US" sz="9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하늘누리 수목장은 이 숭고한 진리를 따라</a:t>
            </a:r>
          </a:p>
          <a:p>
            <a:pPr algn="ctr"/>
            <a:r>
              <a:rPr lang="ko-KR" altLang="en-US" sz="9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고인께서 자연과 하나 되어 쉬시는</a:t>
            </a:r>
          </a:p>
          <a:p>
            <a:pPr algn="ctr"/>
            <a:r>
              <a:rPr lang="ko-KR" altLang="en-US" sz="9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가장 아름다운 안장 방식 입니다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A39CEB9-11B7-4DC3-79AD-21D073C82621}"/>
              </a:ext>
            </a:extLst>
          </p:cNvPr>
          <p:cNvSpPr txBox="1"/>
          <p:nvPr/>
        </p:nvSpPr>
        <p:spPr>
          <a:xfrm>
            <a:off x="5564325" y="2285214"/>
            <a:ext cx="23428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자연으로 돌아가는 아름다운 여정</a:t>
            </a:r>
          </a:p>
        </p:txBody>
      </p:sp>
      <p:sp>
        <p:nvSpPr>
          <p:cNvPr id="24" name="Oval 109">
            <a:extLst>
              <a:ext uri="{FF2B5EF4-FFF2-40B4-BE49-F238E27FC236}">
                <a16:creationId xmlns:a16="http://schemas.microsoft.com/office/drawing/2014/main" id="{E2AAA54C-0469-E037-F640-7BD4AB6209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69334" y="4474082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1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B2024ED6-F7AA-5500-8654-BE7F2DD0CC49}"/>
              </a:ext>
            </a:extLst>
          </p:cNvPr>
          <p:cNvSpPr/>
          <p:nvPr/>
        </p:nvSpPr>
        <p:spPr>
          <a:xfrm>
            <a:off x="6096000" y="4646882"/>
            <a:ext cx="1426485" cy="29292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자연장 </a:t>
            </a:r>
          </a:p>
        </p:txBody>
      </p:sp>
      <p:pic>
        <p:nvPicPr>
          <p:cNvPr id="34" name="Picture 2" descr="PNG, SVG 형식의 왼쪽을 가리키는 화살표 원형 아이콘">
            <a:extLst>
              <a:ext uri="{FF2B5EF4-FFF2-40B4-BE49-F238E27FC236}">
                <a16:creationId xmlns:a16="http://schemas.microsoft.com/office/drawing/2014/main" id="{748A0134-6051-B335-2CCC-DA3C2B4A71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7274268" y="4704246"/>
            <a:ext cx="172800" cy="172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5" name="Oval 109">
            <a:extLst>
              <a:ext uri="{FF2B5EF4-FFF2-40B4-BE49-F238E27FC236}">
                <a16:creationId xmlns:a16="http://schemas.microsoft.com/office/drawing/2014/main" id="{04D3D652-44D9-9855-FF4C-D07B48B57B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46113" y="4489921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2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EACBE0E4-92F5-7628-2E32-933C1229AB3F}"/>
              </a:ext>
            </a:extLst>
          </p:cNvPr>
          <p:cNvSpPr/>
          <p:nvPr/>
        </p:nvSpPr>
        <p:spPr>
          <a:xfrm>
            <a:off x="959895" y="375614"/>
            <a:ext cx="377026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</a:pP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메인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1A7F4978-6DBE-B294-B8FF-5BE4D2AC6C89}"/>
              </a:ext>
            </a:extLst>
          </p:cNvPr>
          <p:cNvSpPr/>
          <p:nvPr/>
        </p:nvSpPr>
        <p:spPr>
          <a:xfrm>
            <a:off x="6034793" y="138005"/>
            <a:ext cx="877163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</a:pP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HN_Main_001</a:t>
            </a:r>
            <a:endParaRPr kumimoji="1" lang="ko-KR" altLang="en-US" sz="800" dirty="0">
              <a:latin typeface="나눔고딕" pitchFamily="50" charset="-127"/>
              <a:ea typeface="나눔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78347422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AF7DE4-87D2-3390-60AB-D092DE9C48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7BC930F3-1977-0FF5-CB03-CB66C1DAB59B}"/>
              </a:ext>
            </a:extLst>
          </p:cNvPr>
          <p:cNvGraphicFramePr>
            <a:graphicFrameLocks noGrp="1"/>
          </p:cNvGraphicFramePr>
          <p:nvPr/>
        </p:nvGraphicFramePr>
        <p:xfrm>
          <a:off x="9182101" y="947377"/>
          <a:ext cx="2795588" cy="1847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1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선택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분양안내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&gt;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분양절차 화면으로 이동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684046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선택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분양안내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&gt;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분양가격 화면으로 이동</a:t>
                      </a: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723838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3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선택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분양안내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&gt;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사전청약 화면으로 이동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172599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4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290794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5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922450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6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784800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7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0538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8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199337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9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450365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A3990044-CDBD-E997-9434-7762FFDD49EB}"/>
              </a:ext>
            </a:extLst>
          </p:cNvPr>
          <p:cNvSpPr txBox="1"/>
          <p:nvPr/>
        </p:nvSpPr>
        <p:spPr>
          <a:xfrm rot="18950903">
            <a:off x="1686159" y="3789831"/>
            <a:ext cx="103094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IMAGE</a:t>
            </a:r>
            <a:endParaRPr lang="ko-KR" altLang="en-US" sz="16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8FE42A2-BF8F-0142-6A71-E3D26C2B1034}"/>
              </a:ext>
            </a:extLst>
          </p:cNvPr>
          <p:cNvSpPr txBox="1"/>
          <p:nvPr/>
        </p:nvSpPr>
        <p:spPr>
          <a:xfrm>
            <a:off x="742316" y="1204177"/>
            <a:ext cx="14540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하늘누리</a:t>
            </a:r>
            <a:r>
              <a:rPr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분양안내</a:t>
            </a:r>
            <a:endParaRPr lang="en-US" altLang="ko-KR" sz="9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E62160-38A0-3A53-1AAA-B2A2CA766BBB}"/>
              </a:ext>
            </a:extLst>
          </p:cNvPr>
          <p:cNvSpPr txBox="1"/>
          <p:nvPr/>
        </p:nvSpPr>
        <p:spPr>
          <a:xfrm>
            <a:off x="709764" y="1620168"/>
            <a:ext cx="21680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영원을 준비하는 가장 현명한 선택</a:t>
            </a:r>
            <a:endParaRPr lang="en-US" altLang="ko-KR" sz="900" b="1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ko-KR" altLang="en-US" sz="9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생의 마지막 순간까지 품격을 지키며</a:t>
            </a:r>
            <a:endParaRPr lang="en-US" altLang="ko-KR" sz="900" b="1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ko-KR" altLang="en-US" sz="9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사랑하는 가족에게 평안을 선물하는</a:t>
            </a:r>
            <a:endParaRPr lang="en-US" altLang="ko-KR" sz="900" b="1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ko-KR" altLang="en-US" sz="9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하늘누리에서 영원을 약속 받으세요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F6958CF-0486-2CE3-F214-F4103784C1A7}"/>
              </a:ext>
            </a:extLst>
          </p:cNvPr>
          <p:cNvSpPr/>
          <p:nvPr/>
        </p:nvSpPr>
        <p:spPr>
          <a:xfrm>
            <a:off x="1409701" y="3073623"/>
            <a:ext cx="732257" cy="50563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봉안당</a:t>
            </a:r>
            <a:endParaRPr lang="en-US" altLang="ko-KR" sz="1000" b="1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en-US" altLang="ko-KR" sz="1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Standard</a:t>
            </a:r>
            <a:r>
              <a:rPr lang="ko-KR" altLang="en-US" sz="1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2A60CF7-C192-9B6E-DB37-BEE71F8E1A26}"/>
              </a:ext>
            </a:extLst>
          </p:cNvPr>
          <p:cNvSpPr/>
          <p:nvPr/>
        </p:nvSpPr>
        <p:spPr>
          <a:xfrm>
            <a:off x="2196353" y="3073623"/>
            <a:ext cx="732257" cy="50563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봉안당</a:t>
            </a:r>
            <a:endParaRPr lang="en-US" altLang="ko-KR" sz="1000" b="1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en-US" altLang="ko-KR" sz="1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Premium</a:t>
            </a:r>
            <a:endParaRPr lang="ko-KR" altLang="en-US" sz="1000" b="1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F79622E-3E3A-70C1-F455-0CD0E5D59885}"/>
              </a:ext>
            </a:extLst>
          </p:cNvPr>
          <p:cNvSpPr/>
          <p:nvPr/>
        </p:nvSpPr>
        <p:spPr>
          <a:xfrm>
            <a:off x="2991968" y="3073623"/>
            <a:ext cx="732257" cy="50563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수목장</a:t>
            </a:r>
            <a:endParaRPr lang="en-US" altLang="ko-KR" sz="1000" b="1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en-US" altLang="ko-KR" sz="1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Nature</a:t>
            </a:r>
            <a:endParaRPr lang="ko-KR" altLang="en-US" sz="1000" b="1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FDAB452-EE1F-16E0-0D98-34F3F3F89ABE}"/>
              </a:ext>
            </a:extLst>
          </p:cNvPr>
          <p:cNvSpPr txBox="1"/>
          <p:nvPr/>
        </p:nvSpPr>
        <p:spPr>
          <a:xfrm>
            <a:off x="1343891" y="2794753"/>
            <a:ext cx="205259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세가지 선택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하나의 마음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60A52FE-8AD3-3638-CFEF-8527C7107244}"/>
              </a:ext>
            </a:extLst>
          </p:cNvPr>
          <p:cNvSpPr/>
          <p:nvPr/>
        </p:nvSpPr>
        <p:spPr>
          <a:xfrm>
            <a:off x="2141958" y="4893574"/>
            <a:ext cx="1426485" cy="29292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분양절차 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205C1AB-B2A9-A29C-4102-9E921F9280F4}"/>
              </a:ext>
            </a:extLst>
          </p:cNvPr>
          <p:cNvSpPr/>
          <p:nvPr/>
        </p:nvSpPr>
        <p:spPr>
          <a:xfrm>
            <a:off x="2141958" y="5224598"/>
            <a:ext cx="1426485" cy="29292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분양가격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4AC7745-2DD0-F9BA-E9F6-51904051253C}"/>
              </a:ext>
            </a:extLst>
          </p:cNvPr>
          <p:cNvSpPr/>
          <p:nvPr/>
        </p:nvSpPr>
        <p:spPr>
          <a:xfrm>
            <a:off x="2141958" y="5563671"/>
            <a:ext cx="1426485" cy="29292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사전청약 혜택</a:t>
            </a:r>
          </a:p>
        </p:txBody>
      </p:sp>
      <p:pic>
        <p:nvPicPr>
          <p:cNvPr id="16" name="Picture 2" descr="PNG, SVG 형식의 왼쪽을 가리키는 화살표 원형 아이콘">
            <a:extLst>
              <a:ext uri="{FF2B5EF4-FFF2-40B4-BE49-F238E27FC236}">
                <a16:creationId xmlns:a16="http://schemas.microsoft.com/office/drawing/2014/main" id="{E289DC69-7DEF-E250-28AC-D611673A9D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3320226" y="4950938"/>
            <a:ext cx="172800" cy="172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2" descr="PNG, SVG 형식의 왼쪽을 가리키는 화살표 원형 아이콘">
            <a:extLst>
              <a:ext uri="{FF2B5EF4-FFF2-40B4-BE49-F238E27FC236}">
                <a16:creationId xmlns:a16="http://schemas.microsoft.com/office/drawing/2014/main" id="{7B4CAB02-EF84-0A6D-052B-D0019D4921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3320225" y="5280616"/>
            <a:ext cx="172800" cy="172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2" descr="PNG, SVG 형식의 왼쪽을 가리키는 화살표 원형 아이콘">
            <a:extLst>
              <a:ext uri="{FF2B5EF4-FFF2-40B4-BE49-F238E27FC236}">
                <a16:creationId xmlns:a16="http://schemas.microsoft.com/office/drawing/2014/main" id="{107983D2-09DB-24B4-FC01-98CA2B8D54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3320226" y="5630000"/>
            <a:ext cx="172800" cy="172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Oval 109">
            <a:extLst>
              <a:ext uri="{FF2B5EF4-FFF2-40B4-BE49-F238E27FC236}">
                <a16:creationId xmlns:a16="http://schemas.microsoft.com/office/drawing/2014/main" id="{550545CB-648C-2DAE-F343-90AF5CC7F7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5558" y="4704246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1</a:t>
            </a:r>
          </a:p>
        </p:txBody>
      </p:sp>
      <p:sp>
        <p:nvSpPr>
          <p:cNvPr id="20" name="Oval 109">
            <a:extLst>
              <a:ext uri="{FF2B5EF4-FFF2-40B4-BE49-F238E27FC236}">
                <a16:creationId xmlns:a16="http://schemas.microsoft.com/office/drawing/2014/main" id="{EB7F8736-403E-8CE6-E6BD-2768AE2772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5558" y="5188409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2</a:t>
            </a:r>
          </a:p>
        </p:txBody>
      </p:sp>
      <p:sp>
        <p:nvSpPr>
          <p:cNvPr id="21" name="Oval 109">
            <a:extLst>
              <a:ext uri="{FF2B5EF4-FFF2-40B4-BE49-F238E27FC236}">
                <a16:creationId xmlns:a16="http://schemas.microsoft.com/office/drawing/2014/main" id="{2618454C-F3E6-63ED-896E-28B68C3554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5558" y="5563671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A827031-8F1E-70D2-606B-BC2018383163}"/>
              </a:ext>
            </a:extLst>
          </p:cNvPr>
          <p:cNvSpPr txBox="1"/>
          <p:nvPr/>
        </p:nvSpPr>
        <p:spPr>
          <a:xfrm>
            <a:off x="5300232" y="1204177"/>
            <a:ext cx="20777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하늘누리</a:t>
            </a:r>
            <a:r>
              <a:rPr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오시는 길</a:t>
            </a:r>
            <a:endParaRPr lang="en-US" altLang="ko-KR" sz="9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153EE77-8180-52A8-6306-5DBE77D7B2FF}"/>
              </a:ext>
            </a:extLst>
          </p:cNvPr>
          <p:cNvSpPr txBox="1"/>
          <p:nvPr/>
        </p:nvSpPr>
        <p:spPr>
          <a:xfrm>
            <a:off x="5300232" y="1620168"/>
            <a:ext cx="28936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하늘누리로 오시는 길</a:t>
            </a:r>
            <a:endParaRPr lang="en-US" altLang="ko-KR" sz="900" b="1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ko-KR" altLang="en-US" sz="9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사랑하는 이를 만나러 가능 여정</a:t>
            </a: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259EC2B4-4634-997B-C071-B9596464F4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6498" y="2105009"/>
            <a:ext cx="3091715" cy="2987533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46CEADBF-8A79-191F-A614-599DB1F9CD55}"/>
              </a:ext>
            </a:extLst>
          </p:cNvPr>
          <p:cNvSpPr txBox="1"/>
          <p:nvPr/>
        </p:nvSpPr>
        <p:spPr>
          <a:xfrm>
            <a:off x="5236498" y="5108248"/>
            <a:ext cx="30917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운영시간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연중무휴 오전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09:00 ~ </a:t>
            </a:r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오후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18 :00</a:t>
            </a:r>
          </a:p>
          <a:p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주소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경기도 양주시 산북동 산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67-20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2E00E663-FA20-B73F-0F1E-2DE9F6801B73}"/>
              </a:ext>
            </a:extLst>
          </p:cNvPr>
          <p:cNvSpPr/>
          <p:nvPr/>
        </p:nvSpPr>
        <p:spPr>
          <a:xfrm>
            <a:off x="5236497" y="5520867"/>
            <a:ext cx="3091715" cy="40011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대표전화   </a:t>
            </a:r>
            <a:r>
              <a:rPr lang="en-US" altLang="ko-KR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031-999-9999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64905175-53B0-40D3-06E5-AC526F7C11CE}"/>
              </a:ext>
            </a:extLst>
          </p:cNvPr>
          <p:cNvSpPr/>
          <p:nvPr/>
        </p:nvSpPr>
        <p:spPr>
          <a:xfrm>
            <a:off x="5236497" y="5920978"/>
            <a:ext cx="3091715" cy="264669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Footer</a:t>
            </a:r>
            <a:endParaRPr lang="ko-KR" altLang="en-US" sz="10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2694FA60-32F1-4316-4374-C519AD44A7F6}"/>
              </a:ext>
            </a:extLst>
          </p:cNvPr>
          <p:cNvSpPr/>
          <p:nvPr/>
        </p:nvSpPr>
        <p:spPr>
          <a:xfrm>
            <a:off x="959895" y="375614"/>
            <a:ext cx="377026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</a:pP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메인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57F0E0CA-EED9-14CB-7F06-88E5BCA15F12}"/>
              </a:ext>
            </a:extLst>
          </p:cNvPr>
          <p:cNvSpPr/>
          <p:nvPr/>
        </p:nvSpPr>
        <p:spPr>
          <a:xfrm>
            <a:off x="6034793" y="138005"/>
            <a:ext cx="877163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</a:pP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HN_Main_001</a:t>
            </a:r>
            <a:endParaRPr kumimoji="1" lang="ko-KR" altLang="en-US" sz="800" dirty="0">
              <a:latin typeface="나눔고딕" pitchFamily="50" charset="-127"/>
              <a:ea typeface="나눔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3534354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E64165-732A-09E9-5C19-15132EE002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BAC85FB-899E-BEC8-F8B4-4C2351BA6B13}"/>
              </a:ext>
            </a:extLst>
          </p:cNvPr>
          <p:cNvSpPr txBox="1"/>
          <p:nvPr/>
        </p:nvSpPr>
        <p:spPr>
          <a:xfrm>
            <a:off x="1047750" y="2476500"/>
            <a:ext cx="2390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나눔고딕" pitchFamily="2" charset="-127"/>
                <a:ea typeface="나눔고딕" pitchFamily="2" charset="-127"/>
              </a:rPr>
              <a:t>02. </a:t>
            </a:r>
            <a:r>
              <a:rPr lang="ko-KR" altLang="en-US" b="1" dirty="0">
                <a:latin typeface="나눔고딕" pitchFamily="2" charset="-127"/>
                <a:ea typeface="나눔고딕" pitchFamily="2" charset="-127"/>
              </a:rPr>
              <a:t>회원가입</a:t>
            </a:r>
          </a:p>
        </p:txBody>
      </p:sp>
    </p:spTree>
    <p:extLst>
      <p:ext uri="{BB962C8B-B14F-4D97-AF65-F5344CB8AC3E}">
        <p14:creationId xmlns:p14="http://schemas.microsoft.com/office/powerpoint/2010/main" val="1400698609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AC2EF8-3774-7445-0BC4-5708E30F6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B91E9091-5844-23E8-A837-A227C202A9FD}"/>
              </a:ext>
            </a:extLst>
          </p:cNvPr>
          <p:cNvGraphicFramePr>
            <a:graphicFrameLocks noGrp="1"/>
          </p:cNvGraphicFramePr>
          <p:nvPr/>
        </p:nvGraphicFramePr>
        <p:xfrm>
          <a:off x="9182101" y="947377"/>
          <a:ext cx="2795588" cy="22130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1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체크시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서비스 이용약관 동의 처리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684046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체크시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개인정보 처리방침 동의 처리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723838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3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체크시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서비스 이용약관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개인정보 처리방침 동시 동의 처리</a:t>
                      </a: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172599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4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약관 동의 후 다음 선택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본인인증 화면으로 이동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모두 동의선택하지 않은 상태에서 다음 버튼 선택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알럿화면 노출</a:t>
                      </a: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290794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5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922450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6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784800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7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0538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8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199337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9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450365"/>
                  </a:ext>
                </a:extLst>
              </a:tr>
            </a:tbl>
          </a:graphicData>
        </a:graphic>
      </p:graphicFrame>
      <p:sp>
        <p:nvSpPr>
          <p:cNvPr id="3" name="직사각형 2"/>
          <p:cNvSpPr/>
          <p:nvPr/>
        </p:nvSpPr>
        <p:spPr>
          <a:xfrm>
            <a:off x="959895" y="375614"/>
            <a:ext cx="875561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</a:pP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메인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회원가입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03996" y="123825"/>
            <a:ext cx="17303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HN_Join_001</a:t>
            </a:r>
            <a:endParaRPr lang="ko-KR" altLang="en-US" sz="800" dirty="0"/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0D1EA853-E71F-17A1-E902-ACADB4B97508}"/>
              </a:ext>
            </a:extLst>
          </p:cNvPr>
          <p:cNvCxnSpPr>
            <a:cxnSpLocks/>
          </p:cNvCxnSpPr>
          <p:nvPr/>
        </p:nvCxnSpPr>
        <p:spPr>
          <a:xfrm>
            <a:off x="655957" y="1658468"/>
            <a:ext cx="3109526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48671D6E-2703-26C1-2423-7107799470CE}"/>
              </a:ext>
            </a:extLst>
          </p:cNvPr>
          <p:cNvSpPr txBox="1"/>
          <p:nvPr/>
        </p:nvSpPr>
        <p:spPr>
          <a:xfrm>
            <a:off x="1793778" y="1181491"/>
            <a:ext cx="83388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하늘누리</a:t>
            </a:r>
            <a:endParaRPr lang="en-US" altLang="ko-KR" sz="11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en-US" altLang="ko-KR" sz="11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CI</a:t>
            </a:r>
            <a:endParaRPr lang="ko-KR" altLang="en-US" sz="11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15" name="그림 14" descr="블랙, 어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21EC01D-BBBC-FDFE-1F23-D57AF35818B4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2985" y="1191723"/>
            <a:ext cx="383533" cy="383533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19475EFB-F6F0-BBBF-BD1C-1DD4DBA47F4C}"/>
              </a:ext>
            </a:extLst>
          </p:cNvPr>
          <p:cNvSpPr txBox="1"/>
          <p:nvPr/>
        </p:nvSpPr>
        <p:spPr>
          <a:xfrm>
            <a:off x="2826086" y="1293697"/>
            <a:ext cx="57184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" panose="020D0604000000000000" pitchFamily="50" charset="-127"/>
                <a:ea typeface="나눔고딕" panose="020D0604000000000000" pitchFamily="50" charset="-127"/>
              </a:rPr>
              <a:t>르그아웃</a:t>
            </a:r>
          </a:p>
        </p:txBody>
      </p:sp>
      <p:pic>
        <p:nvPicPr>
          <p:cNvPr id="21" name="Picture 4" descr="로그 아웃 아이콘">
            <a:extLst>
              <a:ext uri="{FF2B5EF4-FFF2-40B4-BE49-F238E27FC236}">
                <a16:creationId xmlns:a16="http://schemas.microsoft.com/office/drawing/2014/main" id="{825DBE52-C5CB-B862-D821-D66665991A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9631" y="1283929"/>
            <a:ext cx="217049" cy="217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E7D4338E-F048-B825-E2D8-C962634B376A}"/>
              </a:ext>
            </a:extLst>
          </p:cNvPr>
          <p:cNvSpPr txBox="1"/>
          <p:nvPr/>
        </p:nvSpPr>
        <p:spPr>
          <a:xfrm>
            <a:off x="1474758" y="1735412"/>
            <a:ext cx="16276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회원가입</a:t>
            </a:r>
            <a:endParaRPr lang="en-US" altLang="ko-KR" sz="16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6BA80A8-82AC-6926-33D6-24D940568D4D}"/>
              </a:ext>
            </a:extLst>
          </p:cNvPr>
          <p:cNvSpPr txBox="1"/>
          <p:nvPr/>
        </p:nvSpPr>
        <p:spPr>
          <a:xfrm>
            <a:off x="959895" y="2150909"/>
            <a:ext cx="26625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회원가입을 하시면 하늘편지와 같은 온라인 추모관 및 다양한 서비스를 이용하실 수 있습니다</a:t>
            </a:r>
            <a:r>
              <a:rPr lang="en-US" altLang="ko-KR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9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4" name="오른쪽 화살표 15">
            <a:extLst>
              <a:ext uri="{FF2B5EF4-FFF2-40B4-BE49-F238E27FC236}">
                <a16:creationId xmlns:a16="http://schemas.microsoft.com/office/drawing/2014/main" id="{8987583B-0EE6-F24C-824F-497E67115A44}"/>
              </a:ext>
            </a:extLst>
          </p:cNvPr>
          <p:cNvSpPr/>
          <p:nvPr/>
        </p:nvSpPr>
        <p:spPr>
          <a:xfrm>
            <a:off x="774390" y="2705048"/>
            <a:ext cx="729858" cy="303151"/>
          </a:xfrm>
          <a:prstGeom prst="rightArrow">
            <a:avLst>
              <a:gd name="adj1" fmla="val 100000"/>
              <a:gd name="adj2" fmla="val 50000"/>
            </a:avLst>
          </a:prstGeom>
          <a:solidFill>
            <a:schemeClr val="tx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>
                <a:solidFill>
                  <a:schemeClr val="bg1">
                    <a:lumMod val="9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1. </a:t>
            </a:r>
            <a:r>
              <a:rPr lang="ko-KR" altLang="en-US" sz="900" b="1" dirty="0">
                <a:solidFill>
                  <a:schemeClr val="bg1">
                    <a:lumMod val="9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약관동의</a:t>
            </a:r>
          </a:p>
        </p:txBody>
      </p:sp>
      <p:sp>
        <p:nvSpPr>
          <p:cNvPr id="26" name="오른쪽 화살표 44">
            <a:extLst>
              <a:ext uri="{FF2B5EF4-FFF2-40B4-BE49-F238E27FC236}">
                <a16:creationId xmlns:a16="http://schemas.microsoft.com/office/drawing/2014/main" id="{538396FC-5E4E-4F6C-889A-A76BCB402CBF}"/>
              </a:ext>
            </a:extLst>
          </p:cNvPr>
          <p:cNvSpPr/>
          <p:nvPr/>
        </p:nvSpPr>
        <p:spPr>
          <a:xfrm>
            <a:off x="1540687" y="2705048"/>
            <a:ext cx="729858" cy="303151"/>
          </a:xfrm>
          <a:prstGeom prst="rightArrow">
            <a:avLst>
              <a:gd name="adj1" fmla="val 100000"/>
              <a:gd name="adj2" fmla="val 50000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2. </a:t>
            </a:r>
            <a:r>
              <a:rPr lang="ko-KR" altLang="en-US" sz="9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본인인증</a:t>
            </a:r>
          </a:p>
        </p:txBody>
      </p:sp>
      <p:sp>
        <p:nvSpPr>
          <p:cNvPr id="27" name="오른쪽 화살표 45">
            <a:extLst>
              <a:ext uri="{FF2B5EF4-FFF2-40B4-BE49-F238E27FC236}">
                <a16:creationId xmlns:a16="http://schemas.microsoft.com/office/drawing/2014/main" id="{A20220B1-049A-D650-9EEC-117996CADA39}"/>
              </a:ext>
            </a:extLst>
          </p:cNvPr>
          <p:cNvSpPr/>
          <p:nvPr/>
        </p:nvSpPr>
        <p:spPr>
          <a:xfrm>
            <a:off x="2295915" y="2705048"/>
            <a:ext cx="729858" cy="303151"/>
          </a:xfrm>
          <a:prstGeom prst="rightArrow">
            <a:avLst>
              <a:gd name="adj1" fmla="val 100000"/>
              <a:gd name="adj2" fmla="val 50000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3. </a:t>
            </a:r>
            <a:r>
              <a:rPr lang="ko-KR" altLang="en-US" sz="9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정보입력</a:t>
            </a:r>
          </a:p>
        </p:txBody>
      </p:sp>
      <p:sp>
        <p:nvSpPr>
          <p:cNvPr id="28" name="오른쪽 화살표 46">
            <a:extLst>
              <a:ext uri="{FF2B5EF4-FFF2-40B4-BE49-F238E27FC236}">
                <a16:creationId xmlns:a16="http://schemas.microsoft.com/office/drawing/2014/main" id="{59212F7F-4DE0-49E3-5277-6D2BB03CA9FA}"/>
              </a:ext>
            </a:extLst>
          </p:cNvPr>
          <p:cNvSpPr/>
          <p:nvPr/>
        </p:nvSpPr>
        <p:spPr>
          <a:xfrm>
            <a:off x="3053249" y="2705048"/>
            <a:ext cx="729858" cy="303151"/>
          </a:xfrm>
          <a:prstGeom prst="rightArrow">
            <a:avLst>
              <a:gd name="adj1" fmla="val 100000"/>
              <a:gd name="adj2" fmla="val 50000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4. </a:t>
            </a:r>
            <a:r>
              <a:rPr lang="ko-KR" altLang="en-US" sz="9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가입완료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EAEE8A2-4B12-3811-C127-AB9F8C3E1D54}"/>
              </a:ext>
            </a:extLst>
          </p:cNvPr>
          <p:cNvSpPr txBox="1"/>
          <p:nvPr/>
        </p:nvSpPr>
        <p:spPr>
          <a:xfrm>
            <a:off x="788242" y="3183384"/>
            <a:ext cx="193143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서비스 이용약관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2D43DC42-5881-6081-C429-84D8EFE55C50}"/>
              </a:ext>
            </a:extLst>
          </p:cNvPr>
          <p:cNvSpPr/>
          <p:nvPr/>
        </p:nvSpPr>
        <p:spPr>
          <a:xfrm>
            <a:off x="866836" y="3429000"/>
            <a:ext cx="2755584" cy="95509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12E47B2-144E-9BE7-E332-0E37C876542C}"/>
              </a:ext>
            </a:extLst>
          </p:cNvPr>
          <p:cNvSpPr txBox="1"/>
          <p:nvPr/>
        </p:nvSpPr>
        <p:spPr>
          <a:xfrm>
            <a:off x="774390" y="4398901"/>
            <a:ext cx="193143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개인정보 처리방침</a:t>
            </a: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9C20B08C-60F4-26F9-2CF1-186307406804}"/>
              </a:ext>
            </a:extLst>
          </p:cNvPr>
          <p:cNvSpPr/>
          <p:nvPr/>
        </p:nvSpPr>
        <p:spPr>
          <a:xfrm>
            <a:off x="852984" y="4663179"/>
            <a:ext cx="2769436" cy="95509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FF42E615-71CD-B54A-E80F-E6329E4182D8}"/>
              </a:ext>
            </a:extLst>
          </p:cNvPr>
          <p:cNvSpPr/>
          <p:nvPr/>
        </p:nvSpPr>
        <p:spPr bwMode="auto">
          <a:xfrm>
            <a:off x="2751566" y="3275110"/>
            <a:ext cx="109248" cy="110837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800">
              <a:ln w="0" cmpd="sng">
                <a:solidFill>
                  <a:schemeClr val="tx2">
                    <a:satMod val="155000"/>
                    <a:alpha val="0"/>
                  </a:schemeClr>
                </a:solidFill>
                <a:prstDash val="solid"/>
                <a:round/>
              </a:ln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C12B128-3FDE-F7DD-1A59-05C95BAE8399}"/>
              </a:ext>
            </a:extLst>
          </p:cNvPr>
          <p:cNvSpPr txBox="1"/>
          <p:nvPr/>
        </p:nvSpPr>
        <p:spPr>
          <a:xfrm>
            <a:off x="2890820" y="3211912"/>
            <a:ext cx="79262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동의합니다</a:t>
            </a:r>
            <a:r>
              <a:rPr lang="en-US" altLang="ko-KR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8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E2AF53F0-10A4-DDA0-83DA-58B422161787}"/>
              </a:ext>
            </a:extLst>
          </p:cNvPr>
          <p:cNvSpPr/>
          <p:nvPr/>
        </p:nvSpPr>
        <p:spPr bwMode="auto">
          <a:xfrm>
            <a:off x="2703630" y="4489447"/>
            <a:ext cx="109248" cy="110837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800">
              <a:ln w="0" cmpd="sng">
                <a:solidFill>
                  <a:schemeClr val="tx2">
                    <a:satMod val="155000"/>
                    <a:alpha val="0"/>
                  </a:schemeClr>
                </a:solidFill>
                <a:prstDash val="solid"/>
                <a:round/>
              </a:ln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A28D2D6-A13A-BA04-AF61-BD62D19B6897}"/>
              </a:ext>
            </a:extLst>
          </p:cNvPr>
          <p:cNvSpPr txBox="1"/>
          <p:nvPr/>
        </p:nvSpPr>
        <p:spPr>
          <a:xfrm>
            <a:off x="2842884" y="4426249"/>
            <a:ext cx="79262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동의합니다</a:t>
            </a:r>
            <a:r>
              <a:rPr lang="en-US" altLang="ko-KR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8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2358EC34-A739-4EA6-83D7-06449C90F444}"/>
              </a:ext>
            </a:extLst>
          </p:cNvPr>
          <p:cNvSpPr/>
          <p:nvPr/>
        </p:nvSpPr>
        <p:spPr bwMode="auto">
          <a:xfrm>
            <a:off x="852983" y="5679047"/>
            <a:ext cx="109248" cy="110837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>
              <a:ln w="0" cmpd="sng">
                <a:solidFill>
                  <a:schemeClr val="tx2">
                    <a:satMod val="155000"/>
                    <a:alpha val="0"/>
                  </a:schemeClr>
                </a:solidFill>
                <a:prstDash val="solid"/>
                <a:round/>
              </a:ln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BAC409AC-07E0-15F4-4D82-F0355F57253C}"/>
              </a:ext>
            </a:extLst>
          </p:cNvPr>
          <p:cNvSpPr txBox="1"/>
          <p:nvPr/>
        </p:nvSpPr>
        <p:spPr>
          <a:xfrm>
            <a:off x="992237" y="5615849"/>
            <a:ext cx="19047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모든 약관에 동의합니다</a:t>
            </a:r>
            <a:r>
              <a:rPr lang="en-US" altLang="ko-KR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8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56913E53-62B5-8712-062D-E2164D620353}"/>
              </a:ext>
            </a:extLst>
          </p:cNvPr>
          <p:cNvSpPr/>
          <p:nvPr/>
        </p:nvSpPr>
        <p:spPr>
          <a:xfrm>
            <a:off x="691818" y="5867153"/>
            <a:ext cx="3127150" cy="303148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다음</a:t>
            </a:r>
            <a:endParaRPr lang="ko-KR" altLang="en-US" sz="10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pSp>
        <p:nvGrpSpPr>
          <p:cNvPr id="70" name="그룹 69">
            <a:extLst>
              <a:ext uri="{FF2B5EF4-FFF2-40B4-BE49-F238E27FC236}">
                <a16:creationId xmlns:a16="http://schemas.microsoft.com/office/drawing/2014/main" id="{F28A1DCB-CAD5-C0A3-82E5-2E77541C2E30}"/>
              </a:ext>
            </a:extLst>
          </p:cNvPr>
          <p:cNvGrpSpPr/>
          <p:nvPr/>
        </p:nvGrpSpPr>
        <p:grpSpPr>
          <a:xfrm>
            <a:off x="5580096" y="3702234"/>
            <a:ext cx="2323082" cy="2080355"/>
            <a:chOff x="8731624" y="3719540"/>
            <a:chExt cx="2323082" cy="2080355"/>
          </a:xfrm>
        </p:grpSpPr>
        <p:sp>
          <p:nvSpPr>
            <p:cNvPr id="71" name="모서리가 둥근 직사각형 52">
              <a:extLst>
                <a:ext uri="{FF2B5EF4-FFF2-40B4-BE49-F238E27FC236}">
                  <a16:creationId xmlns:a16="http://schemas.microsoft.com/office/drawing/2014/main" id="{42D5B72A-794A-B110-4B29-CD461D607F6E}"/>
                </a:ext>
              </a:extLst>
            </p:cNvPr>
            <p:cNvSpPr/>
            <p:nvPr/>
          </p:nvSpPr>
          <p:spPr>
            <a:xfrm>
              <a:off x="8731624" y="3719540"/>
              <a:ext cx="2323082" cy="2080355"/>
            </a:xfrm>
            <a:prstGeom prst="roundRect">
              <a:avLst>
                <a:gd name="adj" fmla="val 3334"/>
              </a:avLst>
            </a:prstGeom>
            <a:solidFill>
              <a:schemeClr val="bg1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cxnSp>
          <p:nvCxnSpPr>
            <p:cNvPr id="72" name="직선 연결선 71">
              <a:extLst>
                <a:ext uri="{FF2B5EF4-FFF2-40B4-BE49-F238E27FC236}">
                  <a16:creationId xmlns:a16="http://schemas.microsoft.com/office/drawing/2014/main" id="{AF9D6291-4222-EF6D-6C78-BCE775D976EE}"/>
                </a:ext>
              </a:extLst>
            </p:cNvPr>
            <p:cNvCxnSpPr>
              <a:cxnSpLocks/>
            </p:cNvCxnSpPr>
            <p:nvPr/>
          </p:nvCxnSpPr>
          <p:spPr>
            <a:xfrm>
              <a:off x="8731624" y="4006723"/>
              <a:ext cx="2323082" cy="17455"/>
            </a:xfrm>
            <a:prstGeom prst="line">
              <a:avLst/>
            </a:prstGeom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7375D16C-FDF1-FC5A-6D21-F0433381C062}"/>
                </a:ext>
              </a:extLst>
            </p:cNvPr>
            <p:cNvSpPr txBox="1"/>
            <p:nvPr/>
          </p:nvSpPr>
          <p:spPr>
            <a:xfrm>
              <a:off x="8737978" y="3756443"/>
              <a:ext cx="121298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9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알림</a:t>
              </a: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E8131CFA-7D1A-7C59-CD74-5BA66EFF67AD}"/>
                </a:ext>
              </a:extLst>
            </p:cNvPr>
            <p:cNvSpPr txBox="1"/>
            <p:nvPr/>
          </p:nvSpPr>
          <p:spPr>
            <a:xfrm>
              <a:off x="10749703" y="3737849"/>
              <a:ext cx="27678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1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X</a:t>
              </a:r>
              <a:endParaRPr lang="ko-KR" altLang="en-US" sz="11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75" name="직사각형 74">
              <a:extLst>
                <a:ext uri="{FF2B5EF4-FFF2-40B4-BE49-F238E27FC236}">
                  <a16:creationId xmlns:a16="http://schemas.microsoft.com/office/drawing/2014/main" id="{2667DEB6-4AA7-6B7E-F3C0-C63D7F3A0312}"/>
                </a:ext>
              </a:extLst>
            </p:cNvPr>
            <p:cNvSpPr/>
            <p:nvPr/>
          </p:nvSpPr>
          <p:spPr>
            <a:xfrm>
              <a:off x="8845063" y="4294664"/>
              <a:ext cx="2082913" cy="72182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BA313E85-C1B7-AF04-C79B-927FD1F1F428}"/>
                </a:ext>
              </a:extLst>
            </p:cNvPr>
            <p:cNvSpPr txBox="1"/>
            <p:nvPr/>
          </p:nvSpPr>
          <p:spPr>
            <a:xfrm>
              <a:off x="8845064" y="4561723"/>
              <a:ext cx="214025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9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모든 항목에 동의를 선택하셔야 합니다</a:t>
              </a:r>
              <a:r>
                <a:rPr lang="en-US" altLang="ko-KR" sz="9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.</a:t>
              </a:r>
              <a:endParaRPr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77" name="모서리가 둥근 직사각형 63">
              <a:extLst>
                <a:ext uri="{FF2B5EF4-FFF2-40B4-BE49-F238E27FC236}">
                  <a16:creationId xmlns:a16="http://schemas.microsoft.com/office/drawing/2014/main" id="{95F59A5B-04E9-7E25-CB81-4EC7ABFD21B7}"/>
                </a:ext>
              </a:extLst>
            </p:cNvPr>
            <p:cNvSpPr/>
            <p:nvPr/>
          </p:nvSpPr>
          <p:spPr bwMode="auto">
            <a:xfrm>
              <a:off x="9471805" y="5311929"/>
              <a:ext cx="956159" cy="200025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ko-KR" altLang="en-US" sz="800" dirty="0">
                  <a:ln w="0" cmpd="sng">
                    <a:solidFill>
                      <a:schemeClr val="tx2">
                        <a:satMod val="155000"/>
                        <a:alpha val="0"/>
                      </a:schemeClr>
                    </a:solidFill>
                    <a:prstDash val="solid"/>
                    <a:round/>
                  </a:ln>
                  <a:solidFill>
                    <a:schemeClr val="tx1"/>
                  </a:solidFill>
                  <a:latin typeface="나눔고딕" pitchFamily="50" charset="-127"/>
                  <a:ea typeface="나눔고딕" pitchFamily="50" charset="-127"/>
                </a:rPr>
                <a:t>확인</a:t>
              </a:r>
            </a:p>
          </p:txBody>
        </p:sp>
      </p:grpSp>
      <p:sp>
        <p:nvSpPr>
          <p:cNvPr id="78" name="Oval 109">
            <a:extLst>
              <a:ext uri="{FF2B5EF4-FFF2-40B4-BE49-F238E27FC236}">
                <a16:creationId xmlns:a16="http://schemas.microsoft.com/office/drawing/2014/main" id="{A1619D1A-2886-5993-98E9-69FDD228D1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5454" y="3126164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1</a:t>
            </a:r>
          </a:p>
        </p:txBody>
      </p:sp>
      <p:sp>
        <p:nvSpPr>
          <p:cNvPr id="79" name="Oval 109">
            <a:extLst>
              <a:ext uri="{FF2B5EF4-FFF2-40B4-BE49-F238E27FC236}">
                <a16:creationId xmlns:a16="http://schemas.microsoft.com/office/drawing/2014/main" id="{A82DF34B-AF7E-02C6-5590-25257502FC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8701" y="4364413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2</a:t>
            </a:r>
          </a:p>
        </p:txBody>
      </p:sp>
      <p:sp>
        <p:nvSpPr>
          <p:cNvPr id="80" name="Oval 109">
            <a:extLst>
              <a:ext uri="{FF2B5EF4-FFF2-40B4-BE49-F238E27FC236}">
                <a16:creationId xmlns:a16="http://schemas.microsoft.com/office/drawing/2014/main" id="{99619DA8-D6A6-16B4-2B97-5CDCE84DC9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036" y="5494648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3</a:t>
            </a:r>
          </a:p>
        </p:txBody>
      </p:sp>
      <p:sp>
        <p:nvSpPr>
          <p:cNvPr id="81" name="Oval 109">
            <a:extLst>
              <a:ext uri="{FF2B5EF4-FFF2-40B4-BE49-F238E27FC236}">
                <a16:creationId xmlns:a16="http://schemas.microsoft.com/office/drawing/2014/main" id="{7BAE0098-DE9E-A1C8-E289-36C4A1FE2E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9557" y="5916330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4</a:t>
            </a:r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35424B77-08D2-09EF-AE25-B16D56ED9F64}"/>
              </a:ext>
            </a:extLst>
          </p:cNvPr>
          <p:cNvSpPr/>
          <p:nvPr/>
        </p:nvSpPr>
        <p:spPr>
          <a:xfrm>
            <a:off x="709535" y="6263725"/>
            <a:ext cx="3091715" cy="264669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Footer</a:t>
            </a:r>
            <a:endParaRPr lang="ko-KR" altLang="en-US" sz="10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10863971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84727A-25AB-B6DE-666C-7ED7DB9B7B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E782AF80-FCAA-6F21-9D41-E6017A6A2E26}"/>
              </a:ext>
            </a:extLst>
          </p:cNvPr>
          <p:cNvGraphicFramePr>
            <a:graphicFrameLocks noGrp="1"/>
          </p:cNvGraphicFramePr>
          <p:nvPr/>
        </p:nvGraphicFramePr>
        <p:xfrm>
          <a:off x="9182101" y="947377"/>
          <a:ext cx="2795588" cy="1969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1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본인인증하러가기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선택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휴대폰 인증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PASS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화면 호출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684046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723838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3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172599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4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290794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5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922450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6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784800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7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0538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8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199337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9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450365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A86B74C9-262B-531E-15CB-DC4EC03AEAD3}"/>
              </a:ext>
            </a:extLst>
          </p:cNvPr>
          <p:cNvSpPr/>
          <p:nvPr/>
        </p:nvSpPr>
        <p:spPr>
          <a:xfrm>
            <a:off x="959895" y="375614"/>
            <a:ext cx="875561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</a:pP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메인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회원가입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6BE8318-9D2B-DBB3-118E-5BC3E4D4FE10}"/>
              </a:ext>
            </a:extLst>
          </p:cNvPr>
          <p:cNvSpPr txBox="1"/>
          <p:nvPr/>
        </p:nvSpPr>
        <p:spPr>
          <a:xfrm>
            <a:off x="6003996" y="123825"/>
            <a:ext cx="17303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HN_Join_001</a:t>
            </a:r>
            <a:endParaRPr lang="ko-KR" altLang="en-US" sz="800" dirty="0"/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FAFC192F-1B77-9D0E-C148-A18267058080}"/>
              </a:ext>
            </a:extLst>
          </p:cNvPr>
          <p:cNvCxnSpPr>
            <a:cxnSpLocks/>
          </p:cNvCxnSpPr>
          <p:nvPr/>
        </p:nvCxnSpPr>
        <p:spPr>
          <a:xfrm>
            <a:off x="655957" y="1658468"/>
            <a:ext cx="3109526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123EE35F-873B-275E-B55E-0E690803059B}"/>
              </a:ext>
            </a:extLst>
          </p:cNvPr>
          <p:cNvSpPr txBox="1"/>
          <p:nvPr/>
        </p:nvSpPr>
        <p:spPr>
          <a:xfrm>
            <a:off x="1793778" y="1181491"/>
            <a:ext cx="83388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하늘누리</a:t>
            </a:r>
            <a:endParaRPr lang="en-US" altLang="ko-KR" sz="11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en-US" altLang="ko-KR" sz="11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CI</a:t>
            </a:r>
            <a:endParaRPr lang="ko-KR" altLang="en-US" sz="11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15" name="그림 14" descr="블랙, 어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B54FEB4-A9FE-18A7-EBFF-61E0D66FE57C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2985" y="1191723"/>
            <a:ext cx="383533" cy="383533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0EDE885C-6CF7-C8A1-EA4E-46D0D8CA2A40}"/>
              </a:ext>
            </a:extLst>
          </p:cNvPr>
          <p:cNvSpPr txBox="1"/>
          <p:nvPr/>
        </p:nvSpPr>
        <p:spPr>
          <a:xfrm>
            <a:off x="2826086" y="1293697"/>
            <a:ext cx="57184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" panose="020D0604000000000000" pitchFamily="50" charset="-127"/>
                <a:ea typeface="나눔고딕" panose="020D0604000000000000" pitchFamily="50" charset="-127"/>
              </a:rPr>
              <a:t>르그아웃</a:t>
            </a:r>
          </a:p>
        </p:txBody>
      </p:sp>
      <p:pic>
        <p:nvPicPr>
          <p:cNvPr id="21" name="Picture 4" descr="로그 아웃 아이콘">
            <a:extLst>
              <a:ext uri="{FF2B5EF4-FFF2-40B4-BE49-F238E27FC236}">
                <a16:creationId xmlns:a16="http://schemas.microsoft.com/office/drawing/2014/main" id="{5F73C0CC-1F2A-1B02-30DC-99BCFB0504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9631" y="1283929"/>
            <a:ext cx="217049" cy="217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8D0E9EF4-E66C-12F0-E72F-C66F3DD65C9B}"/>
              </a:ext>
            </a:extLst>
          </p:cNvPr>
          <p:cNvSpPr txBox="1"/>
          <p:nvPr/>
        </p:nvSpPr>
        <p:spPr>
          <a:xfrm>
            <a:off x="1474758" y="1735412"/>
            <a:ext cx="16276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회원가입</a:t>
            </a:r>
            <a:endParaRPr lang="en-US" altLang="ko-KR" sz="16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DA89134-93AF-3290-C9DB-5BEC3D562D02}"/>
              </a:ext>
            </a:extLst>
          </p:cNvPr>
          <p:cNvSpPr txBox="1"/>
          <p:nvPr/>
        </p:nvSpPr>
        <p:spPr>
          <a:xfrm>
            <a:off x="959895" y="2150909"/>
            <a:ext cx="26625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회원가입을 하시면 하늘편지와 같은 온라인 추모관 및 다양한 서비스를 이용하실 수 있습니다</a:t>
            </a:r>
            <a:r>
              <a:rPr lang="en-US" altLang="ko-KR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9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298A6FEE-E153-66C0-C70E-A926420F70F0}"/>
              </a:ext>
            </a:extLst>
          </p:cNvPr>
          <p:cNvGraphicFramePr>
            <a:graphicFrameLocks noGrp="1"/>
          </p:cNvGraphicFramePr>
          <p:nvPr/>
        </p:nvGraphicFramePr>
        <p:xfrm>
          <a:off x="1397675" y="3549170"/>
          <a:ext cx="1008968" cy="387982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008968">
                  <a:extLst>
                    <a:ext uri="{9D8B030D-6E8A-4147-A177-3AD203B41FA5}">
                      <a16:colId xmlns:a16="http://schemas.microsoft.com/office/drawing/2014/main" val="1553538150"/>
                    </a:ext>
                  </a:extLst>
                </a:gridCol>
              </a:tblGrid>
              <a:tr h="38798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본인인증</a:t>
                      </a:r>
                      <a:r>
                        <a:rPr lang="ko-KR" altLang="en-US" sz="1100" b="1" u="none" dirty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endParaRPr lang="en-US" altLang="ko-KR" sz="1100" b="1" u="none" dirty="0">
                        <a:solidFill>
                          <a:srgbClr val="FF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7895842"/>
                  </a:ext>
                </a:extLst>
              </a:tr>
            </a:tbl>
          </a:graphicData>
        </a:graphic>
      </p:graphicFrame>
      <p:sp>
        <p:nvSpPr>
          <p:cNvPr id="5" name="직사각형 4">
            <a:extLst>
              <a:ext uri="{FF2B5EF4-FFF2-40B4-BE49-F238E27FC236}">
                <a16:creationId xmlns:a16="http://schemas.microsoft.com/office/drawing/2014/main" id="{B0266A26-5BBD-4B2A-654B-11E31CBD3426}"/>
              </a:ext>
            </a:extLst>
          </p:cNvPr>
          <p:cNvSpPr/>
          <p:nvPr/>
        </p:nvSpPr>
        <p:spPr>
          <a:xfrm>
            <a:off x="1340945" y="4017276"/>
            <a:ext cx="1782148" cy="356037"/>
          </a:xfrm>
          <a:prstGeom prst="rect">
            <a:avLst/>
          </a:prstGeom>
          <a:solidFill>
            <a:srgbClr val="002060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chemeClr val="bg1">
                    <a:lumMod val="9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본인인증하러 가기</a:t>
            </a:r>
          </a:p>
        </p:txBody>
      </p:sp>
      <p:sp>
        <p:nvSpPr>
          <p:cNvPr id="6" name="Oval 109">
            <a:extLst>
              <a:ext uri="{FF2B5EF4-FFF2-40B4-BE49-F238E27FC236}">
                <a16:creationId xmlns:a16="http://schemas.microsoft.com/office/drawing/2014/main" id="{0181ECE0-7E7F-0137-B5C0-7DF42EA9DD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4545" y="3844476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1</a:t>
            </a:r>
          </a:p>
        </p:txBody>
      </p:sp>
      <p:sp>
        <p:nvSpPr>
          <p:cNvPr id="7" name="오른쪽 화살표 15">
            <a:extLst>
              <a:ext uri="{FF2B5EF4-FFF2-40B4-BE49-F238E27FC236}">
                <a16:creationId xmlns:a16="http://schemas.microsoft.com/office/drawing/2014/main" id="{7FC6FAD0-9856-C0FF-954A-E53365070EBC}"/>
              </a:ext>
            </a:extLst>
          </p:cNvPr>
          <p:cNvSpPr/>
          <p:nvPr/>
        </p:nvSpPr>
        <p:spPr>
          <a:xfrm>
            <a:off x="774390" y="2705048"/>
            <a:ext cx="729858" cy="303151"/>
          </a:xfrm>
          <a:prstGeom prst="rightArrow">
            <a:avLst>
              <a:gd name="adj1" fmla="val 100000"/>
              <a:gd name="adj2" fmla="val 50000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1. </a:t>
            </a:r>
            <a:r>
              <a:rPr lang="ko-KR" altLang="en-US" sz="9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약관동의</a:t>
            </a:r>
          </a:p>
        </p:txBody>
      </p:sp>
      <p:sp>
        <p:nvSpPr>
          <p:cNvPr id="8" name="오른쪽 화살표 44">
            <a:extLst>
              <a:ext uri="{FF2B5EF4-FFF2-40B4-BE49-F238E27FC236}">
                <a16:creationId xmlns:a16="http://schemas.microsoft.com/office/drawing/2014/main" id="{52D5B0B0-5A6D-2766-88E0-8098EF169942}"/>
              </a:ext>
            </a:extLst>
          </p:cNvPr>
          <p:cNvSpPr/>
          <p:nvPr/>
        </p:nvSpPr>
        <p:spPr>
          <a:xfrm>
            <a:off x="1540687" y="2705048"/>
            <a:ext cx="729858" cy="303151"/>
          </a:xfrm>
          <a:prstGeom prst="rightArrow">
            <a:avLst>
              <a:gd name="adj1" fmla="val 100000"/>
              <a:gd name="adj2" fmla="val 50000"/>
            </a:avLst>
          </a:prstGeom>
          <a:solidFill>
            <a:schemeClr val="tx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2. </a:t>
            </a:r>
            <a:r>
              <a:rPr lang="ko-KR" altLang="en-US" sz="9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본인인증</a:t>
            </a:r>
          </a:p>
        </p:txBody>
      </p:sp>
      <p:sp>
        <p:nvSpPr>
          <p:cNvPr id="9" name="오른쪽 화살표 45">
            <a:extLst>
              <a:ext uri="{FF2B5EF4-FFF2-40B4-BE49-F238E27FC236}">
                <a16:creationId xmlns:a16="http://schemas.microsoft.com/office/drawing/2014/main" id="{D26C2264-B8F2-60C7-A473-5EFD7FC2545B}"/>
              </a:ext>
            </a:extLst>
          </p:cNvPr>
          <p:cNvSpPr/>
          <p:nvPr/>
        </p:nvSpPr>
        <p:spPr>
          <a:xfrm>
            <a:off x="2295915" y="2705048"/>
            <a:ext cx="729858" cy="303151"/>
          </a:xfrm>
          <a:prstGeom prst="rightArrow">
            <a:avLst>
              <a:gd name="adj1" fmla="val 100000"/>
              <a:gd name="adj2" fmla="val 50000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3. </a:t>
            </a:r>
            <a:r>
              <a:rPr lang="ko-KR" altLang="en-US" sz="9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정보입력</a:t>
            </a:r>
          </a:p>
        </p:txBody>
      </p:sp>
      <p:sp>
        <p:nvSpPr>
          <p:cNvPr id="10" name="오른쪽 화살표 46">
            <a:extLst>
              <a:ext uri="{FF2B5EF4-FFF2-40B4-BE49-F238E27FC236}">
                <a16:creationId xmlns:a16="http://schemas.microsoft.com/office/drawing/2014/main" id="{188C1DD1-B461-4669-2D9A-C3384C05BAC4}"/>
              </a:ext>
            </a:extLst>
          </p:cNvPr>
          <p:cNvSpPr/>
          <p:nvPr/>
        </p:nvSpPr>
        <p:spPr>
          <a:xfrm>
            <a:off x="3053249" y="2705048"/>
            <a:ext cx="729858" cy="303151"/>
          </a:xfrm>
          <a:prstGeom prst="rightArrow">
            <a:avLst>
              <a:gd name="adj1" fmla="val 100000"/>
              <a:gd name="adj2" fmla="val 50000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4. </a:t>
            </a:r>
            <a:r>
              <a:rPr lang="ko-KR" altLang="en-US" sz="9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가입완료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2FD6BEC-0018-48C3-26D4-17BC7F1D408D}"/>
              </a:ext>
            </a:extLst>
          </p:cNvPr>
          <p:cNvSpPr/>
          <p:nvPr/>
        </p:nvSpPr>
        <p:spPr>
          <a:xfrm>
            <a:off x="691392" y="5958925"/>
            <a:ext cx="3091715" cy="264669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Footer</a:t>
            </a:r>
            <a:endParaRPr lang="ko-KR" altLang="en-US" sz="10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46603337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EC0B26-64AC-474F-3474-9AFF45A9CA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0E7AC62D-4E16-BD0D-3B01-89F13581EF4E}"/>
              </a:ext>
            </a:extLst>
          </p:cNvPr>
          <p:cNvGraphicFramePr>
            <a:graphicFrameLocks noGrp="1"/>
          </p:cNvGraphicFramePr>
          <p:nvPr/>
        </p:nvGraphicFramePr>
        <p:xfrm>
          <a:off x="9182101" y="947377"/>
          <a:ext cx="2795588" cy="294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1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성공적으로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PASS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인증을 마치면 노출되는 화면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이름과 휴대폰 번호는 입력된 상태로 노출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684046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ID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를 입력 후 중복 여부 체크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.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사용가능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: “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사용 가능한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ID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입니다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.”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알럿 노출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사용 불가능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: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이미 사용되고 있는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ID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입니다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.”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알럿 노출</a:t>
                      </a: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723838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3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셀렉트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박스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선택시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naver.com,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daum.net, google.com, 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직접입력 노출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172599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4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모든 항목을 정상적으로 입력하고 확인 버튼 선택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가입 완료화면으로 이동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정상적으로 입력되지 않은 항목이 있는 상태에서 확인 버튼 선택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Alert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노출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“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다시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한번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모든 항목이 정상적으로 입력되었는지 확인해주세요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.” 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290794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5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922450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6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784800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7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0538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8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199337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9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450365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3B0462CB-3474-4082-3295-1ACA672415CA}"/>
              </a:ext>
            </a:extLst>
          </p:cNvPr>
          <p:cNvSpPr/>
          <p:nvPr/>
        </p:nvSpPr>
        <p:spPr>
          <a:xfrm>
            <a:off x="959895" y="375614"/>
            <a:ext cx="875561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</a:pP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메인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회원가입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28F5208-03B5-8871-A83F-E28F66669A74}"/>
              </a:ext>
            </a:extLst>
          </p:cNvPr>
          <p:cNvSpPr txBox="1"/>
          <p:nvPr/>
        </p:nvSpPr>
        <p:spPr>
          <a:xfrm>
            <a:off x="6003996" y="123825"/>
            <a:ext cx="17303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HN_Join_001</a:t>
            </a:r>
            <a:endParaRPr lang="ko-KR" altLang="en-US" sz="800" dirty="0"/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9AB7B10F-F3B7-443B-3323-711E9DA80D5D}"/>
              </a:ext>
            </a:extLst>
          </p:cNvPr>
          <p:cNvCxnSpPr>
            <a:cxnSpLocks/>
          </p:cNvCxnSpPr>
          <p:nvPr/>
        </p:nvCxnSpPr>
        <p:spPr>
          <a:xfrm>
            <a:off x="655957" y="1658468"/>
            <a:ext cx="3109526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E527E44E-0412-74DE-D710-B406693E0461}"/>
              </a:ext>
            </a:extLst>
          </p:cNvPr>
          <p:cNvSpPr txBox="1"/>
          <p:nvPr/>
        </p:nvSpPr>
        <p:spPr>
          <a:xfrm>
            <a:off x="1793778" y="1181491"/>
            <a:ext cx="83388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하늘누리</a:t>
            </a:r>
            <a:endParaRPr lang="en-US" altLang="ko-KR" sz="11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en-US" altLang="ko-KR" sz="11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CI</a:t>
            </a:r>
            <a:endParaRPr lang="ko-KR" altLang="en-US" sz="11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15" name="그림 14" descr="블랙, 어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690A467-EFE4-51BB-84DE-0A25E00AC62F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2985" y="1191723"/>
            <a:ext cx="383533" cy="383533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9E12EB7E-8B1F-E60B-6114-9A8AA7EEFD25}"/>
              </a:ext>
            </a:extLst>
          </p:cNvPr>
          <p:cNvSpPr txBox="1"/>
          <p:nvPr/>
        </p:nvSpPr>
        <p:spPr>
          <a:xfrm>
            <a:off x="2826086" y="1293697"/>
            <a:ext cx="57184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" panose="020D0604000000000000" pitchFamily="50" charset="-127"/>
                <a:ea typeface="나눔고딕" panose="020D0604000000000000" pitchFamily="50" charset="-127"/>
              </a:rPr>
              <a:t>르그아웃</a:t>
            </a:r>
          </a:p>
        </p:txBody>
      </p:sp>
      <p:pic>
        <p:nvPicPr>
          <p:cNvPr id="21" name="Picture 4" descr="로그 아웃 아이콘">
            <a:extLst>
              <a:ext uri="{FF2B5EF4-FFF2-40B4-BE49-F238E27FC236}">
                <a16:creationId xmlns:a16="http://schemas.microsoft.com/office/drawing/2014/main" id="{E2EE8F5A-C7E3-DB8C-DAD1-AD87E9B89D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9631" y="1283929"/>
            <a:ext cx="217049" cy="217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053EBA5C-4161-3085-D373-A48614C93DD6}"/>
              </a:ext>
            </a:extLst>
          </p:cNvPr>
          <p:cNvSpPr txBox="1"/>
          <p:nvPr/>
        </p:nvSpPr>
        <p:spPr>
          <a:xfrm>
            <a:off x="1474758" y="1735412"/>
            <a:ext cx="16276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회원가입</a:t>
            </a:r>
            <a:endParaRPr lang="en-US" altLang="ko-KR" sz="16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2FA0C99-4B42-633A-EED9-16CAA292497E}"/>
              </a:ext>
            </a:extLst>
          </p:cNvPr>
          <p:cNvSpPr txBox="1"/>
          <p:nvPr/>
        </p:nvSpPr>
        <p:spPr>
          <a:xfrm>
            <a:off x="959895" y="2150909"/>
            <a:ext cx="26625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회원가입을 하시면 하늘편지와 같은 온라인 추모관 및 다양한 서비스를 이용하실 수 있습니다</a:t>
            </a:r>
            <a:r>
              <a:rPr lang="en-US" altLang="ko-KR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9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" name="오른쪽 화살표 15">
            <a:extLst>
              <a:ext uri="{FF2B5EF4-FFF2-40B4-BE49-F238E27FC236}">
                <a16:creationId xmlns:a16="http://schemas.microsoft.com/office/drawing/2014/main" id="{604D2B81-AAD7-6A78-27CB-59F1F2BAB28B}"/>
              </a:ext>
            </a:extLst>
          </p:cNvPr>
          <p:cNvSpPr/>
          <p:nvPr/>
        </p:nvSpPr>
        <p:spPr>
          <a:xfrm>
            <a:off x="774390" y="2705048"/>
            <a:ext cx="729858" cy="303151"/>
          </a:xfrm>
          <a:prstGeom prst="rightArrow">
            <a:avLst>
              <a:gd name="adj1" fmla="val 100000"/>
              <a:gd name="adj2" fmla="val 50000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1. </a:t>
            </a:r>
            <a:r>
              <a:rPr lang="ko-KR" altLang="en-US" sz="9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약관동의</a:t>
            </a:r>
          </a:p>
        </p:txBody>
      </p:sp>
      <p:sp>
        <p:nvSpPr>
          <p:cNvPr id="8" name="오른쪽 화살표 44">
            <a:extLst>
              <a:ext uri="{FF2B5EF4-FFF2-40B4-BE49-F238E27FC236}">
                <a16:creationId xmlns:a16="http://schemas.microsoft.com/office/drawing/2014/main" id="{D1751C00-31A1-E883-19D2-53786AFC4483}"/>
              </a:ext>
            </a:extLst>
          </p:cNvPr>
          <p:cNvSpPr/>
          <p:nvPr/>
        </p:nvSpPr>
        <p:spPr>
          <a:xfrm>
            <a:off x="1540687" y="2705048"/>
            <a:ext cx="729858" cy="303151"/>
          </a:xfrm>
          <a:prstGeom prst="rightArrow">
            <a:avLst>
              <a:gd name="adj1" fmla="val 100000"/>
              <a:gd name="adj2" fmla="val 50000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2. </a:t>
            </a:r>
            <a:r>
              <a:rPr lang="ko-KR" altLang="en-US" sz="9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본인인증</a:t>
            </a:r>
          </a:p>
        </p:txBody>
      </p:sp>
      <p:sp>
        <p:nvSpPr>
          <p:cNvPr id="9" name="오른쪽 화살표 45">
            <a:extLst>
              <a:ext uri="{FF2B5EF4-FFF2-40B4-BE49-F238E27FC236}">
                <a16:creationId xmlns:a16="http://schemas.microsoft.com/office/drawing/2014/main" id="{0D140BEC-2C0C-3F68-A8FD-24185C11ED16}"/>
              </a:ext>
            </a:extLst>
          </p:cNvPr>
          <p:cNvSpPr/>
          <p:nvPr/>
        </p:nvSpPr>
        <p:spPr>
          <a:xfrm>
            <a:off x="2295915" y="2705048"/>
            <a:ext cx="729858" cy="303151"/>
          </a:xfrm>
          <a:prstGeom prst="rightArrow">
            <a:avLst>
              <a:gd name="adj1" fmla="val 100000"/>
              <a:gd name="adj2" fmla="val 50000"/>
            </a:avLst>
          </a:prstGeom>
          <a:solidFill>
            <a:schemeClr val="tx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3. </a:t>
            </a:r>
            <a:r>
              <a:rPr lang="ko-KR" altLang="en-US" sz="9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정보입력</a:t>
            </a:r>
          </a:p>
        </p:txBody>
      </p:sp>
      <p:sp>
        <p:nvSpPr>
          <p:cNvPr id="10" name="오른쪽 화살표 46">
            <a:extLst>
              <a:ext uri="{FF2B5EF4-FFF2-40B4-BE49-F238E27FC236}">
                <a16:creationId xmlns:a16="http://schemas.microsoft.com/office/drawing/2014/main" id="{2BAC4247-BE69-19B5-712D-0DC4BB207906}"/>
              </a:ext>
            </a:extLst>
          </p:cNvPr>
          <p:cNvSpPr/>
          <p:nvPr/>
        </p:nvSpPr>
        <p:spPr>
          <a:xfrm>
            <a:off x="3053249" y="2705048"/>
            <a:ext cx="729858" cy="303151"/>
          </a:xfrm>
          <a:prstGeom prst="rightArrow">
            <a:avLst>
              <a:gd name="adj1" fmla="val 100000"/>
              <a:gd name="adj2" fmla="val 50000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4. </a:t>
            </a:r>
            <a:r>
              <a:rPr lang="ko-KR" altLang="en-US" sz="9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가입완료</a:t>
            </a: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6D06CA1B-A397-F783-8108-A120A4FC5465}"/>
              </a:ext>
            </a:extLst>
          </p:cNvPr>
          <p:cNvGraphicFramePr>
            <a:graphicFrameLocks noGrp="1"/>
          </p:cNvGraphicFramePr>
          <p:nvPr/>
        </p:nvGraphicFramePr>
        <p:xfrm>
          <a:off x="861280" y="3168272"/>
          <a:ext cx="1008968" cy="3297395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008968">
                  <a:extLst>
                    <a:ext uri="{9D8B030D-6E8A-4147-A177-3AD203B41FA5}">
                      <a16:colId xmlns:a16="http://schemas.microsoft.com/office/drawing/2014/main" val="1553538150"/>
                    </a:ext>
                  </a:extLst>
                </a:gridCol>
              </a:tblGrid>
              <a:tr h="522319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아이디 </a:t>
                      </a:r>
                      <a:r>
                        <a:rPr lang="en-US" altLang="ko-KR" sz="900" b="1" u="none" dirty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*</a:t>
                      </a:r>
                    </a:p>
                    <a:p>
                      <a:pPr algn="l" latinLnBrk="1"/>
                      <a:endParaRPr lang="en-US" altLang="ko-KR" sz="900" b="1" u="none" dirty="0">
                        <a:solidFill>
                          <a:srgbClr val="FF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algn="l" latinLnBrk="1"/>
                      <a:endParaRPr lang="en-US" altLang="ko-KR" sz="900" b="1" u="none" dirty="0">
                        <a:solidFill>
                          <a:srgbClr val="FF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algn="l" latinLnBrk="1"/>
                      <a:endParaRPr lang="en-US" altLang="ko-KR" sz="900" b="1" u="none" dirty="0">
                        <a:solidFill>
                          <a:srgbClr val="FF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algn="l" latinLnBrk="1"/>
                      <a:endParaRPr lang="en-US" altLang="ko-KR" sz="900" b="1" u="none" dirty="0">
                        <a:solidFill>
                          <a:srgbClr val="FF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0268165"/>
                  </a:ext>
                </a:extLst>
              </a:tr>
              <a:tr h="52231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이름 </a:t>
                      </a:r>
                      <a:r>
                        <a:rPr lang="en-US" altLang="ko-KR" sz="900" b="1" u="none" dirty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*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1090331"/>
                  </a:ext>
                </a:extLst>
              </a:tr>
              <a:tr h="52231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휴대전화 </a:t>
                      </a:r>
                      <a:r>
                        <a:rPr lang="en-US" altLang="ko-KR" sz="900" b="1" u="none" dirty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*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0626559"/>
                  </a:ext>
                </a:extLst>
              </a:tr>
              <a:tr h="52231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E-Mail </a:t>
                      </a:r>
                      <a:r>
                        <a:rPr lang="en-US" altLang="ko-KR" sz="900" b="1" u="none" dirty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*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0662131"/>
                  </a:ext>
                </a:extLst>
              </a:tr>
              <a:tr h="52231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비밀번호 </a:t>
                      </a:r>
                      <a:r>
                        <a:rPr lang="en-US" altLang="ko-KR" sz="900" b="1" u="none" dirty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*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5462810"/>
                  </a:ext>
                </a:extLst>
              </a:tr>
              <a:tr h="52231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비빌번호 확인 </a:t>
                      </a:r>
                      <a:r>
                        <a:rPr lang="en-US" altLang="ko-KR" sz="900" b="1" u="none" dirty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*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350863"/>
                  </a:ext>
                </a:extLst>
              </a:tr>
            </a:tbl>
          </a:graphicData>
        </a:graphic>
      </p:graphicFrame>
      <p:sp>
        <p:nvSpPr>
          <p:cNvPr id="12" name="직사각형 11">
            <a:extLst>
              <a:ext uri="{FF2B5EF4-FFF2-40B4-BE49-F238E27FC236}">
                <a16:creationId xmlns:a16="http://schemas.microsoft.com/office/drawing/2014/main" id="{CF448323-BF4D-7DE7-037E-BC7DB4B1632E}"/>
              </a:ext>
            </a:extLst>
          </p:cNvPr>
          <p:cNvSpPr/>
          <p:nvPr/>
        </p:nvSpPr>
        <p:spPr>
          <a:xfrm>
            <a:off x="865432" y="3375300"/>
            <a:ext cx="2051248" cy="27991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D066AFE9-2B8B-8CEC-75E7-BEC75C17E9D2}"/>
              </a:ext>
            </a:extLst>
          </p:cNvPr>
          <p:cNvSpPr/>
          <p:nvPr/>
        </p:nvSpPr>
        <p:spPr>
          <a:xfrm>
            <a:off x="884026" y="4209524"/>
            <a:ext cx="2789595" cy="27991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홍길동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00A7DEF-C199-C31C-6B45-4D0DE190A841}"/>
              </a:ext>
            </a:extLst>
          </p:cNvPr>
          <p:cNvSpPr/>
          <p:nvPr/>
        </p:nvSpPr>
        <p:spPr>
          <a:xfrm>
            <a:off x="2963602" y="5254770"/>
            <a:ext cx="669281" cy="27991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직접입력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5E26AFAC-CE18-29A8-AF7B-2A883F058D14}"/>
              </a:ext>
            </a:extLst>
          </p:cNvPr>
          <p:cNvSpPr/>
          <p:nvPr/>
        </p:nvSpPr>
        <p:spPr>
          <a:xfrm>
            <a:off x="5377222" y="1383916"/>
            <a:ext cx="2810121" cy="27991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DA55A951-32E1-77CD-43CE-65E42CA3A057}"/>
              </a:ext>
            </a:extLst>
          </p:cNvPr>
          <p:cNvSpPr/>
          <p:nvPr/>
        </p:nvSpPr>
        <p:spPr>
          <a:xfrm>
            <a:off x="2907722" y="3375300"/>
            <a:ext cx="765899" cy="279918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중복확인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B1CECF83-62B8-33EE-A2A6-FD76940205CF}"/>
              </a:ext>
            </a:extLst>
          </p:cNvPr>
          <p:cNvSpPr/>
          <p:nvPr/>
        </p:nvSpPr>
        <p:spPr>
          <a:xfrm>
            <a:off x="5377222" y="2274534"/>
            <a:ext cx="2810121" cy="27991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6" name="Oval 109">
            <a:extLst>
              <a:ext uri="{FF2B5EF4-FFF2-40B4-BE49-F238E27FC236}">
                <a16:creationId xmlns:a16="http://schemas.microsoft.com/office/drawing/2014/main" id="{5DB06C16-DC1B-9B73-94B0-0409FE85D2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4117" y="3261299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EC3BE94-494A-F9FC-52C8-D5912F123F94}"/>
              </a:ext>
            </a:extLst>
          </p:cNvPr>
          <p:cNvSpPr txBox="1"/>
          <p:nvPr/>
        </p:nvSpPr>
        <p:spPr>
          <a:xfrm>
            <a:off x="865432" y="3655218"/>
            <a:ext cx="28910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* ID</a:t>
            </a:r>
            <a:r>
              <a:rPr lang="ko-KR" altLang="en-US" sz="800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는 알파벳 영문 소문자</a:t>
            </a:r>
            <a:r>
              <a:rPr lang="en-US" altLang="ko-KR" sz="800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4</a:t>
            </a:r>
            <a:r>
              <a:rPr lang="ko-KR" altLang="en-US" sz="800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자리에서 </a:t>
            </a:r>
            <a:r>
              <a:rPr lang="en-US" altLang="ko-KR" sz="800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12</a:t>
            </a:r>
            <a:r>
              <a:rPr lang="ko-KR" altLang="en-US" sz="800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자리까지 입력이 가능합니다</a:t>
            </a:r>
            <a:r>
              <a:rPr lang="en-US" altLang="ko-KR" sz="800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800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09B8952-82D4-4F06-40CA-4C1BE93068D3}"/>
              </a:ext>
            </a:extLst>
          </p:cNvPr>
          <p:cNvSpPr txBox="1"/>
          <p:nvPr/>
        </p:nvSpPr>
        <p:spPr>
          <a:xfrm>
            <a:off x="5278304" y="1693136"/>
            <a:ext cx="28709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* 8</a:t>
            </a:r>
            <a:r>
              <a:rPr lang="ko-KR" altLang="en-US" sz="800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자리 이상 </a:t>
            </a:r>
            <a:r>
              <a:rPr lang="en-US" altLang="ko-KR" sz="800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16</a:t>
            </a:r>
            <a:r>
              <a:rPr lang="ko-KR" altLang="en-US" sz="800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자리 이하 알파벳</a:t>
            </a:r>
            <a:r>
              <a:rPr lang="en-US" altLang="ko-KR" sz="800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</a:t>
            </a:r>
            <a:r>
              <a:rPr lang="ko-KR" altLang="en-US" sz="800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숫자</a:t>
            </a:r>
            <a:r>
              <a:rPr lang="en-US" altLang="ko-KR" sz="800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</a:t>
            </a:r>
            <a:r>
              <a:rPr lang="ko-KR" altLang="en-US" sz="800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특수기호의 조합으로 작성하셔야 합니다</a:t>
            </a:r>
            <a:r>
              <a:rPr lang="en-US" altLang="ko-KR" sz="800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800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1B791F54-FB0B-1873-8DD7-9C7DB39D1B4A}"/>
              </a:ext>
            </a:extLst>
          </p:cNvPr>
          <p:cNvSpPr/>
          <p:nvPr/>
        </p:nvSpPr>
        <p:spPr>
          <a:xfrm>
            <a:off x="1890606" y="4775306"/>
            <a:ext cx="791727" cy="27991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9999</a:t>
            </a:r>
            <a:endParaRPr lang="ko-KR" altLang="en-US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94CA6486-5C1F-A9BD-0406-FC6DFD17BA2A}"/>
              </a:ext>
            </a:extLst>
          </p:cNvPr>
          <p:cNvSpPr/>
          <p:nvPr/>
        </p:nvSpPr>
        <p:spPr>
          <a:xfrm>
            <a:off x="915630" y="5246232"/>
            <a:ext cx="946610" cy="27991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8E6ED2D-C507-88FA-E83B-46B53844F481}"/>
              </a:ext>
            </a:extLst>
          </p:cNvPr>
          <p:cNvSpPr txBox="1"/>
          <p:nvPr/>
        </p:nvSpPr>
        <p:spPr>
          <a:xfrm>
            <a:off x="1673106" y="4795608"/>
            <a:ext cx="1891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endParaRPr lang="ko-KR" altLang="en-US" sz="14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2F02598-8BA2-BA30-D5A7-2AF554B2BA17}"/>
              </a:ext>
            </a:extLst>
          </p:cNvPr>
          <p:cNvSpPr txBox="1"/>
          <p:nvPr/>
        </p:nvSpPr>
        <p:spPr>
          <a:xfrm>
            <a:off x="2647144" y="4776522"/>
            <a:ext cx="1891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endParaRPr lang="ko-KR" altLang="en-US" sz="14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1E51995-7423-CA29-216D-CDA36E5500E8}"/>
              </a:ext>
            </a:extLst>
          </p:cNvPr>
          <p:cNvSpPr txBox="1"/>
          <p:nvPr/>
        </p:nvSpPr>
        <p:spPr>
          <a:xfrm>
            <a:off x="1806178" y="5271332"/>
            <a:ext cx="33356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@</a:t>
            </a:r>
            <a:endParaRPr lang="ko-KR" altLang="en-US" sz="9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E93C3283-7C8F-3032-7F86-52F9CD5027BC}"/>
              </a:ext>
            </a:extLst>
          </p:cNvPr>
          <p:cNvSpPr/>
          <p:nvPr/>
        </p:nvSpPr>
        <p:spPr>
          <a:xfrm>
            <a:off x="3466998" y="5254466"/>
            <a:ext cx="172801" cy="27954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▼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5F1CE9C5-B1D7-AB7E-50C5-913417541257}"/>
              </a:ext>
            </a:extLst>
          </p:cNvPr>
          <p:cNvSpPr/>
          <p:nvPr/>
        </p:nvSpPr>
        <p:spPr>
          <a:xfrm>
            <a:off x="2059774" y="5252849"/>
            <a:ext cx="814063" cy="27991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3" name="Oval 109">
            <a:extLst>
              <a:ext uri="{FF2B5EF4-FFF2-40B4-BE49-F238E27FC236}">
                <a16:creationId xmlns:a16="http://schemas.microsoft.com/office/drawing/2014/main" id="{220AFD52-CF2B-3268-E34A-DF31084311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7221" y="5113132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3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3B1D125-C092-5A3E-73E5-0C7DCF07A48E}"/>
              </a:ext>
            </a:extLst>
          </p:cNvPr>
          <p:cNvSpPr txBox="1"/>
          <p:nvPr/>
        </p:nvSpPr>
        <p:spPr>
          <a:xfrm>
            <a:off x="884026" y="3414068"/>
            <a:ext cx="229401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아이디를 입력하세요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62DEDAE-E57E-D33C-A186-8DF8CEF636D5}"/>
              </a:ext>
            </a:extLst>
          </p:cNvPr>
          <p:cNvSpPr txBox="1"/>
          <p:nvPr/>
        </p:nvSpPr>
        <p:spPr>
          <a:xfrm>
            <a:off x="5406227" y="1402834"/>
            <a:ext cx="229401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비밀번호를 입력하세요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515C2DF-FB39-4FBB-B80D-10B1396CBF87}"/>
              </a:ext>
            </a:extLst>
          </p:cNvPr>
          <p:cNvSpPr txBox="1"/>
          <p:nvPr/>
        </p:nvSpPr>
        <p:spPr>
          <a:xfrm>
            <a:off x="5377222" y="2311522"/>
            <a:ext cx="229401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비밀번호를 입력하세요</a:t>
            </a: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67C18680-2FA7-34B8-6BA5-5482473E14BA}"/>
              </a:ext>
            </a:extLst>
          </p:cNvPr>
          <p:cNvSpPr/>
          <p:nvPr/>
        </p:nvSpPr>
        <p:spPr>
          <a:xfrm>
            <a:off x="907375" y="4775306"/>
            <a:ext cx="791727" cy="27991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010</a:t>
            </a:r>
            <a:endParaRPr lang="ko-KR" altLang="en-US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E577629D-AFF1-8F73-EAB7-97CCE40B5637}"/>
              </a:ext>
            </a:extLst>
          </p:cNvPr>
          <p:cNvSpPr/>
          <p:nvPr/>
        </p:nvSpPr>
        <p:spPr>
          <a:xfrm>
            <a:off x="2873837" y="4775306"/>
            <a:ext cx="791727" cy="27991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8888</a:t>
            </a:r>
            <a:endParaRPr lang="ko-KR" altLang="en-US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49" name="표 48">
            <a:extLst>
              <a:ext uri="{FF2B5EF4-FFF2-40B4-BE49-F238E27FC236}">
                <a16:creationId xmlns:a16="http://schemas.microsoft.com/office/drawing/2014/main" id="{92BC2454-A37D-4D83-4DF0-39EE467D5952}"/>
              </a:ext>
            </a:extLst>
          </p:cNvPr>
          <p:cNvGraphicFramePr>
            <a:graphicFrameLocks noGrp="1"/>
          </p:cNvGraphicFramePr>
          <p:nvPr/>
        </p:nvGraphicFramePr>
        <p:xfrm>
          <a:off x="5386187" y="1191723"/>
          <a:ext cx="1008968" cy="1208119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008968">
                  <a:extLst>
                    <a:ext uri="{9D8B030D-6E8A-4147-A177-3AD203B41FA5}">
                      <a16:colId xmlns:a16="http://schemas.microsoft.com/office/drawing/2014/main" val="191660697"/>
                    </a:ext>
                  </a:extLst>
                </a:gridCol>
              </a:tblGrid>
              <a:tr h="52231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비밀번호 </a:t>
                      </a:r>
                      <a:r>
                        <a:rPr lang="en-US" altLang="ko-KR" sz="900" b="1" u="none" dirty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*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1" u="none" dirty="0">
                        <a:solidFill>
                          <a:srgbClr val="FF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1" u="none" dirty="0">
                        <a:solidFill>
                          <a:srgbClr val="FF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1" u="none" dirty="0">
                        <a:solidFill>
                          <a:srgbClr val="FF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1" u="none" dirty="0">
                        <a:solidFill>
                          <a:srgbClr val="FF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7643745"/>
                  </a:ext>
                </a:extLst>
              </a:tr>
              <a:tr h="52231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비빌번호 확인 </a:t>
                      </a:r>
                      <a:r>
                        <a:rPr lang="en-US" altLang="ko-KR" sz="900" b="1" u="none" dirty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*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5337025"/>
                  </a:ext>
                </a:extLst>
              </a:tr>
            </a:tbl>
          </a:graphicData>
        </a:graphic>
      </p:graphicFrame>
      <p:sp>
        <p:nvSpPr>
          <p:cNvPr id="50" name="직사각형 49">
            <a:extLst>
              <a:ext uri="{FF2B5EF4-FFF2-40B4-BE49-F238E27FC236}">
                <a16:creationId xmlns:a16="http://schemas.microsoft.com/office/drawing/2014/main" id="{6CED4C4B-6431-7218-6012-D383D7A69FC6}"/>
              </a:ext>
            </a:extLst>
          </p:cNvPr>
          <p:cNvSpPr/>
          <p:nvPr/>
        </p:nvSpPr>
        <p:spPr>
          <a:xfrm>
            <a:off x="5206650" y="2980570"/>
            <a:ext cx="3108435" cy="357765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확인</a:t>
            </a:r>
          </a:p>
        </p:txBody>
      </p:sp>
      <p:sp>
        <p:nvSpPr>
          <p:cNvPr id="51" name="Oval 109">
            <a:extLst>
              <a:ext uri="{FF2B5EF4-FFF2-40B4-BE49-F238E27FC236}">
                <a16:creationId xmlns:a16="http://schemas.microsoft.com/office/drawing/2014/main" id="{0BC3E4F2-BA51-84B3-2329-445B43A7BE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314" y="2960688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1</a:t>
            </a:r>
          </a:p>
        </p:txBody>
      </p:sp>
      <p:sp>
        <p:nvSpPr>
          <p:cNvPr id="52" name="Oval 109">
            <a:extLst>
              <a:ext uri="{FF2B5EF4-FFF2-40B4-BE49-F238E27FC236}">
                <a16:creationId xmlns:a16="http://schemas.microsoft.com/office/drawing/2014/main" id="{5012940F-B073-0DFB-C49B-28CEEA3DFE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70375" y="2894170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4</a:t>
            </a: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4AB433C5-0963-4E09-73E9-A2DB7E3D46B8}"/>
              </a:ext>
            </a:extLst>
          </p:cNvPr>
          <p:cNvSpPr/>
          <p:nvPr/>
        </p:nvSpPr>
        <p:spPr>
          <a:xfrm>
            <a:off x="5223370" y="3632118"/>
            <a:ext cx="3091715" cy="264669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Footer</a:t>
            </a:r>
            <a:endParaRPr lang="ko-KR" altLang="en-US" sz="10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068702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4EB5BB-6B2E-18B3-3C09-730F829BFA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5CA36B0B-72C2-B2DB-F676-F46B1869E17E}"/>
              </a:ext>
            </a:extLst>
          </p:cNvPr>
          <p:cNvGraphicFramePr>
            <a:graphicFrameLocks noGrp="1"/>
          </p:cNvGraphicFramePr>
          <p:nvPr/>
        </p:nvGraphicFramePr>
        <p:xfrm>
          <a:off x="9182101" y="947377"/>
          <a:ext cx="2795588" cy="1847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1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선택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로그인 된 상태에서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메인화면으로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이동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684046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723838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3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172599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4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290794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5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922450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6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784800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7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0538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8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199337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9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450365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274F91A0-74CA-FF38-B2A9-0373480E7158}"/>
              </a:ext>
            </a:extLst>
          </p:cNvPr>
          <p:cNvSpPr/>
          <p:nvPr/>
        </p:nvSpPr>
        <p:spPr>
          <a:xfrm>
            <a:off x="959895" y="375614"/>
            <a:ext cx="875561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</a:pP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메인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회원가입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5283914-152A-996A-5929-516651999EA7}"/>
              </a:ext>
            </a:extLst>
          </p:cNvPr>
          <p:cNvSpPr txBox="1"/>
          <p:nvPr/>
        </p:nvSpPr>
        <p:spPr>
          <a:xfrm>
            <a:off x="6003996" y="123825"/>
            <a:ext cx="17303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HN_Join_001</a:t>
            </a:r>
            <a:endParaRPr lang="ko-KR" altLang="en-US" sz="800" dirty="0"/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C665CB95-9DD6-BF1D-DAF3-5C8716B3E02E}"/>
              </a:ext>
            </a:extLst>
          </p:cNvPr>
          <p:cNvCxnSpPr>
            <a:cxnSpLocks/>
          </p:cNvCxnSpPr>
          <p:nvPr/>
        </p:nvCxnSpPr>
        <p:spPr>
          <a:xfrm>
            <a:off x="655957" y="1658468"/>
            <a:ext cx="3109526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46C0762E-52C2-278B-C305-3F0525DC8F6C}"/>
              </a:ext>
            </a:extLst>
          </p:cNvPr>
          <p:cNvSpPr txBox="1"/>
          <p:nvPr/>
        </p:nvSpPr>
        <p:spPr>
          <a:xfrm>
            <a:off x="1793778" y="1181491"/>
            <a:ext cx="83388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하늘누리</a:t>
            </a:r>
            <a:endParaRPr lang="en-US" altLang="ko-KR" sz="11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en-US" altLang="ko-KR" sz="11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CI</a:t>
            </a:r>
            <a:endParaRPr lang="ko-KR" altLang="en-US" sz="11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15" name="그림 14" descr="블랙, 어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DAE4F53-074C-4A5D-6834-9F5A1E4C692C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2985" y="1191723"/>
            <a:ext cx="383533" cy="383533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7919D827-41B6-FD84-A4A9-EDA616F85128}"/>
              </a:ext>
            </a:extLst>
          </p:cNvPr>
          <p:cNvSpPr txBox="1"/>
          <p:nvPr/>
        </p:nvSpPr>
        <p:spPr>
          <a:xfrm>
            <a:off x="2826086" y="1293697"/>
            <a:ext cx="57184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" panose="020D0604000000000000" pitchFamily="50" charset="-127"/>
                <a:ea typeface="나눔고딕" panose="020D0604000000000000" pitchFamily="50" charset="-127"/>
              </a:rPr>
              <a:t>르그아웃</a:t>
            </a:r>
          </a:p>
        </p:txBody>
      </p:sp>
      <p:pic>
        <p:nvPicPr>
          <p:cNvPr id="21" name="Picture 4" descr="로그 아웃 아이콘">
            <a:extLst>
              <a:ext uri="{FF2B5EF4-FFF2-40B4-BE49-F238E27FC236}">
                <a16:creationId xmlns:a16="http://schemas.microsoft.com/office/drawing/2014/main" id="{4C4FE789-3C9F-C47F-97EB-E491DDC5C7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9631" y="1283929"/>
            <a:ext cx="217049" cy="217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665E34E6-7D3D-D385-2BA0-F83709782886}"/>
              </a:ext>
            </a:extLst>
          </p:cNvPr>
          <p:cNvSpPr txBox="1"/>
          <p:nvPr/>
        </p:nvSpPr>
        <p:spPr>
          <a:xfrm>
            <a:off x="1474758" y="1735412"/>
            <a:ext cx="16276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회원가입</a:t>
            </a:r>
            <a:endParaRPr lang="en-US" altLang="ko-KR" sz="16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C00B7B5-8DC5-D7C8-2ABA-220FC3FB4353}"/>
              </a:ext>
            </a:extLst>
          </p:cNvPr>
          <p:cNvSpPr txBox="1"/>
          <p:nvPr/>
        </p:nvSpPr>
        <p:spPr>
          <a:xfrm>
            <a:off x="959895" y="2150909"/>
            <a:ext cx="26625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회원가입을 하시면 하늘편지와 같은 온라인 추모관 및 다양한 서비스를 이용하실 수 있습니다</a:t>
            </a:r>
            <a:r>
              <a:rPr lang="en-US" altLang="ko-KR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9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" name="오른쪽 화살표 15">
            <a:extLst>
              <a:ext uri="{FF2B5EF4-FFF2-40B4-BE49-F238E27FC236}">
                <a16:creationId xmlns:a16="http://schemas.microsoft.com/office/drawing/2014/main" id="{F4278C5D-ECD6-C7C8-5462-B4778C1DD7BF}"/>
              </a:ext>
            </a:extLst>
          </p:cNvPr>
          <p:cNvSpPr/>
          <p:nvPr/>
        </p:nvSpPr>
        <p:spPr>
          <a:xfrm>
            <a:off x="774390" y="2705048"/>
            <a:ext cx="729858" cy="303151"/>
          </a:xfrm>
          <a:prstGeom prst="rightArrow">
            <a:avLst>
              <a:gd name="adj1" fmla="val 100000"/>
              <a:gd name="adj2" fmla="val 50000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1. </a:t>
            </a:r>
            <a:r>
              <a:rPr lang="ko-KR" altLang="en-US" sz="9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약관동의</a:t>
            </a:r>
          </a:p>
        </p:txBody>
      </p:sp>
      <p:sp>
        <p:nvSpPr>
          <p:cNvPr id="8" name="오른쪽 화살표 44">
            <a:extLst>
              <a:ext uri="{FF2B5EF4-FFF2-40B4-BE49-F238E27FC236}">
                <a16:creationId xmlns:a16="http://schemas.microsoft.com/office/drawing/2014/main" id="{5065EA3A-5CBF-FEC3-95D7-79C8F4CEAC7F}"/>
              </a:ext>
            </a:extLst>
          </p:cNvPr>
          <p:cNvSpPr/>
          <p:nvPr/>
        </p:nvSpPr>
        <p:spPr>
          <a:xfrm>
            <a:off x="1540687" y="2705048"/>
            <a:ext cx="729858" cy="303151"/>
          </a:xfrm>
          <a:prstGeom prst="rightArrow">
            <a:avLst>
              <a:gd name="adj1" fmla="val 100000"/>
              <a:gd name="adj2" fmla="val 50000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2. </a:t>
            </a:r>
            <a:r>
              <a:rPr lang="ko-KR" altLang="en-US" sz="9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본인인증</a:t>
            </a:r>
          </a:p>
        </p:txBody>
      </p:sp>
      <p:sp>
        <p:nvSpPr>
          <p:cNvPr id="9" name="오른쪽 화살표 45">
            <a:extLst>
              <a:ext uri="{FF2B5EF4-FFF2-40B4-BE49-F238E27FC236}">
                <a16:creationId xmlns:a16="http://schemas.microsoft.com/office/drawing/2014/main" id="{1C0E3911-2B43-6C78-F183-2E56F5B9B441}"/>
              </a:ext>
            </a:extLst>
          </p:cNvPr>
          <p:cNvSpPr/>
          <p:nvPr/>
        </p:nvSpPr>
        <p:spPr>
          <a:xfrm>
            <a:off x="2295915" y="2705048"/>
            <a:ext cx="729858" cy="303151"/>
          </a:xfrm>
          <a:prstGeom prst="rightArrow">
            <a:avLst>
              <a:gd name="adj1" fmla="val 100000"/>
              <a:gd name="adj2" fmla="val 50000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3. </a:t>
            </a:r>
            <a:r>
              <a:rPr lang="ko-KR" altLang="en-US" sz="9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정보입력</a:t>
            </a:r>
          </a:p>
        </p:txBody>
      </p:sp>
      <p:sp>
        <p:nvSpPr>
          <p:cNvPr id="10" name="오른쪽 화살표 46">
            <a:extLst>
              <a:ext uri="{FF2B5EF4-FFF2-40B4-BE49-F238E27FC236}">
                <a16:creationId xmlns:a16="http://schemas.microsoft.com/office/drawing/2014/main" id="{1626A23A-61A9-AD30-EAB5-6546060DAB28}"/>
              </a:ext>
            </a:extLst>
          </p:cNvPr>
          <p:cNvSpPr/>
          <p:nvPr/>
        </p:nvSpPr>
        <p:spPr>
          <a:xfrm>
            <a:off x="3053249" y="2705048"/>
            <a:ext cx="729858" cy="303151"/>
          </a:xfrm>
          <a:prstGeom prst="rightArrow">
            <a:avLst>
              <a:gd name="adj1" fmla="val 100000"/>
              <a:gd name="adj2" fmla="val 50000"/>
            </a:avLst>
          </a:prstGeom>
          <a:solidFill>
            <a:schemeClr val="tx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4. </a:t>
            </a:r>
            <a:r>
              <a:rPr lang="ko-KR" altLang="en-US" sz="9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가입완료</a:t>
            </a:r>
          </a:p>
        </p:txBody>
      </p:sp>
      <p:sp>
        <p:nvSpPr>
          <p:cNvPr id="11" name="모서리가 둥근 직사각형 39">
            <a:extLst>
              <a:ext uri="{FF2B5EF4-FFF2-40B4-BE49-F238E27FC236}">
                <a16:creationId xmlns:a16="http://schemas.microsoft.com/office/drawing/2014/main" id="{35C1EDCE-A497-EA03-7005-3245467BEE1A}"/>
              </a:ext>
            </a:extLst>
          </p:cNvPr>
          <p:cNvSpPr/>
          <p:nvPr/>
        </p:nvSpPr>
        <p:spPr>
          <a:xfrm>
            <a:off x="754589" y="3445378"/>
            <a:ext cx="2948717" cy="1754154"/>
          </a:xfrm>
          <a:prstGeom prst="roundRect">
            <a:avLst>
              <a:gd name="adj" fmla="val 3334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10068F7-1B80-667E-A5C1-4421C3586675}"/>
              </a:ext>
            </a:extLst>
          </p:cNvPr>
          <p:cNvSpPr txBox="1"/>
          <p:nvPr/>
        </p:nvSpPr>
        <p:spPr>
          <a:xfrm>
            <a:off x="871019" y="3692504"/>
            <a:ext cx="2751605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r>
              <a:rPr lang="ko-KR" altLang="en-US" sz="11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홍길동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님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반갑습니다</a:t>
            </a:r>
            <a:endParaRPr lang="en-US" altLang="ko-KR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endParaRPr lang="en-US" altLang="ko-KR" sz="11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정상적으로 하늘누리 온라인 회원에 가입되셨습니다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지금부터 하늘누리의 모든 서비스를 이용하실 수 있습니다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" name="모서리가 둥근 직사각형 63">
            <a:extLst>
              <a:ext uri="{FF2B5EF4-FFF2-40B4-BE49-F238E27FC236}">
                <a16:creationId xmlns:a16="http://schemas.microsoft.com/office/drawing/2014/main" id="{0F61A4C8-4E77-CCB0-4CE0-6BFB172CE402}"/>
              </a:ext>
            </a:extLst>
          </p:cNvPr>
          <p:cNvSpPr/>
          <p:nvPr/>
        </p:nvSpPr>
        <p:spPr bwMode="auto">
          <a:xfrm>
            <a:off x="1621537" y="4707154"/>
            <a:ext cx="1198930" cy="276024"/>
          </a:xfrm>
          <a:prstGeom prst="roundRect">
            <a:avLst/>
          </a:prstGeom>
          <a:solidFill>
            <a:schemeClr val="tx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900" b="1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메인 화면으로 가기</a:t>
            </a:r>
            <a:endParaRPr kumimoji="1" lang="ko-KR" altLang="en-US" sz="900" b="1" dirty="0">
              <a:ln w="0" cmpd="sng">
                <a:solidFill>
                  <a:schemeClr val="tx2">
                    <a:satMod val="155000"/>
                    <a:alpha val="0"/>
                  </a:schemeClr>
                </a:solidFill>
                <a:prstDash val="solid"/>
                <a:round/>
              </a:ln>
              <a:solidFill>
                <a:schemeClr val="bg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7" name="Oval 109">
            <a:extLst>
              <a:ext uri="{FF2B5EF4-FFF2-40B4-BE49-F238E27FC236}">
                <a16:creationId xmlns:a16="http://schemas.microsoft.com/office/drawing/2014/main" id="{D7486269-97B9-3E12-7335-9FFCCF6FE4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01971" y="4585966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1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971431FA-A4C3-9906-5438-CEB1EF8679BF}"/>
              </a:ext>
            </a:extLst>
          </p:cNvPr>
          <p:cNvSpPr/>
          <p:nvPr/>
        </p:nvSpPr>
        <p:spPr>
          <a:xfrm>
            <a:off x="691392" y="5958925"/>
            <a:ext cx="3091715" cy="264669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Footer</a:t>
            </a:r>
            <a:endParaRPr lang="ko-KR" altLang="en-US" sz="10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50880728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E64165-732A-09E9-5C19-15132EE002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BAC85FB-899E-BEC8-F8B4-4C2351BA6B13}"/>
              </a:ext>
            </a:extLst>
          </p:cNvPr>
          <p:cNvSpPr txBox="1"/>
          <p:nvPr/>
        </p:nvSpPr>
        <p:spPr>
          <a:xfrm>
            <a:off x="1047750" y="2476500"/>
            <a:ext cx="2390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나눔고딕" pitchFamily="2" charset="-127"/>
                <a:ea typeface="나눔고딕" pitchFamily="2" charset="-127"/>
              </a:rPr>
              <a:t>03. </a:t>
            </a:r>
            <a:r>
              <a:rPr lang="ko-KR" altLang="en-US" b="1" dirty="0">
                <a:latin typeface="나눔고딕" pitchFamily="2" charset="-127"/>
                <a:ea typeface="나눔고딕" pitchFamily="2" charset="-127"/>
              </a:rPr>
              <a:t>로그인</a:t>
            </a:r>
          </a:p>
        </p:txBody>
      </p:sp>
    </p:spTree>
    <p:extLst>
      <p:ext uri="{BB962C8B-B14F-4D97-AF65-F5344CB8AC3E}">
        <p14:creationId xmlns:p14="http://schemas.microsoft.com/office/powerpoint/2010/main" val="3995378320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AC2EF8-3774-7445-0BC4-5708E30F6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B91E9091-5844-23E8-A837-A227C202A9FD}"/>
              </a:ext>
            </a:extLst>
          </p:cNvPr>
          <p:cNvGraphicFramePr>
            <a:graphicFrameLocks noGrp="1"/>
          </p:cNvGraphicFramePr>
          <p:nvPr/>
        </p:nvGraphicFramePr>
        <p:xfrm>
          <a:off x="9182101" y="947377"/>
          <a:ext cx="2795588" cy="24569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1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로그인 버튼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버튼 선택 시 유효성 체크 후 로그인 후 메인 화면으로 이동 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ID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또는 비밀번호를 잘못 입력한 경우 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Alert 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메시지 노출 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“ID, 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비빌번호를 확인하시고 다시 로그인 해주시기 바랍니다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.”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684046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선택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회원가입 화면으로 이동</a:t>
                      </a: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723838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3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선택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ID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찾기 화면으로 이동</a:t>
                      </a: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172599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4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선택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비밀번호 찾기 화면으로 이동</a:t>
                      </a: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290794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5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922450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6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784800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7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0538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8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199337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9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450365"/>
                  </a:ext>
                </a:extLst>
              </a:tr>
            </a:tbl>
          </a:graphicData>
        </a:graphic>
      </p:graphicFrame>
      <p:sp>
        <p:nvSpPr>
          <p:cNvPr id="3" name="직사각형 2"/>
          <p:cNvSpPr/>
          <p:nvPr/>
        </p:nvSpPr>
        <p:spPr>
          <a:xfrm>
            <a:off x="959895" y="375614"/>
            <a:ext cx="779381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</a:pP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메인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로그인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03996" y="123825"/>
            <a:ext cx="17303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HN_Login_001</a:t>
            </a:r>
            <a:endParaRPr lang="ko-KR" altLang="en-US" sz="800" dirty="0"/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2FDDD356-9CD6-E1BA-C61C-30B132C96362}"/>
              </a:ext>
            </a:extLst>
          </p:cNvPr>
          <p:cNvCxnSpPr>
            <a:cxnSpLocks/>
          </p:cNvCxnSpPr>
          <p:nvPr/>
        </p:nvCxnSpPr>
        <p:spPr>
          <a:xfrm>
            <a:off x="655957" y="1658468"/>
            <a:ext cx="3109526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45FA6DEE-0774-B167-F900-DC2D936224F2}"/>
              </a:ext>
            </a:extLst>
          </p:cNvPr>
          <p:cNvSpPr txBox="1"/>
          <p:nvPr/>
        </p:nvSpPr>
        <p:spPr>
          <a:xfrm>
            <a:off x="1793778" y="1181491"/>
            <a:ext cx="83388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하늘누리</a:t>
            </a:r>
            <a:endParaRPr lang="en-US" altLang="ko-KR" sz="11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en-US" altLang="ko-KR" sz="11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CI</a:t>
            </a:r>
            <a:endParaRPr lang="ko-KR" altLang="en-US" sz="11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6" name="그림 5" descr="블랙, 어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692AAA2-CD8D-326F-9C3F-2C46575088D5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2985" y="1191723"/>
            <a:ext cx="383533" cy="38353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5BAA733-B3A2-1EFE-CFB0-BB5B6FA59575}"/>
              </a:ext>
            </a:extLst>
          </p:cNvPr>
          <p:cNvSpPr txBox="1"/>
          <p:nvPr/>
        </p:nvSpPr>
        <p:spPr>
          <a:xfrm>
            <a:off x="2826086" y="1293697"/>
            <a:ext cx="57184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" panose="020D0604000000000000" pitchFamily="50" charset="-127"/>
                <a:ea typeface="나눔고딕" panose="020D0604000000000000" pitchFamily="50" charset="-127"/>
              </a:rPr>
              <a:t>르그아웃</a:t>
            </a:r>
          </a:p>
        </p:txBody>
      </p:sp>
      <p:pic>
        <p:nvPicPr>
          <p:cNvPr id="8" name="Picture 4" descr="로그 아웃 아이콘">
            <a:extLst>
              <a:ext uri="{FF2B5EF4-FFF2-40B4-BE49-F238E27FC236}">
                <a16:creationId xmlns:a16="http://schemas.microsoft.com/office/drawing/2014/main" id="{F5781CB5-FA50-9214-615B-BF758F2533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9631" y="1283929"/>
            <a:ext cx="217049" cy="217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7484519-9697-8530-D52F-1E4C8E74348E}"/>
              </a:ext>
            </a:extLst>
          </p:cNvPr>
          <p:cNvSpPr txBox="1"/>
          <p:nvPr/>
        </p:nvSpPr>
        <p:spPr>
          <a:xfrm>
            <a:off x="1343128" y="1807796"/>
            <a:ext cx="17351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로그인</a:t>
            </a:r>
            <a:endParaRPr lang="en-US" altLang="ko-KR" sz="16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2E87C8B-45BB-AB74-612B-36DB9EB871CA}"/>
              </a:ext>
            </a:extLst>
          </p:cNvPr>
          <p:cNvSpPr/>
          <p:nvPr/>
        </p:nvSpPr>
        <p:spPr>
          <a:xfrm>
            <a:off x="1739276" y="2500682"/>
            <a:ext cx="942784" cy="35821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CI</a:t>
            </a:r>
          </a:p>
        </p:txBody>
      </p:sp>
      <p:sp>
        <p:nvSpPr>
          <p:cNvPr id="11" name="모서리가 둥근 직사각형 39">
            <a:extLst>
              <a:ext uri="{FF2B5EF4-FFF2-40B4-BE49-F238E27FC236}">
                <a16:creationId xmlns:a16="http://schemas.microsoft.com/office/drawing/2014/main" id="{2E7B3D2E-8863-F00F-E683-177AD21CD5FC}"/>
              </a:ext>
            </a:extLst>
          </p:cNvPr>
          <p:cNvSpPr/>
          <p:nvPr/>
        </p:nvSpPr>
        <p:spPr>
          <a:xfrm>
            <a:off x="909375" y="3168571"/>
            <a:ext cx="2676507" cy="1916173"/>
          </a:xfrm>
          <a:prstGeom prst="roundRect">
            <a:avLst>
              <a:gd name="adj" fmla="val 3334"/>
            </a:avLst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2" name="모서리가 둥근 직사각형 63">
            <a:extLst>
              <a:ext uri="{FF2B5EF4-FFF2-40B4-BE49-F238E27FC236}">
                <a16:creationId xmlns:a16="http://schemas.microsoft.com/office/drawing/2014/main" id="{4B948D5A-F8C2-B708-3E3C-DE82AD611A9C}"/>
              </a:ext>
            </a:extLst>
          </p:cNvPr>
          <p:cNvSpPr/>
          <p:nvPr/>
        </p:nvSpPr>
        <p:spPr bwMode="auto">
          <a:xfrm>
            <a:off x="1157622" y="4651236"/>
            <a:ext cx="2215363" cy="276024"/>
          </a:xfrm>
          <a:prstGeom prst="roundRect">
            <a:avLst/>
          </a:prstGeom>
          <a:solidFill>
            <a:schemeClr val="tx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000" b="1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로그인</a:t>
            </a:r>
            <a:endParaRPr kumimoji="1" lang="ko-KR" altLang="en-US" sz="1000" b="1" dirty="0">
              <a:ln w="0" cmpd="sng">
                <a:solidFill>
                  <a:schemeClr val="tx2">
                    <a:satMod val="155000"/>
                    <a:alpha val="0"/>
                  </a:schemeClr>
                </a:solidFill>
                <a:prstDash val="solid"/>
                <a:round/>
              </a:ln>
              <a:solidFill>
                <a:schemeClr val="bg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3" name="Oval 109">
            <a:extLst>
              <a:ext uri="{FF2B5EF4-FFF2-40B4-BE49-F238E27FC236}">
                <a16:creationId xmlns:a16="http://schemas.microsoft.com/office/drawing/2014/main" id="{88970A3B-AD11-E3D8-C55C-CC711876EE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3158" y="4481704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1</a:t>
            </a:r>
          </a:p>
        </p:txBody>
      </p:sp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EF3B56FA-2033-C21A-C553-F35447A67B69}"/>
              </a:ext>
            </a:extLst>
          </p:cNvPr>
          <p:cNvGraphicFramePr>
            <a:graphicFrameLocks noGrp="1"/>
          </p:cNvGraphicFramePr>
          <p:nvPr/>
        </p:nvGraphicFramePr>
        <p:xfrm>
          <a:off x="1161909" y="3453520"/>
          <a:ext cx="1008968" cy="841344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008968">
                  <a:extLst>
                    <a:ext uri="{9D8B030D-6E8A-4147-A177-3AD203B41FA5}">
                      <a16:colId xmlns:a16="http://schemas.microsoft.com/office/drawing/2014/main" val="1553538150"/>
                    </a:ext>
                  </a:extLst>
                </a:gridCol>
              </a:tblGrid>
              <a:tr h="42067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아이디</a:t>
                      </a:r>
                      <a:endParaRPr lang="en-US" altLang="ko-KR" sz="9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algn="l" latinLnBrk="1"/>
                      <a:r>
                        <a:rPr lang="ko-KR" altLang="en-US" sz="9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endParaRPr lang="en-US" altLang="ko-KR" sz="9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algn="l" latinLnBrk="1"/>
                      <a:endParaRPr lang="en-US" altLang="ko-KR" sz="900" b="1" u="none" dirty="0">
                        <a:solidFill>
                          <a:srgbClr val="FF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0268165"/>
                  </a:ext>
                </a:extLst>
              </a:tr>
              <a:tr h="42067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비밀번호 </a:t>
                      </a:r>
                      <a:endParaRPr lang="en-US" altLang="ko-KR" sz="900" b="1" u="none" dirty="0">
                        <a:solidFill>
                          <a:srgbClr val="FF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5462810"/>
                  </a:ext>
                </a:extLst>
              </a:tr>
            </a:tbl>
          </a:graphicData>
        </a:graphic>
      </p:graphicFrame>
      <p:sp>
        <p:nvSpPr>
          <p:cNvPr id="15" name="직사각형 14">
            <a:extLst>
              <a:ext uri="{FF2B5EF4-FFF2-40B4-BE49-F238E27FC236}">
                <a16:creationId xmlns:a16="http://schemas.microsoft.com/office/drawing/2014/main" id="{7D6A7BBE-402A-81B2-AFD3-C05344074DF8}"/>
              </a:ext>
            </a:extLst>
          </p:cNvPr>
          <p:cNvSpPr/>
          <p:nvPr/>
        </p:nvSpPr>
        <p:spPr>
          <a:xfrm>
            <a:off x="1165958" y="3654982"/>
            <a:ext cx="2199200" cy="27991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6588B9A1-AD7E-BE7D-6719-C6FABEB5352B}"/>
              </a:ext>
            </a:extLst>
          </p:cNvPr>
          <p:cNvSpPr/>
          <p:nvPr/>
        </p:nvSpPr>
        <p:spPr>
          <a:xfrm>
            <a:off x="1161909" y="4229036"/>
            <a:ext cx="2199200" cy="27991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9" name="모서리가 둥근 직사각형 63">
            <a:extLst>
              <a:ext uri="{FF2B5EF4-FFF2-40B4-BE49-F238E27FC236}">
                <a16:creationId xmlns:a16="http://schemas.microsoft.com/office/drawing/2014/main" id="{4A382FF1-93F1-6F90-6403-DC1BA221C2CA}"/>
              </a:ext>
            </a:extLst>
          </p:cNvPr>
          <p:cNvSpPr/>
          <p:nvPr/>
        </p:nvSpPr>
        <p:spPr bwMode="auto">
          <a:xfrm>
            <a:off x="1985109" y="5199532"/>
            <a:ext cx="665031" cy="276024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900" b="1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ID </a:t>
            </a:r>
            <a:r>
              <a:rPr kumimoji="1" lang="ko-KR" altLang="en-US" sz="900" b="1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찾기</a:t>
            </a:r>
          </a:p>
        </p:txBody>
      </p:sp>
      <p:sp>
        <p:nvSpPr>
          <p:cNvPr id="20" name="모서리가 둥근 직사각형 63">
            <a:extLst>
              <a:ext uri="{FF2B5EF4-FFF2-40B4-BE49-F238E27FC236}">
                <a16:creationId xmlns:a16="http://schemas.microsoft.com/office/drawing/2014/main" id="{33EA16D5-B497-DE38-0796-48AC2C158DC0}"/>
              </a:ext>
            </a:extLst>
          </p:cNvPr>
          <p:cNvSpPr/>
          <p:nvPr/>
        </p:nvSpPr>
        <p:spPr bwMode="auto">
          <a:xfrm>
            <a:off x="2709545" y="5199532"/>
            <a:ext cx="845525" cy="276024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900" b="1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비밀번호</a:t>
            </a:r>
            <a:r>
              <a:rPr kumimoji="1" lang="en-US" altLang="ko-KR" sz="900" b="1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 </a:t>
            </a:r>
            <a:r>
              <a:rPr kumimoji="1" lang="ko-KR" altLang="en-US" sz="900" b="1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찾기</a:t>
            </a:r>
          </a:p>
        </p:txBody>
      </p:sp>
      <p:sp>
        <p:nvSpPr>
          <p:cNvPr id="21" name="모서리가 둥근 직사각형 63">
            <a:extLst>
              <a:ext uri="{FF2B5EF4-FFF2-40B4-BE49-F238E27FC236}">
                <a16:creationId xmlns:a16="http://schemas.microsoft.com/office/drawing/2014/main" id="{FD371015-0111-82E3-55C9-8E2FC89C7910}"/>
              </a:ext>
            </a:extLst>
          </p:cNvPr>
          <p:cNvSpPr/>
          <p:nvPr/>
        </p:nvSpPr>
        <p:spPr bwMode="auto">
          <a:xfrm>
            <a:off x="909375" y="5199532"/>
            <a:ext cx="704272" cy="276024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900" b="1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회원가입</a:t>
            </a:r>
          </a:p>
        </p:txBody>
      </p:sp>
      <p:sp>
        <p:nvSpPr>
          <p:cNvPr id="22" name="Oval 109">
            <a:extLst>
              <a:ext uri="{FF2B5EF4-FFF2-40B4-BE49-F238E27FC236}">
                <a16:creationId xmlns:a16="http://schemas.microsoft.com/office/drawing/2014/main" id="{2D221C27-0243-60D1-92CE-27F66EA313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975" y="5084744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2</a:t>
            </a:r>
          </a:p>
        </p:txBody>
      </p:sp>
      <p:sp>
        <p:nvSpPr>
          <p:cNvPr id="23" name="Oval 109">
            <a:extLst>
              <a:ext uri="{FF2B5EF4-FFF2-40B4-BE49-F238E27FC236}">
                <a16:creationId xmlns:a16="http://schemas.microsoft.com/office/drawing/2014/main" id="{C0CE5530-2B33-C40E-2EF4-5DB8E744C2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25704" y="5111670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3</a:t>
            </a:r>
          </a:p>
        </p:txBody>
      </p:sp>
      <p:sp>
        <p:nvSpPr>
          <p:cNvPr id="24" name="Oval 109">
            <a:extLst>
              <a:ext uri="{FF2B5EF4-FFF2-40B4-BE49-F238E27FC236}">
                <a16:creationId xmlns:a16="http://schemas.microsoft.com/office/drawing/2014/main" id="{2EEC84FA-AD73-D794-C64A-A439F38BD4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50140" y="5138890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4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F9603E8B-9BE7-296D-D076-2F6CBA8AB2B0}"/>
              </a:ext>
            </a:extLst>
          </p:cNvPr>
          <p:cNvSpPr/>
          <p:nvPr/>
        </p:nvSpPr>
        <p:spPr>
          <a:xfrm>
            <a:off x="691392" y="5958925"/>
            <a:ext cx="3091715" cy="264669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Footer</a:t>
            </a:r>
            <a:endParaRPr lang="ko-KR" altLang="en-US" sz="10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5292312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AC2EF8-3774-7445-0BC4-5708E30F6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B91E9091-5844-23E8-A837-A227C202A9FD}"/>
              </a:ext>
            </a:extLst>
          </p:cNvPr>
          <p:cNvGraphicFramePr>
            <a:graphicFrameLocks noGrp="1"/>
          </p:cNvGraphicFramePr>
          <p:nvPr/>
        </p:nvGraphicFramePr>
        <p:xfrm>
          <a:off x="9182101" y="947377"/>
          <a:ext cx="2795588" cy="28226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1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확인 버튼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성명과 휴대전화번호 정확히 입력 후 확인 버튼 선택 시 정합성 체크 후 등록 메일로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ID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발송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이메일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발송팝엄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노출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dirty="0">
                          <a:solidFill>
                            <a:srgbClr val="FF0000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ID</a:t>
                      </a:r>
                      <a:r>
                        <a:rPr lang="en-US" altLang="ko-KR" sz="800" b="1" baseline="0" dirty="0">
                          <a:solidFill>
                            <a:srgbClr val="FF0000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</a:t>
                      </a:r>
                      <a:r>
                        <a:rPr lang="ko-KR" altLang="en-US" sz="800" b="1" baseline="0" dirty="0">
                          <a:solidFill>
                            <a:srgbClr val="FF0000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메일 발송 내용은 </a:t>
                      </a:r>
                      <a:r>
                        <a:rPr lang="en-US" altLang="ko-KR" sz="800" b="1" baseline="0" dirty="0">
                          <a:solidFill>
                            <a:srgbClr val="FF0000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ID</a:t>
                      </a:r>
                      <a:r>
                        <a:rPr lang="ko-KR" altLang="en-US" sz="800" b="1" baseline="0" dirty="0">
                          <a:solidFill>
                            <a:srgbClr val="FF0000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의 끝 두자리는 마스킹 처리하여 발송</a:t>
                      </a:r>
                      <a:r>
                        <a:rPr lang="en-US" altLang="ko-KR" sz="800" b="1" baseline="0" dirty="0">
                          <a:solidFill>
                            <a:srgbClr val="FF0000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. </a:t>
                      </a:r>
                      <a:r>
                        <a:rPr lang="ko-KR" altLang="en-US" sz="800" b="1" baseline="0" dirty="0">
                          <a:solidFill>
                            <a:srgbClr val="FF0000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예</a:t>
                      </a:r>
                      <a:r>
                        <a:rPr lang="en-US" altLang="ko-KR" sz="800" b="1" baseline="0" dirty="0">
                          <a:solidFill>
                            <a:srgbClr val="FF0000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)gildo**</a:t>
                      </a:r>
                      <a:endParaRPr lang="en-US" altLang="ko-KR" sz="800" b="1" dirty="0">
                        <a:solidFill>
                          <a:srgbClr val="FF0000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성명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또는 휴대전화번호를 잘못 입력한 경우 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Alert 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메시지 노출 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“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성명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휴대전화번호를 확인하시고 다시 시도해주시기 바랍니다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.”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684046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723838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3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172599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4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290794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5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922450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6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784800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7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0538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8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199337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9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450365"/>
                  </a:ext>
                </a:extLst>
              </a:tr>
            </a:tbl>
          </a:graphicData>
        </a:graphic>
      </p:graphicFrame>
      <p:sp>
        <p:nvSpPr>
          <p:cNvPr id="3" name="직사각형 2"/>
          <p:cNvSpPr/>
          <p:nvPr/>
        </p:nvSpPr>
        <p:spPr>
          <a:xfrm>
            <a:off x="959895" y="375614"/>
            <a:ext cx="1402948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</a:pP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메인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로그인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아이디 찾기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03996" y="123825"/>
            <a:ext cx="17303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HN_Login_Idsearch_001</a:t>
            </a:r>
            <a:endParaRPr lang="ko-KR" altLang="en-US" sz="800" dirty="0"/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20376785-8AFE-0141-78C2-EC2F1A0D4860}"/>
              </a:ext>
            </a:extLst>
          </p:cNvPr>
          <p:cNvCxnSpPr>
            <a:cxnSpLocks/>
          </p:cNvCxnSpPr>
          <p:nvPr/>
        </p:nvCxnSpPr>
        <p:spPr>
          <a:xfrm>
            <a:off x="655957" y="1658468"/>
            <a:ext cx="3109526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0129AB3F-7D1D-ADCB-0C73-E52654841A8E}"/>
              </a:ext>
            </a:extLst>
          </p:cNvPr>
          <p:cNvSpPr txBox="1"/>
          <p:nvPr/>
        </p:nvSpPr>
        <p:spPr>
          <a:xfrm>
            <a:off x="1793778" y="1181491"/>
            <a:ext cx="83388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하늘누리</a:t>
            </a:r>
            <a:endParaRPr lang="en-US" altLang="ko-KR" sz="11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en-US" altLang="ko-KR" sz="11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CI</a:t>
            </a:r>
            <a:endParaRPr lang="ko-KR" altLang="en-US" sz="11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6" name="그림 5" descr="블랙, 어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A82A80C-AAB0-20B8-12A0-30E1CD194A3F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2985" y="1191723"/>
            <a:ext cx="383533" cy="38353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6439D70-C3BA-7D24-2341-DF57B0C8CEBA}"/>
              </a:ext>
            </a:extLst>
          </p:cNvPr>
          <p:cNvSpPr txBox="1"/>
          <p:nvPr/>
        </p:nvSpPr>
        <p:spPr>
          <a:xfrm>
            <a:off x="2826086" y="1293697"/>
            <a:ext cx="57184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" panose="020D0604000000000000" pitchFamily="50" charset="-127"/>
                <a:ea typeface="나눔고딕" panose="020D0604000000000000" pitchFamily="50" charset="-127"/>
              </a:rPr>
              <a:t>르그아웃</a:t>
            </a:r>
          </a:p>
        </p:txBody>
      </p:sp>
      <p:pic>
        <p:nvPicPr>
          <p:cNvPr id="8" name="Picture 4" descr="로그 아웃 아이콘">
            <a:extLst>
              <a:ext uri="{FF2B5EF4-FFF2-40B4-BE49-F238E27FC236}">
                <a16:creationId xmlns:a16="http://schemas.microsoft.com/office/drawing/2014/main" id="{4A1A9175-7D5A-F80E-0DA0-B5C56766A4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9631" y="1283929"/>
            <a:ext cx="217049" cy="217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FDD5B4A-5021-C288-A2C7-A805E3A8665C}"/>
              </a:ext>
            </a:extLst>
          </p:cNvPr>
          <p:cNvSpPr txBox="1"/>
          <p:nvPr/>
        </p:nvSpPr>
        <p:spPr>
          <a:xfrm>
            <a:off x="1343128" y="1807796"/>
            <a:ext cx="17351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ID </a:t>
            </a:r>
            <a:r>
              <a:rPr lang="ko-KR" altLang="en-US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찾기</a:t>
            </a:r>
            <a:endParaRPr lang="en-US" altLang="ko-KR" sz="1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3631E2E-CAA2-4C82-6704-AB1AE0430688}"/>
              </a:ext>
            </a:extLst>
          </p:cNvPr>
          <p:cNvSpPr/>
          <p:nvPr/>
        </p:nvSpPr>
        <p:spPr>
          <a:xfrm>
            <a:off x="1739276" y="2500682"/>
            <a:ext cx="942784" cy="35821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CI</a:t>
            </a:r>
          </a:p>
        </p:txBody>
      </p:sp>
      <p:sp>
        <p:nvSpPr>
          <p:cNvPr id="16" name="모서리가 둥근 직사각형 39">
            <a:extLst>
              <a:ext uri="{FF2B5EF4-FFF2-40B4-BE49-F238E27FC236}">
                <a16:creationId xmlns:a16="http://schemas.microsoft.com/office/drawing/2014/main" id="{692B766E-9234-AD69-AFD6-149EEC619041}"/>
              </a:ext>
            </a:extLst>
          </p:cNvPr>
          <p:cNvSpPr/>
          <p:nvPr/>
        </p:nvSpPr>
        <p:spPr>
          <a:xfrm>
            <a:off x="909375" y="3168571"/>
            <a:ext cx="2676507" cy="1916173"/>
          </a:xfrm>
          <a:prstGeom prst="roundRect">
            <a:avLst>
              <a:gd name="adj" fmla="val 3334"/>
            </a:avLst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9" name="모서리가 둥근 직사각형 63">
            <a:extLst>
              <a:ext uri="{FF2B5EF4-FFF2-40B4-BE49-F238E27FC236}">
                <a16:creationId xmlns:a16="http://schemas.microsoft.com/office/drawing/2014/main" id="{A9D7F95F-0A96-4F69-7E37-5C21BE37F5A3}"/>
              </a:ext>
            </a:extLst>
          </p:cNvPr>
          <p:cNvSpPr/>
          <p:nvPr/>
        </p:nvSpPr>
        <p:spPr bwMode="auto">
          <a:xfrm>
            <a:off x="1157622" y="4651236"/>
            <a:ext cx="2215363" cy="276024"/>
          </a:xfrm>
          <a:prstGeom prst="roundRect">
            <a:avLst/>
          </a:prstGeom>
          <a:solidFill>
            <a:schemeClr val="tx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000" b="1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확인</a:t>
            </a:r>
          </a:p>
        </p:txBody>
      </p:sp>
      <p:graphicFrame>
        <p:nvGraphicFramePr>
          <p:cNvPr id="20" name="표 19">
            <a:extLst>
              <a:ext uri="{FF2B5EF4-FFF2-40B4-BE49-F238E27FC236}">
                <a16:creationId xmlns:a16="http://schemas.microsoft.com/office/drawing/2014/main" id="{6A5149D3-5888-D001-3C9F-A09FE122C71B}"/>
              </a:ext>
            </a:extLst>
          </p:cNvPr>
          <p:cNvGraphicFramePr>
            <a:graphicFrameLocks noGrp="1"/>
          </p:cNvGraphicFramePr>
          <p:nvPr/>
        </p:nvGraphicFramePr>
        <p:xfrm>
          <a:off x="1161909" y="3453520"/>
          <a:ext cx="1008968" cy="841344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008968">
                  <a:extLst>
                    <a:ext uri="{9D8B030D-6E8A-4147-A177-3AD203B41FA5}">
                      <a16:colId xmlns:a16="http://schemas.microsoft.com/office/drawing/2014/main" val="1553538150"/>
                    </a:ext>
                  </a:extLst>
                </a:gridCol>
              </a:tblGrid>
              <a:tr h="42067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성명</a:t>
                      </a:r>
                      <a:endParaRPr lang="en-US" altLang="ko-KR" sz="9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algn="l" latinLnBrk="1"/>
                      <a:r>
                        <a:rPr lang="ko-KR" altLang="en-US" sz="9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endParaRPr lang="en-US" altLang="ko-KR" sz="9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algn="l" latinLnBrk="1"/>
                      <a:endParaRPr lang="en-US" altLang="ko-KR" sz="900" b="1" u="none" dirty="0">
                        <a:solidFill>
                          <a:srgbClr val="FF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0268165"/>
                  </a:ext>
                </a:extLst>
              </a:tr>
              <a:tr h="42067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휴대전화번호 </a:t>
                      </a:r>
                      <a:endParaRPr lang="en-US" altLang="ko-KR" sz="900" b="1" u="none" dirty="0">
                        <a:solidFill>
                          <a:srgbClr val="FF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5462810"/>
                  </a:ext>
                </a:extLst>
              </a:tr>
            </a:tbl>
          </a:graphicData>
        </a:graphic>
      </p:graphicFrame>
      <p:sp>
        <p:nvSpPr>
          <p:cNvPr id="21" name="직사각형 20">
            <a:extLst>
              <a:ext uri="{FF2B5EF4-FFF2-40B4-BE49-F238E27FC236}">
                <a16:creationId xmlns:a16="http://schemas.microsoft.com/office/drawing/2014/main" id="{FC77C051-1C1A-4223-D005-9910085FCEC9}"/>
              </a:ext>
            </a:extLst>
          </p:cNvPr>
          <p:cNvSpPr/>
          <p:nvPr/>
        </p:nvSpPr>
        <p:spPr>
          <a:xfrm>
            <a:off x="1165958" y="3654982"/>
            <a:ext cx="2199200" cy="27991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851ABA42-6115-643C-5A0F-29BB1D2D91A0}"/>
              </a:ext>
            </a:extLst>
          </p:cNvPr>
          <p:cNvSpPr/>
          <p:nvPr/>
        </p:nvSpPr>
        <p:spPr>
          <a:xfrm>
            <a:off x="1161909" y="4229036"/>
            <a:ext cx="2199200" cy="27991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2" name="Oval 109">
            <a:extLst>
              <a:ext uri="{FF2B5EF4-FFF2-40B4-BE49-F238E27FC236}">
                <a16:creationId xmlns:a16="http://schemas.microsoft.com/office/drawing/2014/main" id="{74365D8C-B2E9-7A5E-F487-E740692AFB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7955" y="4552510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1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DD7AF16E-2C4B-3516-7F71-3428C5699D5B}"/>
              </a:ext>
            </a:extLst>
          </p:cNvPr>
          <p:cNvSpPr/>
          <p:nvPr/>
        </p:nvSpPr>
        <p:spPr>
          <a:xfrm>
            <a:off x="691392" y="5958925"/>
            <a:ext cx="3091715" cy="264669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Footer</a:t>
            </a:r>
            <a:endParaRPr lang="ko-KR" altLang="en-US" sz="10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2101516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FA73F4-2A86-16DE-DECF-BA1C964A9D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FD62B0B2-4716-FC97-1561-D05AED9B95CE}"/>
              </a:ext>
            </a:extLst>
          </p:cNvPr>
          <p:cNvGraphicFramePr>
            <a:graphicFrameLocks noGrp="1"/>
          </p:cNvGraphicFramePr>
          <p:nvPr/>
        </p:nvGraphicFramePr>
        <p:xfrm>
          <a:off x="9182101" y="947377"/>
          <a:ext cx="2795588" cy="1847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1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ID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찾기 이메일 발송 팝업</a:t>
                      </a: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684046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확인 선택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메인화면으로 이동</a:t>
                      </a: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723838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3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172599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4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290794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5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922450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6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784800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7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0538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8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199337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9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450365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C4470445-9567-DAF7-CA15-F3D19E027C02}"/>
              </a:ext>
            </a:extLst>
          </p:cNvPr>
          <p:cNvSpPr/>
          <p:nvPr/>
        </p:nvSpPr>
        <p:spPr>
          <a:xfrm>
            <a:off x="959895" y="375614"/>
            <a:ext cx="1402948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</a:pP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메인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로그인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아이디 찾기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86C6F85-CFF2-715F-98BA-658D255D297E}"/>
              </a:ext>
            </a:extLst>
          </p:cNvPr>
          <p:cNvSpPr txBox="1"/>
          <p:nvPr/>
        </p:nvSpPr>
        <p:spPr>
          <a:xfrm>
            <a:off x="6003996" y="123825"/>
            <a:ext cx="17303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HN_Login_Idsearch_002P</a:t>
            </a:r>
            <a:endParaRPr lang="ko-KR" altLang="en-US" sz="800" dirty="0"/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6E77F045-3A27-4FB7-4C48-3C602BF84B1B}"/>
              </a:ext>
            </a:extLst>
          </p:cNvPr>
          <p:cNvCxnSpPr>
            <a:cxnSpLocks/>
          </p:cNvCxnSpPr>
          <p:nvPr/>
        </p:nvCxnSpPr>
        <p:spPr>
          <a:xfrm>
            <a:off x="655957" y="1658468"/>
            <a:ext cx="3109526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D83779BD-E098-C463-4DCB-8825D3B1325F}"/>
              </a:ext>
            </a:extLst>
          </p:cNvPr>
          <p:cNvSpPr txBox="1"/>
          <p:nvPr/>
        </p:nvSpPr>
        <p:spPr>
          <a:xfrm>
            <a:off x="1793778" y="1181491"/>
            <a:ext cx="83388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하늘누리</a:t>
            </a:r>
            <a:endParaRPr lang="en-US" altLang="ko-KR" sz="11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en-US" altLang="ko-KR" sz="11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CI</a:t>
            </a:r>
            <a:endParaRPr lang="ko-KR" altLang="en-US" sz="11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8" name="그림 7" descr="블랙, 어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168D7F5-CDEE-B574-7A68-523B5D724313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2985" y="1191723"/>
            <a:ext cx="383533" cy="38353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0BD5674-F065-5F27-8604-2F4D5BE6FE76}"/>
              </a:ext>
            </a:extLst>
          </p:cNvPr>
          <p:cNvSpPr txBox="1"/>
          <p:nvPr/>
        </p:nvSpPr>
        <p:spPr>
          <a:xfrm>
            <a:off x="2826086" y="1293697"/>
            <a:ext cx="57184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" panose="020D0604000000000000" pitchFamily="50" charset="-127"/>
                <a:ea typeface="나눔고딕" panose="020D0604000000000000" pitchFamily="50" charset="-127"/>
              </a:rPr>
              <a:t>르그아웃</a:t>
            </a:r>
          </a:p>
        </p:txBody>
      </p:sp>
      <p:pic>
        <p:nvPicPr>
          <p:cNvPr id="10" name="Picture 4" descr="로그 아웃 아이콘">
            <a:extLst>
              <a:ext uri="{FF2B5EF4-FFF2-40B4-BE49-F238E27FC236}">
                <a16:creationId xmlns:a16="http://schemas.microsoft.com/office/drawing/2014/main" id="{FCF36218-4620-8B74-DF3F-241D683D0D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9631" y="1283929"/>
            <a:ext cx="217049" cy="217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48BBCC1-18C1-C33A-04A3-AFCE93729940}"/>
              </a:ext>
            </a:extLst>
          </p:cNvPr>
          <p:cNvSpPr txBox="1"/>
          <p:nvPr/>
        </p:nvSpPr>
        <p:spPr>
          <a:xfrm>
            <a:off x="1343128" y="1807796"/>
            <a:ext cx="17351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ID </a:t>
            </a:r>
            <a:r>
              <a:rPr lang="ko-KR" altLang="en-US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찾기</a:t>
            </a:r>
            <a:endParaRPr lang="en-US" altLang="ko-KR" sz="1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1553AA9-642F-056D-9B30-D34534838E4D}"/>
              </a:ext>
            </a:extLst>
          </p:cNvPr>
          <p:cNvSpPr/>
          <p:nvPr/>
        </p:nvSpPr>
        <p:spPr>
          <a:xfrm>
            <a:off x="1739276" y="2500682"/>
            <a:ext cx="942784" cy="35821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CI</a:t>
            </a:r>
          </a:p>
        </p:txBody>
      </p:sp>
      <p:sp>
        <p:nvSpPr>
          <p:cNvPr id="13" name="모서리가 둥근 직사각형 39">
            <a:extLst>
              <a:ext uri="{FF2B5EF4-FFF2-40B4-BE49-F238E27FC236}">
                <a16:creationId xmlns:a16="http://schemas.microsoft.com/office/drawing/2014/main" id="{B8124556-CCC0-9AC2-5F8B-64DCF406A103}"/>
              </a:ext>
            </a:extLst>
          </p:cNvPr>
          <p:cNvSpPr/>
          <p:nvPr/>
        </p:nvSpPr>
        <p:spPr>
          <a:xfrm>
            <a:off x="909375" y="3168571"/>
            <a:ext cx="2676507" cy="1916173"/>
          </a:xfrm>
          <a:prstGeom prst="roundRect">
            <a:avLst>
              <a:gd name="adj" fmla="val 3334"/>
            </a:avLst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4" name="모서리가 둥근 직사각형 63">
            <a:extLst>
              <a:ext uri="{FF2B5EF4-FFF2-40B4-BE49-F238E27FC236}">
                <a16:creationId xmlns:a16="http://schemas.microsoft.com/office/drawing/2014/main" id="{30F204AB-C2FC-6905-091E-215F9A00BEA7}"/>
              </a:ext>
            </a:extLst>
          </p:cNvPr>
          <p:cNvSpPr/>
          <p:nvPr/>
        </p:nvSpPr>
        <p:spPr bwMode="auto">
          <a:xfrm>
            <a:off x="1157622" y="4651236"/>
            <a:ext cx="2215363" cy="276024"/>
          </a:xfrm>
          <a:prstGeom prst="roundRect">
            <a:avLst/>
          </a:prstGeom>
          <a:solidFill>
            <a:schemeClr val="tx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000" b="1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확인</a:t>
            </a:r>
          </a:p>
        </p:txBody>
      </p:sp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44F3C707-9036-AD3C-FFAD-81DE776419F6}"/>
              </a:ext>
            </a:extLst>
          </p:cNvPr>
          <p:cNvGraphicFramePr>
            <a:graphicFrameLocks noGrp="1"/>
          </p:cNvGraphicFramePr>
          <p:nvPr/>
        </p:nvGraphicFramePr>
        <p:xfrm>
          <a:off x="1161909" y="3453520"/>
          <a:ext cx="1008968" cy="841344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008968">
                  <a:extLst>
                    <a:ext uri="{9D8B030D-6E8A-4147-A177-3AD203B41FA5}">
                      <a16:colId xmlns:a16="http://schemas.microsoft.com/office/drawing/2014/main" val="1553538150"/>
                    </a:ext>
                  </a:extLst>
                </a:gridCol>
              </a:tblGrid>
              <a:tr h="42067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성명</a:t>
                      </a:r>
                      <a:endParaRPr lang="en-US" altLang="ko-KR" sz="9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algn="l" latinLnBrk="1"/>
                      <a:r>
                        <a:rPr lang="ko-KR" altLang="en-US" sz="9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endParaRPr lang="en-US" altLang="ko-KR" sz="9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algn="l" latinLnBrk="1"/>
                      <a:endParaRPr lang="en-US" altLang="ko-KR" sz="900" b="1" u="none" dirty="0">
                        <a:solidFill>
                          <a:srgbClr val="FF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0268165"/>
                  </a:ext>
                </a:extLst>
              </a:tr>
              <a:tr h="42067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휴대전화번호 </a:t>
                      </a:r>
                      <a:endParaRPr lang="en-US" altLang="ko-KR" sz="900" b="1" u="none" dirty="0">
                        <a:solidFill>
                          <a:srgbClr val="FF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5462810"/>
                  </a:ext>
                </a:extLst>
              </a:tr>
            </a:tbl>
          </a:graphicData>
        </a:graphic>
      </p:graphicFrame>
      <p:sp>
        <p:nvSpPr>
          <p:cNvPr id="16" name="직사각형 15">
            <a:extLst>
              <a:ext uri="{FF2B5EF4-FFF2-40B4-BE49-F238E27FC236}">
                <a16:creationId xmlns:a16="http://schemas.microsoft.com/office/drawing/2014/main" id="{83FF5DB0-F896-6434-EA70-1C9EC334971E}"/>
              </a:ext>
            </a:extLst>
          </p:cNvPr>
          <p:cNvSpPr/>
          <p:nvPr/>
        </p:nvSpPr>
        <p:spPr>
          <a:xfrm>
            <a:off x="1165958" y="3654982"/>
            <a:ext cx="2199200" cy="27991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2D00EBDD-32CB-2D52-39A2-70142759E51A}"/>
              </a:ext>
            </a:extLst>
          </p:cNvPr>
          <p:cNvSpPr/>
          <p:nvPr/>
        </p:nvSpPr>
        <p:spPr>
          <a:xfrm>
            <a:off x="1161909" y="4229036"/>
            <a:ext cx="2199200" cy="27991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6CB6450-8F46-C694-505C-2B95AA3D9EA2}"/>
              </a:ext>
            </a:extLst>
          </p:cNvPr>
          <p:cNvSpPr/>
          <p:nvPr/>
        </p:nvSpPr>
        <p:spPr>
          <a:xfrm>
            <a:off x="710869" y="1106657"/>
            <a:ext cx="3109526" cy="5034165"/>
          </a:xfrm>
          <a:prstGeom prst="rect">
            <a:avLst/>
          </a:prstGeom>
          <a:solidFill>
            <a:schemeClr val="bg1">
              <a:lumMod val="95000"/>
              <a:alpha val="49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44340796-7A2C-34C8-7127-0E062537C67E}"/>
              </a:ext>
            </a:extLst>
          </p:cNvPr>
          <p:cNvGrpSpPr/>
          <p:nvPr/>
        </p:nvGrpSpPr>
        <p:grpSpPr>
          <a:xfrm>
            <a:off x="1084760" y="2708893"/>
            <a:ext cx="2323082" cy="2080355"/>
            <a:chOff x="8731624" y="3719540"/>
            <a:chExt cx="2323082" cy="2080355"/>
          </a:xfrm>
        </p:grpSpPr>
        <p:sp>
          <p:nvSpPr>
            <p:cNvPr id="22" name="모서리가 둥근 직사각형 52">
              <a:extLst>
                <a:ext uri="{FF2B5EF4-FFF2-40B4-BE49-F238E27FC236}">
                  <a16:creationId xmlns:a16="http://schemas.microsoft.com/office/drawing/2014/main" id="{E1C6C970-B9BD-B004-553A-5D49984A61A9}"/>
                </a:ext>
              </a:extLst>
            </p:cNvPr>
            <p:cNvSpPr/>
            <p:nvPr/>
          </p:nvSpPr>
          <p:spPr>
            <a:xfrm>
              <a:off x="8731624" y="3719540"/>
              <a:ext cx="2323082" cy="2080355"/>
            </a:xfrm>
            <a:prstGeom prst="roundRect">
              <a:avLst>
                <a:gd name="adj" fmla="val 3334"/>
              </a:avLst>
            </a:prstGeom>
            <a:solidFill>
              <a:schemeClr val="bg1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380F006-963A-4897-B1CD-690FEF91840E}"/>
                </a:ext>
              </a:extLst>
            </p:cNvPr>
            <p:cNvCxnSpPr>
              <a:cxnSpLocks/>
            </p:cNvCxnSpPr>
            <p:nvPr/>
          </p:nvCxnSpPr>
          <p:spPr>
            <a:xfrm>
              <a:off x="8731624" y="4006723"/>
              <a:ext cx="2323082" cy="17455"/>
            </a:xfrm>
            <a:prstGeom prst="line">
              <a:avLst/>
            </a:prstGeom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A985B7F4-6480-76AC-1237-EA37890BA77F}"/>
                </a:ext>
              </a:extLst>
            </p:cNvPr>
            <p:cNvSpPr txBox="1"/>
            <p:nvPr/>
          </p:nvSpPr>
          <p:spPr>
            <a:xfrm>
              <a:off x="8737978" y="3756443"/>
              <a:ext cx="121298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9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ID </a:t>
              </a:r>
              <a:r>
                <a:rPr lang="ko-KR" altLang="en-US" sz="9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찾기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4FD542E8-E4DD-18F4-2715-BC0B2F436DE8}"/>
                </a:ext>
              </a:extLst>
            </p:cNvPr>
            <p:cNvSpPr txBox="1"/>
            <p:nvPr/>
          </p:nvSpPr>
          <p:spPr>
            <a:xfrm>
              <a:off x="10749703" y="3737849"/>
              <a:ext cx="27678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1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X</a:t>
              </a:r>
              <a:endParaRPr lang="ko-KR" altLang="en-US" sz="11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9A3D8510-4628-E5F2-BEF0-23B3A75E6561}"/>
                </a:ext>
              </a:extLst>
            </p:cNvPr>
            <p:cNvSpPr/>
            <p:nvPr/>
          </p:nvSpPr>
          <p:spPr>
            <a:xfrm>
              <a:off x="8845063" y="4294664"/>
              <a:ext cx="2082913" cy="72182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63950DB0-1044-08A2-02E3-9F023FBE62E5}"/>
                </a:ext>
              </a:extLst>
            </p:cNvPr>
            <p:cNvSpPr txBox="1"/>
            <p:nvPr/>
          </p:nvSpPr>
          <p:spPr>
            <a:xfrm>
              <a:off x="8845064" y="4561723"/>
              <a:ext cx="21402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9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등록된 </a:t>
              </a:r>
              <a:r>
                <a:rPr lang="en-US" altLang="ko-KR" sz="900" b="1" dirty="0">
                  <a:latin typeface="나눔고딕" panose="020D0604000000000000" pitchFamily="50" charset="-127"/>
                  <a:ea typeface="나눔고딕" panose="020D0604000000000000" pitchFamily="50" charset="-127"/>
                  <a:hlinkClick r:id="rId4"/>
                </a:rPr>
                <a:t>gildong@abc.co.kr</a:t>
              </a:r>
              <a:r>
                <a:rPr lang="ko-KR" altLang="en-US" sz="9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로 </a:t>
              </a:r>
              <a:r>
                <a:rPr lang="en-US" altLang="ko-KR" sz="9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ID</a:t>
              </a:r>
              <a:r>
                <a:rPr lang="ko-KR" altLang="en-US" sz="9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를 발송하였습니다</a:t>
              </a:r>
              <a:r>
                <a:rPr lang="en-US" altLang="ko-KR" sz="9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.</a:t>
              </a:r>
              <a:endParaRPr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2" name="모서리가 둥근 직사각형 63">
              <a:extLst>
                <a:ext uri="{FF2B5EF4-FFF2-40B4-BE49-F238E27FC236}">
                  <a16:creationId xmlns:a16="http://schemas.microsoft.com/office/drawing/2014/main" id="{DA48F7BF-02C5-6435-2475-5C933A5CFCF2}"/>
                </a:ext>
              </a:extLst>
            </p:cNvPr>
            <p:cNvSpPr/>
            <p:nvPr/>
          </p:nvSpPr>
          <p:spPr bwMode="auto">
            <a:xfrm>
              <a:off x="9471805" y="5311929"/>
              <a:ext cx="956159" cy="200025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ko-KR" altLang="en-US" sz="800" dirty="0">
                  <a:ln w="0" cmpd="sng">
                    <a:solidFill>
                      <a:schemeClr val="tx2">
                        <a:satMod val="155000"/>
                        <a:alpha val="0"/>
                      </a:schemeClr>
                    </a:solidFill>
                    <a:prstDash val="solid"/>
                    <a:round/>
                  </a:ln>
                  <a:solidFill>
                    <a:schemeClr val="tx1"/>
                  </a:solidFill>
                  <a:latin typeface="나눔고딕" pitchFamily="50" charset="-127"/>
                  <a:ea typeface="나눔고딕" pitchFamily="50" charset="-127"/>
                </a:rPr>
                <a:t>확인</a:t>
              </a:r>
            </a:p>
          </p:txBody>
        </p:sp>
      </p:grpSp>
      <p:sp>
        <p:nvSpPr>
          <p:cNvPr id="20" name="Oval 109">
            <a:extLst>
              <a:ext uri="{FF2B5EF4-FFF2-40B4-BE49-F238E27FC236}">
                <a16:creationId xmlns:a16="http://schemas.microsoft.com/office/drawing/2014/main" id="{5E5EE83B-C751-065C-467C-5A922CF101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4822" y="2589808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1</a:t>
            </a:r>
          </a:p>
        </p:txBody>
      </p:sp>
      <p:sp>
        <p:nvSpPr>
          <p:cNvPr id="57" name="Oval 109">
            <a:extLst>
              <a:ext uri="{FF2B5EF4-FFF2-40B4-BE49-F238E27FC236}">
                <a16:creationId xmlns:a16="http://schemas.microsoft.com/office/drawing/2014/main" id="{2EBA8FE5-F990-B859-1F5D-EBACBD3A17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39276" y="4214882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312694374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AC2EF8-3774-7445-0BC4-5708E30F6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B91E9091-5844-23E8-A837-A227C202A9FD}"/>
              </a:ext>
            </a:extLst>
          </p:cNvPr>
          <p:cNvGraphicFramePr>
            <a:graphicFrameLocks noGrp="1"/>
          </p:cNvGraphicFramePr>
          <p:nvPr/>
        </p:nvGraphicFramePr>
        <p:xfrm>
          <a:off x="9182101" y="947377"/>
          <a:ext cx="2795588" cy="2700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1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확인 버튼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성명과 휴대전화번호 정확히 입력 후 확인 버튼 선택 시 정합성 체크 후 등록 메일로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임시비밀번호 발송</a:t>
                      </a:r>
                      <a:endParaRPr lang="en-US" altLang="ko-KR" sz="800" b="0" baseline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rgbClr val="FF0000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임시비밀번호는 영문대문자</a:t>
                      </a:r>
                      <a:r>
                        <a:rPr lang="en-US" altLang="ko-KR" sz="800" b="1" dirty="0">
                          <a:solidFill>
                            <a:srgbClr val="FF0000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1" dirty="0">
                          <a:solidFill>
                            <a:srgbClr val="FF0000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소문자</a:t>
                      </a:r>
                      <a:r>
                        <a:rPr lang="en-US" altLang="ko-KR" sz="800" b="1" dirty="0">
                          <a:solidFill>
                            <a:srgbClr val="FF0000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1" dirty="0">
                          <a:solidFill>
                            <a:srgbClr val="FF0000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숫자</a:t>
                      </a:r>
                      <a:r>
                        <a:rPr lang="en-US" altLang="ko-KR" sz="800" b="1" dirty="0">
                          <a:solidFill>
                            <a:srgbClr val="FF0000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1" dirty="0">
                          <a:solidFill>
                            <a:srgbClr val="FF0000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특수문자를 </a:t>
                      </a:r>
                      <a:r>
                        <a:rPr lang="ko-KR" altLang="en-US" sz="800" b="1" dirty="0" err="1">
                          <a:solidFill>
                            <a:srgbClr val="FF0000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혼합형태로</a:t>
                      </a:r>
                      <a:r>
                        <a:rPr lang="ko-KR" altLang="en-US" sz="800" b="1" dirty="0">
                          <a:solidFill>
                            <a:srgbClr val="FF0000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발급</a:t>
                      </a:r>
                      <a:r>
                        <a:rPr lang="en-US" altLang="ko-KR" sz="800" b="1" dirty="0">
                          <a:solidFill>
                            <a:srgbClr val="FF0000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(8</a:t>
                      </a:r>
                      <a:r>
                        <a:rPr lang="ko-KR" altLang="en-US" sz="800" b="1" dirty="0">
                          <a:solidFill>
                            <a:srgbClr val="FF0000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자리</a:t>
                      </a:r>
                      <a:r>
                        <a:rPr lang="en-US" altLang="ko-KR" sz="800" b="1" dirty="0">
                          <a:solidFill>
                            <a:srgbClr val="FF0000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)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성명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또는 휴대전화번호를 잘못 입력한 경우 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Alert 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메시지 노출 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“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성명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휴대전화번호를 확인하시고 다시 시도해주시기 바랍니다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.”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684046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723838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3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172599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4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290794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5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922450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6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784800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7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0538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8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199337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9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450365"/>
                  </a:ext>
                </a:extLst>
              </a:tr>
            </a:tbl>
          </a:graphicData>
        </a:graphic>
      </p:graphicFrame>
      <p:sp>
        <p:nvSpPr>
          <p:cNvPr id="3" name="직사각형 2"/>
          <p:cNvSpPr/>
          <p:nvPr/>
        </p:nvSpPr>
        <p:spPr>
          <a:xfrm>
            <a:off x="959895" y="375614"/>
            <a:ext cx="1499128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</a:pP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메인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로그인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비밀번호 찾기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03996" y="123825"/>
            <a:ext cx="17303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HN_Login_Idsearch_001</a:t>
            </a:r>
            <a:endParaRPr lang="ko-KR" altLang="en-US" sz="800" dirty="0"/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E9C776D9-1821-9EE6-CFBE-006D385D1FE7}"/>
              </a:ext>
            </a:extLst>
          </p:cNvPr>
          <p:cNvCxnSpPr>
            <a:cxnSpLocks/>
          </p:cNvCxnSpPr>
          <p:nvPr/>
        </p:nvCxnSpPr>
        <p:spPr>
          <a:xfrm>
            <a:off x="655957" y="1658468"/>
            <a:ext cx="3109526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568F03A9-8004-7891-FAB7-5221E1267E39}"/>
              </a:ext>
            </a:extLst>
          </p:cNvPr>
          <p:cNvSpPr txBox="1"/>
          <p:nvPr/>
        </p:nvSpPr>
        <p:spPr>
          <a:xfrm>
            <a:off x="1793778" y="1181491"/>
            <a:ext cx="83388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하늘누리</a:t>
            </a:r>
            <a:endParaRPr lang="en-US" altLang="ko-KR" sz="11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en-US" altLang="ko-KR" sz="11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CI</a:t>
            </a:r>
            <a:endParaRPr lang="ko-KR" altLang="en-US" sz="11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6" name="그림 5" descr="블랙, 어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2D0EE27-E4E0-4CFC-8BA6-1ADBC53B4704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2985" y="1191723"/>
            <a:ext cx="383533" cy="38353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21F0A67-930F-79B0-0014-249A52112DA9}"/>
              </a:ext>
            </a:extLst>
          </p:cNvPr>
          <p:cNvSpPr txBox="1"/>
          <p:nvPr/>
        </p:nvSpPr>
        <p:spPr>
          <a:xfrm>
            <a:off x="2826086" y="1293697"/>
            <a:ext cx="57184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" panose="020D0604000000000000" pitchFamily="50" charset="-127"/>
                <a:ea typeface="나눔고딕" panose="020D0604000000000000" pitchFamily="50" charset="-127"/>
              </a:rPr>
              <a:t>르그아웃</a:t>
            </a:r>
          </a:p>
        </p:txBody>
      </p:sp>
      <p:pic>
        <p:nvPicPr>
          <p:cNvPr id="8" name="Picture 4" descr="로그 아웃 아이콘">
            <a:extLst>
              <a:ext uri="{FF2B5EF4-FFF2-40B4-BE49-F238E27FC236}">
                <a16:creationId xmlns:a16="http://schemas.microsoft.com/office/drawing/2014/main" id="{55338287-EEE7-FEA2-3F82-B418985E86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9631" y="1283929"/>
            <a:ext cx="217049" cy="217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680DBC4-0E81-5156-2E4E-51418C1CA60A}"/>
              </a:ext>
            </a:extLst>
          </p:cNvPr>
          <p:cNvSpPr txBox="1"/>
          <p:nvPr/>
        </p:nvSpPr>
        <p:spPr>
          <a:xfrm>
            <a:off x="1343128" y="1807796"/>
            <a:ext cx="17351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비밀번호</a:t>
            </a:r>
            <a:r>
              <a:rPr lang="en-US" altLang="ko-KR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찾기</a:t>
            </a:r>
            <a:endParaRPr lang="en-US" altLang="ko-KR" sz="1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2C1645D-5E80-43BA-EA54-22FE3676EB95}"/>
              </a:ext>
            </a:extLst>
          </p:cNvPr>
          <p:cNvSpPr/>
          <p:nvPr/>
        </p:nvSpPr>
        <p:spPr>
          <a:xfrm>
            <a:off x="1739276" y="2500682"/>
            <a:ext cx="942784" cy="35821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CI</a:t>
            </a:r>
          </a:p>
        </p:txBody>
      </p:sp>
      <p:sp>
        <p:nvSpPr>
          <p:cNvPr id="11" name="모서리가 둥근 직사각형 39">
            <a:extLst>
              <a:ext uri="{FF2B5EF4-FFF2-40B4-BE49-F238E27FC236}">
                <a16:creationId xmlns:a16="http://schemas.microsoft.com/office/drawing/2014/main" id="{FAC0AEA3-3B19-0D94-66FA-978258C844D7}"/>
              </a:ext>
            </a:extLst>
          </p:cNvPr>
          <p:cNvSpPr/>
          <p:nvPr/>
        </p:nvSpPr>
        <p:spPr>
          <a:xfrm>
            <a:off x="909375" y="3168571"/>
            <a:ext cx="2676507" cy="1916173"/>
          </a:xfrm>
          <a:prstGeom prst="roundRect">
            <a:avLst>
              <a:gd name="adj" fmla="val 3334"/>
            </a:avLst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2" name="모서리가 둥근 직사각형 63">
            <a:extLst>
              <a:ext uri="{FF2B5EF4-FFF2-40B4-BE49-F238E27FC236}">
                <a16:creationId xmlns:a16="http://schemas.microsoft.com/office/drawing/2014/main" id="{28692BE2-9C57-7BBC-61A6-579890A15BC9}"/>
              </a:ext>
            </a:extLst>
          </p:cNvPr>
          <p:cNvSpPr/>
          <p:nvPr/>
        </p:nvSpPr>
        <p:spPr bwMode="auto">
          <a:xfrm>
            <a:off x="1157622" y="4651236"/>
            <a:ext cx="2215363" cy="276024"/>
          </a:xfrm>
          <a:prstGeom prst="roundRect">
            <a:avLst/>
          </a:prstGeom>
          <a:solidFill>
            <a:schemeClr val="tx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000" b="1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확인</a:t>
            </a:r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C05DFF8D-AB04-FB3F-2649-4239830A7BB9}"/>
              </a:ext>
            </a:extLst>
          </p:cNvPr>
          <p:cNvGraphicFramePr>
            <a:graphicFrameLocks noGrp="1"/>
          </p:cNvGraphicFramePr>
          <p:nvPr/>
        </p:nvGraphicFramePr>
        <p:xfrm>
          <a:off x="1161909" y="3453520"/>
          <a:ext cx="1008968" cy="841344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008968">
                  <a:extLst>
                    <a:ext uri="{9D8B030D-6E8A-4147-A177-3AD203B41FA5}">
                      <a16:colId xmlns:a16="http://schemas.microsoft.com/office/drawing/2014/main" val="1553538150"/>
                    </a:ext>
                  </a:extLst>
                </a:gridCol>
              </a:tblGrid>
              <a:tr h="42067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성명</a:t>
                      </a:r>
                      <a:endParaRPr lang="en-US" altLang="ko-KR" sz="9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algn="l" latinLnBrk="1"/>
                      <a:r>
                        <a:rPr lang="ko-KR" altLang="en-US" sz="9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endParaRPr lang="en-US" altLang="ko-KR" sz="9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algn="l" latinLnBrk="1"/>
                      <a:endParaRPr lang="en-US" altLang="ko-KR" sz="900" b="1" u="none" dirty="0">
                        <a:solidFill>
                          <a:srgbClr val="FF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0268165"/>
                  </a:ext>
                </a:extLst>
              </a:tr>
              <a:tr h="42067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휴대전화번호 </a:t>
                      </a:r>
                      <a:endParaRPr lang="en-US" altLang="ko-KR" sz="900" b="1" u="none" dirty="0">
                        <a:solidFill>
                          <a:srgbClr val="FF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5462810"/>
                  </a:ext>
                </a:extLst>
              </a:tr>
            </a:tbl>
          </a:graphicData>
        </a:graphic>
      </p:graphicFrame>
      <p:sp>
        <p:nvSpPr>
          <p:cNvPr id="14" name="직사각형 13">
            <a:extLst>
              <a:ext uri="{FF2B5EF4-FFF2-40B4-BE49-F238E27FC236}">
                <a16:creationId xmlns:a16="http://schemas.microsoft.com/office/drawing/2014/main" id="{3D3347CF-D27E-180D-2083-6F9D03F5032D}"/>
              </a:ext>
            </a:extLst>
          </p:cNvPr>
          <p:cNvSpPr/>
          <p:nvPr/>
        </p:nvSpPr>
        <p:spPr>
          <a:xfrm>
            <a:off x="1165958" y="3654982"/>
            <a:ext cx="2199200" cy="27991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248ACAF9-6D5E-E91D-91E8-5EBBB112CD5C}"/>
              </a:ext>
            </a:extLst>
          </p:cNvPr>
          <p:cNvSpPr/>
          <p:nvPr/>
        </p:nvSpPr>
        <p:spPr>
          <a:xfrm>
            <a:off x="1161909" y="4229036"/>
            <a:ext cx="2199200" cy="27991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" name="Oval 109">
            <a:extLst>
              <a:ext uri="{FF2B5EF4-FFF2-40B4-BE49-F238E27FC236}">
                <a16:creationId xmlns:a16="http://schemas.microsoft.com/office/drawing/2014/main" id="{B7D04743-24D2-D2D5-7B46-A63EA426EF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7955" y="4552510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1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2C363143-89F3-BE12-EA0F-D18ECDD18EA8}"/>
              </a:ext>
            </a:extLst>
          </p:cNvPr>
          <p:cNvSpPr/>
          <p:nvPr/>
        </p:nvSpPr>
        <p:spPr>
          <a:xfrm>
            <a:off x="691392" y="5958925"/>
            <a:ext cx="3091715" cy="264669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Footer</a:t>
            </a:r>
            <a:endParaRPr lang="ko-KR" altLang="en-US" sz="10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71511378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333FC6-286A-12BE-D2DC-1F22424D19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B416430E-CA32-2887-8CFA-91F2B6DBCA3C}"/>
              </a:ext>
            </a:extLst>
          </p:cNvPr>
          <p:cNvGraphicFramePr>
            <a:graphicFrameLocks noGrp="1"/>
          </p:cNvGraphicFramePr>
          <p:nvPr/>
        </p:nvGraphicFramePr>
        <p:xfrm>
          <a:off x="9182101" y="947377"/>
          <a:ext cx="2795588" cy="1847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1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ID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찾기 이메일 발송 팝업</a:t>
                      </a: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684046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확인 선택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메인화면으로 이동</a:t>
                      </a: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723838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3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172599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4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290794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5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922450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6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784800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7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0538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8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199337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9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450365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76F3DF67-9BFF-8A72-5311-C934DFFCF407}"/>
              </a:ext>
            </a:extLst>
          </p:cNvPr>
          <p:cNvSpPr/>
          <p:nvPr/>
        </p:nvSpPr>
        <p:spPr>
          <a:xfrm>
            <a:off x="959895" y="375614"/>
            <a:ext cx="1499128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</a:pP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메인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로그인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 err="1">
                <a:latin typeface="나눔고딕" pitchFamily="50" charset="-127"/>
                <a:ea typeface="나눔고딕" pitchFamily="50" charset="-127"/>
              </a:rPr>
              <a:t>비빌번호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 찾기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E751706-5DAE-93DE-1CA5-66F2CF991671}"/>
              </a:ext>
            </a:extLst>
          </p:cNvPr>
          <p:cNvSpPr txBox="1"/>
          <p:nvPr/>
        </p:nvSpPr>
        <p:spPr>
          <a:xfrm>
            <a:off x="6003996" y="123825"/>
            <a:ext cx="17303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HN_Login_Pwsearch_002P</a:t>
            </a:r>
            <a:endParaRPr lang="ko-KR" altLang="en-US" sz="800" dirty="0"/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04198CB8-FD97-87C3-7BCE-176E4A140A41}"/>
              </a:ext>
            </a:extLst>
          </p:cNvPr>
          <p:cNvCxnSpPr>
            <a:cxnSpLocks/>
          </p:cNvCxnSpPr>
          <p:nvPr/>
        </p:nvCxnSpPr>
        <p:spPr>
          <a:xfrm>
            <a:off x="655957" y="1658468"/>
            <a:ext cx="3109526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F86218E9-CA48-5999-F1DC-C314C3CF52E9}"/>
              </a:ext>
            </a:extLst>
          </p:cNvPr>
          <p:cNvSpPr txBox="1"/>
          <p:nvPr/>
        </p:nvSpPr>
        <p:spPr>
          <a:xfrm>
            <a:off x="1793778" y="1181491"/>
            <a:ext cx="83388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하늘누리</a:t>
            </a:r>
            <a:endParaRPr lang="en-US" altLang="ko-KR" sz="11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en-US" altLang="ko-KR" sz="11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CI</a:t>
            </a:r>
            <a:endParaRPr lang="ko-KR" altLang="en-US" sz="11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8" name="그림 7" descr="블랙, 어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BB86EB2-73F6-E66D-11A1-ABDE44295C3E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2985" y="1191723"/>
            <a:ext cx="383533" cy="38353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34E6D1E-C12F-70B5-18E0-918565CDF152}"/>
              </a:ext>
            </a:extLst>
          </p:cNvPr>
          <p:cNvSpPr txBox="1"/>
          <p:nvPr/>
        </p:nvSpPr>
        <p:spPr>
          <a:xfrm>
            <a:off x="2826086" y="1293697"/>
            <a:ext cx="57184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" panose="020D0604000000000000" pitchFamily="50" charset="-127"/>
                <a:ea typeface="나눔고딕" panose="020D0604000000000000" pitchFamily="50" charset="-127"/>
              </a:rPr>
              <a:t>르그아웃</a:t>
            </a:r>
          </a:p>
        </p:txBody>
      </p:sp>
      <p:pic>
        <p:nvPicPr>
          <p:cNvPr id="10" name="Picture 4" descr="로그 아웃 아이콘">
            <a:extLst>
              <a:ext uri="{FF2B5EF4-FFF2-40B4-BE49-F238E27FC236}">
                <a16:creationId xmlns:a16="http://schemas.microsoft.com/office/drawing/2014/main" id="{DEDD4EB9-697C-E368-8831-D0A0F20683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9631" y="1283929"/>
            <a:ext cx="217049" cy="217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ADD09D4-A91F-123E-D429-56AB205D7F6E}"/>
              </a:ext>
            </a:extLst>
          </p:cNvPr>
          <p:cNvSpPr txBox="1"/>
          <p:nvPr/>
        </p:nvSpPr>
        <p:spPr>
          <a:xfrm>
            <a:off x="1343128" y="1807796"/>
            <a:ext cx="17351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비밀번호</a:t>
            </a:r>
            <a:r>
              <a:rPr lang="en-US" altLang="ko-KR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찾기</a:t>
            </a:r>
            <a:endParaRPr lang="en-US" altLang="ko-KR" sz="1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8DECF89-B812-B83B-5B5F-E32803562CE1}"/>
              </a:ext>
            </a:extLst>
          </p:cNvPr>
          <p:cNvSpPr/>
          <p:nvPr/>
        </p:nvSpPr>
        <p:spPr>
          <a:xfrm>
            <a:off x="1739276" y="2500682"/>
            <a:ext cx="942784" cy="35821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CI</a:t>
            </a:r>
          </a:p>
        </p:txBody>
      </p:sp>
      <p:sp>
        <p:nvSpPr>
          <p:cNvPr id="13" name="모서리가 둥근 직사각형 39">
            <a:extLst>
              <a:ext uri="{FF2B5EF4-FFF2-40B4-BE49-F238E27FC236}">
                <a16:creationId xmlns:a16="http://schemas.microsoft.com/office/drawing/2014/main" id="{4D770491-6BA5-406A-A9FA-0CF3EC0CA7BB}"/>
              </a:ext>
            </a:extLst>
          </p:cNvPr>
          <p:cNvSpPr/>
          <p:nvPr/>
        </p:nvSpPr>
        <p:spPr>
          <a:xfrm>
            <a:off x="909375" y="3168571"/>
            <a:ext cx="2676507" cy="1916173"/>
          </a:xfrm>
          <a:prstGeom prst="roundRect">
            <a:avLst>
              <a:gd name="adj" fmla="val 3334"/>
            </a:avLst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4" name="모서리가 둥근 직사각형 63">
            <a:extLst>
              <a:ext uri="{FF2B5EF4-FFF2-40B4-BE49-F238E27FC236}">
                <a16:creationId xmlns:a16="http://schemas.microsoft.com/office/drawing/2014/main" id="{BCA8930E-18F0-95AA-2FF3-92246B163AB2}"/>
              </a:ext>
            </a:extLst>
          </p:cNvPr>
          <p:cNvSpPr/>
          <p:nvPr/>
        </p:nvSpPr>
        <p:spPr bwMode="auto">
          <a:xfrm>
            <a:off x="1157622" y="4651236"/>
            <a:ext cx="2215363" cy="276024"/>
          </a:xfrm>
          <a:prstGeom prst="roundRect">
            <a:avLst/>
          </a:prstGeom>
          <a:solidFill>
            <a:schemeClr val="tx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000" b="1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확인</a:t>
            </a:r>
          </a:p>
        </p:txBody>
      </p:sp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B323A043-82FF-AA0C-81FE-B140FE4AC99A}"/>
              </a:ext>
            </a:extLst>
          </p:cNvPr>
          <p:cNvGraphicFramePr>
            <a:graphicFrameLocks noGrp="1"/>
          </p:cNvGraphicFramePr>
          <p:nvPr/>
        </p:nvGraphicFramePr>
        <p:xfrm>
          <a:off x="1161909" y="3453520"/>
          <a:ext cx="1008968" cy="841344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008968">
                  <a:extLst>
                    <a:ext uri="{9D8B030D-6E8A-4147-A177-3AD203B41FA5}">
                      <a16:colId xmlns:a16="http://schemas.microsoft.com/office/drawing/2014/main" val="1553538150"/>
                    </a:ext>
                  </a:extLst>
                </a:gridCol>
              </a:tblGrid>
              <a:tr h="42067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성명</a:t>
                      </a:r>
                      <a:endParaRPr lang="en-US" altLang="ko-KR" sz="9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algn="l" latinLnBrk="1"/>
                      <a:r>
                        <a:rPr lang="ko-KR" altLang="en-US" sz="9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endParaRPr lang="en-US" altLang="ko-KR" sz="9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algn="l" latinLnBrk="1"/>
                      <a:endParaRPr lang="en-US" altLang="ko-KR" sz="900" b="1" u="none" dirty="0">
                        <a:solidFill>
                          <a:srgbClr val="FF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0268165"/>
                  </a:ext>
                </a:extLst>
              </a:tr>
              <a:tr h="42067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휴대전화번호 </a:t>
                      </a:r>
                      <a:endParaRPr lang="en-US" altLang="ko-KR" sz="900" b="1" u="none" dirty="0">
                        <a:solidFill>
                          <a:srgbClr val="FF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5462810"/>
                  </a:ext>
                </a:extLst>
              </a:tr>
            </a:tbl>
          </a:graphicData>
        </a:graphic>
      </p:graphicFrame>
      <p:sp>
        <p:nvSpPr>
          <p:cNvPr id="16" name="직사각형 15">
            <a:extLst>
              <a:ext uri="{FF2B5EF4-FFF2-40B4-BE49-F238E27FC236}">
                <a16:creationId xmlns:a16="http://schemas.microsoft.com/office/drawing/2014/main" id="{C043C9DB-94C8-70F1-C830-8C0F6DC9B95A}"/>
              </a:ext>
            </a:extLst>
          </p:cNvPr>
          <p:cNvSpPr/>
          <p:nvPr/>
        </p:nvSpPr>
        <p:spPr>
          <a:xfrm>
            <a:off x="1165958" y="3654982"/>
            <a:ext cx="2199200" cy="27991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DF646357-86A6-8FDB-AEF4-927B77480B82}"/>
              </a:ext>
            </a:extLst>
          </p:cNvPr>
          <p:cNvSpPr/>
          <p:nvPr/>
        </p:nvSpPr>
        <p:spPr>
          <a:xfrm>
            <a:off x="1161909" y="4229036"/>
            <a:ext cx="2199200" cy="27991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EB94192-7FE3-C91B-A349-C4EB30DCB681}"/>
              </a:ext>
            </a:extLst>
          </p:cNvPr>
          <p:cNvSpPr/>
          <p:nvPr/>
        </p:nvSpPr>
        <p:spPr>
          <a:xfrm>
            <a:off x="710869" y="1135405"/>
            <a:ext cx="3109526" cy="5005418"/>
          </a:xfrm>
          <a:prstGeom prst="rect">
            <a:avLst/>
          </a:prstGeom>
          <a:solidFill>
            <a:schemeClr val="bg1">
              <a:lumMod val="95000"/>
              <a:alpha val="49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B401E09E-B936-DD0E-12D1-ADFA5A3DBB48}"/>
              </a:ext>
            </a:extLst>
          </p:cNvPr>
          <p:cNvGrpSpPr/>
          <p:nvPr/>
        </p:nvGrpSpPr>
        <p:grpSpPr>
          <a:xfrm>
            <a:off x="1084760" y="2708893"/>
            <a:ext cx="2323082" cy="2080355"/>
            <a:chOff x="8731624" y="3719540"/>
            <a:chExt cx="2323082" cy="2080355"/>
          </a:xfrm>
        </p:grpSpPr>
        <p:sp>
          <p:nvSpPr>
            <p:cNvPr id="22" name="모서리가 둥근 직사각형 52">
              <a:extLst>
                <a:ext uri="{FF2B5EF4-FFF2-40B4-BE49-F238E27FC236}">
                  <a16:creationId xmlns:a16="http://schemas.microsoft.com/office/drawing/2014/main" id="{C2D010E1-DBC6-5563-BD15-BCBD5BE8F80B}"/>
                </a:ext>
              </a:extLst>
            </p:cNvPr>
            <p:cNvSpPr/>
            <p:nvPr/>
          </p:nvSpPr>
          <p:spPr>
            <a:xfrm>
              <a:off x="8731624" y="3719540"/>
              <a:ext cx="2323082" cy="2080355"/>
            </a:xfrm>
            <a:prstGeom prst="roundRect">
              <a:avLst>
                <a:gd name="adj" fmla="val 3334"/>
              </a:avLst>
            </a:prstGeom>
            <a:solidFill>
              <a:schemeClr val="bg1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42FC1A16-C09D-A9D4-48FA-414206C76CD7}"/>
                </a:ext>
              </a:extLst>
            </p:cNvPr>
            <p:cNvCxnSpPr>
              <a:cxnSpLocks/>
            </p:cNvCxnSpPr>
            <p:nvPr/>
          </p:nvCxnSpPr>
          <p:spPr>
            <a:xfrm>
              <a:off x="8731624" y="4006723"/>
              <a:ext cx="2323082" cy="17455"/>
            </a:xfrm>
            <a:prstGeom prst="line">
              <a:avLst/>
            </a:prstGeom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E3C9DCE-0CDE-907F-F8F7-2C617323E06E}"/>
                </a:ext>
              </a:extLst>
            </p:cNvPr>
            <p:cNvSpPr txBox="1"/>
            <p:nvPr/>
          </p:nvSpPr>
          <p:spPr>
            <a:xfrm>
              <a:off x="8737978" y="3756443"/>
              <a:ext cx="121298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9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ID </a:t>
              </a:r>
              <a:r>
                <a:rPr lang="ko-KR" altLang="en-US" sz="9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찾기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79EEF916-8FA8-E8CD-FB3C-1B118BAB6AB1}"/>
                </a:ext>
              </a:extLst>
            </p:cNvPr>
            <p:cNvSpPr txBox="1"/>
            <p:nvPr/>
          </p:nvSpPr>
          <p:spPr>
            <a:xfrm>
              <a:off x="10749703" y="3737849"/>
              <a:ext cx="27678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1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X</a:t>
              </a:r>
              <a:endParaRPr lang="ko-KR" altLang="en-US" sz="11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CDF1B7FC-C134-10E8-C363-3C68F865CEBA}"/>
                </a:ext>
              </a:extLst>
            </p:cNvPr>
            <p:cNvSpPr/>
            <p:nvPr/>
          </p:nvSpPr>
          <p:spPr>
            <a:xfrm>
              <a:off x="8845063" y="4294664"/>
              <a:ext cx="2082913" cy="72182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4D2F898D-DB31-32CF-F3D2-B47AA22605D6}"/>
                </a:ext>
              </a:extLst>
            </p:cNvPr>
            <p:cNvSpPr txBox="1"/>
            <p:nvPr/>
          </p:nvSpPr>
          <p:spPr>
            <a:xfrm>
              <a:off x="8845064" y="4561723"/>
              <a:ext cx="21402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9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등록된 </a:t>
              </a:r>
              <a:r>
                <a:rPr lang="en-US" altLang="ko-KR" sz="900" b="1" dirty="0">
                  <a:latin typeface="나눔고딕" panose="020D0604000000000000" pitchFamily="50" charset="-127"/>
                  <a:ea typeface="나눔고딕" panose="020D0604000000000000" pitchFamily="50" charset="-127"/>
                  <a:hlinkClick r:id="rId4"/>
                </a:rPr>
                <a:t>gildong@abc.co.kr</a:t>
              </a:r>
              <a:r>
                <a:rPr lang="ko-KR" altLang="en-US" sz="9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로 </a:t>
              </a:r>
              <a:r>
                <a:rPr lang="en-US" altLang="ko-KR" sz="9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ID</a:t>
              </a:r>
              <a:r>
                <a:rPr lang="ko-KR" altLang="en-US" sz="9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를 발송하였습니다</a:t>
              </a:r>
              <a:r>
                <a:rPr lang="en-US" altLang="ko-KR" sz="9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.</a:t>
              </a:r>
              <a:endParaRPr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2" name="모서리가 둥근 직사각형 63">
              <a:extLst>
                <a:ext uri="{FF2B5EF4-FFF2-40B4-BE49-F238E27FC236}">
                  <a16:creationId xmlns:a16="http://schemas.microsoft.com/office/drawing/2014/main" id="{20BECF43-8A3C-B839-37D0-EBF4637680D0}"/>
                </a:ext>
              </a:extLst>
            </p:cNvPr>
            <p:cNvSpPr/>
            <p:nvPr/>
          </p:nvSpPr>
          <p:spPr bwMode="auto">
            <a:xfrm>
              <a:off x="9471805" y="5311929"/>
              <a:ext cx="956159" cy="200025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ko-KR" altLang="en-US" sz="800" dirty="0">
                  <a:ln w="0" cmpd="sng">
                    <a:solidFill>
                      <a:schemeClr val="tx2">
                        <a:satMod val="155000"/>
                        <a:alpha val="0"/>
                      </a:schemeClr>
                    </a:solidFill>
                    <a:prstDash val="solid"/>
                    <a:round/>
                  </a:ln>
                  <a:solidFill>
                    <a:schemeClr val="tx1"/>
                  </a:solidFill>
                  <a:latin typeface="나눔고딕" pitchFamily="50" charset="-127"/>
                  <a:ea typeface="나눔고딕" pitchFamily="50" charset="-127"/>
                </a:rPr>
                <a:t>확인</a:t>
              </a:r>
            </a:p>
          </p:txBody>
        </p:sp>
      </p:grpSp>
      <p:sp>
        <p:nvSpPr>
          <p:cNvPr id="20" name="Oval 109">
            <a:extLst>
              <a:ext uri="{FF2B5EF4-FFF2-40B4-BE49-F238E27FC236}">
                <a16:creationId xmlns:a16="http://schemas.microsoft.com/office/drawing/2014/main" id="{6F5413FF-9A1C-965A-EC1B-A0B73FA98D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4822" y="2589808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1</a:t>
            </a:r>
          </a:p>
        </p:txBody>
      </p:sp>
      <p:sp>
        <p:nvSpPr>
          <p:cNvPr id="57" name="Oval 109">
            <a:extLst>
              <a:ext uri="{FF2B5EF4-FFF2-40B4-BE49-F238E27FC236}">
                <a16:creationId xmlns:a16="http://schemas.microsoft.com/office/drawing/2014/main" id="{8082168D-9E11-B5F5-9046-7311BE518A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39276" y="4214882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274896049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E64165-732A-09E9-5C19-15132EE002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BAC85FB-899E-BEC8-F8B4-4C2351BA6B13}"/>
              </a:ext>
            </a:extLst>
          </p:cNvPr>
          <p:cNvSpPr txBox="1"/>
          <p:nvPr/>
        </p:nvSpPr>
        <p:spPr>
          <a:xfrm>
            <a:off x="1047750" y="2476500"/>
            <a:ext cx="2390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나눔고딕" pitchFamily="2" charset="-127"/>
                <a:ea typeface="나눔고딕" pitchFamily="2" charset="-127"/>
              </a:rPr>
              <a:t>04. </a:t>
            </a:r>
            <a:r>
              <a:rPr lang="ko-KR" altLang="en-US" b="1" dirty="0">
                <a:latin typeface="나눔고딕" pitchFamily="2" charset="-127"/>
                <a:ea typeface="나눔고딕" pitchFamily="2" charset="-127"/>
              </a:rPr>
              <a:t>나의정보</a:t>
            </a:r>
          </a:p>
        </p:txBody>
      </p:sp>
    </p:spTree>
    <p:extLst>
      <p:ext uri="{BB962C8B-B14F-4D97-AF65-F5344CB8AC3E}">
        <p14:creationId xmlns:p14="http://schemas.microsoft.com/office/powerpoint/2010/main" val="2349817418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AC2EF8-3774-7445-0BC4-5708E30F6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모서리가 둥근 직사각형 31">
            <a:extLst>
              <a:ext uri="{FF2B5EF4-FFF2-40B4-BE49-F238E27FC236}">
                <a16:creationId xmlns:a16="http://schemas.microsoft.com/office/drawing/2014/main" id="{F3475377-4DB2-F7C5-870D-5B7CCDF4C07F}"/>
              </a:ext>
            </a:extLst>
          </p:cNvPr>
          <p:cNvSpPr/>
          <p:nvPr/>
        </p:nvSpPr>
        <p:spPr>
          <a:xfrm>
            <a:off x="750425" y="2576551"/>
            <a:ext cx="3006093" cy="2589489"/>
          </a:xfrm>
          <a:prstGeom prst="roundRect">
            <a:avLst>
              <a:gd name="adj" fmla="val 3334"/>
            </a:avLst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B91E9091-5844-23E8-A837-A227C202A9FD}"/>
              </a:ext>
            </a:extLst>
          </p:cNvPr>
          <p:cNvGraphicFramePr>
            <a:graphicFrameLocks noGrp="1"/>
          </p:cNvGraphicFramePr>
          <p:nvPr/>
        </p:nvGraphicFramePr>
        <p:xfrm>
          <a:off x="9182101" y="947377"/>
          <a:ext cx="2795588" cy="1847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1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선택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나의 정보 화면으로 이동</a:t>
                      </a: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684046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선택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비밀번호 변경화면으로 이동</a:t>
                      </a: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723838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3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172599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4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290794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5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922450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6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784800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7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0538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8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199337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9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450365"/>
                  </a:ext>
                </a:extLst>
              </a:tr>
            </a:tbl>
          </a:graphicData>
        </a:graphic>
      </p:graphicFrame>
      <p:sp>
        <p:nvSpPr>
          <p:cNvPr id="3" name="직사각형 2"/>
          <p:cNvSpPr/>
          <p:nvPr/>
        </p:nvSpPr>
        <p:spPr>
          <a:xfrm>
            <a:off x="959895" y="375614"/>
            <a:ext cx="875561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</a:pP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메인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나의정보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03996" y="123825"/>
            <a:ext cx="17303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HN_MemInfo_View_001</a:t>
            </a:r>
            <a:endParaRPr lang="ko-KR" altLang="en-US" sz="800" dirty="0"/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F85E1EA6-69CA-3918-F82F-E3C2F8B14DE4}"/>
              </a:ext>
            </a:extLst>
          </p:cNvPr>
          <p:cNvCxnSpPr>
            <a:cxnSpLocks/>
          </p:cNvCxnSpPr>
          <p:nvPr/>
        </p:nvCxnSpPr>
        <p:spPr>
          <a:xfrm>
            <a:off x="655957" y="1658468"/>
            <a:ext cx="3109526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DA1D342C-1ED6-5C3B-8F1D-F4C82E26B3AA}"/>
              </a:ext>
            </a:extLst>
          </p:cNvPr>
          <p:cNvSpPr txBox="1"/>
          <p:nvPr/>
        </p:nvSpPr>
        <p:spPr>
          <a:xfrm>
            <a:off x="1793778" y="1181491"/>
            <a:ext cx="83388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하늘누리</a:t>
            </a:r>
            <a:endParaRPr lang="en-US" altLang="ko-KR" sz="11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en-US" altLang="ko-KR" sz="11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CI</a:t>
            </a:r>
            <a:endParaRPr lang="ko-KR" altLang="en-US" sz="11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8" name="그림 7" descr="블랙, 어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A162DB4-7F69-05B5-945E-BBA4AB572C23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2985" y="1191723"/>
            <a:ext cx="383533" cy="38353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22BC299-3A35-06AE-4C41-C9EAD5A793B7}"/>
              </a:ext>
            </a:extLst>
          </p:cNvPr>
          <p:cNvSpPr txBox="1"/>
          <p:nvPr/>
        </p:nvSpPr>
        <p:spPr>
          <a:xfrm>
            <a:off x="2826086" y="1293697"/>
            <a:ext cx="57184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" panose="020D0604000000000000" pitchFamily="50" charset="-127"/>
                <a:ea typeface="나눔고딕" panose="020D0604000000000000" pitchFamily="50" charset="-127"/>
              </a:rPr>
              <a:t>르그아웃</a:t>
            </a:r>
          </a:p>
        </p:txBody>
      </p:sp>
      <p:pic>
        <p:nvPicPr>
          <p:cNvPr id="10" name="Picture 4" descr="로그 아웃 아이콘">
            <a:extLst>
              <a:ext uri="{FF2B5EF4-FFF2-40B4-BE49-F238E27FC236}">
                <a16:creationId xmlns:a16="http://schemas.microsoft.com/office/drawing/2014/main" id="{464D5C3D-0430-B451-8726-875446F066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9631" y="1283929"/>
            <a:ext cx="217049" cy="217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B30E5D1-87B2-7B8D-5B00-937CEBFC3AA1}"/>
              </a:ext>
            </a:extLst>
          </p:cNvPr>
          <p:cNvSpPr txBox="1"/>
          <p:nvPr/>
        </p:nvSpPr>
        <p:spPr>
          <a:xfrm>
            <a:off x="1343128" y="1807796"/>
            <a:ext cx="17351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나의정보</a:t>
            </a:r>
            <a:endParaRPr lang="en-US" altLang="ko-KR" sz="1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9AFC5EA8-ED3B-275D-742E-6681F66216C1}"/>
              </a:ext>
            </a:extLst>
          </p:cNvPr>
          <p:cNvGraphicFramePr>
            <a:graphicFrameLocks noGrp="1"/>
          </p:cNvGraphicFramePr>
          <p:nvPr/>
        </p:nvGraphicFramePr>
        <p:xfrm>
          <a:off x="933506" y="2706683"/>
          <a:ext cx="2667105" cy="1682688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924461">
                  <a:extLst>
                    <a:ext uri="{9D8B030D-6E8A-4147-A177-3AD203B41FA5}">
                      <a16:colId xmlns:a16="http://schemas.microsoft.com/office/drawing/2014/main" val="1553538150"/>
                    </a:ext>
                  </a:extLst>
                </a:gridCol>
                <a:gridCol w="1742644">
                  <a:extLst>
                    <a:ext uri="{9D8B030D-6E8A-4147-A177-3AD203B41FA5}">
                      <a16:colId xmlns:a16="http://schemas.microsoft.com/office/drawing/2014/main" val="1005073696"/>
                    </a:ext>
                  </a:extLst>
                </a:gridCol>
              </a:tblGrid>
              <a:tr h="42067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아이디 </a:t>
                      </a:r>
                      <a:endParaRPr lang="en-US" altLang="ko-KR" sz="800" b="1" u="none" dirty="0">
                        <a:solidFill>
                          <a:srgbClr val="FF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gildong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0268165"/>
                  </a:ext>
                </a:extLst>
              </a:tr>
              <a:tr h="42067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이름 </a:t>
                      </a:r>
                      <a:endParaRPr lang="en-US" altLang="ko-KR" sz="800" b="1" u="none" dirty="0">
                        <a:solidFill>
                          <a:srgbClr val="FF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홍길동</a:t>
                      </a:r>
                      <a:endParaRPr lang="en-US" altLang="ko-KR" sz="8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1090331"/>
                  </a:ext>
                </a:extLst>
              </a:tr>
              <a:tr h="42067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휴대전화 </a:t>
                      </a:r>
                      <a:endParaRPr lang="en-US" altLang="ko-KR" sz="800" b="1" u="none" dirty="0">
                        <a:solidFill>
                          <a:srgbClr val="FF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010-8888-7777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0626559"/>
                  </a:ext>
                </a:extLst>
              </a:tr>
              <a:tr h="42067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E-Mail </a:t>
                      </a:r>
                      <a:endParaRPr lang="en-US" altLang="ko-KR" sz="800" b="1" u="none" dirty="0">
                        <a:solidFill>
                          <a:srgbClr val="FF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gildong@abc.co.kr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0662131"/>
                  </a:ext>
                </a:extLst>
              </a:tr>
            </a:tbl>
          </a:graphicData>
        </a:graphic>
      </p:graphicFrame>
      <p:sp>
        <p:nvSpPr>
          <p:cNvPr id="14" name="모서리가 둥근 직사각형 63">
            <a:extLst>
              <a:ext uri="{FF2B5EF4-FFF2-40B4-BE49-F238E27FC236}">
                <a16:creationId xmlns:a16="http://schemas.microsoft.com/office/drawing/2014/main" id="{33ECFD1A-04BE-C508-7761-1679277CB639}"/>
              </a:ext>
            </a:extLst>
          </p:cNvPr>
          <p:cNvSpPr/>
          <p:nvPr/>
        </p:nvSpPr>
        <p:spPr bwMode="auto">
          <a:xfrm>
            <a:off x="1686392" y="4543548"/>
            <a:ext cx="935003" cy="276024"/>
          </a:xfrm>
          <a:prstGeom prst="roundRect">
            <a:avLst/>
          </a:prstGeom>
          <a:solidFill>
            <a:schemeClr val="tx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900" b="1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나의정보 수정</a:t>
            </a:r>
          </a:p>
        </p:txBody>
      </p:sp>
      <p:sp>
        <p:nvSpPr>
          <p:cNvPr id="15" name="모서리가 둥근 직사각형 63">
            <a:extLst>
              <a:ext uri="{FF2B5EF4-FFF2-40B4-BE49-F238E27FC236}">
                <a16:creationId xmlns:a16="http://schemas.microsoft.com/office/drawing/2014/main" id="{37F72B5B-317C-E214-40D2-5C9991DDFD68}"/>
              </a:ext>
            </a:extLst>
          </p:cNvPr>
          <p:cNvSpPr/>
          <p:nvPr/>
        </p:nvSpPr>
        <p:spPr bwMode="auto">
          <a:xfrm>
            <a:off x="2665608" y="4543548"/>
            <a:ext cx="935003" cy="276024"/>
          </a:xfrm>
          <a:prstGeom prst="roundRect">
            <a:avLst/>
          </a:prstGeom>
          <a:solidFill>
            <a:schemeClr val="tx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900" b="1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비밀번호</a:t>
            </a:r>
            <a:r>
              <a:rPr kumimoji="1" lang="en-US" altLang="ko-KR" sz="900" b="1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 </a:t>
            </a:r>
            <a:r>
              <a:rPr kumimoji="1" lang="ko-KR" altLang="en-US" sz="900" b="1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변경</a:t>
            </a:r>
          </a:p>
        </p:txBody>
      </p:sp>
      <p:sp>
        <p:nvSpPr>
          <p:cNvPr id="16" name="Oval 109">
            <a:extLst>
              <a:ext uri="{FF2B5EF4-FFF2-40B4-BE49-F238E27FC236}">
                <a16:creationId xmlns:a16="http://schemas.microsoft.com/office/drawing/2014/main" id="{A81AA1B9-8BDF-BBA1-9952-1176EDE750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20978" y="4433103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1</a:t>
            </a:r>
          </a:p>
        </p:txBody>
      </p:sp>
      <p:sp>
        <p:nvSpPr>
          <p:cNvPr id="19" name="Oval 109">
            <a:extLst>
              <a:ext uri="{FF2B5EF4-FFF2-40B4-BE49-F238E27FC236}">
                <a16:creationId xmlns:a16="http://schemas.microsoft.com/office/drawing/2014/main" id="{176A17C7-6BFC-AE39-4312-17A5BDAAA1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53286" y="4433103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2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F50F78F5-D39F-1928-2727-E61C3E0507D8}"/>
              </a:ext>
            </a:extLst>
          </p:cNvPr>
          <p:cNvSpPr/>
          <p:nvPr/>
        </p:nvSpPr>
        <p:spPr>
          <a:xfrm>
            <a:off x="691392" y="5958925"/>
            <a:ext cx="3091715" cy="264669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Footer</a:t>
            </a:r>
            <a:endParaRPr lang="ko-KR" altLang="en-US" sz="10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42381553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AC2EF8-3774-7445-0BC4-5708E30F6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모서리가 둥근 직사각형 30">
            <a:extLst>
              <a:ext uri="{FF2B5EF4-FFF2-40B4-BE49-F238E27FC236}">
                <a16:creationId xmlns:a16="http://schemas.microsoft.com/office/drawing/2014/main" id="{6830C947-38F8-FA96-7335-6643265A6DED}"/>
              </a:ext>
            </a:extLst>
          </p:cNvPr>
          <p:cNvSpPr/>
          <p:nvPr/>
        </p:nvSpPr>
        <p:spPr>
          <a:xfrm>
            <a:off x="720474" y="2440960"/>
            <a:ext cx="3036044" cy="2830285"/>
          </a:xfrm>
          <a:prstGeom prst="roundRect">
            <a:avLst>
              <a:gd name="adj" fmla="val 3334"/>
            </a:avLst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B91E9091-5844-23E8-A837-A227C202A9FD}"/>
              </a:ext>
            </a:extLst>
          </p:cNvPr>
          <p:cNvGraphicFramePr>
            <a:graphicFrameLocks noGrp="1"/>
          </p:cNvGraphicFramePr>
          <p:nvPr/>
        </p:nvGraphicFramePr>
        <p:xfrm>
          <a:off x="9182101" y="947377"/>
          <a:ext cx="2795588" cy="2334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1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변경 가능한 나의 정보는 휴대전화 번호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E-Mail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정보</a:t>
                      </a: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684046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취소 버튼 선택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입력내용을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저장하지 않고 나의 정보 화면으로 이동</a:t>
                      </a: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723838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3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정보 변경 후 확인 버튼 선택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정합성 체크 후 나의 정보 변경됨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휴대전화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이메일이 입력되지 않은 경우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Alert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메시지 노출 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“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다시 한번 입력항목을 확인해 주세요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.”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172599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4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290794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5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922450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6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784800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7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0538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8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199337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9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450365"/>
                  </a:ext>
                </a:extLst>
              </a:tr>
            </a:tbl>
          </a:graphicData>
        </a:graphic>
      </p:graphicFrame>
      <p:sp>
        <p:nvSpPr>
          <p:cNvPr id="3" name="직사각형 2"/>
          <p:cNvSpPr/>
          <p:nvPr/>
        </p:nvSpPr>
        <p:spPr>
          <a:xfrm>
            <a:off x="959895" y="375614"/>
            <a:ext cx="1595309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</a:pP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메인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나의정보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나의정보 수정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03996" y="123825"/>
            <a:ext cx="17303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HN_MemInfo_Modi_001</a:t>
            </a:r>
            <a:endParaRPr lang="ko-KR" altLang="en-US" sz="800" dirty="0"/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E37BEF9D-3EF0-CDC7-5D54-74108DEFC635}"/>
              </a:ext>
            </a:extLst>
          </p:cNvPr>
          <p:cNvCxnSpPr>
            <a:cxnSpLocks/>
          </p:cNvCxnSpPr>
          <p:nvPr/>
        </p:nvCxnSpPr>
        <p:spPr>
          <a:xfrm>
            <a:off x="655957" y="1658468"/>
            <a:ext cx="3109526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04A972D1-90B0-D3E9-7E74-63069924405D}"/>
              </a:ext>
            </a:extLst>
          </p:cNvPr>
          <p:cNvSpPr txBox="1"/>
          <p:nvPr/>
        </p:nvSpPr>
        <p:spPr>
          <a:xfrm>
            <a:off x="1793778" y="1181491"/>
            <a:ext cx="83388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하늘누리</a:t>
            </a:r>
            <a:endParaRPr lang="en-US" altLang="ko-KR" sz="11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en-US" altLang="ko-KR" sz="11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CI</a:t>
            </a:r>
            <a:endParaRPr lang="ko-KR" altLang="en-US" sz="11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7" name="그림 6" descr="블랙, 어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B769740-27EC-75C8-10A7-A09FFF2F44E3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2985" y="1191723"/>
            <a:ext cx="383533" cy="38353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8E6A198-5C44-74A2-664A-6AC779080F47}"/>
              </a:ext>
            </a:extLst>
          </p:cNvPr>
          <p:cNvSpPr txBox="1"/>
          <p:nvPr/>
        </p:nvSpPr>
        <p:spPr>
          <a:xfrm>
            <a:off x="2826086" y="1293697"/>
            <a:ext cx="57184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" panose="020D0604000000000000" pitchFamily="50" charset="-127"/>
                <a:ea typeface="나눔고딕" panose="020D0604000000000000" pitchFamily="50" charset="-127"/>
              </a:rPr>
              <a:t>르그아웃</a:t>
            </a:r>
          </a:p>
        </p:txBody>
      </p:sp>
      <p:pic>
        <p:nvPicPr>
          <p:cNvPr id="9" name="Picture 4" descr="로그 아웃 아이콘">
            <a:extLst>
              <a:ext uri="{FF2B5EF4-FFF2-40B4-BE49-F238E27FC236}">
                <a16:creationId xmlns:a16="http://schemas.microsoft.com/office/drawing/2014/main" id="{E1B4C466-1575-0AD9-7456-B807D2D09A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9631" y="1283929"/>
            <a:ext cx="217049" cy="217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3EAD729-8E09-8B13-58AF-F7EE7B71C153}"/>
              </a:ext>
            </a:extLst>
          </p:cNvPr>
          <p:cNvSpPr txBox="1"/>
          <p:nvPr/>
        </p:nvSpPr>
        <p:spPr>
          <a:xfrm>
            <a:off x="1343128" y="1807796"/>
            <a:ext cx="17351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나의정보 수정</a:t>
            </a:r>
            <a:endParaRPr lang="en-US" altLang="ko-KR" sz="1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383ADBF3-4E22-075F-1CAD-0B96C6FC47B8}"/>
              </a:ext>
            </a:extLst>
          </p:cNvPr>
          <p:cNvGraphicFramePr>
            <a:graphicFrameLocks noGrp="1"/>
          </p:cNvGraphicFramePr>
          <p:nvPr/>
        </p:nvGraphicFramePr>
        <p:xfrm>
          <a:off x="882251" y="2440961"/>
          <a:ext cx="2244558" cy="1674495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122279">
                  <a:extLst>
                    <a:ext uri="{9D8B030D-6E8A-4147-A177-3AD203B41FA5}">
                      <a16:colId xmlns:a16="http://schemas.microsoft.com/office/drawing/2014/main" val="1553538150"/>
                    </a:ext>
                  </a:extLst>
                </a:gridCol>
                <a:gridCol w="1122279">
                  <a:extLst>
                    <a:ext uri="{9D8B030D-6E8A-4147-A177-3AD203B41FA5}">
                      <a16:colId xmlns:a16="http://schemas.microsoft.com/office/drawing/2014/main" val="445445047"/>
                    </a:ext>
                  </a:extLst>
                </a:gridCol>
              </a:tblGrid>
              <a:tr h="356027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아이디 </a:t>
                      </a:r>
                      <a:endParaRPr lang="en-US" altLang="ko-KR" sz="1000" b="1" u="none" dirty="0">
                        <a:solidFill>
                          <a:srgbClr val="FF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gildong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0268165"/>
                  </a:ext>
                </a:extLst>
              </a:tr>
              <a:tr h="38226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이름 </a:t>
                      </a:r>
                      <a:endParaRPr lang="en-US" altLang="ko-KR" sz="1000" b="1" u="none" dirty="0">
                        <a:solidFill>
                          <a:srgbClr val="FF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홍길동</a:t>
                      </a:r>
                      <a:endParaRPr lang="en-US" altLang="ko-KR" sz="10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1090331"/>
                  </a:ext>
                </a:extLst>
              </a:tr>
              <a:tr h="55394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휴대전화 </a:t>
                      </a:r>
                      <a:r>
                        <a:rPr lang="en-US" altLang="ko-KR" sz="1000" b="1" u="none" dirty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*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1" u="none" dirty="0">
                        <a:solidFill>
                          <a:srgbClr val="FF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1" u="none" dirty="0">
                        <a:solidFill>
                          <a:srgbClr val="FF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1" u="none" dirty="0">
                        <a:solidFill>
                          <a:srgbClr val="FF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0626559"/>
                  </a:ext>
                </a:extLst>
              </a:tr>
              <a:tr h="38226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E-Mail </a:t>
                      </a:r>
                      <a:r>
                        <a:rPr lang="en-US" altLang="ko-KR" sz="1000" b="1" u="none" dirty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*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1" u="none" dirty="0">
                        <a:solidFill>
                          <a:srgbClr val="FF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0662131"/>
                  </a:ext>
                </a:extLst>
              </a:tr>
            </a:tbl>
          </a:graphicData>
        </a:graphic>
      </p:graphicFrame>
      <p:sp>
        <p:nvSpPr>
          <p:cNvPr id="12" name="직사각형 11">
            <a:extLst>
              <a:ext uri="{FF2B5EF4-FFF2-40B4-BE49-F238E27FC236}">
                <a16:creationId xmlns:a16="http://schemas.microsoft.com/office/drawing/2014/main" id="{B03D8D96-6240-2FED-0FB4-B0D4D9B15EB6}"/>
              </a:ext>
            </a:extLst>
          </p:cNvPr>
          <p:cNvSpPr/>
          <p:nvPr/>
        </p:nvSpPr>
        <p:spPr>
          <a:xfrm>
            <a:off x="2963602" y="4080390"/>
            <a:ext cx="669281" cy="27991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직접입력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BB773B1C-89AB-17F6-A1E3-73CC8996134E}"/>
              </a:ext>
            </a:extLst>
          </p:cNvPr>
          <p:cNvSpPr/>
          <p:nvPr/>
        </p:nvSpPr>
        <p:spPr>
          <a:xfrm>
            <a:off x="1890606" y="3448525"/>
            <a:ext cx="791727" cy="27991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9999</a:t>
            </a:r>
            <a:endParaRPr lang="ko-KR" altLang="en-US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9A89F8C-639A-8E3C-4EB6-B841D3720DD3}"/>
              </a:ext>
            </a:extLst>
          </p:cNvPr>
          <p:cNvSpPr/>
          <p:nvPr/>
        </p:nvSpPr>
        <p:spPr>
          <a:xfrm>
            <a:off x="915630" y="4071852"/>
            <a:ext cx="946610" cy="27991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33634D3-0C25-F9A8-24EB-A54C9BFBCAED}"/>
              </a:ext>
            </a:extLst>
          </p:cNvPr>
          <p:cNvSpPr txBox="1"/>
          <p:nvPr/>
        </p:nvSpPr>
        <p:spPr>
          <a:xfrm>
            <a:off x="1673106" y="3468827"/>
            <a:ext cx="1891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endParaRPr lang="ko-KR" altLang="en-US" sz="14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F8170DC-8B2A-4CAF-9E4E-9B3B59E959C7}"/>
              </a:ext>
            </a:extLst>
          </p:cNvPr>
          <p:cNvSpPr txBox="1"/>
          <p:nvPr/>
        </p:nvSpPr>
        <p:spPr>
          <a:xfrm>
            <a:off x="2647144" y="3449741"/>
            <a:ext cx="1891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endParaRPr lang="ko-KR" altLang="en-US" sz="14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B762FA5-B1CB-0CD3-B012-AA2685377F18}"/>
              </a:ext>
            </a:extLst>
          </p:cNvPr>
          <p:cNvSpPr txBox="1"/>
          <p:nvPr/>
        </p:nvSpPr>
        <p:spPr>
          <a:xfrm>
            <a:off x="1806178" y="4096952"/>
            <a:ext cx="33356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@</a:t>
            </a:r>
            <a:endParaRPr lang="ko-KR" altLang="en-US" sz="9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A8633391-06E7-69B4-D64F-D02CAFBD25D9}"/>
              </a:ext>
            </a:extLst>
          </p:cNvPr>
          <p:cNvSpPr/>
          <p:nvPr/>
        </p:nvSpPr>
        <p:spPr>
          <a:xfrm>
            <a:off x="3466998" y="4080086"/>
            <a:ext cx="172801" cy="27954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▼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2CB739D7-6365-5CCC-2E73-98B5A73938B9}"/>
              </a:ext>
            </a:extLst>
          </p:cNvPr>
          <p:cNvSpPr/>
          <p:nvPr/>
        </p:nvSpPr>
        <p:spPr>
          <a:xfrm>
            <a:off x="2059774" y="4078469"/>
            <a:ext cx="814063" cy="27991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3" name="Oval 109">
            <a:extLst>
              <a:ext uri="{FF2B5EF4-FFF2-40B4-BE49-F238E27FC236}">
                <a16:creationId xmlns:a16="http://schemas.microsoft.com/office/drawing/2014/main" id="{F6E350E6-E4EA-6EC3-D4DD-E2BFD58FEB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7991" y="2384425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1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64D7E7FE-415B-3102-520F-E17C338ED6FE}"/>
              </a:ext>
            </a:extLst>
          </p:cNvPr>
          <p:cNvSpPr/>
          <p:nvPr/>
        </p:nvSpPr>
        <p:spPr>
          <a:xfrm>
            <a:off x="907375" y="3448525"/>
            <a:ext cx="791727" cy="27991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010</a:t>
            </a:r>
            <a:endParaRPr lang="ko-KR" altLang="en-US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8A064D99-AEC6-AD76-B516-918AE2FF8BD7}"/>
              </a:ext>
            </a:extLst>
          </p:cNvPr>
          <p:cNvSpPr/>
          <p:nvPr/>
        </p:nvSpPr>
        <p:spPr>
          <a:xfrm>
            <a:off x="2873837" y="3448525"/>
            <a:ext cx="791727" cy="27991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8888</a:t>
            </a:r>
            <a:endParaRPr lang="ko-KR" altLang="en-US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2" name="모서리가 둥근 직사각형 63">
            <a:extLst>
              <a:ext uri="{FF2B5EF4-FFF2-40B4-BE49-F238E27FC236}">
                <a16:creationId xmlns:a16="http://schemas.microsoft.com/office/drawing/2014/main" id="{E15C7E4B-6A99-0005-8F48-A87AB9609CD3}"/>
              </a:ext>
            </a:extLst>
          </p:cNvPr>
          <p:cNvSpPr/>
          <p:nvPr/>
        </p:nvSpPr>
        <p:spPr bwMode="auto">
          <a:xfrm>
            <a:off x="2244188" y="4736007"/>
            <a:ext cx="1209164" cy="330783"/>
          </a:xfrm>
          <a:prstGeom prst="roundRect">
            <a:avLst/>
          </a:prstGeom>
          <a:solidFill>
            <a:schemeClr val="tx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000" b="1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확인</a:t>
            </a:r>
          </a:p>
        </p:txBody>
      </p:sp>
      <p:sp>
        <p:nvSpPr>
          <p:cNvPr id="33" name="모서리가 둥근 직사각형 63">
            <a:extLst>
              <a:ext uri="{FF2B5EF4-FFF2-40B4-BE49-F238E27FC236}">
                <a16:creationId xmlns:a16="http://schemas.microsoft.com/office/drawing/2014/main" id="{EAF192E4-8A39-A1EA-7227-04E46CFBEBB9}"/>
              </a:ext>
            </a:extLst>
          </p:cNvPr>
          <p:cNvSpPr/>
          <p:nvPr/>
        </p:nvSpPr>
        <p:spPr bwMode="auto">
          <a:xfrm>
            <a:off x="959895" y="4736007"/>
            <a:ext cx="1209164" cy="330783"/>
          </a:xfrm>
          <a:prstGeom prst="roundRect">
            <a:avLst/>
          </a:prstGeom>
          <a:solidFill>
            <a:schemeClr val="bg1">
              <a:lumMod val="50000"/>
            </a:schemeClr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000" b="1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취소</a:t>
            </a:r>
          </a:p>
        </p:txBody>
      </p:sp>
      <p:sp>
        <p:nvSpPr>
          <p:cNvPr id="34" name="Oval 109">
            <a:extLst>
              <a:ext uri="{FF2B5EF4-FFF2-40B4-BE49-F238E27FC236}">
                <a16:creationId xmlns:a16="http://schemas.microsoft.com/office/drawing/2014/main" id="{B75E7E70-09DE-C8E0-A3ED-FA8221A37D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0791" y="4561286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2</a:t>
            </a:r>
          </a:p>
        </p:txBody>
      </p:sp>
      <p:sp>
        <p:nvSpPr>
          <p:cNvPr id="61" name="Oval 109">
            <a:extLst>
              <a:ext uri="{FF2B5EF4-FFF2-40B4-BE49-F238E27FC236}">
                <a16:creationId xmlns:a16="http://schemas.microsoft.com/office/drawing/2014/main" id="{9580CEF6-F99D-12A8-576E-68D041957B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18779" y="4561286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3</a:t>
            </a: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F5BC04C6-2826-5204-3ED7-E90A63E6B6F8}"/>
              </a:ext>
            </a:extLst>
          </p:cNvPr>
          <p:cNvSpPr/>
          <p:nvPr/>
        </p:nvSpPr>
        <p:spPr>
          <a:xfrm>
            <a:off x="691392" y="5958925"/>
            <a:ext cx="3091715" cy="264669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Footer</a:t>
            </a:r>
            <a:endParaRPr lang="ko-KR" altLang="en-US" sz="10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74413319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AC2EF8-3774-7445-0BC4-5708E30F6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B91E9091-5844-23E8-A837-A227C202A9FD}"/>
              </a:ext>
            </a:extLst>
          </p:cNvPr>
          <p:cNvGraphicFramePr>
            <a:graphicFrameLocks noGrp="1"/>
          </p:cNvGraphicFramePr>
          <p:nvPr/>
        </p:nvGraphicFramePr>
        <p:xfrm>
          <a:off x="9182101" y="947377"/>
          <a:ext cx="2795588" cy="1847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1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확인 버튼 선택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나의정보 화면으로 이동</a:t>
                      </a: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684046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723838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3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172599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4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290794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5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922450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6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784800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7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0538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8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199337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9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450365"/>
                  </a:ext>
                </a:extLst>
              </a:tr>
            </a:tbl>
          </a:graphicData>
        </a:graphic>
      </p:graphicFrame>
      <p:sp>
        <p:nvSpPr>
          <p:cNvPr id="3" name="직사각형 2"/>
          <p:cNvSpPr/>
          <p:nvPr/>
        </p:nvSpPr>
        <p:spPr>
          <a:xfrm>
            <a:off x="959895" y="375614"/>
            <a:ext cx="1595309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</a:pP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메인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나의정보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나의정보 수정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03996" y="123825"/>
            <a:ext cx="17303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HN_MemInfo_Modi_002P</a:t>
            </a:r>
            <a:endParaRPr lang="ko-KR" altLang="en-US" sz="800" dirty="0"/>
          </a:p>
        </p:txBody>
      </p:sp>
      <p:sp>
        <p:nvSpPr>
          <p:cNvPr id="6" name="모서리가 둥근 직사각형 30">
            <a:extLst>
              <a:ext uri="{FF2B5EF4-FFF2-40B4-BE49-F238E27FC236}">
                <a16:creationId xmlns:a16="http://schemas.microsoft.com/office/drawing/2014/main" id="{3632EE85-AA31-F3FE-96AD-EA082F7393FD}"/>
              </a:ext>
            </a:extLst>
          </p:cNvPr>
          <p:cNvSpPr/>
          <p:nvPr/>
        </p:nvSpPr>
        <p:spPr>
          <a:xfrm>
            <a:off x="720474" y="2440960"/>
            <a:ext cx="3036044" cy="2830285"/>
          </a:xfrm>
          <a:prstGeom prst="roundRect">
            <a:avLst>
              <a:gd name="adj" fmla="val 3334"/>
            </a:avLst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EFC9A374-B4D1-8790-1E5A-F6DF4D0F7ECA}"/>
              </a:ext>
            </a:extLst>
          </p:cNvPr>
          <p:cNvCxnSpPr>
            <a:cxnSpLocks/>
          </p:cNvCxnSpPr>
          <p:nvPr/>
        </p:nvCxnSpPr>
        <p:spPr>
          <a:xfrm>
            <a:off x="655957" y="1658468"/>
            <a:ext cx="3109526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642AAF5E-8E89-17A1-E6C4-E551522D9877}"/>
              </a:ext>
            </a:extLst>
          </p:cNvPr>
          <p:cNvSpPr txBox="1"/>
          <p:nvPr/>
        </p:nvSpPr>
        <p:spPr>
          <a:xfrm>
            <a:off x="1793778" y="1181491"/>
            <a:ext cx="83388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하늘누리</a:t>
            </a:r>
            <a:endParaRPr lang="en-US" altLang="ko-KR" sz="11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en-US" altLang="ko-KR" sz="11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CI</a:t>
            </a:r>
            <a:endParaRPr lang="ko-KR" altLang="en-US" sz="11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9" name="그림 8" descr="블랙, 어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3F3F899-89B5-3234-5266-173D7EA96EB4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2985" y="1191723"/>
            <a:ext cx="383533" cy="38353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4F051C0-D4F3-7323-6E89-C6158EBE01C7}"/>
              </a:ext>
            </a:extLst>
          </p:cNvPr>
          <p:cNvSpPr txBox="1"/>
          <p:nvPr/>
        </p:nvSpPr>
        <p:spPr>
          <a:xfrm>
            <a:off x="2826086" y="1293697"/>
            <a:ext cx="57184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" panose="020D0604000000000000" pitchFamily="50" charset="-127"/>
                <a:ea typeface="나눔고딕" panose="020D0604000000000000" pitchFamily="50" charset="-127"/>
              </a:rPr>
              <a:t>르그아웃</a:t>
            </a:r>
          </a:p>
        </p:txBody>
      </p:sp>
      <p:pic>
        <p:nvPicPr>
          <p:cNvPr id="11" name="Picture 4" descr="로그 아웃 아이콘">
            <a:extLst>
              <a:ext uri="{FF2B5EF4-FFF2-40B4-BE49-F238E27FC236}">
                <a16:creationId xmlns:a16="http://schemas.microsoft.com/office/drawing/2014/main" id="{7E98FA50-5AD4-7FAD-E6A0-7BB6F26C4F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9631" y="1283929"/>
            <a:ext cx="217049" cy="217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116935C-56E8-27C3-180A-D7C97D985B78}"/>
              </a:ext>
            </a:extLst>
          </p:cNvPr>
          <p:cNvSpPr txBox="1"/>
          <p:nvPr/>
        </p:nvSpPr>
        <p:spPr>
          <a:xfrm>
            <a:off x="1343128" y="1807796"/>
            <a:ext cx="17351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나의정보 수정</a:t>
            </a:r>
            <a:endParaRPr lang="en-US" altLang="ko-KR" sz="1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E14ACE44-1B4E-335C-E728-394372D5785C}"/>
              </a:ext>
            </a:extLst>
          </p:cNvPr>
          <p:cNvGraphicFramePr>
            <a:graphicFrameLocks noGrp="1"/>
          </p:cNvGraphicFramePr>
          <p:nvPr/>
        </p:nvGraphicFramePr>
        <p:xfrm>
          <a:off x="882251" y="2440961"/>
          <a:ext cx="2244558" cy="1674495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122279">
                  <a:extLst>
                    <a:ext uri="{9D8B030D-6E8A-4147-A177-3AD203B41FA5}">
                      <a16:colId xmlns:a16="http://schemas.microsoft.com/office/drawing/2014/main" val="1553538150"/>
                    </a:ext>
                  </a:extLst>
                </a:gridCol>
                <a:gridCol w="1122279">
                  <a:extLst>
                    <a:ext uri="{9D8B030D-6E8A-4147-A177-3AD203B41FA5}">
                      <a16:colId xmlns:a16="http://schemas.microsoft.com/office/drawing/2014/main" val="445445047"/>
                    </a:ext>
                  </a:extLst>
                </a:gridCol>
              </a:tblGrid>
              <a:tr h="356027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아이디 </a:t>
                      </a:r>
                      <a:endParaRPr lang="en-US" altLang="ko-KR" sz="1000" b="1" u="none" dirty="0">
                        <a:solidFill>
                          <a:srgbClr val="FF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gildong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0268165"/>
                  </a:ext>
                </a:extLst>
              </a:tr>
              <a:tr h="38226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이름 </a:t>
                      </a:r>
                      <a:endParaRPr lang="en-US" altLang="ko-KR" sz="1000" b="1" u="none" dirty="0">
                        <a:solidFill>
                          <a:srgbClr val="FF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홍길동</a:t>
                      </a:r>
                      <a:endParaRPr lang="en-US" altLang="ko-KR" sz="10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1090331"/>
                  </a:ext>
                </a:extLst>
              </a:tr>
              <a:tr h="55394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휴대전화 </a:t>
                      </a:r>
                      <a:r>
                        <a:rPr lang="en-US" altLang="ko-KR" sz="1000" b="1" u="none" dirty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*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1" u="none" dirty="0">
                        <a:solidFill>
                          <a:srgbClr val="FF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1" u="none" dirty="0">
                        <a:solidFill>
                          <a:srgbClr val="FF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1" u="none" dirty="0">
                        <a:solidFill>
                          <a:srgbClr val="FF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0626559"/>
                  </a:ext>
                </a:extLst>
              </a:tr>
              <a:tr h="38226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E-Mail </a:t>
                      </a:r>
                      <a:r>
                        <a:rPr lang="en-US" altLang="ko-KR" sz="1000" b="1" u="none" dirty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*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1" u="none" dirty="0">
                        <a:solidFill>
                          <a:srgbClr val="FF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0662131"/>
                  </a:ext>
                </a:extLst>
              </a:tr>
            </a:tbl>
          </a:graphicData>
        </a:graphic>
      </p:graphicFrame>
      <p:sp>
        <p:nvSpPr>
          <p:cNvPr id="14" name="직사각형 13">
            <a:extLst>
              <a:ext uri="{FF2B5EF4-FFF2-40B4-BE49-F238E27FC236}">
                <a16:creationId xmlns:a16="http://schemas.microsoft.com/office/drawing/2014/main" id="{BD1B84AC-D9ED-1C99-D19E-1BD290B6CA9D}"/>
              </a:ext>
            </a:extLst>
          </p:cNvPr>
          <p:cNvSpPr/>
          <p:nvPr/>
        </p:nvSpPr>
        <p:spPr>
          <a:xfrm>
            <a:off x="2963602" y="4080390"/>
            <a:ext cx="669281" cy="27991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직접입력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7294FA6D-B868-B0E5-83E3-0F4E9EC6EFE0}"/>
              </a:ext>
            </a:extLst>
          </p:cNvPr>
          <p:cNvSpPr/>
          <p:nvPr/>
        </p:nvSpPr>
        <p:spPr>
          <a:xfrm>
            <a:off x="1890606" y="3448525"/>
            <a:ext cx="791727" cy="27991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9999</a:t>
            </a:r>
            <a:endParaRPr lang="ko-KR" altLang="en-US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09E9B36-4169-64D4-50D8-40BBA5B96B02}"/>
              </a:ext>
            </a:extLst>
          </p:cNvPr>
          <p:cNvSpPr/>
          <p:nvPr/>
        </p:nvSpPr>
        <p:spPr>
          <a:xfrm>
            <a:off x="915630" y="4071852"/>
            <a:ext cx="946610" cy="27991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B62B2A8-86AE-0789-6F8F-206034813BAF}"/>
              </a:ext>
            </a:extLst>
          </p:cNvPr>
          <p:cNvSpPr txBox="1"/>
          <p:nvPr/>
        </p:nvSpPr>
        <p:spPr>
          <a:xfrm>
            <a:off x="1673106" y="3468827"/>
            <a:ext cx="1891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endParaRPr lang="ko-KR" altLang="en-US" sz="14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1496CD4-295F-23BD-C2F7-CFA4CACA6D5C}"/>
              </a:ext>
            </a:extLst>
          </p:cNvPr>
          <p:cNvSpPr txBox="1"/>
          <p:nvPr/>
        </p:nvSpPr>
        <p:spPr>
          <a:xfrm>
            <a:off x="2647144" y="3449741"/>
            <a:ext cx="1891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endParaRPr lang="ko-KR" altLang="en-US" sz="14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C392EE5-022C-90BE-1879-8FA73A72A830}"/>
              </a:ext>
            </a:extLst>
          </p:cNvPr>
          <p:cNvSpPr txBox="1"/>
          <p:nvPr/>
        </p:nvSpPr>
        <p:spPr>
          <a:xfrm>
            <a:off x="1806178" y="4096952"/>
            <a:ext cx="33356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@</a:t>
            </a:r>
            <a:endParaRPr lang="ko-KR" altLang="en-US" sz="9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8CFF9218-B8ED-0CBE-1F2C-58DEA367FE3F}"/>
              </a:ext>
            </a:extLst>
          </p:cNvPr>
          <p:cNvSpPr/>
          <p:nvPr/>
        </p:nvSpPr>
        <p:spPr>
          <a:xfrm>
            <a:off x="3466998" y="4080086"/>
            <a:ext cx="172801" cy="27954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▼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9AD39966-4A41-3236-8326-55D0E50E8937}"/>
              </a:ext>
            </a:extLst>
          </p:cNvPr>
          <p:cNvSpPr/>
          <p:nvPr/>
        </p:nvSpPr>
        <p:spPr>
          <a:xfrm>
            <a:off x="2059774" y="4078469"/>
            <a:ext cx="814063" cy="27991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3A5783B8-9EFA-2A29-4B18-1AC40A37D9AE}"/>
              </a:ext>
            </a:extLst>
          </p:cNvPr>
          <p:cNvSpPr/>
          <p:nvPr/>
        </p:nvSpPr>
        <p:spPr>
          <a:xfrm>
            <a:off x="907375" y="3448525"/>
            <a:ext cx="791727" cy="27991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010</a:t>
            </a:r>
            <a:endParaRPr lang="ko-KR" altLang="en-US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4E61799C-E7AD-4FD7-A764-38A05339BB40}"/>
              </a:ext>
            </a:extLst>
          </p:cNvPr>
          <p:cNvSpPr/>
          <p:nvPr/>
        </p:nvSpPr>
        <p:spPr>
          <a:xfrm>
            <a:off x="2873837" y="3448525"/>
            <a:ext cx="791727" cy="27991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8888</a:t>
            </a:r>
            <a:endParaRPr lang="ko-KR" altLang="en-US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4" name="모서리가 둥근 직사각형 63">
            <a:extLst>
              <a:ext uri="{FF2B5EF4-FFF2-40B4-BE49-F238E27FC236}">
                <a16:creationId xmlns:a16="http://schemas.microsoft.com/office/drawing/2014/main" id="{72E406B0-2CC6-106D-3FD7-4100B6475F61}"/>
              </a:ext>
            </a:extLst>
          </p:cNvPr>
          <p:cNvSpPr/>
          <p:nvPr/>
        </p:nvSpPr>
        <p:spPr bwMode="auto">
          <a:xfrm>
            <a:off x="2244188" y="4736007"/>
            <a:ext cx="1209164" cy="330783"/>
          </a:xfrm>
          <a:prstGeom prst="roundRect">
            <a:avLst/>
          </a:prstGeom>
          <a:solidFill>
            <a:schemeClr val="tx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000" b="1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확인</a:t>
            </a:r>
          </a:p>
        </p:txBody>
      </p:sp>
      <p:sp>
        <p:nvSpPr>
          <p:cNvPr id="58" name="모서리가 둥근 직사각형 63">
            <a:extLst>
              <a:ext uri="{FF2B5EF4-FFF2-40B4-BE49-F238E27FC236}">
                <a16:creationId xmlns:a16="http://schemas.microsoft.com/office/drawing/2014/main" id="{A2375467-E13C-22A6-8C17-AE0088A2B7F9}"/>
              </a:ext>
            </a:extLst>
          </p:cNvPr>
          <p:cNvSpPr/>
          <p:nvPr/>
        </p:nvSpPr>
        <p:spPr bwMode="auto">
          <a:xfrm>
            <a:off x="959895" y="4736007"/>
            <a:ext cx="1209164" cy="330783"/>
          </a:xfrm>
          <a:prstGeom prst="roundRect">
            <a:avLst/>
          </a:prstGeom>
          <a:solidFill>
            <a:schemeClr val="bg1">
              <a:lumMod val="50000"/>
            </a:schemeClr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000" b="1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취소</a:t>
            </a:r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E1391098-C1D5-07F6-4DB6-4D931D7F3791}"/>
              </a:ext>
            </a:extLst>
          </p:cNvPr>
          <p:cNvSpPr/>
          <p:nvPr/>
        </p:nvSpPr>
        <p:spPr>
          <a:xfrm>
            <a:off x="710869" y="1135405"/>
            <a:ext cx="3109526" cy="5005418"/>
          </a:xfrm>
          <a:prstGeom prst="rect">
            <a:avLst/>
          </a:prstGeom>
          <a:solidFill>
            <a:schemeClr val="bg1">
              <a:lumMod val="95000"/>
              <a:alpha val="49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pSp>
        <p:nvGrpSpPr>
          <p:cNvPr id="71" name="그룹 70">
            <a:extLst>
              <a:ext uri="{FF2B5EF4-FFF2-40B4-BE49-F238E27FC236}">
                <a16:creationId xmlns:a16="http://schemas.microsoft.com/office/drawing/2014/main" id="{6118D6C5-C816-D064-2F35-1353086427B7}"/>
              </a:ext>
            </a:extLst>
          </p:cNvPr>
          <p:cNvGrpSpPr/>
          <p:nvPr/>
        </p:nvGrpSpPr>
        <p:grpSpPr>
          <a:xfrm>
            <a:off x="1084760" y="2708893"/>
            <a:ext cx="2323082" cy="2080355"/>
            <a:chOff x="8731624" y="3719540"/>
            <a:chExt cx="2323082" cy="2080355"/>
          </a:xfrm>
        </p:grpSpPr>
        <p:sp>
          <p:nvSpPr>
            <p:cNvPr id="72" name="모서리가 둥근 직사각형 52">
              <a:extLst>
                <a:ext uri="{FF2B5EF4-FFF2-40B4-BE49-F238E27FC236}">
                  <a16:creationId xmlns:a16="http://schemas.microsoft.com/office/drawing/2014/main" id="{77D302D6-9991-8433-294B-4D5A8A0C9A4F}"/>
                </a:ext>
              </a:extLst>
            </p:cNvPr>
            <p:cNvSpPr/>
            <p:nvPr/>
          </p:nvSpPr>
          <p:spPr>
            <a:xfrm>
              <a:off x="8731624" y="3719540"/>
              <a:ext cx="2323082" cy="2080355"/>
            </a:xfrm>
            <a:prstGeom prst="roundRect">
              <a:avLst>
                <a:gd name="adj" fmla="val 3334"/>
              </a:avLst>
            </a:prstGeom>
            <a:solidFill>
              <a:schemeClr val="bg1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cxnSp>
          <p:nvCxnSpPr>
            <p:cNvPr id="73" name="직선 연결선 72">
              <a:extLst>
                <a:ext uri="{FF2B5EF4-FFF2-40B4-BE49-F238E27FC236}">
                  <a16:creationId xmlns:a16="http://schemas.microsoft.com/office/drawing/2014/main" id="{2172C386-2E37-D3BC-E10A-F146993C701F}"/>
                </a:ext>
              </a:extLst>
            </p:cNvPr>
            <p:cNvCxnSpPr>
              <a:cxnSpLocks/>
            </p:cNvCxnSpPr>
            <p:nvPr/>
          </p:nvCxnSpPr>
          <p:spPr>
            <a:xfrm>
              <a:off x="8731624" y="4006723"/>
              <a:ext cx="2323082" cy="17455"/>
            </a:xfrm>
            <a:prstGeom prst="line">
              <a:avLst/>
            </a:prstGeom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6DDAB345-4DD0-5826-385F-675A30FC9191}"/>
                </a:ext>
              </a:extLst>
            </p:cNvPr>
            <p:cNvSpPr txBox="1"/>
            <p:nvPr/>
          </p:nvSpPr>
          <p:spPr>
            <a:xfrm>
              <a:off x="8737978" y="3756443"/>
              <a:ext cx="121298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9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나의 정보수정</a:t>
              </a: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D1D021CC-3F2E-2CDE-3A2E-24689E1FFC9E}"/>
                </a:ext>
              </a:extLst>
            </p:cNvPr>
            <p:cNvSpPr txBox="1"/>
            <p:nvPr/>
          </p:nvSpPr>
          <p:spPr>
            <a:xfrm>
              <a:off x="10749703" y="3737849"/>
              <a:ext cx="27678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1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X</a:t>
              </a:r>
              <a:endParaRPr lang="ko-KR" altLang="en-US" sz="11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76" name="직사각형 75">
              <a:extLst>
                <a:ext uri="{FF2B5EF4-FFF2-40B4-BE49-F238E27FC236}">
                  <a16:creationId xmlns:a16="http://schemas.microsoft.com/office/drawing/2014/main" id="{259DD08A-B4BF-F2CC-18C5-B41BBEF5C070}"/>
                </a:ext>
              </a:extLst>
            </p:cNvPr>
            <p:cNvSpPr/>
            <p:nvPr/>
          </p:nvSpPr>
          <p:spPr>
            <a:xfrm>
              <a:off x="8845063" y="4294664"/>
              <a:ext cx="2082913" cy="72182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C7FE1C8A-EE58-EAD3-BF41-ACFC6CF74DE6}"/>
                </a:ext>
              </a:extLst>
            </p:cNvPr>
            <p:cNvSpPr txBox="1"/>
            <p:nvPr/>
          </p:nvSpPr>
          <p:spPr>
            <a:xfrm>
              <a:off x="8845064" y="4561723"/>
              <a:ext cx="214025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9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정상적으로 나의정보가 수정되었습니다</a:t>
              </a:r>
              <a:r>
                <a:rPr lang="en-US" altLang="ko-KR" sz="9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.</a:t>
              </a:r>
              <a:endParaRPr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78" name="모서리가 둥근 직사각형 63">
              <a:extLst>
                <a:ext uri="{FF2B5EF4-FFF2-40B4-BE49-F238E27FC236}">
                  <a16:creationId xmlns:a16="http://schemas.microsoft.com/office/drawing/2014/main" id="{11949669-C0F1-E4AB-A8CD-0F1011DBF862}"/>
                </a:ext>
              </a:extLst>
            </p:cNvPr>
            <p:cNvSpPr/>
            <p:nvPr/>
          </p:nvSpPr>
          <p:spPr bwMode="auto">
            <a:xfrm>
              <a:off x="9471805" y="5311929"/>
              <a:ext cx="956159" cy="200025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ko-KR" altLang="en-US" sz="800" dirty="0">
                  <a:ln w="0" cmpd="sng">
                    <a:solidFill>
                      <a:schemeClr val="tx2">
                        <a:satMod val="155000"/>
                        <a:alpha val="0"/>
                      </a:schemeClr>
                    </a:solidFill>
                    <a:prstDash val="solid"/>
                    <a:round/>
                  </a:ln>
                  <a:solidFill>
                    <a:schemeClr val="tx1"/>
                  </a:solidFill>
                  <a:latin typeface="나눔고딕" pitchFamily="50" charset="-127"/>
                  <a:ea typeface="나눔고딕" pitchFamily="50" charset="-127"/>
                </a:rPr>
                <a:t>확인</a:t>
              </a:r>
            </a:p>
          </p:txBody>
        </p:sp>
      </p:grpSp>
      <p:sp>
        <p:nvSpPr>
          <p:cNvPr id="79" name="Oval 109">
            <a:extLst>
              <a:ext uri="{FF2B5EF4-FFF2-40B4-BE49-F238E27FC236}">
                <a16:creationId xmlns:a16="http://schemas.microsoft.com/office/drawing/2014/main" id="{994637F5-D219-3A88-8AC8-C20BE6A5AF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9385" y="4181464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57999830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AC2EF8-3774-7445-0BC4-5708E30F6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B91E9091-5844-23E8-A837-A227C202A9FD}"/>
              </a:ext>
            </a:extLst>
          </p:cNvPr>
          <p:cNvGraphicFramePr>
            <a:graphicFrameLocks noGrp="1"/>
          </p:cNvGraphicFramePr>
          <p:nvPr/>
        </p:nvGraphicFramePr>
        <p:xfrm>
          <a:off x="9182101" y="947377"/>
          <a:ext cx="2795588" cy="2700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1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기존 비밀번호 입력</a:t>
                      </a: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684046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변경 비밀번호 입력</a:t>
                      </a: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723838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3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변경할 비밀번호 다시 입력</a:t>
                      </a: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172599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4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취소 버튼 선택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입력 내용을 저장하지 않고 나의 정보 화면으로 이동</a:t>
                      </a: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290794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5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확인 선택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정합성 체크 후 비밀번호 변경 처리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비밀번호가 맞지 않는 경우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Alert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메시지 노출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1.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기존 비밀번호가 맞지 않는 경우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“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기존 비밀번호가 일치하지 않습니다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.”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2.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변경할 비밀번호가 형식에 맞지 않거나 변경비밀번호 확인 번호가 일치하지 않는 경우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“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다시 한번 변경 할 비밀번호를 확인해주시기 바랍니다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.”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922450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6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784800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7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0538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8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199337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9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450365"/>
                  </a:ext>
                </a:extLst>
              </a:tr>
            </a:tbl>
          </a:graphicData>
        </a:graphic>
      </p:graphicFrame>
      <p:sp>
        <p:nvSpPr>
          <p:cNvPr id="3" name="직사각형 2"/>
          <p:cNvSpPr/>
          <p:nvPr/>
        </p:nvSpPr>
        <p:spPr>
          <a:xfrm>
            <a:off x="959895" y="375614"/>
            <a:ext cx="1595309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</a:pP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메인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나의정보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비밀번호 변경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03996" y="123825"/>
            <a:ext cx="17303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HN_MemInfo_Pwmodi_001</a:t>
            </a:r>
            <a:endParaRPr lang="ko-KR" altLang="en-US" sz="800" dirty="0"/>
          </a:p>
        </p:txBody>
      </p:sp>
      <p:sp>
        <p:nvSpPr>
          <p:cNvPr id="5" name="모서리가 둥근 직사각형 30">
            <a:extLst>
              <a:ext uri="{FF2B5EF4-FFF2-40B4-BE49-F238E27FC236}">
                <a16:creationId xmlns:a16="http://schemas.microsoft.com/office/drawing/2014/main" id="{71162BA6-E3F4-CE38-6FBD-C968099AE006}"/>
              </a:ext>
            </a:extLst>
          </p:cNvPr>
          <p:cNvSpPr/>
          <p:nvPr/>
        </p:nvSpPr>
        <p:spPr>
          <a:xfrm>
            <a:off x="720474" y="2440960"/>
            <a:ext cx="3036044" cy="2830285"/>
          </a:xfrm>
          <a:prstGeom prst="roundRect">
            <a:avLst>
              <a:gd name="adj" fmla="val 3334"/>
            </a:avLst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17D3E28F-D931-E7B3-9C38-3F58EF8F9126}"/>
              </a:ext>
            </a:extLst>
          </p:cNvPr>
          <p:cNvCxnSpPr>
            <a:cxnSpLocks/>
          </p:cNvCxnSpPr>
          <p:nvPr/>
        </p:nvCxnSpPr>
        <p:spPr>
          <a:xfrm>
            <a:off x="655957" y="1658468"/>
            <a:ext cx="3109526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4FF23ABC-AF17-8E6F-EDC2-707BC9555825}"/>
              </a:ext>
            </a:extLst>
          </p:cNvPr>
          <p:cNvSpPr txBox="1"/>
          <p:nvPr/>
        </p:nvSpPr>
        <p:spPr>
          <a:xfrm>
            <a:off x="1793778" y="1181491"/>
            <a:ext cx="83388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하늘누리</a:t>
            </a:r>
            <a:endParaRPr lang="en-US" altLang="ko-KR" sz="11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en-US" altLang="ko-KR" sz="11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CI</a:t>
            </a:r>
            <a:endParaRPr lang="ko-KR" altLang="en-US" sz="11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8" name="그림 7" descr="블랙, 어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BCE00B0-FD8B-9909-64BA-5A75F6980428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2985" y="1191723"/>
            <a:ext cx="383533" cy="38353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7ADC456-A596-650B-3124-914A65B02AD1}"/>
              </a:ext>
            </a:extLst>
          </p:cNvPr>
          <p:cNvSpPr txBox="1"/>
          <p:nvPr/>
        </p:nvSpPr>
        <p:spPr>
          <a:xfrm>
            <a:off x="2826086" y="1293697"/>
            <a:ext cx="57184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" panose="020D0604000000000000" pitchFamily="50" charset="-127"/>
                <a:ea typeface="나눔고딕" panose="020D0604000000000000" pitchFamily="50" charset="-127"/>
              </a:rPr>
              <a:t>르그아웃</a:t>
            </a:r>
          </a:p>
        </p:txBody>
      </p:sp>
      <p:pic>
        <p:nvPicPr>
          <p:cNvPr id="10" name="Picture 4" descr="로그 아웃 아이콘">
            <a:extLst>
              <a:ext uri="{FF2B5EF4-FFF2-40B4-BE49-F238E27FC236}">
                <a16:creationId xmlns:a16="http://schemas.microsoft.com/office/drawing/2014/main" id="{7A8D3C45-EA84-FA2D-344E-103C2A14F6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9631" y="1283929"/>
            <a:ext cx="217049" cy="217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8625041-00CB-3D66-4989-F7999CE19741}"/>
              </a:ext>
            </a:extLst>
          </p:cNvPr>
          <p:cNvSpPr txBox="1"/>
          <p:nvPr/>
        </p:nvSpPr>
        <p:spPr>
          <a:xfrm>
            <a:off x="1343128" y="1807796"/>
            <a:ext cx="17351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비밀번호 변경</a:t>
            </a:r>
            <a:endParaRPr lang="en-US" altLang="ko-KR" sz="1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2" name="모서리가 둥근 직사각형 63">
            <a:extLst>
              <a:ext uri="{FF2B5EF4-FFF2-40B4-BE49-F238E27FC236}">
                <a16:creationId xmlns:a16="http://schemas.microsoft.com/office/drawing/2014/main" id="{052FB3AE-A87B-4D92-C930-C352B8203AA0}"/>
              </a:ext>
            </a:extLst>
          </p:cNvPr>
          <p:cNvSpPr/>
          <p:nvPr/>
        </p:nvSpPr>
        <p:spPr bwMode="auto">
          <a:xfrm>
            <a:off x="2244188" y="4736007"/>
            <a:ext cx="1209164" cy="330783"/>
          </a:xfrm>
          <a:prstGeom prst="roundRect">
            <a:avLst/>
          </a:prstGeom>
          <a:solidFill>
            <a:schemeClr val="tx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000" b="1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확인</a:t>
            </a:r>
          </a:p>
        </p:txBody>
      </p:sp>
      <p:sp>
        <p:nvSpPr>
          <p:cNvPr id="33" name="모서리가 둥근 직사각형 63">
            <a:extLst>
              <a:ext uri="{FF2B5EF4-FFF2-40B4-BE49-F238E27FC236}">
                <a16:creationId xmlns:a16="http://schemas.microsoft.com/office/drawing/2014/main" id="{72CE2C36-70B6-E7AD-4BEA-B7660AF1CD6C}"/>
              </a:ext>
            </a:extLst>
          </p:cNvPr>
          <p:cNvSpPr/>
          <p:nvPr/>
        </p:nvSpPr>
        <p:spPr bwMode="auto">
          <a:xfrm>
            <a:off x="959895" y="4736007"/>
            <a:ext cx="1209164" cy="330783"/>
          </a:xfrm>
          <a:prstGeom prst="roundRect">
            <a:avLst/>
          </a:prstGeom>
          <a:solidFill>
            <a:schemeClr val="bg1">
              <a:lumMod val="50000"/>
            </a:schemeClr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000" b="1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취소</a:t>
            </a:r>
          </a:p>
        </p:txBody>
      </p:sp>
      <p:sp>
        <p:nvSpPr>
          <p:cNvPr id="34" name="Oval 109">
            <a:extLst>
              <a:ext uri="{FF2B5EF4-FFF2-40B4-BE49-F238E27FC236}">
                <a16:creationId xmlns:a16="http://schemas.microsoft.com/office/drawing/2014/main" id="{F6E878DB-6003-C048-2124-CEC4641A0A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0791" y="4561286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4</a:t>
            </a:r>
          </a:p>
        </p:txBody>
      </p:sp>
      <p:sp>
        <p:nvSpPr>
          <p:cNvPr id="36" name="Oval 109">
            <a:extLst>
              <a:ext uri="{FF2B5EF4-FFF2-40B4-BE49-F238E27FC236}">
                <a16:creationId xmlns:a16="http://schemas.microsoft.com/office/drawing/2014/main" id="{2038AAAB-9B67-87A3-D85C-DE26786550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18779" y="4561286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5</a:t>
            </a:r>
          </a:p>
        </p:txBody>
      </p:sp>
      <p:graphicFrame>
        <p:nvGraphicFramePr>
          <p:cNvPr id="37" name="표 36">
            <a:extLst>
              <a:ext uri="{FF2B5EF4-FFF2-40B4-BE49-F238E27FC236}">
                <a16:creationId xmlns:a16="http://schemas.microsoft.com/office/drawing/2014/main" id="{D62C56D6-396D-15FE-8BF0-B81BE5570217}"/>
              </a:ext>
            </a:extLst>
          </p:cNvPr>
          <p:cNvGraphicFramePr>
            <a:graphicFrameLocks noGrp="1"/>
          </p:cNvGraphicFramePr>
          <p:nvPr/>
        </p:nvGraphicFramePr>
        <p:xfrm>
          <a:off x="860791" y="2642666"/>
          <a:ext cx="2698197" cy="1399079"/>
        </p:xfrm>
        <a:graphic>
          <a:graphicData uri="http://schemas.openxmlformats.org/drawingml/2006/table">
            <a:tbl>
              <a:tblPr firstRow="1" bandRow="1"/>
              <a:tblGrid>
                <a:gridCol w="16313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4928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b="1" noProof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Segoe UI" panose="020B0502040204020203" pitchFamily="34" charset="0"/>
                        </a:rPr>
                        <a:t>기존비밀번호 </a:t>
                      </a:r>
                      <a:r>
                        <a:rPr lang="en-US" altLang="ko-KR" sz="1000" b="1" noProof="1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Segoe UI" panose="020B0502040204020203" pitchFamily="34" charset="0"/>
                        </a:rPr>
                        <a:t>*</a:t>
                      </a:r>
                    </a:p>
                    <a:p>
                      <a:pPr algn="l"/>
                      <a:endParaRPr lang="en-US" altLang="ko-KR" sz="1000" b="1" noProof="1">
                        <a:solidFill>
                          <a:srgbClr val="FF000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Segoe UI" panose="020B0502040204020203" pitchFamily="34" charset="0"/>
                      </a:endParaRPr>
                    </a:p>
                    <a:p>
                      <a:pPr algn="l"/>
                      <a:endParaRPr lang="en-US" altLang="ko-KR" sz="1000" b="1" noProof="1">
                        <a:solidFill>
                          <a:srgbClr val="FF000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Segoe UI" panose="020B0502040204020203" pitchFamily="34" charset="0"/>
                      </a:endParaRPr>
                    </a:p>
                  </a:txBody>
                  <a:tcPr marL="108000" marR="39000" marT="39000" marB="39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900" b="0" noProof="1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Segoe UI" panose="020B0502040204020203" pitchFamily="34" charset="0"/>
                      </a:endParaRPr>
                    </a:p>
                  </a:txBody>
                  <a:tcPr marL="108000" marR="39000" marT="39000" marB="39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8679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b="1" noProof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Segoe UI" panose="020B0502040204020203" pitchFamily="34" charset="0"/>
                        </a:rPr>
                        <a:t>변경비밀번호 </a:t>
                      </a:r>
                      <a:r>
                        <a:rPr lang="en-US" altLang="ko-KR" sz="1000" b="1" noProof="1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Segoe UI" panose="020B0502040204020203" pitchFamily="34" charset="0"/>
                        </a:rPr>
                        <a:t>*</a:t>
                      </a:r>
                    </a:p>
                    <a:p>
                      <a:pPr algn="l"/>
                      <a:endParaRPr lang="en-US" sz="1000" b="1" noProof="1">
                        <a:solidFill>
                          <a:srgbClr val="FF000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Segoe UI" panose="020B0502040204020203" pitchFamily="34" charset="0"/>
                      </a:endParaRPr>
                    </a:p>
                    <a:p>
                      <a:pPr algn="l"/>
                      <a:endParaRPr lang="en-US" sz="1000" b="1" noProof="1">
                        <a:solidFill>
                          <a:srgbClr val="FF000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Segoe UI" panose="020B0502040204020203" pitchFamily="34" charset="0"/>
                      </a:endParaRPr>
                    </a:p>
                  </a:txBody>
                  <a:tcPr marL="108000" marR="39000" marT="39000" marB="39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900" b="0" noProof="1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Segoe UI" panose="020B0502040204020203" pitchFamily="34" charset="0"/>
                      </a:endParaRPr>
                    </a:p>
                  </a:txBody>
                  <a:tcPr marL="108000" marR="39000" marT="39000" marB="39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8679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b="1" noProof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Segoe UI" panose="020B0502040204020203" pitchFamily="34" charset="0"/>
                        </a:rPr>
                        <a:t>변경비밀번호</a:t>
                      </a:r>
                      <a:r>
                        <a:rPr lang="en-US" altLang="ko-KR" sz="1000" b="1" baseline="0" noProof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Segoe UI" panose="020B0502040204020203" pitchFamily="34" charset="0"/>
                        </a:rPr>
                        <a:t> </a:t>
                      </a:r>
                      <a:r>
                        <a:rPr lang="ko-KR" altLang="en-US" sz="1000" b="1" noProof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Segoe UI" panose="020B0502040204020203" pitchFamily="34" charset="0"/>
                        </a:rPr>
                        <a:t>확인 </a:t>
                      </a:r>
                      <a:r>
                        <a:rPr lang="en-US" altLang="ko-KR" sz="1000" b="1" noProof="1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Segoe UI" panose="020B0502040204020203" pitchFamily="34" charset="0"/>
                        </a:rPr>
                        <a:t>*</a:t>
                      </a:r>
                      <a:endParaRPr lang="en-US" sz="1000" b="1" noProof="1">
                        <a:solidFill>
                          <a:srgbClr val="FF000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Segoe UI" panose="020B0502040204020203" pitchFamily="34" charset="0"/>
                      </a:endParaRPr>
                    </a:p>
                  </a:txBody>
                  <a:tcPr marL="108000" marR="39000" marT="39000" marB="39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900" noProof="1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Segoe UI" panose="020B0502040204020203" pitchFamily="34" charset="0"/>
                      </a:endParaRPr>
                    </a:p>
                  </a:txBody>
                  <a:tcPr marL="108000" marR="39000" marT="39000" marB="39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8" name="직사각형 37">
            <a:extLst>
              <a:ext uri="{FF2B5EF4-FFF2-40B4-BE49-F238E27FC236}">
                <a16:creationId xmlns:a16="http://schemas.microsoft.com/office/drawing/2014/main" id="{B88C2211-E27A-CB1E-7727-56F7BDDC3D92}"/>
              </a:ext>
            </a:extLst>
          </p:cNvPr>
          <p:cNvSpPr/>
          <p:nvPr/>
        </p:nvSpPr>
        <p:spPr>
          <a:xfrm>
            <a:off x="959895" y="2901377"/>
            <a:ext cx="2394575" cy="276691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3D0CD0C-8FA3-61F3-77F9-99CD11D9CEE7}"/>
              </a:ext>
            </a:extLst>
          </p:cNvPr>
          <p:cNvSpPr txBox="1"/>
          <p:nvPr/>
        </p:nvSpPr>
        <p:spPr>
          <a:xfrm>
            <a:off x="1021122" y="2946689"/>
            <a:ext cx="140655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기존 비밀번호를 입력하세요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FF9C02B-2092-DA5F-98AE-11EE499DA7C4}"/>
              </a:ext>
            </a:extLst>
          </p:cNvPr>
          <p:cNvSpPr txBox="1"/>
          <p:nvPr/>
        </p:nvSpPr>
        <p:spPr>
          <a:xfrm>
            <a:off x="1039637" y="3499714"/>
            <a:ext cx="140655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변경비밀번호를 입력하세요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9CA509F1-4E4F-B4A5-A669-485C4531B6BC}"/>
              </a:ext>
            </a:extLst>
          </p:cNvPr>
          <p:cNvSpPr/>
          <p:nvPr/>
        </p:nvSpPr>
        <p:spPr>
          <a:xfrm>
            <a:off x="978410" y="3456743"/>
            <a:ext cx="2394575" cy="276691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101A76D1-F7A7-116D-7F61-63751707B36F}"/>
              </a:ext>
            </a:extLst>
          </p:cNvPr>
          <p:cNvSpPr/>
          <p:nvPr/>
        </p:nvSpPr>
        <p:spPr>
          <a:xfrm>
            <a:off x="971771" y="4031695"/>
            <a:ext cx="2394575" cy="276691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8CECEC2-4C15-0D65-B21B-BC6723CFB9A4}"/>
              </a:ext>
            </a:extLst>
          </p:cNvPr>
          <p:cNvSpPr txBox="1"/>
          <p:nvPr/>
        </p:nvSpPr>
        <p:spPr>
          <a:xfrm>
            <a:off x="1040159" y="4066457"/>
            <a:ext cx="140655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변경비밀번호를 입력하세요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4" name="Oval 109">
            <a:extLst>
              <a:ext uri="{FF2B5EF4-FFF2-40B4-BE49-F238E27FC236}">
                <a16:creationId xmlns:a16="http://schemas.microsoft.com/office/drawing/2014/main" id="{3D8849CB-2F5A-0169-F6F8-B79868EBAE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407" y="3351438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2</a:t>
            </a:r>
          </a:p>
        </p:txBody>
      </p:sp>
      <p:sp>
        <p:nvSpPr>
          <p:cNvPr id="47" name="Oval 109">
            <a:extLst>
              <a:ext uri="{FF2B5EF4-FFF2-40B4-BE49-F238E27FC236}">
                <a16:creationId xmlns:a16="http://schemas.microsoft.com/office/drawing/2014/main" id="{F3B2C5D8-8805-C394-9250-B2F0B1E9B3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407" y="2809799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1</a:t>
            </a:r>
          </a:p>
        </p:txBody>
      </p:sp>
      <p:sp>
        <p:nvSpPr>
          <p:cNvPr id="48" name="Oval 109">
            <a:extLst>
              <a:ext uri="{FF2B5EF4-FFF2-40B4-BE49-F238E27FC236}">
                <a16:creationId xmlns:a16="http://schemas.microsoft.com/office/drawing/2014/main" id="{A1A16E7F-57FD-FDE4-99B8-A211B8F63B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0288" y="3937727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3</a:t>
            </a: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C6F7EFF3-7937-8542-5DCE-A82B26718B74}"/>
              </a:ext>
            </a:extLst>
          </p:cNvPr>
          <p:cNvSpPr/>
          <p:nvPr/>
        </p:nvSpPr>
        <p:spPr>
          <a:xfrm>
            <a:off x="691392" y="5958925"/>
            <a:ext cx="3091715" cy="264669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Footer</a:t>
            </a:r>
            <a:endParaRPr lang="ko-KR" altLang="en-US" sz="10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32287119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AC2EF8-3774-7445-0BC4-5708E30F6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B91E9091-5844-23E8-A837-A227C202A9FD}"/>
              </a:ext>
            </a:extLst>
          </p:cNvPr>
          <p:cNvGraphicFramePr>
            <a:graphicFrameLocks noGrp="1"/>
          </p:cNvGraphicFramePr>
          <p:nvPr/>
        </p:nvGraphicFramePr>
        <p:xfrm>
          <a:off x="9182101" y="947377"/>
          <a:ext cx="2795588" cy="1847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1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확인 버튼 선택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메인 화면으로 이동</a:t>
                      </a: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684046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723838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3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172599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4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290794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5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922450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6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784800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7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0538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8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199337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9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450365"/>
                  </a:ext>
                </a:extLst>
              </a:tr>
            </a:tbl>
          </a:graphicData>
        </a:graphic>
      </p:graphicFrame>
      <p:sp>
        <p:nvSpPr>
          <p:cNvPr id="3" name="직사각형 2"/>
          <p:cNvSpPr/>
          <p:nvPr/>
        </p:nvSpPr>
        <p:spPr>
          <a:xfrm>
            <a:off x="959895" y="375614"/>
            <a:ext cx="1595309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</a:pP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메인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나의정보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비밀번호 변경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03996" y="123825"/>
            <a:ext cx="17303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HN_MemInfo_Pwmodi_002P</a:t>
            </a:r>
            <a:endParaRPr lang="ko-KR" altLang="en-US" sz="800" dirty="0"/>
          </a:p>
        </p:txBody>
      </p:sp>
      <p:sp>
        <p:nvSpPr>
          <p:cNvPr id="14" name="모서리가 둥근 직사각형 30">
            <a:extLst>
              <a:ext uri="{FF2B5EF4-FFF2-40B4-BE49-F238E27FC236}">
                <a16:creationId xmlns:a16="http://schemas.microsoft.com/office/drawing/2014/main" id="{A830498F-3F72-1FFE-7DA7-F0D3F9A55B74}"/>
              </a:ext>
            </a:extLst>
          </p:cNvPr>
          <p:cNvSpPr/>
          <p:nvPr/>
        </p:nvSpPr>
        <p:spPr>
          <a:xfrm>
            <a:off x="720474" y="2440960"/>
            <a:ext cx="3036044" cy="2830285"/>
          </a:xfrm>
          <a:prstGeom prst="roundRect">
            <a:avLst>
              <a:gd name="adj" fmla="val 3334"/>
            </a:avLst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76AAAB7A-DDBD-773C-F7F7-EFD24AC101D6}"/>
              </a:ext>
            </a:extLst>
          </p:cNvPr>
          <p:cNvCxnSpPr>
            <a:cxnSpLocks/>
          </p:cNvCxnSpPr>
          <p:nvPr/>
        </p:nvCxnSpPr>
        <p:spPr>
          <a:xfrm>
            <a:off x="655957" y="1658468"/>
            <a:ext cx="3109526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5655FD4F-1BCD-1607-39B6-34DE69B3FD00}"/>
              </a:ext>
            </a:extLst>
          </p:cNvPr>
          <p:cNvSpPr txBox="1"/>
          <p:nvPr/>
        </p:nvSpPr>
        <p:spPr>
          <a:xfrm>
            <a:off x="1793778" y="1181491"/>
            <a:ext cx="83388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하늘누리</a:t>
            </a:r>
            <a:endParaRPr lang="en-US" altLang="ko-KR" sz="11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en-US" altLang="ko-KR" sz="11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CI</a:t>
            </a:r>
            <a:endParaRPr lang="ko-KR" altLang="en-US" sz="11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19" name="그림 18" descr="블랙, 어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EAF09FA-1ECD-EC11-F4AE-EB22FF5147F7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2985" y="1191723"/>
            <a:ext cx="383533" cy="383533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4E0BFC9D-C1A8-22E0-8ECF-469D909F74E9}"/>
              </a:ext>
            </a:extLst>
          </p:cNvPr>
          <p:cNvSpPr txBox="1"/>
          <p:nvPr/>
        </p:nvSpPr>
        <p:spPr>
          <a:xfrm>
            <a:off x="2826086" y="1293697"/>
            <a:ext cx="57184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" panose="020D0604000000000000" pitchFamily="50" charset="-127"/>
                <a:ea typeface="나눔고딕" panose="020D0604000000000000" pitchFamily="50" charset="-127"/>
              </a:rPr>
              <a:t>르그아웃</a:t>
            </a:r>
          </a:p>
        </p:txBody>
      </p:sp>
      <p:pic>
        <p:nvPicPr>
          <p:cNvPr id="21" name="Picture 4" descr="로그 아웃 아이콘">
            <a:extLst>
              <a:ext uri="{FF2B5EF4-FFF2-40B4-BE49-F238E27FC236}">
                <a16:creationId xmlns:a16="http://schemas.microsoft.com/office/drawing/2014/main" id="{FAB33B43-7DD6-0D63-AF95-7FFE6CD0F4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9631" y="1283929"/>
            <a:ext cx="217049" cy="217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25BDCDBD-208B-0BDD-0DB6-F6725BD8AE95}"/>
              </a:ext>
            </a:extLst>
          </p:cNvPr>
          <p:cNvSpPr txBox="1"/>
          <p:nvPr/>
        </p:nvSpPr>
        <p:spPr>
          <a:xfrm>
            <a:off x="1343128" y="1807796"/>
            <a:ext cx="17351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비밀번호 변경</a:t>
            </a:r>
            <a:endParaRPr lang="en-US" altLang="ko-KR" sz="1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3" name="모서리가 둥근 직사각형 63">
            <a:extLst>
              <a:ext uri="{FF2B5EF4-FFF2-40B4-BE49-F238E27FC236}">
                <a16:creationId xmlns:a16="http://schemas.microsoft.com/office/drawing/2014/main" id="{EC3C3E8A-74F2-B97C-F936-7F2488743B33}"/>
              </a:ext>
            </a:extLst>
          </p:cNvPr>
          <p:cNvSpPr/>
          <p:nvPr/>
        </p:nvSpPr>
        <p:spPr bwMode="auto">
          <a:xfrm>
            <a:off x="2244188" y="4736007"/>
            <a:ext cx="1209164" cy="330783"/>
          </a:xfrm>
          <a:prstGeom prst="roundRect">
            <a:avLst/>
          </a:prstGeom>
          <a:solidFill>
            <a:schemeClr val="tx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000" b="1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확인</a:t>
            </a:r>
          </a:p>
        </p:txBody>
      </p:sp>
      <p:sp>
        <p:nvSpPr>
          <p:cNvPr id="27" name="모서리가 둥근 직사각형 63">
            <a:extLst>
              <a:ext uri="{FF2B5EF4-FFF2-40B4-BE49-F238E27FC236}">
                <a16:creationId xmlns:a16="http://schemas.microsoft.com/office/drawing/2014/main" id="{000C0827-F959-7CB8-A6BD-8E1416C9FBA1}"/>
              </a:ext>
            </a:extLst>
          </p:cNvPr>
          <p:cNvSpPr/>
          <p:nvPr/>
        </p:nvSpPr>
        <p:spPr bwMode="auto">
          <a:xfrm>
            <a:off x="959895" y="4736007"/>
            <a:ext cx="1209164" cy="330783"/>
          </a:xfrm>
          <a:prstGeom prst="roundRect">
            <a:avLst/>
          </a:prstGeom>
          <a:solidFill>
            <a:schemeClr val="bg1">
              <a:lumMod val="50000"/>
            </a:schemeClr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000" b="1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취소</a:t>
            </a:r>
          </a:p>
        </p:txBody>
      </p:sp>
      <p:graphicFrame>
        <p:nvGraphicFramePr>
          <p:cNvPr id="33" name="표 32">
            <a:extLst>
              <a:ext uri="{FF2B5EF4-FFF2-40B4-BE49-F238E27FC236}">
                <a16:creationId xmlns:a16="http://schemas.microsoft.com/office/drawing/2014/main" id="{426148B5-8CB6-11B5-2CE1-6C0F6CE3F5CE}"/>
              </a:ext>
            </a:extLst>
          </p:cNvPr>
          <p:cNvGraphicFramePr>
            <a:graphicFrameLocks noGrp="1"/>
          </p:cNvGraphicFramePr>
          <p:nvPr/>
        </p:nvGraphicFramePr>
        <p:xfrm>
          <a:off x="860791" y="2642666"/>
          <a:ext cx="2698197" cy="1399079"/>
        </p:xfrm>
        <a:graphic>
          <a:graphicData uri="http://schemas.openxmlformats.org/drawingml/2006/table">
            <a:tbl>
              <a:tblPr firstRow="1" bandRow="1"/>
              <a:tblGrid>
                <a:gridCol w="16313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4928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b="1" noProof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Segoe UI" panose="020B0502040204020203" pitchFamily="34" charset="0"/>
                        </a:rPr>
                        <a:t>기존비밀번호 </a:t>
                      </a:r>
                      <a:r>
                        <a:rPr lang="en-US" altLang="ko-KR" sz="1000" b="1" noProof="1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Segoe UI" panose="020B0502040204020203" pitchFamily="34" charset="0"/>
                        </a:rPr>
                        <a:t>*</a:t>
                      </a:r>
                    </a:p>
                    <a:p>
                      <a:pPr algn="l"/>
                      <a:endParaRPr lang="en-US" altLang="ko-KR" sz="1000" b="1" noProof="1">
                        <a:solidFill>
                          <a:srgbClr val="FF000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Segoe UI" panose="020B0502040204020203" pitchFamily="34" charset="0"/>
                      </a:endParaRPr>
                    </a:p>
                    <a:p>
                      <a:pPr algn="l"/>
                      <a:endParaRPr lang="en-US" altLang="ko-KR" sz="1000" b="1" noProof="1">
                        <a:solidFill>
                          <a:srgbClr val="FF000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Segoe UI" panose="020B0502040204020203" pitchFamily="34" charset="0"/>
                      </a:endParaRPr>
                    </a:p>
                  </a:txBody>
                  <a:tcPr marL="108000" marR="39000" marT="39000" marB="39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900" b="0" noProof="1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Segoe UI" panose="020B0502040204020203" pitchFamily="34" charset="0"/>
                      </a:endParaRPr>
                    </a:p>
                  </a:txBody>
                  <a:tcPr marL="108000" marR="39000" marT="39000" marB="39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8679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b="1" noProof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Segoe UI" panose="020B0502040204020203" pitchFamily="34" charset="0"/>
                        </a:rPr>
                        <a:t>변경비밀번호 </a:t>
                      </a:r>
                      <a:r>
                        <a:rPr lang="en-US" altLang="ko-KR" sz="1000" b="1" noProof="1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Segoe UI" panose="020B0502040204020203" pitchFamily="34" charset="0"/>
                        </a:rPr>
                        <a:t>*</a:t>
                      </a:r>
                    </a:p>
                    <a:p>
                      <a:pPr algn="l"/>
                      <a:endParaRPr lang="en-US" sz="1000" b="1" noProof="1">
                        <a:solidFill>
                          <a:srgbClr val="FF000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Segoe UI" panose="020B0502040204020203" pitchFamily="34" charset="0"/>
                      </a:endParaRPr>
                    </a:p>
                    <a:p>
                      <a:pPr algn="l"/>
                      <a:endParaRPr lang="en-US" sz="1000" b="1" noProof="1">
                        <a:solidFill>
                          <a:srgbClr val="FF000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Segoe UI" panose="020B0502040204020203" pitchFamily="34" charset="0"/>
                      </a:endParaRPr>
                    </a:p>
                  </a:txBody>
                  <a:tcPr marL="108000" marR="39000" marT="39000" marB="39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900" b="0" noProof="1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Segoe UI" panose="020B0502040204020203" pitchFamily="34" charset="0"/>
                      </a:endParaRPr>
                    </a:p>
                  </a:txBody>
                  <a:tcPr marL="108000" marR="39000" marT="39000" marB="39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8679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b="1" noProof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Segoe UI" panose="020B0502040204020203" pitchFamily="34" charset="0"/>
                        </a:rPr>
                        <a:t>변경비밀번호</a:t>
                      </a:r>
                      <a:r>
                        <a:rPr lang="en-US" altLang="ko-KR" sz="1000" b="1" baseline="0" noProof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Segoe UI" panose="020B0502040204020203" pitchFamily="34" charset="0"/>
                        </a:rPr>
                        <a:t> </a:t>
                      </a:r>
                      <a:r>
                        <a:rPr lang="ko-KR" altLang="en-US" sz="1000" b="1" noProof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Segoe UI" panose="020B0502040204020203" pitchFamily="34" charset="0"/>
                        </a:rPr>
                        <a:t>확인 </a:t>
                      </a:r>
                      <a:r>
                        <a:rPr lang="en-US" altLang="ko-KR" sz="1000" b="1" noProof="1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Segoe UI" panose="020B0502040204020203" pitchFamily="34" charset="0"/>
                        </a:rPr>
                        <a:t>*</a:t>
                      </a:r>
                      <a:endParaRPr lang="en-US" sz="1000" b="1" noProof="1">
                        <a:solidFill>
                          <a:srgbClr val="FF000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Segoe UI" panose="020B0502040204020203" pitchFamily="34" charset="0"/>
                      </a:endParaRPr>
                    </a:p>
                  </a:txBody>
                  <a:tcPr marL="108000" marR="39000" marT="39000" marB="39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900" noProof="1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Segoe UI" panose="020B0502040204020203" pitchFamily="34" charset="0"/>
                      </a:endParaRPr>
                    </a:p>
                  </a:txBody>
                  <a:tcPr marL="108000" marR="39000" marT="39000" marB="39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5" name="직사각형 44">
            <a:extLst>
              <a:ext uri="{FF2B5EF4-FFF2-40B4-BE49-F238E27FC236}">
                <a16:creationId xmlns:a16="http://schemas.microsoft.com/office/drawing/2014/main" id="{CA3B66EF-02B1-2522-77D4-7C676E03E4B2}"/>
              </a:ext>
            </a:extLst>
          </p:cNvPr>
          <p:cNvSpPr/>
          <p:nvPr/>
        </p:nvSpPr>
        <p:spPr>
          <a:xfrm>
            <a:off x="959895" y="2901377"/>
            <a:ext cx="2394575" cy="276691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2292C90-7105-D15B-0D7E-2DF82EFA5D4E}"/>
              </a:ext>
            </a:extLst>
          </p:cNvPr>
          <p:cNvSpPr txBox="1"/>
          <p:nvPr/>
        </p:nvSpPr>
        <p:spPr>
          <a:xfrm>
            <a:off x="1021122" y="2946689"/>
            <a:ext cx="140655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기존 비밀번호를 입력하세요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3EF302D-12FD-93BA-C224-DA2B0314CF4B}"/>
              </a:ext>
            </a:extLst>
          </p:cNvPr>
          <p:cNvSpPr txBox="1"/>
          <p:nvPr/>
        </p:nvSpPr>
        <p:spPr>
          <a:xfrm>
            <a:off x="1039637" y="3499714"/>
            <a:ext cx="140655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변경비밀번호를 입력하세요</a:t>
            </a: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774CD072-1FB1-AA9D-5D8F-E5F7A20C80AF}"/>
              </a:ext>
            </a:extLst>
          </p:cNvPr>
          <p:cNvSpPr/>
          <p:nvPr/>
        </p:nvSpPr>
        <p:spPr>
          <a:xfrm>
            <a:off x="978410" y="3456743"/>
            <a:ext cx="2394575" cy="276691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D66E4078-6A73-DFA4-1B69-0003AE785598}"/>
              </a:ext>
            </a:extLst>
          </p:cNvPr>
          <p:cNvSpPr/>
          <p:nvPr/>
        </p:nvSpPr>
        <p:spPr>
          <a:xfrm>
            <a:off x="971771" y="4031695"/>
            <a:ext cx="2394575" cy="276691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885F731-5EE4-1911-A6B6-20870A4CCEBA}"/>
              </a:ext>
            </a:extLst>
          </p:cNvPr>
          <p:cNvSpPr txBox="1"/>
          <p:nvPr/>
        </p:nvSpPr>
        <p:spPr>
          <a:xfrm>
            <a:off x="1040159" y="4066457"/>
            <a:ext cx="140655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변경비밀번호를 입력하세요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6020729-3CEE-DB8D-C783-D491C0063801}"/>
              </a:ext>
            </a:extLst>
          </p:cNvPr>
          <p:cNvSpPr/>
          <p:nvPr/>
        </p:nvSpPr>
        <p:spPr>
          <a:xfrm>
            <a:off x="689425" y="1142191"/>
            <a:ext cx="3109526" cy="5005418"/>
          </a:xfrm>
          <a:prstGeom prst="rect">
            <a:avLst/>
          </a:prstGeom>
          <a:solidFill>
            <a:schemeClr val="bg1">
              <a:lumMod val="95000"/>
              <a:alpha val="49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310BAE23-0708-5FB0-52C7-4C3EF1063A24}"/>
              </a:ext>
            </a:extLst>
          </p:cNvPr>
          <p:cNvGrpSpPr/>
          <p:nvPr/>
        </p:nvGrpSpPr>
        <p:grpSpPr>
          <a:xfrm>
            <a:off x="1063316" y="2715679"/>
            <a:ext cx="2323082" cy="2080355"/>
            <a:chOff x="8731624" y="3719540"/>
            <a:chExt cx="2323082" cy="2080355"/>
          </a:xfrm>
        </p:grpSpPr>
        <p:sp>
          <p:nvSpPr>
            <p:cNvPr id="7" name="모서리가 둥근 직사각형 52">
              <a:extLst>
                <a:ext uri="{FF2B5EF4-FFF2-40B4-BE49-F238E27FC236}">
                  <a16:creationId xmlns:a16="http://schemas.microsoft.com/office/drawing/2014/main" id="{1A0E1CBA-54B3-5C49-9AFE-F69BC76A352C}"/>
                </a:ext>
              </a:extLst>
            </p:cNvPr>
            <p:cNvSpPr/>
            <p:nvPr/>
          </p:nvSpPr>
          <p:spPr>
            <a:xfrm>
              <a:off x="8731624" y="3719540"/>
              <a:ext cx="2323082" cy="2080355"/>
            </a:xfrm>
            <a:prstGeom prst="roundRect">
              <a:avLst>
                <a:gd name="adj" fmla="val 3334"/>
              </a:avLst>
            </a:prstGeom>
            <a:solidFill>
              <a:schemeClr val="bg1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D403CA44-117A-353D-97AF-8600871C8CAE}"/>
                </a:ext>
              </a:extLst>
            </p:cNvPr>
            <p:cNvCxnSpPr>
              <a:cxnSpLocks/>
            </p:cNvCxnSpPr>
            <p:nvPr/>
          </p:nvCxnSpPr>
          <p:spPr>
            <a:xfrm>
              <a:off x="8731624" y="4006723"/>
              <a:ext cx="2323082" cy="17455"/>
            </a:xfrm>
            <a:prstGeom prst="line">
              <a:avLst/>
            </a:prstGeom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94B1CBE2-6AFE-47CB-34FE-9A47128F3A2B}"/>
                </a:ext>
              </a:extLst>
            </p:cNvPr>
            <p:cNvSpPr txBox="1"/>
            <p:nvPr/>
          </p:nvSpPr>
          <p:spPr>
            <a:xfrm>
              <a:off x="8737978" y="3756443"/>
              <a:ext cx="121298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9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비밀번호 변경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15C8D3A3-96DA-F09E-70E8-7652E8423692}"/>
                </a:ext>
              </a:extLst>
            </p:cNvPr>
            <p:cNvSpPr txBox="1"/>
            <p:nvPr/>
          </p:nvSpPr>
          <p:spPr>
            <a:xfrm>
              <a:off x="10749703" y="3737849"/>
              <a:ext cx="27678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1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X</a:t>
              </a:r>
              <a:endParaRPr lang="ko-KR" altLang="en-US" sz="11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462E9FC1-407C-7B0D-8D78-1124D0A87BC6}"/>
                </a:ext>
              </a:extLst>
            </p:cNvPr>
            <p:cNvSpPr/>
            <p:nvPr/>
          </p:nvSpPr>
          <p:spPr>
            <a:xfrm>
              <a:off x="8845063" y="4294664"/>
              <a:ext cx="2082913" cy="72182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73C9281-CA76-98EC-E7D4-3C7D92781F5D}"/>
                </a:ext>
              </a:extLst>
            </p:cNvPr>
            <p:cNvSpPr txBox="1"/>
            <p:nvPr/>
          </p:nvSpPr>
          <p:spPr>
            <a:xfrm>
              <a:off x="8845064" y="4561723"/>
              <a:ext cx="214025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9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정상적으로 비밀번호가 변경되었습니다</a:t>
              </a:r>
              <a:r>
                <a:rPr lang="en-US" altLang="ko-KR" sz="9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.</a:t>
              </a:r>
              <a:endParaRPr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3" name="모서리가 둥근 직사각형 63">
              <a:extLst>
                <a:ext uri="{FF2B5EF4-FFF2-40B4-BE49-F238E27FC236}">
                  <a16:creationId xmlns:a16="http://schemas.microsoft.com/office/drawing/2014/main" id="{0E3A2F37-E400-C7A5-1E3C-0AD50D0C149B}"/>
                </a:ext>
              </a:extLst>
            </p:cNvPr>
            <p:cNvSpPr/>
            <p:nvPr/>
          </p:nvSpPr>
          <p:spPr bwMode="auto">
            <a:xfrm>
              <a:off x="9471805" y="5311929"/>
              <a:ext cx="956159" cy="200025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ko-KR" altLang="en-US" sz="800" dirty="0">
                  <a:ln w="0" cmpd="sng">
                    <a:solidFill>
                      <a:schemeClr val="tx2">
                        <a:satMod val="155000"/>
                        <a:alpha val="0"/>
                      </a:schemeClr>
                    </a:solidFill>
                    <a:prstDash val="solid"/>
                    <a:round/>
                  </a:ln>
                  <a:solidFill>
                    <a:schemeClr val="tx1"/>
                  </a:solidFill>
                  <a:latin typeface="나눔고딕" pitchFamily="50" charset="-127"/>
                  <a:ea typeface="나눔고딕" pitchFamily="50" charset="-127"/>
                </a:rPr>
                <a:t>확인</a:t>
              </a:r>
            </a:p>
          </p:txBody>
        </p:sp>
      </p:grpSp>
      <p:sp>
        <p:nvSpPr>
          <p:cNvPr id="61" name="Oval 109">
            <a:extLst>
              <a:ext uri="{FF2B5EF4-FFF2-40B4-BE49-F238E27FC236}">
                <a16:creationId xmlns:a16="http://schemas.microsoft.com/office/drawing/2014/main" id="{B1BC5CA3-79E6-3324-5585-26D2C451AF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7378" y="4147620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4186720201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E64165-732A-09E9-5C19-15132EE002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BAC85FB-899E-BEC8-F8B4-4C2351BA6B13}"/>
              </a:ext>
            </a:extLst>
          </p:cNvPr>
          <p:cNvSpPr txBox="1"/>
          <p:nvPr/>
        </p:nvSpPr>
        <p:spPr>
          <a:xfrm>
            <a:off x="1047750" y="2476500"/>
            <a:ext cx="2390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나눔고딕" pitchFamily="2" charset="-127"/>
                <a:ea typeface="나눔고딕" pitchFamily="2" charset="-127"/>
              </a:rPr>
              <a:t>03. </a:t>
            </a:r>
            <a:r>
              <a:rPr lang="ko-KR" altLang="en-US" b="1" dirty="0">
                <a:latin typeface="나눔고딕" pitchFamily="2" charset="-127"/>
                <a:ea typeface="나눔고딕" pitchFamily="2" charset="-127"/>
              </a:rPr>
              <a:t>하늘누리 소개</a:t>
            </a:r>
          </a:p>
        </p:txBody>
      </p:sp>
    </p:spTree>
    <p:extLst>
      <p:ext uri="{BB962C8B-B14F-4D97-AF65-F5344CB8AC3E}">
        <p14:creationId xmlns:p14="http://schemas.microsoft.com/office/powerpoint/2010/main" val="4201667058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6DE8AA-0501-AA94-8E15-4F0543E7DB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A90BA11F-47DD-0923-BE84-9011E236597B}"/>
              </a:ext>
            </a:extLst>
          </p:cNvPr>
          <p:cNvGraphicFramePr>
            <a:graphicFrameLocks noGrp="1"/>
          </p:cNvGraphicFramePr>
          <p:nvPr/>
        </p:nvGraphicFramePr>
        <p:xfrm>
          <a:off x="9182101" y="947377"/>
          <a:ext cx="2795588" cy="1847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1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684046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723838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3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172599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4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290794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5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922450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6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784800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7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0538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8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199337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9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450365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43A50507-0ABE-73CA-E977-5178FD8A8925}"/>
              </a:ext>
            </a:extLst>
          </p:cNvPr>
          <p:cNvSpPr/>
          <p:nvPr/>
        </p:nvSpPr>
        <p:spPr>
          <a:xfrm>
            <a:off x="959895" y="375614"/>
            <a:ext cx="1499128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</a:pP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메인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하늘누리소개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인사말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 </a:t>
            </a:r>
            <a:endParaRPr kumimoji="1" lang="ko-KR" altLang="en-US" sz="800" dirty="0"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EC0693B-6B17-3D31-0E21-6E914D9B006F}"/>
              </a:ext>
            </a:extLst>
          </p:cNvPr>
          <p:cNvSpPr txBox="1"/>
          <p:nvPr/>
        </p:nvSpPr>
        <p:spPr>
          <a:xfrm>
            <a:off x="6003996" y="123825"/>
            <a:ext cx="17303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HN_Introdu_Greeting_001</a:t>
            </a:r>
            <a:endParaRPr lang="ko-KR" altLang="en-US" sz="800" dirty="0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E79FF74B-2544-B4DB-A56A-CE35B55F11D3}"/>
              </a:ext>
            </a:extLst>
          </p:cNvPr>
          <p:cNvCxnSpPr>
            <a:cxnSpLocks/>
          </p:cNvCxnSpPr>
          <p:nvPr/>
        </p:nvCxnSpPr>
        <p:spPr>
          <a:xfrm>
            <a:off x="655957" y="1658468"/>
            <a:ext cx="3109526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A204B09F-6EC0-05F9-A571-B00B375CB32B}"/>
              </a:ext>
            </a:extLst>
          </p:cNvPr>
          <p:cNvSpPr txBox="1"/>
          <p:nvPr/>
        </p:nvSpPr>
        <p:spPr>
          <a:xfrm>
            <a:off x="1793778" y="1181491"/>
            <a:ext cx="83388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하늘누리</a:t>
            </a:r>
            <a:endParaRPr lang="en-US" altLang="ko-KR" sz="11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en-US" altLang="ko-KR" sz="11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CI</a:t>
            </a:r>
            <a:endParaRPr lang="ko-KR" altLang="en-US" sz="11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12" name="그림 11" descr="블랙, 어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98B1B6D-CFE6-314A-D08B-7F678309C861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2985" y="1191723"/>
            <a:ext cx="383533" cy="38353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65233E79-2B54-A7C5-473F-7154433F8CF3}"/>
              </a:ext>
            </a:extLst>
          </p:cNvPr>
          <p:cNvSpPr txBox="1"/>
          <p:nvPr/>
        </p:nvSpPr>
        <p:spPr>
          <a:xfrm>
            <a:off x="2826086" y="1293697"/>
            <a:ext cx="57184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" panose="020D0604000000000000" pitchFamily="50" charset="-127"/>
                <a:ea typeface="나눔고딕" panose="020D0604000000000000" pitchFamily="50" charset="-127"/>
              </a:rPr>
              <a:t>르그아웃</a:t>
            </a:r>
          </a:p>
        </p:txBody>
      </p:sp>
      <p:pic>
        <p:nvPicPr>
          <p:cNvPr id="17" name="Picture 4" descr="로그 아웃 아이콘">
            <a:extLst>
              <a:ext uri="{FF2B5EF4-FFF2-40B4-BE49-F238E27FC236}">
                <a16:creationId xmlns:a16="http://schemas.microsoft.com/office/drawing/2014/main" id="{1D768B04-3DC4-A976-5058-9F84F30B5B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9631" y="1283929"/>
            <a:ext cx="217049" cy="217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9B4CE53A-81AA-7E4D-EB72-3149FD8DE5A3}"/>
              </a:ext>
            </a:extLst>
          </p:cNvPr>
          <p:cNvSpPr txBox="1"/>
          <p:nvPr/>
        </p:nvSpPr>
        <p:spPr>
          <a:xfrm>
            <a:off x="1343128" y="1807796"/>
            <a:ext cx="17351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인사말</a:t>
            </a:r>
            <a:endParaRPr lang="en-US" altLang="ko-KR" sz="1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CF1B9A8-56D1-1E64-E7DB-91AEC9CE64C8}"/>
              </a:ext>
            </a:extLst>
          </p:cNvPr>
          <p:cNvSpPr txBox="1"/>
          <p:nvPr/>
        </p:nvSpPr>
        <p:spPr>
          <a:xfrm>
            <a:off x="794294" y="2159072"/>
            <a:ext cx="2832847" cy="4835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Aft>
                <a:spcPts val="900"/>
              </a:spcAft>
            </a:pP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하늘누리 추모공원은 </a:t>
            </a:r>
            <a:r>
              <a:rPr lang="en-US" altLang="ko-KR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"</a:t>
            </a:r>
            <a:r>
              <a:rPr lang="ko-KR" altLang="en-US" sz="900" b="1" dirty="0">
                <a:solidFill>
                  <a:srgbClr val="2324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고인께서는 편안히 영면하실 수 있는 성스러운 안식처</a:t>
            </a:r>
            <a:r>
              <a:rPr lang="en-US" altLang="ko-KR" sz="900" b="1" dirty="0">
                <a:solidFill>
                  <a:srgbClr val="2324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”</a:t>
            </a:r>
            <a:r>
              <a:rPr lang="ko-KR" altLang="en-US" sz="900" dirty="0">
                <a:solidFill>
                  <a:srgbClr val="2324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가</a:t>
            </a:r>
            <a:r>
              <a:rPr lang="ko-KR" altLang="en-US" sz="900" b="1" dirty="0">
                <a:solidFill>
                  <a:srgbClr val="2324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900" dirty="0">
                <a:solidFill>
                  <a:srgbClr val="2324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되고자 합니다</a:t>
            </a:r>
            <a:r>
              <a:rPr lang="en-US" altLang="ko-KR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9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7134645-3445-2638-04B0-39D1859F4F3C}"/>
              </a:ext>
            </a:extLst>
          </p:cNvPr>
          <p:cNvSpPr txBox="1"/>
          <p:nvPr/>
        </p:nvSpPr>
        <p:spPr>
          <a:xfrm>
            <a:off x="768128" y="4726647"/>
            <a:ext cx="2796623" cy="1294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900"/>
              </a:spcAft>
              <a:buNone/>
            </a:pPr>
            <a:r>
              <a:rPr lang="ko-KR" altLang="en-US" sz="800" b="0" i="0" dirty="0">
                <a:solidFill>
                  <a:srgbClr val="232425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안녕하십니까</a:t>
            </a:r>
            <a:r>
              <a:rPr lang="en-US" altLang="ko-KR" sz="800" b="0" i="0" dirty="0">
                <a:solidFill>
                  <a:srgbClr val="232425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br>
              <a:rPr lang="en-US" altLang="ko-KR" sz="800" b="0" i="0" dirty="0">
                <a:solidFill>
                  <a:srgbClr val="232425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800" b="0" i="0" dirty="0">
                <a:solidFill>
                  <a:srgbClr val="232425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하늘누리 추모공원 홈페이지를 찾아주신 여러분께 진심으로 감사드립니다</a:t>
            </a:r>
            <a:r>
              <a:rPr lang="en-US" altLang="ko-KR" sz="800" b="0" i="0" dirty="0">
                <a:solidFill>
                  <a:srgbClr val="232425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 algn="l">
              <a:lnSpc>
                <a:spcPct val="150000"/>
              </a:lnSpc>
              <a:spcAft>
                <a:spcPts val="900"/>
              </a:spcAft>
              <a:buNone/>
            </a:pPr>
            <a:r>
              <a:rPr lang="ko-KR" altLang="en-US" sz="800" b="0" i="0" dirty="0">
                <a:solidFill>
                  <a:srgbClr val="232425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하늘누리 추모공원은 </a:t>
            </a:r>
            <a:r>
              <a:rPr lang="en-US" altLang="ko-KR" sz="800" b="0" i="0" dirty="0">
                <a:solidFill>
                  <a:srgbClr val="232425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“</a:t>
            </a:r>
            <a:r>
              <a:rPr lang="ko-KR" altLang="en-US" sz="800" b="0" i="0" dirty="0">
                <a:solidFill>
                  <a:srgbClr val="232425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하늘이 내린 평안한 안식처</a:t>
            </a:r>
            <a:r>
              <a:rPr lang="en-US" altLang="ko-KR" sz="800" b="0" i="0" dirty="0">
                <a:solidFill>
                  <a:srgbClr val="232425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”</a:t>
            </a:r>
            <a:r>
              <a:rPr lang="ko-KR" altLang="en-US" sz="800" b="0" i="0" dirty="0">
                <a:solidFill>
                  <a:srgbClr val="232425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라는 의미를 담아</a:t>
            </a:r>
            <a:br>
              <a:rPr lang="ko-KR" altLang="en-US" sz="800" b="0" i="0" dirty="0">
                <a:solidFill>
                  <a:srgbClr val="232425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800" b="0" i="0" dirty="0">
                <a:solidFill>
                  <a:srgbClr val="232425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자연과 하나 되는 아름다운 영면의 공간으로 조성되었습니다</a:t>
            </a:r>
            <a:r>
              <a:rPr lang="en-US" altLang="ko-KR" sz="800" b="0" i="0" dirty="0">
                <a:solidFill>
                  <a:srgbClr val="232425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B59D25F-D274-BCF5-359F-E3554F0D1D2C}"/>
              </a:ext>
            </a:extLst>
          </p:cNvPr>
          <p:cNvSpPr txBox="1"/>
          <p:nvPr/>
        </p:nvSpPr>
        <p:spPr>
          <a:xfrm>
            <a:off x="5316403" y="1217349"/>
            <a:ext cx="2832848" cy="4271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900"/>
              </a:spcAft>
            </a:pPr>
            <a:r>
              <a:rPr lang="ko-KR" altLang="en-US" sz="800" dirty="0">
                <a:solidFill>
                  <a:srgbClr val="2324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저희 공원은 단순한 장사시설을 넘어</a:t>
            </a:r>
            <a:br>
              <a:rPr lang="ko-KR" altLang="en-US" sz="800" dirty="0">
                <a:solidFill>
                  <a:srgbClr val="2324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800" b="1" dirty="0">
                <a:solidFill>
                  <a:srgbClr val="2324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고인께서는 편안히 영면하실 수 있는 성스러운 안식처</a:t>
            </a:r>
            <a:r>
              <a:rPr lang="ko-KR" altLang="en-US" sz="800" dirty="0">
                <a:solidFill>
                  <a:srgbClr val="2324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이며</a:t>
            </a:r>
            <a:r>
              <a:rPr lang="en-US" altLang="ko-KR" sz="800" dirty="0">
                <a:solidFill>
                  <a:srgbClr val="2324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</a:t>
            </a:r>
            <a:br>
              <a:rPr lang="en-US" altLang="ko-KR" sz="800" dirty="0">
                <a:solidFill>
                  <a:srgbClr val="2324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800" b="1" dirty="0">
                <a:solidFill>
                  <a:srgbClr val="2324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유가족분들께는 사랑하는 이를 추모하며 위안을 얻는 치유의 공간</a:t>
            </a:r>
            <a:r>
              <a:rPr lang="ko-KR" altLang="en-US" sz="800" dirty="0">
                <a:solidFill>
                  <a:srgbClr val="2324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이 되고자 합니다</a:t>
            </a:r>
            <a:r>
              <a:rPr lang="en-US" altLang="ko-KR" sz="800" dirty="0">
                <a:solidFill>
                  <a:srgbClr val="2324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>
              <a:lnSpc>
                <a:spcPct val="150000"/>
              </a:lnSpc>
              <a:spcAft>
                <a:spcPts val="900"/>
              </a:spcAft>
            </a:pPr>
            <a:r>
              <a:rPr lang="ko-KR" altLang="en-US" sz="800" dirty="0">
                <a:solidFill>
                  <a:srgbClr val="2324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천혜의 자연환경 속에 조성된 하늘누리 추모공원은</a:t>
            </a:r>
            <a:br>
              <a:rPr lang="ko-KR" altLang="en-US" sz="800" dirty="0">
                <a:solidFill>
                  <a:srgbClr val="2324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800" dirty="0">
                <a:solidFill>
                  <a:srgbClr val="2324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사계절 아름다운 경관과 잘 가꾸어진 조경으로</a:t>
            </a:r>
            <a:br>
              <a:rPr lang="ko-KR" altLang="en-US" sz="800" dirty="0">
                <a:solidFill>
                  <a:srgbClr val="2324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800" dirty="0">
                <a:solidFill>
                  <a:srgbClr val="2324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후손들이 편안하게 방문하여 고인을 기릴 수 있는 환경을 제공합니다</a:t>
            </a:r>
            <a:r>
              <a:rPr lang="en-US" altLang="ko-KR" sz="800" dirty="0">
                <a:solidFill>
                  <a:srgbClr val="2324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en-US" altLang="ko-KR" sz="800" b="0" i="0" dirty="0">
              <a:solidFill>
                <a:srgbClr val="232425"/>
              </a:solidFill>
              <a:effectLst/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>
              <a:lnSpc>
                <a:spcPct val="150000"/>
              </a:lnSpc>
              <a:spcAft>
                <a:spcPts val="900"/>
              </a:spcAft>
              <a:buNone/>
            </a:pPr>
            <a:r>
              <a:rPr lang="ko-KR" altLang="en-US" sz="800" b="0" i="0" dirty="0">
                <a:solidFill>
                  <a:srgbClr val="232425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또한 </a:t>
            </a:r>
            <a:r>
              <a:rPr lang="ko-KR" altLang="en-US" sz="800" b="1" i="0" dirty="0">
                <a:solidFill>
                  <a:srgbClr val="232425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최신 시설과 친환경 설계</a:t>
            </a:r>
            <a:r>
              <a:rPr lang="ko-KR" altLang="en-US" sz="800" b="0" i="0" dirty="0">
                <a:solidFill>
                  <a:srgbClr val="232425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로 쾌적하고 품격 있는 추모 문화를 선도하며</a:t>
            </a:r>
            <a:r>
              <a:rPr lang="en-US" altLang="ko-KR" sz="800" b="0" i="0" dirty="0">
                <a:solidFill>
                  <a:srgbClr val="232425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,</a:t>
            </a:r>
            <a:br>
              <a:rPr lang="en-US" altLang="ko-KR" sz="800" b="0" i="0" dirty="0">
                <a:solidFill>
                  <a:srgbClr val="232425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800" b="1" i="0" dirty="0">
                <a:solidFill>
                  <a:srgbClr val="232425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재단법인의 안정적 운영 체계</a:t>
            </a:r>
            <a:r>
              <a:rPr lang="ko-KR" altLang="en-US" sz="800" b="0" i="0" dirty="0">
                <a:solidFill>
                  <a:srgbClr val="232425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로 영구적인 관리를 보장합니다</a:t>
            </a:r>
            <a:r>
              <a:rPr lang="en-US" altLang="ko-KR" sz="800" b="0" i="0" dirty="0">
                <a:solidFill>
                  <a:srgbClr val="232425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 algn="l">
              <a:lnSpc>
                <a:spcPct val="150000"/>
              </a:lnSpc>
              <a:spcAft>
                <a:spcPts val="900"/>
              </a:spcAft>
              <a:buNone/>
            </a:pPr>
            <a:r>
              <a:rPr lang="ko-KR" altLang="en-US" sz="800" b="0" i="0" dirty="0">
                <a:solidFill>
                  <a:srgbClr val="232425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저희 하늘누리 추모공원의 모든 임직원은</a:t>
            </a:r>
            <a:br>
              <a:rPr lang="ko-KR" altLang="en-US" sz="800" b="0" i="0" dirty="0">
                <a:solidFill>
                  <a:srgbClr val="232425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800" b="1" i="0" dirty="0">
                <a:solidFill>
                  <a:srgbClr val="232425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내 가족</a:t>
            </a:r>
            <a:r>
              <a:rPr lang="en-US" altLang="ko-KR" sz="800" b="1" i="0" dirty="0">
                <a:solidFill>
                  <a:srgbClr val="232425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800" b="1" i="0" dirty="0">
                <a:solidFill>
                  <a:srgbClr val="232425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내 부모님을 모시는 마음</a:t>
            </a:r>
            <a:r>
              <a:rPr lang="ko-KR" altLang="en-US" sz="800" b="0" i="0" dirty="0">
                <a:solidFill>
                  <a:srgbClr val="232425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으로</a:t>
            </a:r>
            <a:br>
              <a:rPr lang="ko-KR" altLang="en-US" sz="800" b="0" i="0" dirty="0">
                <a:solidFill>
                  <a:srgbClr val="232425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800" b="0" i="0" dirty="0">
                <a:solidFill>
                  <a:srgbClr val="232425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정성을 다해 고인을 봉안하고 관리할 것을 약속드립니다</a:t>
            </a:r>
            <a:r>
              <a:rPr lang="en-US" altLang="ko-KR" sz="800" b="0" i="0" dirty="0">
                <a:solidFill>
                  <a:srgbClr val="232425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 algn="l">
              <a:lnSpc>
                <a:spcPct val="150000"/>
              </a:lnSpc>
              <a:spcAft>
                <a:spcPts val="900"/>
              </a:spcAft>
              <a:buNone/>
            </a:pPr>
            <a:r>
              <a:rPr lang="ko-KR" altLang="en-US" sz="800" b="0" i="0" dirty="0">
                <a:solidFill>
                  <a:srgbClr val="232425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방문하시는 모든 분들께 평안과 위로가 되는 공간이 되도록</a:t>
            </a:r>
            <a:br>
              <a:rPr lang="ko-KR" altLang="en-US" sz="800" b="0" i="0" dirty="0">
                <a:solidFill>
                  <a:srgbClr val="232425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800" b="0" i="0" dirty="0">
                <a:solidFill>
                  <a:srgbClr val="232425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최선을 다하겠습니다</a:t>
            </a:r>
            <a:r>
              <a:rPr lang="en-US" altLang="ko-KR" sz="800" b="0" i="0" dirty="0">
                <a:solidFill>
                  <a:srgbClr val="232425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 algn="l">
              <a:lnSpc>
                <a:spcPct val="150000"/>
              </a:lnSpc>
              <a:spcAft>
                <a:spcPts val="900"/>
              </a:spcAft>
              <a:buNone/>
            </a:pPr>
            <a:r>
              <a:rPr lang="ko-KR" altLang="en-US" sz="800" b="0" i="0" dirty="0">
                <a:solidFill>
                  <a:srgbClr val="232425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감사합니다</a:t>
            </a:r>
            <a:r>
              <a:rPr lang="en-US" altLang="ko-KR" sz="800" b="0" i="0" dirty="0">
                <a:solidFill>
                  <a:srgbClr val="232425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 algn="l">
              <a:lnSpc>
                <a:spcPct val="150000"/>
              </a:lnSpc>
              <a:spcAft>
                <a:spcPts val="900"/>
              </a:spcAft>
              <a:buNone/>
            </a:pPr>
            <a:r>
              <a:rPr lang="ko-KR" altLang="en-US" sz="800" b="1" i="0" dirty="0">
                <a:solidFill>
                  <a:srgbClr val="232425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하늘누리 추모공원 대표 ○○○</a:t>
            </a:r>
            <a:br>
              <a:rPr lang="ko-KR" altLang="en-US" sz="800" b="0" i="0" dirty="0">
                <a:solidFill>
                  <a:srgbClr val="232425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800" b="1" i="0" dirty="0">
                <a:solidFill>
                  <a:srgbClr val="232425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임직원 일동</a:t>
            </a:r>
            <a:endParaRPr lang="ko-KR" altLang="en-US" sz="800" b="0" i="0" dirty="0">
              <a:solidFill>
                <a:srgbClr val="232425"/>
              </a:solidFill>
              <a:effectLst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DE3D989F-321F-D9D8-5317-089BD2DD88DC}"/>
              </a:ext>
            </a:extLst>
          </p:cNvPr>
          <p:cNvSpPr/>
          <p:nvPr/>
        </p:nvSpPr>
        <p:spPr>
          <a:xfrm>
            <a:off x="5186969" y="5938202"/>
            <a:ext cx="3168137" cy="264669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Footer</a:t>
            </a:r>
            <a:endParaRPr lang="ko-KR" altLang="en-US" sz="10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B0145B0-66EB-EC58-98A3-9CF4916B966C}"/>
              </a:ext>
            </a:extLst>
          </p:cNvPr>
          <p:cNvSpPr/>
          <p:nvPr/>
        </p:nvSpPr>
        <p:spPr>
          <a:xfrm>
            <a:off x="708900" y="2711290"/>
            <a:ext cx="3003633" cy="1857866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이미지</a:t>
            </a:r>
          </a:p>
        </p:txBody>
      </p:sp>
    </p:spTree>
    <p:extLst>
      <p:ext uri="{BB962C8B-B14F-4D97-AF65-F5344CB8AC3E}">
        <p14:creationId xmlns:p14="http://schemas.microsoft.com/office/powerpoint/2010/main" val="592163605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1FDAAF-46CB-8B29-6E48-F6391E4C6C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943995AC-20FF-4F2E-BAF4-80B5A70A4BC1}"/>
              </a:ext>
            </a:extLst>
          </p:cNvPr>
          <p:cNvGraphicFramePr>
            <a:graphicFrameLocks noGrp="1"/>
          </p:cNvGraphicFramePr>
          <p:nvPr/>
        </p:nvGraphicFramePr>
        <p:xfrm>
          <a:off x="9182101" y="947377"/>
          <a:ext cx="2795588" cy="1847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1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684046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723838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3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172599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4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290794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5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922450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6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784800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7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0538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8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199337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9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450365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ECA0FD6B-D066-9599-3F97-C8FAC6AAB873}"/>
              </a:ext>
            </a:extLst>
          </p:cNvPr>
          <p:cNvSpPr/>
          <p:nvPr/>
        </p:nvSpPr>
        <p:spPr>
          <a:xfrm>
            <a:off x="959895" y="375614"/>
            <a:ext cx="1883849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</a:pP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메인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하늘누리소개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하늘누리 이야기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2CA2735-7424-D429-39EA-4B8B14580CE1}"/>
              </a:ext>
            </a:extLst>
          </p:cNvPr>
          <p:cNvSpPr txBox="1"/>
          <p:nvPr/>
        </p:nvSpPr>
        <p:spPr>
          <a:xfrm>
            <a:off x="6003996" y="123825"/>
            <a:ext cx="17303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HN_Introdu_Hnstory_001</a:t>
            </a:r>
            <a:endParaRPr lang="ko-KR" altLang="en-US" sz="800" dirty="0"/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CA8AD919-8DF9-C93E-E449-BA4A9065CCD6}"/>
              </a:ext>
            </a:extLst>
          </p:cNvPr>
          <p:cNvCxnSpPr>
            <a:cxnSpLocks/>
          </p:cNvCxnSpPr>
          <p:nvPr/>
        </p:nvCxnSpPr>
        <p:spPr>
          <a:xfrm>
            <a:off x="655957" y="1658468"/>
            <a:ext cx="3109526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A962A6D9-55AB-616D-A4E6-049E68C09D99}"/>
              </a:ext>
            </a:extLst>
          </p:cNvPr>
          <p:cNvSpPr txBox="1"/>
          <p:nvPr/>
        </p:nvSpPr>
        <p:spPr>
          <a:xfrm>
            <a:off x="1793778" y="1181491"/>
            <a:ext cx="83388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하늘누리</a:t>
            </a:r>
            <a:endParaRPr lang="en-US" altLang="ko-KR" sz="11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en-US" altLang="ko-KR" sz="11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CI</a:t>
            </a:r>
            <a:endParaRPr lang="ko-KR" altLang="en-US" sz="11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21" name="그림 20" descr="블랙, 어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746D8A2-11E9-59C7-62CE-048B036E5300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2985" y="1191723"/>
            <a:ext cx="383533" cy="383533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9332FACE-08B9-30BD-CDBE-502CF811A4EF}"/>
              </a:ext>
            </a:extLst>
          </p:cNvPr>
          <p:cNvSpPr txBox="1"/>
          <p:nvPr/>
        </p:nvSpPr>
        <p:spPr>
          <a:xfrm>
            <a:off x="2826086" y="1293697"/>
            <a:ext cx="57184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" panose="020D0604000000000000" pitchFamily="50" charset="-127"/>
                <a:ea typeface="나눔고딕" panose="020D0604000000000000" pitchFamily="50" charset="-127"/>
              </a:rPr>
              <a:t>르그아웃</a:t>
            </a:r>
          </a:p>
        </p:txBody>
      </p:sp>
      <p:pic>
        <p:nvPicPr>
          <p:cNvPr id="23" name="Picture 4" descr="로그 아웃 아이콘">
            <a:extLst>
              <a:ext uri="{FF2B5EF4-FFF2-40B4-BE49-F238E27FC236}">
                <a16:creationId xmlns:a16="http://schemas.microsoft.com/office/drawing/2014/main" id="{6D77F8DB-D52C-53D7-65FB-F9B42B6DFD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9631" y="1283929"/>
            <a:ext cx="217049" cy="217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EE6A4A97-D686-589E-9105-1FCCB2D3AA64}"/>
              </a:ext>
            </a:extLst>
          </p:cNvPr>
          <p:cNvSpPr txBox="1"/>
          <p:nvPr/>
        </p:nvSpPr>
        <p:spPr>
          <a:xfrm>
            <a:off x="1343128" y="1807796"/>
            <a:ext cx="17351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하늘누리 이야기</a:t>
            </a:r>
            <a:endParaRPr lang="en-US" altLang="ko-KR" sz="1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566D0E3-2C65-D855-5218-1EF42714AE9C}"/>
              </a:ext>
            </a:extLst>
          </p:cNvPr>
          <p:cNvSpPr txBox="1"/>
          <p:nvPr/>
        </p:nvSpPr>
        <p:spPr>
          <a:xfrm>
            <a:off x="794294" y="2159072"/>
            <a:ext cx="2832847" cy="4835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Aft>
                <a:spcPts val="900"/>
              </a:spcAft>
            </a:pP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하늘누리 추모공원은 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"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고인께서는 편안히 영면하실 수 있는 성스러운 </a:t>
            </a:r>
            <a:r>
              <a:rPr lang="ko-KR" altLang="en-US" sz="9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안식처”가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되고자 합니다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F0EA1700-CC7F-9E4A-BA19-73B06DE060D9}"/>
              </a:ext>
            </a:extLst>
          </p:cNvPr>
          <p:cNvSpPr/>
          <p:nvPr/>
        </p:nvSpPr>
        <p:spPr>
          <a:xfrm>
            <a:off x="761850" y="4270599"/>
            <a:ext cx="3003633" cy="1857866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이미지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09BCD7E-4736-6ED7-4B0F-894AFD8E858C}"/>
              </a:ext>
            </a:extLst>
          </p:cNvPr>
          <p:cNvSpPr txBox="1"/>
          <p:nvPr/>
        </p:nvSpPr>
        <p:spPr>
          <a:xfrm>
            <a:off x="794294" y="3194777"/>
            <a:ext cx="2971189" cy="10387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  <a:buNone/>
            </a:pPr>
            <a:r>
              <a:rPr lang="ko-KR" altLang="en-US" sz="900" b="0" i="0" dirty="0">
                <a:solidFill>
                  <a:srgbClr val="232425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전통적인 매장 문화에서 화장 중심으로 변화하는 시대적 흐름 속에서</a:t>
            </a:r>
            <a:r>
              <a:rPr lang="en-US" altLang="ko-KR" sz="900" b="0" i="0" dirty="0">
                <a:solidFill>
                  <a:srgbClr val="232425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900" b="0" i="0" dirty="0">
                <a:solidFill>
                  <a:srgbClr val="232425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품격 있고 아름다운 추모 공간의 필요성이 대두되었습니다</a:t>
            </a:r>
            <a:r>
              <a:rPr lang="en-US" altLang="ko-KR" sz="900" b="0" i="0" dirty="0">
                <a:solidFill>
                  <a:srgbClr val="232425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 algn="l">
              <a:spcAft>
                <a:spcPts val="900"/>
              </a:spcAft>
              <a:buNone/>
            </a:pPr>
            <a:r>
              <a:rPr lang="ko-KR" altLang="en-US" sz="900" b="0" i="0" dirty="0">
                <a:solidFill>
                  <a:srgbClr val="232425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이에 저희는 </a:t>
            </a:r>
            <a:r>
              <a:rPr lang="en-US" altLang="ko-KR" sz="900" b="1" i="0" dirty="0">
                <a:solidFill>
                  <a:srgbClr val="232425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"</a:t>
            </a:r>
            <a:r>
              <a:rPr lang="ko-KR" altLang="en-US" sz="900" b="1" i="0" dirty="0">
                <a:solidFill>
                  <a:srgbClr val="232425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자연으로 돌아가 영면하다</a:t>
            </a:r>
            <a:r>
              <a:rPr lang="en-US" altLang="ko-KR" sz="900" b="1" i="0" dirty="0">
                <a:solidFill>
                  <a:srgbClr val="232425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"</a:t>
            </a:r>
            <a:r>
              <a:rPr lang="ko-KR" altLang="en-US" sz="900" b="0" i="0" dirty="0">
                <a:solidFill>
                  <a:srgbClr val="232425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는 철학을 바탕으로 고인과 유가족 모두에게 위안이 되는 공간을 만들고자 하였습니다</a:t>
            </a:r>
            <a:r>
              <a:rPr lang="en-US" altLang="ko-KR" sz="900" b="0" i="0" dirty="0">
                <a:solidFill>
                  <a:srgbClr val="232425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A9CCD9E-3B07-AB2A-DFB0-30DF8BBB6F4E}"/>
              </a:ext>
            </a:extLst>
          </p:cNvPr>
          <p:cNvSpPr txBox="1"/>
          <p:nvPr/>
        </p:nvSpPr>
        <p:spPr>
          <a:xfrm>
            <a:off x="831155" y="2865343"/>
            <a:ext cx="273423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b="1" i="0" dirty="0">
                <a:solidFill>
                  <a:srgbClr val="232425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자연으로 돌아가 영면하다</a:t>
            </a:r>
            <a:endParaRPr lang="ko-KR" altLang="en-US" sz="1000" dirty="0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16535037-7AF0-239F-CE9F-E66DCDFC6118}"/>
              </a:ext>
            </a:extLst>
          </p:cNvPr>
          <p:cNvSpPr/>
          <p:nvPr/>
        </p:nvSpPr>
        <p:spPr>
          <a:xfrm>
            <a:off x="5162073" y="1091351"/>
            <a:ext cx="3171225" cy="1559427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이미지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EEFA988-CF8C-8DBC-1F56-42320ADA9007}"/>
              </a:ext>
            </a:extLst>
          </p:cNvPr>
          <p:cNvSpPr txBox="1"/>
          <p:nvPr/>
        </p:nvSpPr>
        <p:spPr>
          <a:xfrm>
            <a:off x="5332035" y="3095301"/>
            <a:ext cx="2831300" cy="484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  <a:buNone/>
            </a:pPr>
            <a:r>
              <a:rPr lang="en-US" altLang="ko-KR" sz="900" b="0" i="0" dirty="0">
                <a:solidFill>
                  <a:srgbClr val="232425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"</a:t>
            </a:r>
            <a:r>
              <a:rPr lang="ko-KR" altLang="en-US" sz="900" b="0" i="0" dirty="0">
                <a:solidFill>
                  <a:srgbClr val="232425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하늘누리</a:t>
            </a:r>
            <a:r>
              <a:rPr lang="en-US" altLang="ko-KR" sz="900" b="0" i="0" dirty="0">
                <a:solidFill>
                  <a:srgbClr val="232425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"</a:t>
            </a:r>
            <a:r>
              <a:rPr lang="ko-KR" altLang="en-US" sz="900" b="0" i="0" dirty="0">
                <a:solidFill>
                  <a:srgbClr val="232425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는 하늘</a:t>
            </a:r>
            <a:r>
              <a:rPr lang="en-US" altLang="ko-KR" sz="900" b="0" i="0" dirty="0">
                <a:solidFill>
                  <a:srgbClr val="232425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900" b="0" i="0" dirty="0">
                <a:solidFill>
                  <a:srgbClr val="232425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天</a:t>
            </a:r>
            <a:r>
              <a:rPr lang="en-US" altLang="ko-KR" sz="900" b="0" i="0" dirty="0">
                <a:solidFill>
                  <a:srgbClr val="232425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) + </a:t>
            </a:r>
            <a:r>
              <a:rPr lang="ko-KR" altLang="en-US" sz="900" b="0" i="0" dirty="0">
                <a:solidFill>
                  <a:srgbClr val="232425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누리</a:t>
            </a:r>
            <a:r>
              <a:rPr lang="en-US" altLang="ko-KR" sz="900" b="0" i="0" dirty="0">
                <a:solidFill>
                  <a:srgbClr val="232425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900" b="0" i="0" dirty="0">
                <a:solidFill>
                  <a:srgbClr val="232425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世界</a:t>
            </a:r>
            <a:r>
              <a:rPr lang="en-US" altLang="ko-KR" sz="900" b="0" i="0" dirty="0">
                <a:solidFill>
                  <a:srgbClr val="232425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sz="900" b="0" i="0" dirty="0">
                <a:solidFill>
                  <a:srgbClr val="232425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의 합성어로</a:t>
            </a:r>
            <a:r>
              <a:rPr lang="en-US" altLang="ko-KR" sz="900" b="0" i="0" dirty="0">
                <a:solidFill>
                  <a:srgbClr val="232425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,</a:t>
            </a:r>
          </a:p>
          <a:p>
            <a:pPr algn="l">
              <a:spcAft>
                <a:spcPts val="900"/>
              </a:spcAft>
              <a:buNone/>
            </a:pPr>
            <a:r>
              <a:rPr lang="en-US" altLang="ko-KR" sz="900" b="0" i="0" dirty="0">
                <a:solidFill>
                  <a:srgbClr val="232425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"</a:t>
            </a:r>
            <a:r>
              <a:rPr lang="ko-KR" altLang="en-US" sz="900" b="0" i="0" dirty="0">
                <a:solidFill>
                  <a:srgbClr val="232425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하늘이 내린 평화로운 세상</a:t>
            </a:r>
            <a:r>
              <a:rPr lang="en-US" altLang="ko-KR" sz="900" b="0" i="0" dirty="0">
                <a:solidFill>
                  <a:srgbClr val="232425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"</a:t>
            </a:r>
            <a:r>
              <a:rPr lang="ko-KR" altLang="en-US" sz="900" b="0" i="0" dirty="0">
                <a:solidFill>
                  <a:srgbClr val="232425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을 뜻합니다</a:t>
            </a:r>
            <a:r>
              <a:rPr lang="en-US" altLang="ko-KR" sz="900" b="0" i="0" dirty="0">
                <a:solidFill>
                  <a:srgbClr val="232425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B2D16CF-A71A-92EB-D863-666BCD29578B}"/>
              </a:ext>
            </a:extLst>
          </p:cNvPr>
          <p:cNvSpPr txBox="1"/>
          <p:nvPr/>
        </p:nvSpPr>
        <p:spPr>
          <a:xfrm>
            <a:off x="5367616" y="2705105"/>
            <a:ext cx="235771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b="1" i="0" dirty="0">
                <a:solidFill>
                  <a:srgbClr val="232425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하늘</a:t>
            </a:r>
            <a:r>
              <a:rPr lang="en-US" altLang="ko-KR" sz="1000" b="1" i="0" dirty="0">
                <a:solidFill>
                  <a:srgbClr val="232425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000" b="1" i="0" dirty="0">
                <a:solidFill>
                  <a:srgbClr val="232425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天</a:t>
            </a:r>
            <a:r>
              <a:rPr lang="en-US" altLang="ko-KR" sz="1000" b="1" i="0" dirty="0">
                <a:solidFill>
                  <a:srgbClr val="232425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) + </a:t>
            </a:r>
            <a:r>
              <a:rPr lang="ko-KR" altLang="en-US" sz="1000" b="1" i="0" dirty="0">
                <a:solidFill>
                  <a:srgbClr val="232425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누리</a:t>
            </a:r>
            <a:r>
              <a:rPr lang="en-US" altLang="ko-KR" sz="1000" b="1" i="0" dirty="0">
                <a:solidFill>
                  <a:srgbClr val="232425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000" b="1" i="0" dirty="0">
                <a:solidFill>
                  <a:srgbClr val="232425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世界</a:t>
            </a:r>
            <a:r>
              <a:rPr lang="en-US" altLang="ko-KR" sz="1000" b="1" i="0" dirty="0">
                <a:solidFill>
                  <a:srgbClr val="232425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1000" b="1" dirty="0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3A446CD3-DBE9-0518-8778-C65787EACFD0}"/>
              </a:ext>
            </a:extLst>
          </p:cNvPr>
          <p:cNvSpPr/>
          <p:nvPr/>
        </p:nvSpPr>
        <p:spPr>
          <a:xfrm>
            <a:off x="5234547" y="3639767"/>
            <a:ext cx="3098752" cy="1353577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이미지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12875FE-CFB8-9404-F2B8-D7195E2A6D71}"/>
              </a:ext>
            </a:extLst>
          </p:cNvPr>
          <p:cNvSpPr txBox="1"/>
          <p:nvPr/>
        </p:nvSpPr>
        <p:spPr>
          <a:xfrm>
            <a:off x="5234547" y="5666777"/>
            <a:ext cx="31057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lang="ko-KR" altLang="en-US" sz="900" b="0" i="0" dirty="0">
                <a:solidFill>
                  <a:srgbClr val="232425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최고급 시설과 쾌적한 환경으로 고품격 추모 공간 제공하고</a:t>
            </a:r>
            <a:r>
              <a:rPr lang="ko-KR" altLang="en-US" sz="900" dirty="0">
                <a:solidFill>
                  <a:srgbClr val="2324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900" b="0" i="0" dirty="0">
                <a:solidFill>
                  <a:srgbClr val="232425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현대적 감각의 디자인과 전통의 조화가 어우러져 있습니다</a:t>
            </a:r>
            <a:r>
              <a:rPr lang="en-US" altLang="ko-KR" sz="900" b="0" i="0" dirty="0">
                <a:solidFill>
                  <a:srgbClr val="232425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900" b="0" i="0" dirty="0">
              <a:solidFill>
                <a:srgbClr val="232425"/>
              </a:solidFill>
              <a:effectLst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BCB6364-E649-1E77-805B-1510A7961F5C}"/>
              </a:ext>
            </a:extLst>
          </p:cNvPr>
          <p:cNvSpPr txBox="1"/>
          <p:nvPr/>
        </p:nvSpPr>
        <p:spPr>
          <a:xfrm>
            <a:off x="5567287" y="5299283"/>
            <a:ext cx="243327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품격 있는 추모 문화 창조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4C3305F-1758-874F-FBB7-FE901633C290}"/>
              </a:ext>
            </a:extLst>
          </p:cNvPr>
          <p:cNvSpPr txBox="1"/>
          <p:nvPr/>
        </p:nvSpPr>
        <p:spPr>
          <a:xfrm>
            <a:off x="5603309" y="5053062"/>
            <a:ext cx="228875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하늘누리 추모공원의 장점은 </a:t>
            </a:r>
          </a:p>
        </p:txBody>
      </p:sp>
    </p:spTree>
    <p:extLst>
      <p:ext uri="{BB962C8B-B14F-4D97-AF65-F5344CB8AC3E}">
        <p14:creationId xmlns:p14="http://schemas.microsoft.com/office/powerpoint/2010/main" val="3029534600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C85126-1F7F-61FB-1EFB-28BDC43929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85918FC0-6082-0F0F-01C5-91D653262AFD}"/>
              </a:ext>
            </a:extLst>
          </p:cNvPr>
          <p:cNvGraphicFramePr>
            <a:graphicFrameLocks noGrp="1"/>
          </p:cNvGraphicFramePr>
          <p:nvPr/>
        </p:nvGraphicFramePr>
        <p:xfrm>
          <a:off x="9182101" y="947377"/>
          <a:ext cx="2795588" cy="1847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1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684046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723838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3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172599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4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290794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5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922450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6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784800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7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0538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8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199337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9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450365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77CF9B3E-5D37-D526-9462-0E1A797C8E2C}"/>
              </a:ext>
            </a:extLst>
          </p:cNvPr>
          <p:cNvSpPr/>
          <p:nvPr/>
        </p:nvSpPr>
        <p:spPr>
          <a:xfrm>
            <a:off x="959895" y="375614"/>
            <a:ext cx="1883849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</a:pP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메인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하늘누리소개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하늘누리 이야기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F9C61CA-5291-9902-05C9-085E09296816}"/>
              </a:ext>
            </a:extLst>
          </p:cNvPr>
          <p:cNvSpPr txBox="1"/>
          <p:nvPr/>
        </p:nvSpPr>
        <p:spPr>
          <a:xfrm>
            <a:off x="6003996" y="123825"/>
            <a:ext cx="17303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HN_Introdu_Hnstory_001</a:t>
            </a:r>
            <a:endParaRPr lang="ko-KR" altLang="en-US" sz="800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AD775D3-A2B2-6718-7FA0-7F181F2A06CF}"/>
              </a:ext>
            </a:extLst>
          </p:cNvPr>
          <p:cNvSpPr/>
          <p:nvPr/>
        </p:nvSpPr>
        <p:spPr>
          <a:xfrm>
            <a:off x="752193" y="1160013"/>
            <a:ext cx="3030913" cy="1353577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이미지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83A52C-05E9-5524-CF9D-7722A23F8E4D}"/>
              </a:ext>
            </a:extLst>
          </p:cNvPr>
          <p:cNvSpPr txBox="1"/>
          <p:nvPr/>
        </p:nvSpPr>
        <p:spPr>
          <a:xfrm>
            <a:off x="907181" y="2820329"/>
            <a:ext cx="27209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lang="ko-KR" altLang="en-US" sz="900" b="0" i="0" dirty="0">
                <a:solidFill>
                  <a:srgbClr val="232425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친환경 수목장과 생태 조경으로 자연과 공존하며 지속 가능한 녹색 추모 문화 실천합니다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AFC92AB-A23D-A712-90C4-616DCBB15632}"/>
              </a:ext>
            </a:extLst>
          </p:cNvPr>
          <p:cNvSpPr txBox="1"/>
          <p:nvPr/>
        </p:nvSpPr>
        <p:spPr>
          <a:xfrm>
            <a:off x="1402497" y="2574108"/>
            <a:ext cx="173030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자연 친화적 영면 공간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796213A-9955-DE66-8240-45F29AB34449}"/>
              </a:ext>
            </a:extLst>
          </p:cNvPr>
          <p:cNvSpPr/>
          <p:nvPr/>
        </p:nvSpPr>
        <p:spPr>
          <a:xfrm>
            <a:off x="752193" y="3237957"/>
            <a:ext cx="3030913" cy="1353577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이미지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A1B2D10-DDEF-C6C4-2102-13B8B1F98EB4}"/>
              </a:ext>
            </a:extLst>
          </p:cNvPr>
          <p:cNvSpPr txBox="1"/>
          <p:nvPr/>
        </p:nvSpPr>
        <p:spPr>
          <a:xfrm>
            <a:off x="907181" y="4898273"/>
            <a:ext cx="27209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lang="ko-KR" altLang="en-US" sz="900" dirty="0">
                <a:solidFill>
                  <a:srgbClr val="2324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넉넉한 주차 공간과 편리한 접근성을 제공하고 쾌적한 참배 공간과 휴게 시설 갖추었습니다</a:t>
            </a:r>
            <a:r>
              <a:rPr lang="en-US" altLang="ko-KR" sz="900" dirty="0">
                <a:solidFill>
                  <a:srgbClr val="2324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900" dirty="0">
              <a:solidFill>
                <a:srgbClr val="232425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47170DE-269C-5FF9-7681-9DF7C7141A8F}"/>
              </a:ext>
            </a:extLst>
          </p:cNvPr>
          <p:cNvSpPr txBox="1"/>
          <p:nvPr/>
        </p:nvSpPr>
        <p:spPr>
          <a:xfrm>
            <a:off x="1402497" y="4652052"/>
            <a:ext cx="173030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유가족 중심의 편의 시설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F6D9BD6-8B76-E8D4-71E4-18EC6B88641C}"/>
              </a:ext>
            </a:extLst>
          </p:cNvPr>
          <p:cNvSpPr/>
          <p:nvPr/>
        </p:nvSpPr>
        <p:spPr>
          <a:xfrm>
            <a:off x="672817" y="5315901"/>
            <a:ext cx="3182008" cy="824923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이미지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6DB4C06-21B3-8506-FCFC-3EB09169FC22}"/>
              </a:ext>
            </a:extLst>
          </p:cNvPr>
          <p:cNvSpPr txBox="1"/>
          <p:nvPr/>
        </p:nvSpPr>
        <p:spPr>
          <a:xfrm>
            <a:off x="5549662" y="1409647"/>
            <a:ext cx="27209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lang="ko-KR" altLang="en-US" sz="900" dirty="0">
                <a:solidFill>
                  <a:srgbClr val="2324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재단법인 운영으로 영속성 보장하고 체계적인 관리 시스템과 전문 인력 운영하고 있습니다</a:t>
            </a:r>
            <a:r>
              <a:rPr lang="en-US" altLang="ko-KR" sz="900" dirty="0">
                <a:solidFill>
                  <a:srgbClr val="2324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900" dirty="0">
              <a:solidFill>
                <a:srgbClr val="232425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AA0E9EE-D746-6BC8-84D8-DA7E88759EC4}"/>
              </a:ext>
            </a:extLst>
          </p:cNvPr>
          <p:cNvSpPr txBox="1"/>
          <p:nvPr/>
        </p:nvSpPr>
        <p:spPr>
          <a:xfrm>
            <a:off x="5848991" y="1163426"/>
            <a:ext cx="173030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영구적이고 안정적인 관리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16F4A800-1893-5B85-657B-C063498DB4A9}"/>
              </a:ext>
            </a:extLst>
          </p:cNvPr>
          <p:cNvSpPr/>
          <p:nvPr/>
        </p:nvSpPr>
        <p:spPr>
          <a:xfrm>
            <a:off x="5230921" y="1771833"/>
            <a:ext cx="3137080" cy="170917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이미지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B32779D-559C-FEB1-DBC4-5F2CB853BCC2}"/>
              </a:ext>
            </a:extLst>
          </p:cNvPr>
          <p:cNvSpPr txBox="1"/>
          <p:nvPr/>
        </p:nvSpPr>
        <p:spPr>
          <a:xfrm>
            <a:off x="5230921" y="3838249"/>
            <a:ext cx="3106255" cy="18928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고인의 존엄을 지키고</a:t>
            </a:r>
          </a:p>
          <a:p>
            <a:pPr algn="ctr"/>
            <a:r>
              <a:rPr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유가족의 애도를 존중하는 품격 있는 추모 문화를 만들어갑니다</a:t>
            </a:r>
            <a:r>
              <a:rPr lang="en-US" altLang="ko-KR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 algn="ctr"/>
            <a:r>
              <a:rPr lang="en-US" altLang="ko-KR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"</a:t>
            </a:r>
            <a:r>
              <a:rPr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자연 속에서 편안히 쉬시고</a:t>
            </a:r>
            <a:r>
              <a:rPr lang="en-US" altLang="ko-KR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하늘의 평화를 누리소서</a:t>
            </a:r>
            <a:r>
              <a:rPr lang="en-US" altLang="ko-KR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“</a:t>
            </a:r>
          </a:p>
          <a:p>
            <a:pPr algn="ctr"/>
            <a:endParaRPr lang="en-US" altLang="ko-KR" sz="9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이것이 하늘누리 추모공원이 지향하는</a:t>
            </a:r>
          </a:p>
          <a:p>
            <a:pPr algn="ctr"/>
            <a:r>
              <a:rPr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궁극적인 가치이자 약속입니다</a:t>
            </a:r>
            <a:r>
              <a:rPr lang="en-US" altLang="ko-KR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 algn="ctr"/>
            <a:endParaRPr lang="en-US" altLang="ko-KR" sz="9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하늘누리 추모공원은</a:t>
            </a:r>
          </a:p>
          <a:p>
            <a:pPr algn="ctr"/>
            <a:r>
              <a:rPr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단순히 고인을 모시는 공간이 아닌</a:t>
            </a:r>
            <a:r>
              <a:rPr lang="en-US" altLang="ko-KR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,</a:t>
            </a:r>
          </a:p>
          <a:p>
            <a:pPr algn="ctr"/>
            <a:r>
              <a:rPr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생명의 소중함을 되새기고</a:t>
            </a:r>
          </a:p>
          <a:p>
            <a:pPr algn="ctr"/>
            <a:r>
              <a:rPr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가족의 사랑을 기억하는</a:t>
            </a:r>
          </a:p>
          <a:p>
            <a:pPr algn="ctr"/>
            <a:r>
              <a:rPr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의미 있는 장소가 되고자 합니다</a:t>
            </a:r>
            <a:r>
              <a:rPr lang="en-US" altLang="ko-KR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447937B-F81E-9FED-5ADD-CE0DB0CD9FC3}"/>
              </a:ext>
            </a:extLst>
          </p:cNvPr>
          <p:cNvSpPr txBox="1"/>
          <p:nvPr/>
        </p:nvSpPr>
        <p:spPr>
          <a:xfrm>
            <a:off x="5848991" y="3538238"/>
            <a:ext cx="173030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하늘누리 추모공원은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F778C15F-C951-8A2F-38AC-02BB61DB854E}"/>
              </a:ext>
            </a:extLst>
          </p:cNvPr>
          <p:cNvSpPr/>
          <p:nvPr/>
        </p:nvSpPr>
        <p:spPr>
          <a:xfrm>
            <a:off x="5186969" y="5938202"/>
            <a:ext cx="3168137" cy="264669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Footer</a:t>
            </a:r>
            <a:endParaRPr lang="ko-KR" altLang="en-US" sz="10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39755740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56C257-5BF5-2310-0401-2544979E77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A340FD1E-57E9-DD2D-96CD-4B599E914E05}"/>
              </a:ext>
            </a:extLst>
          </p:cNvPr>
          <p:cNvGraphicFramePr>
            <a:graphicFrameLocks noGrp="1"/>
          </p:cNvGraphicFramePr>
          <p:nvPr/>
        </p:nvGraphicFramePr>
        <p:xfrm>
          <a:off x="9182101" y="947377"/>
          <a:ext cx="2795588" cy="1847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1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684046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723838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3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172599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4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290794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5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922450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6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784800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7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0538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8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199337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9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450365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CFC9D533-CF70-868D-9F56-E91369751CFB}"/>
              </a:ext>
            </a:extLst>
          </p:cNvPr>
          <p:cNvSpPr/>
          <p:nvPr/>
        </p:nvSpPr>
        <p:spPr>
          <a:xfrm>
            <a:off x="959895" y="375614"/>
            <a:ext cx="1826141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</a:pP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메인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하늘누리소개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재단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/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허가 현황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7FF7D6E-DFAF-3D15-8A97-52AD2E573D7C}"/>
              </a:ext>
            </a:extLst>
          </p:cNvPr>
          <p:cNvSpPr txBox="1"/>
          <p:nvPr/>
        </p:nvSpPr>
        <p:spPr>
          <a:xfrm>
            <a:off x="6003996" y="123825"/>
            <a:ext cx="17303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HN_Introdu_Perarti_001</a:t>
            </a:r>
            <a:endParaRPr lang="ko-KR" altLang="en-US" sz="800" dirty="0"/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C6972868-C507-E19C-B1E9-1F10070E4733}"/>
              </a:ext>
            </a:extLst>
          </p:cNvPr>
          <p:cNvCxnSpPr>
            <a:cxnSpLocks/>
          </p:cNvCxnSpPr>
          <p:nvPr/>
        </p:nvCxnSpPr>
        <p:spPr>
          <a:xfrm>
            <a:off x="655957" y="1658468"/>
            <a:ext cx="3109526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52FD5966-987C-E923-0F39-E585ABABDE90}"/>
              </a:ext>
            </a:extLst>
          </p:cNvPr>
          <p:cNvSpPr txBox="1"/>
          <p:nvPr/>
        </p:nvSpPr>
        <p:spPr>
          <a:xfrm>
            <a:off x="1793778" y="1181491"/>
            <a:ext cx="83388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하늘누리</a:t>
            </a:r>
            <a:endParaRPr lang="en-US" altLang="ko-KR" sz="11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en-US" altLang="ko-KR" sz="11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CI</a:t>
            </a:r>
            <a:endParaRPr lang="ko-KR" altLang="en-US" sz="11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16" name="그림 15" descr="블랙, 어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287EE0F-E866-E734-CD7F-E22B82D9EC33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2985" y="1191723"/>
            <a:ext cx="383533" cy="383533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009194B8-9413-B377-E2F5-8E75FBC0C014}"/>
              </a:ext>
            </a:extLst>
          </p:cNvPr>
          <p:cNvSpPr txBox="1"/>
          <p:nvPr/>
        </p:nvSpPr>
        <p:spPr>
          <a:xfrm>
            <a:off x="2826086" y="1293697"/>
            <a:ext cx="57184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" panose="020D0604000000000000" pitchFamily="50" charset="-127"/>
                <a:ea typeface="나눔고딕" panose="020D0604000000000000" pitchFamily="50" charset="-127"/>
              </a:rPr>
              <a:t>르그아웃</a:t>
            </a:r>
          </a:p>
        </p:txBody>
      </p:sp>
      <p:pic>
        <p:nvPicPr>
          <p:cNvPr id="19" name="Picture 4" descr="로그 아웃 아이콘">
            <a:extLst>
              <a:ext uri="{FF2B5EF4-FFF2-40B4-BE49-F238E27FC236}">
                <a16:creationId xmlns:a16="http://schemas.microsoft.com/office/drawing/2014/main" id="{3F1BE4BD-94B3-96BA-32FC-14BF8BC3FE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9631" y="1283929"/>
            <a:ext cx="217049" cy="217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D79605AB-6E3D-D887-A952-04F2BEA80C75}"/>
              </a:ext>
            </a:extLst>
          </p:cNvPr>
          <p:cNvSpPr txBox="1"/>
          <p:nvPr/>
        </p:nvSpPr>
        <p:spPr>
          <a:xfrm>
            <a:off x="1343128" y="1807796"/>
            <a:ext cx="17351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재단</a:t>
            </a:r>
            <a:r>
              <a:rPr lang="en-US" altLang="ko-KR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허가 현황</a:t>
            </a:r>
            <a:endParaRPr lang="en-US" altLang="ko-KR" sz="1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6B0069D-432F-BC68-3B47-B42565305C01}"/>
              </a:ext>
            </a:extLst>
          </p:cNvPr>
          <p:cNvSpPr txBox="1"/>
          <p:nvPr/>
        </p:nvSpPr>
        <p:spPr>
          <a:xfrm>
            <a:off x="794294" y="2159072"/>
            <a:ext cx="2832847" cy="10145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Aft>
                <a:spcPts val="900"/>
              </a:spcAft>
            </a:pPr>
            <a:r>
              <a:rPr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투명한 인허가 절차를 통해 증명된 준비된 추모 공간“  </a:t>
            </a:r>
          </a:p>
          <a:p>
            <a:pPr algn="ctr">
              <a:lnSpc>
                <a:spcPct val="150000"/>
              </a:lnSpc>
              <a:spcAft>
                <a:spcPts val="900"/>
              </a:spcAft>
            </a:pP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하늘누리 추모공원은 토지 확보부터 도시계획시설 결정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환경영향평가 및 최종 설치 허가에 이르기까지 모든 행정 절차를 적법하게 완수하였습니다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C5EBE905-1AC4-05C9-10BD-9EC4E53A3768}"/>
              </a:ext>
            </a:extLst>
          </p:cNvPr>
          <p:cNvSpPr/>
          <p:nvPr/>
        </p:nvSpPr>
        <p:spPr>
          <a:xfrm>
            <a:off x="705629" y="3250453"/>
            <a:ext cx="3059854" cy="155463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이미지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B567D9B-DBCD-349B-5C58-94736A910D4D}"/>
              </a:ext>
            </a:extLst>
          </p:cNvPr>
          <p:cNvSpPr txBox="1"/>
          <p:nvPr/>
        </p:nvSpPr>
        <p:spPr>
          <a:xfrm>
            <a:off x="890009" y="4881956"/>
            <a:ext cx="2691093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재단법인 하늘누리</a:t>
            </a:r>
            <a:endParaRPr lang="en-US" altLang="ko-KR" sz="1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endParaRPr lang="en-US" altLang="ko-KR" sz="12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세대를 넘어 이어지는 책임 </a:t>
            </a:r>
            <a:endParaRPr lang="en-US" altLang="ko-KR" sz="9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하늘누리 추모공원은 재단법인으로 운영됩니다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</a:p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재단법인은 일반 기업과 달리                         </a:t>
            </a:r>
          </a:p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"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공익 목적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"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을 위해 설립된 비영리 법인으로           </a:t>
            </a:r>
          </a:p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파산이나 폐업의 위험이 없으며                       </a:t>
            </a:r>
          </a:p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세대를 넘어 영속적으로 운영됩니다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17D0BF1-68B0-275A-0CBA-88D75E9A0A13}"/>
              </a:ext>
            </a:extLst>
          </p:cNvPr>
          <p:cNvSpPr txBox="1"/>
          <p:nvPr/>
        </p:nvSpPr>
        <p:spPr>
          <a:xfrm>
            <a:off x="5442916" y="1181491"/>
            <a:ext cx="2691093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이는 고객님께서 안치하신 고인을                     </a:t>
            </a:r>
          </a:p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영원히 책임지고 관리하겠다는                        </a:t>
            </a:r>
          </a:p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하늘누리의 약속입니다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 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428F496-12E4-F35C-63D1-14AB8F732AA1}"/>
              </a:ext>
            </a:extLst>
          </p:cNvPr>
          <p:cNvSpPr txBox="1"/>
          <p:nvPr/>
        </p:nvSpPr>
        <p:spPr>
          <a:xfrm>
            <a:off x="5312506" y="1740393"/>
            <a:ext cx="297984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재단정보</a:t>
            </a:r>
            <a:endParaRPr lang="en-US" altLang="ko-KR" sz="1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163DB54-0F48-52AB-11EA-8F043DE8A613}"/>
              </a:ext>
            </a:extLst>
          </p:cNvPr>
          <p:cNvSpPr txBox="1"/>
          <p:nvPr/>
        </p:nvSpPr>
        <p:spPr>
          <a:xfrm>
            <a:off x="5344800" y="2145421"/>
            <a:ext cx="2627317" cy="11068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법인명    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재단법인 하늘누리</a:t>
            </a:r>
            <a:endParaRPr lang="en-US" altLang="ko-KR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설립목적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장사시설의 설치 및 운영을 통한                      </a:t>
            </a:r>
          </a:p>
          <a:p>
            <a:pPr>
              <a:lnSpc>
                <a:spcPct val="150000"/>
              </a:lnSpc>
            </a:pP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                국민 복지 증진 및 추모 문화 발전</a:t>
            </a:r>
            <a:endParaRPr lang="en-US" altLang="ko-KR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설립인가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 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20OO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 ○월 ○일              </a:t>
            </a:r>
            <a:endParaRPr lang="en-US" altLang="ko-KR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                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○○시청 인가 제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2020-○○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호 </a:t>
            </a:r>
            <a:endParaRPr lang="en-US" altLang="ko-KR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40715AC-8D5A-9844-C4E6-556856DDAA8D}"/>
              </a:ext>
            </a:extLst>
          </p:cNvPr>
          <p:cNvSpPr txBox="1"/>
          <p:nvPr/>
        </p:nvSpPr>
        <p:spPr>
          <a:xfrm>
            <a:off x="5344800" y="3411069"/>
            <a:ext cx="2627317" cy="899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법인등록번호     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XXX-XX-XXXXX</a:t>
            </a:r>
          </a:p>
          <a:p>
            <a:pPr>
              <a:lnSpc>
                <a:spcPct val="150000"/>
              </a:lnSpc>
            </a:pPr>
            <a:r>
              <a:rPr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대표이사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          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OOO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소재지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               경기도 양주시 산북동 산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67-20</a:t>
            </a:r>
          </a:p>
          <a:p>
            <a:pPr>
              <a:lnSpc>
                <a:spcPct val="150000"/>
              </a:lnSpc>
            </a:pPr>
            <a:r>
              <a:rPr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감독기관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            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OO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시청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보건복지과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B51AC91C-F154-74BA-B498-F36775FCA083}"/>
              </a:ext>
            </a:extLst>
          </p:cNvPr>
          <p:cNvSpPr/>
          <p:nvPr/>
        </p:nvSpPr>
        <p:spPr>
          <a:xfrm>
            <a:off x="5242717" y="4310161"/>
            <a:ext cx="3059853" cy="1833679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이미지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9CC1B5-C4C1-D983-E246-FD9C78A86598}"/>
              </a:ext>
            </a:extLst>
          </p:cNvPr>
          <p:cNvSpPr txBox="1"/>
          <p:nvPr/>
        </p:nvSpPr>
        <p:spPr>
          <a:xfrm rot="19509111">
            <a:off x="8704729" y="3250453"/>
            <a:ext cx="279558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하늘누리 재단</a:t>
            </a:r>
            <a:r>
              <a:rPr lang="en-US" altLang="ko-KR" sz="2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2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허가 현황 확인 후 수정 필요 </a:t>
            </a:r>
          </a:p>
        </p:txBody>
      </p:sp>
    </p:spTree>
    <p:extLst>
      <p:ext uri="{BB962C8B-B14F-4D97-AF65-F5344CB8AC3E}">
        <p14:creationId xmlns:p14="http://schemas.microsoft.com/office/powerpoint/2010/main" val="3135402743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BBFD8C-37F5-3269-294C-99301762D9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2F067E33-E1BA-80EA-269D-AEF76F25B70E}"/>
              </a:ext>
            </a:extLst>
          </p:cNvPr>
          <p:cNvGraphicFramePr>
            <a:graphicFrameLocks noGrp="1"/>
          </p:cNvGraphicFramePr>
          <p:nvPr/>
        </p:nvGraphicFramePr>
        <p:xfrm>
          <a:off x="9182101" y="947377"/>
          <a:ext cx="2795588" cy="1847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1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684046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723838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3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172599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4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290794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5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922450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6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784800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7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0538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8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199337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9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450365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A9FA97C8-B43B-830A-8FBF-4BD49ABF1161}"/>
              </a:ext>
            </a:extLst>
          </p:cNvPr>
          <p:cNvSpPr/>
          <p:nvPr/>
        </p:nvSpPr>
        <p:spPr>
          <a:xfrm>
            <a:off x="959895" y="375614"/>
            <a:ext cx="1826141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</a:pP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메인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하늘누리소개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재단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/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허가 현황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406A533-D420-3A4E-F03F-D2324FA5B8CF}"/>
              </a:ext>
            </a:extLst>
          </p:cNvPr>
          <p:cNvSpPr txBox="1"/>
          <p:nvPr/>
        </p:nvSpPr>
        <p:spPr>
          <a:xfrm>
            <a:off x="6003996" y="123825"/>
            <a:ext cx="17303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HN_Introdu_Perarti_001</a:t>
            </a:r>
            <a:endParaRPr lang="ko-KR" altLang="en-US" sz="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BB80039-A28D-6E94-FBF0-3846A3D4E393}"/>
              </a:ext>
            </a:extLst>
          </p:cNvPr>
          <p:cNvSpPr txBox="1"/>
          <p:nvPr/>
        </p:nvSpPr>
        <p:spPr>
          <a:xfrm>
            <a:off x="713846" y="1181039"/>
            <a:ext cx="191505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재단법인의 법적 특성</a:t>
            </a:r>
            <a:endParaRPr lang="en-US" altLang="ko-KR" sz="1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3D6C3D-B33F-DEE0-C7BB-E06444EF5B5D}"/>
              </a:ext>
            </a:extLst>
          </p:cNvPr>
          <p:cNvSpPr txBox="1"/>
          <p:nvPr/>
        </p:nvSpPr>
        <p:spPr>
          <a:xfrm>
            <a:off x="797875" y="1524496"/>
            <a:ext cx="122816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영속성 보장</a:t>
            </a:r>
            <a:endParaRPr lang="en-US" altLang="ko-KR" sz="1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5C4F33-3B3D-5FEB-E67D-5F2831B9A9CD}"/>
              </a:ext>
            </a:extLst>
          </p:cNvPr>
          <p:cNvSpPr txBox="1"/>
          <p:nvPr/>
        </p:nvSpPr>
        <p:spPr>
          <a:xfrm>
            <a:off x="797875" y="1770717"/>
            <a:ext cx="29135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법적으로 영구적 존속이 보장되며  대표이사 교체와 무관하게 계속 운영됩니다 </a:t>
            </a:r>
            <a:endParaRPr lang="en-US" altLang="ko-KR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36D3848-FD54-9B84-2CFB-2D9D3912110B}"/>
              </a:ext>
            </a:extLst>
          </p:cNvPr>
          <p:cNvSpPr txBox="1"/>
          <p:nvPr/>
        </p:nvSpPr>
        <p:spPr>
          <a:xfrm>
            <a:off x="797875" y="2179200"/>
            <a:ext cx="122816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비영리 구조</a:t>
            </a:r>
            <a:endParaRPr lang="en-US" altLang="ko-KR" sz="1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7827757-9D3D-3B17-9773-3E6A2750D47E}"/>
              </a:ext>
            </a:extLst>
          </p:cNvPr>
          <p:cNvSpPr txBox="1"/>
          <p:nvPr/>
        </p:nvSpPr>
        <p:spPr>
          <a:xfrm>
            <a:off x="797875" y="2425421"/>
            <a:ext cx="29135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수익금은 주주 배당이 아닌  시설 개선과 서비스 향상에 재투자됩니다</a:t>
            </a:r>
            <a:endParaRPr lang="en-US" altLang="ko-KR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2A4424C-FE4A-5306-041E-D4043CB2ED8A}"/>
              </a:ext>
            </a:extLst>
          </p:cNvPr>
          <p:cNvSpPr txBox="1"/>
          <p:nvPr/>
        </p:nvSpPr>
        <p:spPr>
          <a:xfrm>
            <a:off x="797875" y="2888821"/>
            <a:ext cx="122816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공적 감독 </a:t>
            </a:r>
            <a:endParaRPr lang="en-US" altLang="ko-KR" sz="1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7570A6C-85C1-BCED-61BE-E27EC173E385}"/>
              </a:ext>
            </a:extLst>
          </p:cNvPr>
          <p:cNvSpPr txBox="1"/>
          <p:nvPr/>
        </p:nvSpPr>
        <p:spPr>
          <a:xfrm>
            <a:off x="797875" y="3135042"/>
            <a:ext cx="29135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정부 감독기관의 지속적 관리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·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감독을 받으며 투명한 운영이 법적으로 강제됩니다 </a:t>
            </a:r>
            <a:endParaRPr lang="en-US" altLang="ko-KR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BA540A3-AF3B-15ED-39C3-FFECCD646225}"/>
              </a:ext>
            </a:extLst>
          </p:cNvPr>
          <p:cNvSpPr txBox="1"/>
          <p:nvPr/>
        </p:nvSpPr>
        <p:spPr>
          <a:xfrm>
            <a:off x="797875" y="3598442"/>
            <a:ext cx="122816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자산 보호</a:t>
            </a:r>
            <a:endParaRPr lang="en-US" altLang="ko-KR" sz="1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55F0389-B7B6-D3AE-AF15-AC7B3CCDCE2D}"/>
              </a:ext>
            </a:extLst>
          </p:cNvPr>
          <p:cNvSpPr txBox="1"/>
          <p:nvPr/>
        </p:nvSpPr>
        <p:spPr>
          <a:xfrm>
            <a:off x="797875" y="3844663"/>
            <a:ext cx="29135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재단 자산은 법적으로 보호되며 임의 처분이 불가능합니다</a:t>
            </a:r>
            <a:endParaRPr lang="en-US" altLang="ko-KR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C7FEC1F-6EBB-B3D3-A678-99464C44C723}"/>
              </a:ext>
            </a:extLst>
          </p:cNvPr>
          <p:cNvSpPr txBox="1"/>
          <p:nvPr/>
        </p:nvSpPr>
        <p:spPr>
          <a:xfrm>
            <a:off x="390261" y="4337105"/>
            <a:ext cx="163577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주요 허가 및 인증</a:t>
            </a:r>
            <a:endParaRPr lang="en-US" altLang="ko-KR" sz="1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0D1B65E-8425-64C3-F575-857CC987A16F}"/>
              </a:ext>
            </a:extLst>
          </p:cNvPr>
          <p:cNvSpPr txBox="1"/>
          <p:nvPr/>
        </p:nvSpPr>
        <p:spPr>
          <a:xfrm>
            <a:off x="713846" y="4677394"/>
            <a:ext cx="14007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v"/>
            </a:pPr>
            <a:r>
              <a:rPr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필수 허가 사항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CF2FB3EC-4636-835E-EC91-49C662EC9F04}"/>
              </a:ext>
            </a:extLst>
          </p:cNvPr>
          <p:cNvSpPr/>
          <p:nvPr/>
        </p:nvSpPr>
        <p:spPr>
          <a:xfrm>
            <a:off x="713845" y="5002294"/>
            <a:ext cx="3078225" cy="1123384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이미지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6B35086C-AA48-5C01-DFD7-C1EBD40430C1}"/>
              </a:ext>
            </a:extLst>
          </p:cNvPr>
          <p:cNvSpPr/>
          <p:nvPr/>
        </p:nvSpPr>
        <p:spPr>
          <a:xfrm>
            <a:off x="5245714" y="1266168"/>
            <a:ext cx="3050886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재단법인 설립허가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D300AECE-D555-9CB8-00A9-39AD8538337B}"/>
              </a:ext>
            </a:extLst>
          </p:cNvPr>
          <p:cNvSpPr/>
          <p:nvPr/>
        </p:nvSpPr>
        <p:spPr>
          <a:xfrm>
            <a:off x="5245714" y="2965765"/>
            <a:ext cx="305088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봉안시절 설치허가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72FC0584-DAF9-AD65-700D-63D3A9D2C3C6}"/>
              </a:ext>
            </a:extLst>
          </p:cNvPr>
          <p:cNvSpPr/>
          <p:nvPr/>
        </p:nvSpPr>
        <p:spPr>
          <a:xfrm>
            <a:off x="5245713" y="1604721"/>
            <a:ext cx="3050886" cy="1284099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허가기관</a:t>
            </a:r>
            <a:r>
              <a:rPr lang="en-US" altLang="ko-KR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○○</a:t>
            </a:r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시청</a:t>
            </a:r>
            <a:endParaRPr lang="en-US" altLang="ko-KR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허가번호</a:t>
            </a:r>
            <a:r>
              <a:rPr lang="en-US" altLang="ko-KR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2020-○○</a:t>
            </a:r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호</a:t>
            </a:r>
            <a:endParaRPr lang="en-US" altLang="ko-KR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허가일자</a:t>
            </a:r>
            <a:r>
              <a:rPr lang="en-US" altLang="ko-KR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2020</a:t>
            </a:r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년 ○월 ○일</a:t>
            </a:r>
            <a:endParaRPr lang="en-US" altLang="ko-KR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endParaRPr lang="en-US" altLang="ko-KR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근거법령</a:t>
            </a:r>
            <a:endParaRPr lang="en-US" altLang="ko-KR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민법 제</a:t>
            </a:r>
            <a:r>
              <a:rPr lang="en-US" altLang="ko-KR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32</a:t>
            </a:r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조 </a:t>
            </a:r>
            <a:r>
              <a:rPr lang="en-US" altLang="ko-KR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비영리법인의 설립과 허가</a:t>
            </a:r>
            <a:r>
              <a:rPr lang="en-US" altLang="ko-KR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장사 등에 관한 법률 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E69ADE52-21C6-8094-3DD9-746D68782447}"/>
              </a:ext>
            </a:extLst>
          </p:cNvPr>
          <p:cNvSpPr/>
          <p:nvPr/>
        </p:nvSpPr>
        <p:spPr>
          <a:xfrm>
            <a:off x="5245713" y="3304319"/>
            <a:ext cx="3050885" cy="1697976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허가기관</a:t>
            </a:r>
            <a:r>
              <a:rPr lang="en-US" altLang="ko-KR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○○</a:t>
            </a:r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시청</a:t>
            </a:r>
            <a:endParaRPr lang="en-US" altLang="ko-KR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허가번호</a:t>
            </a:r>
            <a:r>
              <a:rPr lang="en-US" altLang="ko-KR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2020-○○</a:t>
            </a:r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호</a:t>
            </a:r>
            <a:endParaRPr lang="en-US" altLang="ko-KR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허가일자</a:t>
            </a:r>
            <a:r>
              <a:rPr lang="en-US" altLang="ko-KR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2020</a:t>
            </a:r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년 ○월 ○일</a:t>
            </a:r>
            <a:endParaRPr lang="en-US" altLang="ko-KR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시설규모</a:t>
            </a:r>
            <a:endParaRPr lang="en-US" altLang="ko-KR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봉안당 </a:t>
            </a:r>
            <a:r>
              <a:rPr lang="en-US" altLang="ko-KR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OOOOO</a:t>
            </a:r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기</a:t>
            </a:r>
            <a:endParaRPr lang="en-US" altLang="ko-KR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수목장 </a:t>
            </a:r>
            <a:r>
              <a:rPr lang="en-US" altLang="ko-KR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OOOOO</a:t>
            </a:r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기</a:t>
            </a:r>
            <a:endParaRPr lang="en-US" altLang="ko-KR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부지면적 </a:t>
            </a:r>
            <a:r>
              <a:rPr lang="en-US" altLang="ko-KR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OO,OOO ㎡</a:t>
            </a:r>
          </a:p>
          <a:p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근거법령</a:t>
            </a:r>
            <a:endParaRPr lang="en-US" altLang="ko-KR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장사 등에 관한 법률 제</a:t>
            </a:r>
            <a:r>
              <a:rPr lang="en-US" altLang="ko-KR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13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조장사시설 설치기준 </a:t>
            </a:r>
            <a:r>
              <a:rPr lang="en-US" altLang="ko-KR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시행령 별표</a:t>
            </a:r>
            <a:r>
              <a:rPr lang="en-US" altLang="ko-KR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3)</a:t>
            </a:r>
            <a:endParaRPr lang="ko-KR" altLang="en-US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8D4D0C3E-6D95-DC4D-0CCA-AE85EA7867CC}"/>
              </a:ext>
            </a:extLst>
          </p:cNvPr>
          <p:cNvSpPr/>
          <p:nvPr/>
        </p:nvSpPr>
        <p:spPr>
          <a:xfrm>
            <a:off x="5245713" y="5079240"/>
            <a:ext cx="305088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자연장지 조성허가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37817A05-9749-20C2-96F5-AD9478FD93D4}"/>
              </a:ext>
            </a:extLst>
          </p:cNvPr>
          <p:cNvSpPr/>
          <p:nvPr/>
        </p:nvSpPr>
        <p:spPr>
          <a:xfrm>
            <a:off x="5245713" y="5417793"/>
            <a:ext cx="3050885" cy="70788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허가기관</a:t>
            </a:r>
            <a:r>
              <a:rPr lang="en-US" altLang="ko-KR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○○</a:t>
            </a:r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시청</a:t>
            </a:r>
            <a:endParaRPr lang="en-US" altLang="ko-KR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허가번호</a:t>
            </a:r>
            <a:r>
              <a:rPr lang="en-US" altLang="ko-KR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2020-○○</a:t>
            </a:r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호</a:t>
            </a:r>
            <a:endParaRPr lang="en-US" altLang="ko-KR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허가일자</a:t>
            </a:r>
            <a:r>
              <a:rPr lang="en-US" altLang="ko-KR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2020</a:t>
            </a:r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년 ○월 ○일</a:t>
            </a:r>
            <a:endParaRPr lang="en-US" altLang="ko-KR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62496315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887881-7434-8C26-2B53-570E84B46F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F1B73687-4DDF-E0B7-547A-D24301E6E54A}"/>
              </a:ext>
            </a:extLst>
          </p:cNvPr>
          <p:cNvGraphicFramePr>
            <a:graphicFrameLocks noGrp="1"/>
          </p:cNvGraphicFramePr>
          <p:nvPr/>
        </p:nvGraphicFramePr>
        <p:xfrm>
          <a:off x="9182101" y="947377"/>
          <a:ext cx="2795588" cy="1847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1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684046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723838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3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172599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4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290794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5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922450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6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784800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7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0538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8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199337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9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450365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C9A54263-299A-C5FE-42AB-BADD128A6A5A}"/>
              </a:ext>
            </a:extLst>
          </p:cNvPr>
          <p:cNvSpPr/>
          <p:nvPr/>
        </p:nvSpPr>
        <p:spPr>
          <a:xfrm>
            <a:off x="959895" y="375614"/>
            <a:ext cx="1826141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</a:pP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메인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하늘누리소개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재단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/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허가 현황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9233C03-6389-61EB-5413-06A2845B365C}"/>
              </a:ext>
            </a:extLst>
          </p:cNvPr>
          <p:cNvSpPr txBox="1"/>
          <p:nvPr/>
        </p:nvSpPr>
        <p:spPr>
          <a:xfrm>
            <a:off x="6003996" y="123825"/>
            <a:ext cx="17303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HN_Introdu_Perarti_001</a:t>
            </a:r>
            <a:endParaRPr lang="ko-KR" altLang="en-US" sz="800" dirty="0"/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80F1354A-BD7A-51ED-6249-C5F377D8CC5A}"/>
              </a:ext>
            </a:extLst>
          </p:cNvPr>
          <p:cNvSpPr/>
          <p:nvPr/>
        </p:nvSpPr>
        <p:spPr>
          <a:xfrm>
            <a:off x="727498" y="2215148"/>
            <a:ext cx="305088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건축물 사용승인 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5B5313C0-EF92-A827-AFEB-120E3B8B888C}"/>
              </a:ext>
            </a:extLst>
          </p:cNvPr>
          <p:cNvSpPr/>
          <p:nvPr/>
        </p:nvSpPr>
        <p:spPr>
          <a:xfrm>
            <a:off x="727498" y="1177487"/>
            <a:ext cx="3050885" cy="100093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시설종류</a:t>
            </a:r>
            <a:endParaRPr lang="en-US" altLang="ko-KR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수목장 </a:t>
            </a:r>
            <a:r>
              <a:rPr lang="en-US" altLang="ko-KR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개인</a:t>
            </a:r>
            <a:r>
              <a:rPr lang="en-US" altLang="ko-KR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가족</a:t>
            </a:r>
            <a:r>
              <a:rPr lang="en-US" altLang="ko-KR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잔디장 </a:t>
            </a:r>
            <a:r>
              <a:rPr lang="en-US" altLang="ko-KR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000" dirty="0" err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평장형</a:t>
            </a:r>
            <a:r>
              <a:rPr lang="en-US" altLang="ko-KR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 </a:t>
            </a:r>
          </a:p>
          <a:p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근거법령</a:t>
            </a:r>
            <a:endParaRPr lang="en-US" altLang="ko-KR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장사 등에 관한 법률 제</a:t>
            </a:r>
            <a:r>
              <a:rPr lang="en-US" altLang="ko-KR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조 제</a:t>
            </a:r>
            <a:r>
              <a:rPr lang="en-US" altLang="ko-KR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9</a:t>
            </a:r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호</a:t>
            </a:r>
            <a:endParaRPr lang="en-US" altLang="ko-KR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자연장지 조성 기준 </a:t>
            </a:r>
            <a:r>
              <a:rPr lang="en-US" altLang="ko-KR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시행령 별표</a:t>
            </a:r>
            <a:r>
              <a:rPr lang="en-US" altLang="ko-KR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4) </a:t>
            </a:r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AFE204F1-A2E0-A079-FB29-EF2CCFA49642}"/>
              </a:ext>
            </a:extLst>
          </p:cNvPr>
          <p:cNvSpPr/>
          <p:nvPr/>
        </p:nvSpPr>
        <p:spPr>
          <a:xfrm>
            <a:off x="724256" y="2563429"/>
            <a:ext cx="3050885" cy="150654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허가기관</a:t>
            </a:r>
            <a:r>
              <a:rPr lang="en-US" altLang="ko-KR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○○</a:t>
            </a:r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시청 건축과</a:t>
            </a:r>
            <a:endParaRPr lang="en-US" altLang="ko-KR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승인번호</a:t>
            </a:r>
            <a:r>
              <a:rPr lang="en-US" altLang="ko-KR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건축물대장 ○○○○</a:t>
            </a:r>
            <a:r>
              <a:rPr lang="en-US" altLang="ko-KR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-○○○○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승인일자</a:t>
            </a:r>
            <a:r>
              <a:rPr lang="en-US" altLang="ko-KR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2020</a:t>
            </a:r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년 ○월 ○일</a:t>
            </a:r>
            <a:endParaRPr lang="en-US" altLang="ko-KR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건축물 정보</a:t>
            </a:r>
            <a:endParaRPr lang="en-US" altLang="ko-KR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구조 </a:t>
            </a:r>
            <a:r>
              <a:rPr lang="en-US" altLang="ko-KR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1000" dirty="0" err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철근콘크리드조</a:t>
            </a:r>
            <a:endParaRPr lang="en-US" altLang="ko-KR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규모 </a:t>
            </a:r>
            <a:r>
              <a:rPr lang="en-US" altLang="ko-KR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지하</a:t>
            </a:r>
            <a:r>
              <a:rPr lang="en-US" altLang="ko-KR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층 </a:t>
            </a:r>
            <a:r>
              <a:rPr lang="en-US" altLang="ko-KR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~ </a:t>
            </a:r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지상 </a:t>
            </a:r>
            <a:r>
              <a:rPr lang="en-US" altLang="ko-KR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층</a:t>
            </a:r>
            <a:endParaRPr lang="en-US" altLang="ko-KR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연면적 </a:t>
            </a:r>
            <a:r>
              <a:rPr lang="en-US" altLang="ko-KR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O,OOO ㎡</a:t>
            </a:r>
          </a:p>
          <a:p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근거법령</a:t>
            </a:r>
            <a:endParaRPr lang="en-US" altLang="ko-KR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건축법 제 </a:t>
            </a:r>
            <a:r>
              <a:rPr lang="en-US" altLang="ko-KR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22</a:t>
            </a:r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조</a:t>
            </a:r>
            <a:r>
              <a:rPr lang="en-US" altLang="ko-KR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사용승인</a:t>
            </a:r>
            <a:r>
              <a:rPr lang="en-US" altLang="ko-KR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A85A5DB5-5C21-C010-07F9-52C3CAF1B16D}"/>
              </a:ext>
            </a:extLst>
          </p:cNvPr>
          <p:cNvSpPr/>
          <p:nvPr/>
        </p:nvSpPr>
        <p:spPr>
          <a:xfrm>
            <a:off x="724256" y="4106598"/>
            <a:ext cx="3050885" cy="1971473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이미지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60D652F-C900-23FE-E031-94D44661FA2F}"/>
              </a:ext>
            </a:extLst>
          </p:cNvPr>
          <p:cNvSpPr txBox="1"/>
          <p:nvPr/>
        </p:nvSpPr>
        <p:spPr>
          <a:xfrm>
            <a:off x="5241195" y="1177487"/>
            <a:ext cx="286870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v"/>
            </a:pPr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주요 인증 및 등록</a:t>
            </a: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F68A5C2E-C9CA-07FF-BEF1-6596E44D0869}"/>
              </a:ext>
            </a:extLst>
          </p:cNvPr>
          <p:cNvSpPr/>
          <p:nvPr/>
        </p:nvSpPr>
        <p:spPr>
          <a:xfrm>
            <a:off x="5237953" y="1451981"/>
            <a:ext cx="3050885" cy="1847377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이미지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9199607-C06C-F494-8874-D46817468A7F}"/>
              </a:ext>
            </a:extLst>
          </p:cNvPr>
          <p:cNvSpPr txBox="1"/>
          <p:nvPr/>
        </p:nvSpPr>
        <p:spPr>
          <a:xfrm>
            <a:off x="5302384" y="3322170"/>
            <a:ext cx="243191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친환경 건축물 인증</a:t>
            </a:r>
            <a:r>
              <a:rPr lang="en-US" altLang="ko-KR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그린빌딩</a:t>
            </a:r>
            <a:r>
              <a:rPr lang="en-US" altLang="ko-KR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한국건설기술연구원 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OOOO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 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OO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월</a:t>
            </a:r>
            <a:endParaRPr lang="en-US" altLang="ko-KR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등급 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우수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(2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등급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장애인 편의시설 적합 인증</a:t>
            </a:r>
            <a:endParaRPr lang="en-US" altLang="ko-KR" sz="9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한국장애인개발원  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OOOO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 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OO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월</a:t>
            </a:r>
            <a:endParaRPr lang="en-US" altLang="ko-KR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등급 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최우수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(BF 1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등급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305020F-95DC-9FEC-B54B-6171E6F900EE}"/>
              </a:ext>
            </a:extLst>
          </p:cNvPr>
          <p:cNvSpPr txBox="1"/>
          <p:nvPr/>
        </p:nvSpPr>
        <p:spPr>
          <a:xfrm>
            <a:off x="5302384" y="4419220"/>
            <a:ext cx="252391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소방시설 완비 확인서</a:t>
            </a:r>
            <a:endParaRPr lang="en-US" altLang="ko-KR" sz="9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OO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소방서 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OOOO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 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OO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월</a:t>
            </a:r>
            <a:endParaRPr lang="en-US" altLang="ko-KR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8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스프링쿨러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자동화재탐지설비 등</a:t>
            </a:r>
            <a:endParaRPr lang="en-US" altLang="ko-KR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정기 안전검사 적합 판정 </a:t>
            </a:r>
            <a:endParaRPr lang="en-US" altLang="ko-KR" sz="9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한국시설안전공단  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OOOO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 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OO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월</a:t>
            </a:r>
            <a:endParaRPr lang="en-US" altLang="ko-KR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건축물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전기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소방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기스 등 전 분야 적합</a:t>
            </a:r>
            <a:endParaRPr lang="en-US" altLang="ko-KR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BE5498F-075D-D7C8-42F6-D2FBB878ADEE}"/>
              </a:ext>
            </a:extLst>
          </p:cNvPr>
          <p:cNvSpPr txBox="1"/>
          <p:nvPr/>
        </p:nvSpPr>
        <p:spPr>
          <a:xfrm>
            <a:off x="5302384" y="5470647"/>
            <a:ext cx="2523919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위생관리등급 우수 평가</a:t>
            </a:r>
            <a:endParaRPr lang="en-US" altLang="ko-KR" sz="9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OO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보건소  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OOOO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 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OO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월</a:t>
            </a:r>
            <a:endParaRPr lang="en-US" altLang="ko-KR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식당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카페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화장실 위생 관리 우수</a:t>
            </a:r>
            <a:endParaRPr lang="en-US" altLang="ko-KR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5B37ECF9-F350-4674-07E5-79E89491D7F4}"/>
              </a:ext>
            </a:extLst>
          </p:cNvPr>
          <p:cNvSpPr/>
          <p:nvPr/>
        </p:nvSpPr>
        <p:spPr>
          <a:xfrm>
            <a:off x="5186969" y="5938202"/>
            <a:ext cx="3168137" cy="264669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Footer</a:t>
            </a:r>
            <a:endParaRPr lang="ko-KR" altLang="en-US" sz="10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50924990"/>
      </p:ext>
    </p:ext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C70028-44FB-08E9-37EA-1ECAAC9208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180CA7BE-FA88-F3CF-EEC3-2ABE75D5C44F}"/>
              </a:ext>
            </a:extLst>
          </p:cNvPr>
          <p:cNvGraphicFramePr>
            <a:graphicFrameLocks noGrp="1"/>
          </p:cNvGraphicFramePr>
          <p:nvPr/>
        </p:nvGraphicFramePr>
        <p:xfrm>
          <a:off x="9182101" y="947377"/>
          <a:ext cx="2795588" cy="1847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1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684046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723838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3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172599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4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290794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5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922450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6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784800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7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0538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8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199337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9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450365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158EB7A9-9466-7115-E2A0-81D881321492}"/>
              </a:ext>
            </a:extLst>
          </p:cNvPr>
          <p:cNvSpPr/>
          <p:nvPr/>
        </p:nvSpPr>
        <p:spPr>
          <a:xfrm>
            <a:off x="959895" y="375614"/>
            <a:ext cx="1595309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</a:pP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메인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하늘누리소개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오시는 길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DC32D2C-3FCB-208E-6495-FC626BD7DB8F}"/>
              </a:ext>
            </a:extLst>
          </p:cNvPr>
          <p:cNvSpPr txBox="1"/>
          <p:nvPr/>
        </p:nvSpPr>
        <p:spPr>
          <a:xfrm>
            <a:off x="6003996" y="123825"/>
            <a:ext cx="17303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HN_Introdu_Way_001</a:t>
            </a:r>
            <a:endParaRPr lang="ko-KR" altLang="en-US" sz="800" dirty="0"/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97080D27-F50A-0D91-526B-3AB6A2835F61}"/>
              </a:ext>
            </a:extLst>
          </p:cNvPr>
          <p:cNvCxnSpPr>
            <a:cxnSpLocks/>
          </p:cNvCxnSpPr>
          <p:nvPr/>
        </p:nvCxnSpPr>
        <p:spPr>
          <a:xfrm>
            <a:off x="655957" y="1658468"/>
            <a:ext cx="3109526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74BE07C5-0892-6366-B311-17F8E4508501}"/>
              </a:ext>
            </a:extLst>
          </p:cNvPr>
          <p:cNvSpPr txBox="1"/>
          <p:nvPr/>
        </p:nvSpPr>
        <p:spPr>
          <a:xfrm>
            <a:off x="1793778" y="1181491"/>
            <a:ext cx="83388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하늘누리</a:t>
            </a:r>
            <a:endParaRPr lang="en-US" altLang="ko-KR" sz="11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en-US" altLang="ko-KR" sz="11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CI</a:t>
            </a:r>
            <a:endParaRPr lang="ko-KR" altLang="en-US" sz="11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20" name="그림 19" descr="블랙, 어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94AD426-D8C2-9EDD-61A3-ECA6DC8A905B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2985" y="1191723"/>
            <a:ext cx="383533" cy="383533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8B4C1E62-725A-D2D5-F046-26B017198093}"/>
              </a:ext>
            </a:extLst>
          </p:cNvPr>
          <p:cNvSpPr txBox="1"/>
          <p:nvPr/>
        </p:nvSpPr>
        <p:spPr>
          <a:xfrm>
            <a:off x="2826086" y="1293697"/>
            <a:ext cx="57184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" panose="020D0604000000000000" pitchFamily="50" charset="-127"/>
                <a:ea typeface="나눔고딕" panose="020D0604000000000000" pitchFamily="50" charset="-127"/>
              </a:rPr>
              <a:t>르그아웃</a:t>
            </a:r>
          </a:p>
        </p:txBody>
      </p:sp>
      <p:pic>
        <p:nvPicPr>
          <p:cNvPr id="22" name="Picture 4" descr="로그 아웃 아이콘">
            <a:extLst>
              <a:ext uri="{FF2B5EF4-FFF2-40B4-BE49-F238E27FC236}">
                <a16:creationId xmlns:a16="http://schemas.microsoft.com/office/drawing/2014/main" id="{E4CDB64C-2904-24D9-9D6E-7EA9BDABAD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9631" y="1283929"/>
            <a:ext cx="217049" cy="217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DA27C11A-C93A-38D2-8B26-2CF79C6C7229}"/>
              </a:ext>
            </a:extLst>
          </p:cNvPr>
          <p:cNvSpPr txBox="1"/>
          <p:nvPr/>
        </p:nvSpPr>
        <p:spPr>
          <a:xfrm>
            <a:off x="1343128" y="1807796"/>
            <a:ext cx="17351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오시는 길</a:t>
            </a:r>
            <a:endParaRPr lang="en-US" altLang="ko-KR" sz="1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B42F105-8F4C-4B89-2C05-15166E42B606}"/>
              </a:ext>
            </a:extLst>
          </p:cNvPr>
          <p:cNvSpPr txBox="1"/>
          <p:nvPr/>
        </p:nvSpPr>
        <p:spPr>
          <a:xfrm>
            <a:off x="794294" y="2159072"/>
            <a:ext cx="2832847" cy="4835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Aft>
                <a:spcPts val="900"/>
              </a:spcAft>
            </a:pPr>
            <a:r>
              <a:rPr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하늘누리 추모공원은 </a:t>
            </a:r>
            <a:r>
              <a:rPr lang="en-US" altLang="ko-KR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"</a:t>
            </a:r>
            <a:r>
              <a:rPr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고인께서는 편안히 영면하실 수 있는 성스러운 </a:t>
            </a:r>
            <a:r>
              <a:rPr lang="ko-KR" altLang="en-US" sz="9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안식처”가</a:t>
            </a:r>
            <a:r>
              <a:rPr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되고자 합니다</a:t>
            </a:r>
            <a:r>
              <a:rPr lang="en-US" altLang="ko-KR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7C8820C4-EE76-97E6-AB05-9B04F3E61E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622" y="2816135"/>
            <a:ext cx="3012862" cy="2798399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67CB006D-195E-5788-7D93-09F10725F8F2}"/>
              </a:ext>
            </a:extLst>
          </p:cNvPr>
          <p:cNvSpPr txBox="1"/>
          <p:nvPr/>
        </p:nvSpPr>
        <p:spPr>
          <a:xfrm>
            <a:off x="673887" y="5685474"/>
            <a:ext cx="31095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운영시간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연중무휴 오전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09:00 ~ </a:t>
            </a:r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오후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18 :00</a:t>
            </a:r>
          </a:p>
          <a:p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주소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경기도 양주시 산북동 산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67-20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82336D16-70C9-FA60-D1B6-12DAEBE2D99A}"/>
              </a:ext>
            </a:extLst>
          </p:cNvPr>
          <p:cNvSpPr/>
          <p:nvPr/>
        </p:nvSpPr>
        <p:spPr>
          <a:xfrm>
            <a:off x="5225253" y="1181491"/>
            <a:ext cx="3108045" cy="528007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대표전화   </a:t>
            </a:r>
            <a:r>
              <a:rPr lang="en-US" altLang="ko-KR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031-999-9999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FD06ED0-8873-6F18-957C-81CEEE2F1352}"/>
              </a:ext>
            </a:extLst>
          </p:cNvPr>
          <p:cNvSpPr txBox="1"/>
          <p:nvPr/>
        </p:nvSpPr>
        <p:spPr>
          <a:xfrm>
            <a:off x="5267721" y="1848653"/>
            <a:ext cx="3012862" cy="16531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대중교통 이용방법</a:t>
            </a:r>
            <a:endParaRPr lang="en-US" altLang="ko-KR" sz="1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endParaRPr lang="en-US" altLang="ko-KR" sz="12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호선 양주역 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번 출구 길 건너편 버스 정류장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양주역 역전 정류장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마을 버스 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3-3,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일반버스 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7, 31, 35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승차하여 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“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산북동 천주교 묘지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“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또는 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“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샘내고개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”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정류장 하차</a:t>
            </a:r>
            <a:endParaRPr lang="en-US" altLang="ko-KR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추모공원까지 도보로 이동하시거나 셔틀버스를 이용해주시기 바랍니다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0F397E4A-F257-53C6-FC3E-0D7DBA958C5A}"/>
              </a:ext>
            </a:extLst>
          </p:cNvPr>
          <p:cNvSpPr/>
          <p:nvPr/>
        </p:nvSpPr>
        <p:spPr>
          <a:xfrm>
            <a:off x="5186969" y="5938202"/>
            <a:ext cx="3168137" cy="264669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Footer</a:t>
            </a:r>
            <a:endParaRPr lang="ko-KR" altLang="en-US" sz="10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49816557"/>
      </p:ext>
    </p:ext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93E49B-8F68-8F6E-662A-ECF646505B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1D574FF-4B84-DAAF-F8C4-773D2DE33247}"/>
              </a:ext>
            </a:extLst>
          </p:cNvPr>
          <p:cNvSpPr txBox="1"/>
          <p:nvPr/>
        </p:nvSpPr>
        <p:spPr>
          <a:xfrm>
            <a:off x="1047750" y="2476500"/>
            <a:ext cx="2390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나눔고딕" pitchFamily="2" charset="-127"/>
                <a:ea typeface="나눔고딕" pitchFamily="2" charset="-127"/>
              </a:rPr>
              <a:t>04. </a:t>
            </a:r>
            <a:r>
              <a:rPr lang="ko-KR" altLang="en-US" b="1" dirty="0">
                <a:latin typeface="나눔고딕" pitchFamily="2" charset="-127"/>
                <a:ea typeface="나눔고딕" pitchFamily="2" charset="-127"/>
              </a:rPr>
              <a:t>시설안내</a:t>
            </a:r>
          </a:p>
        </p:txBody>
      </p:sp>
    </p:spTree>
    <p:extLst>
      <p:ext uri="{BB962C8B-B14F-4D97-AF65-F5344CB8AC3E}">
        <p14:creationId xmlns:p14="http://schemas.microsoft.com/office/powerpoint/2010/main" val="423654217"/>
      </p:ext>
    </p:extLst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2630E8-7CD3-A23F-D17E-A5819A515D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CD31A6F5-44C3-2E22-290A-B1A3E14ECB83}"/>
              </a:ext>
            </a:extLst>
          </p:cNvPr>
          <p:cNvGraphicFramePr>
            <a:graphicFrameLocks noGrp="1"/>
          </p:cNvGraphicFramePr>
          <p:nvPr/>
        </p:nvGraphicFramePr>
        <p:xfrm>
          <a:off x="9182101" y="947377"/>
          <a:ext cx="2795588" cy="1847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1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684046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723838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3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172599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4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290794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5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922450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6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784800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7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0538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8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199337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9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450365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8AE107C0-1F70-18D3-BDB5-96EF083470C9}"/>
              </a:ext>
            </a:extLst>
          </p:cNvPr>
          <p:cNvSpPr/>
          <p:nvPr/>
        </p:nvSpPr>
        <p:spPr>
          <a:xfrm>
            <a:off x="959895" y="375614"/>
            <a:ext cx="1832553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</a:pP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메인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시설안내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봉안당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(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하늘누리관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)</a:t>
            </a:r>
            <a:endParaRPr kumimoji="1" lang="ko-KR" altLang="en-US" sz="800" dirty="0"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F1458F8-B74C-6A98-8A9C-E3DEE5DEF8DD}"/>
              </a:ext>
            </a:extLst>
          </p:cNvPr>
          <p:cNvSpPr txBox="1"/>
          <p:nvPr/>
        </p:nvSpPr>
        <p:spPr>
          <a:xfrm>
            <a:off x="6003996" y="123825"/>
            <a:ext cx="17303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HN_Facil_Bongan_001</a:t>
            </a:r>
            <a:endParaRPr lang="ko-KR" altLang="en-US" sz="800" dirty="0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DC6EA364-1379-8EE6-80D0-83CB14A664EA}"/>
              </a:ext>
            </a:extLst>
          </p:cNvPr>
          <p:cNvCxnSpPr>
            <a:cxnSpLocks/>
          </p:cNvCxnSpPr>
          <p:nvPr/>
        </p:nvCxnSpPr>
        <p:spPr>
          <a:xfrm>
            <a:off x="655957" y="1658468"/>
            <a:ext cx="3109526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14FDEBE5-2F3B-1304-5D51-A058CA880B58}"/>
              </a:ext>
            </a:extLst>
          </p:cNvPr>
          <p:cNvSpPr txBox="1"/>
          <p:nvPr/>
        </p:nvSpPr>
        <p:spPr>
          <a:xfrm>
            <a:off x="1343128" y="1807796"/>
            <a:ext cx="17351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봉안당</a:t>
            </a:r>
            <a:endParaRPr lang="en-US" altLang="ko-KR" sz="16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en-US" altLang="ko-KR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하늘누리관</a:t>
            </a:r>
            <a:r>
              <a:rPr lang="en-US" altLang="ko-KR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9C57DD5-1CC9-B48B-E57C-698B54DFEAEC}"/>
              </a:ext>
            </a:extLst>
          </p:cNvPr>
          <p:cNvSpPr txBox="1"/>
          <p:nvPr/>
        </p:nvSpPr>
        <p:spPr>
          <a:xfrm>
            <a:off x="794294" y="2401119"/>
            <a:ext cx="2832847" cy="7617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900"/>
              </a:spcAft>
              <a:buNone/>
            </a:pPr>
            <a:r>
              <a:rPr lang="ko-KR" altLang="en-US" sz="900" b="1" dirty="0" err="1">
                <a:solidFill>
                  <a:srgbClr val="2324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하늘누리관은</a:t>
            </a:r>
            <a:r>
              <a:rPr lang="ko-KR" altLang="en-US" sz="900" b="1" dirty="0">
                <a:solidFill>
                  <a:srgbClr val="2324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최고급 건축 자재와 현대적 설계로 조성된 품격 있는 봉안 공간입니다</a:t>
            </a:r>
            <a:r>
              <a:rPr lang="en-US" altLang="ko-KR" sz="900" b="1" dirty="0">
                <a:solidFill>
                  <a:srgbClr val="2324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 algn="ctr">
              <a:spcAft>
                <a:spcPts val="900"/>
              </a:spcAft>
              <a:buNone/>
            </a:pPr>
            <a:r>
              <a:rPr lang="ko-KR" altLang="en-US" sz="900" b="1" dirty="0">
                <a:solidFill>
                  <a:srgbClr val="2324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자연 채광과 쾌적한 환경으로 고인을 편안하게 모실 수 있습니다</a:t>
            </a:r>
            <a:r>
              <a:rPr lang="en-US" altLang="ko-KR" sz="900" b="1" dirty="0">
                <a:solidFill>
                  <a:srgbClr val="2324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FA3CFAB-EFB5-A501-F1AD-BA7A5AD7E358}"/>
              </a:ext>
            </a:extLst>
          </p:cNvPr>
          <p:cNvSpPr txBox="1"/>
          <p:nvPr/>
        </p:nvSpPr>
        <p:spPr>
          <a:xfrm>
            <a:off x="1793778" y="1181491"/>
            <a:ext cx="83388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하늘누리</a:t>
            </a:r>
            <a:endParaRPr lang="en-US" altLang="ko-KR" sz="11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en-US" altLang="ko-KR" sz="11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CI</a:t>
            </a:r>
            <a:endParaRPr lang="ko-KR" altLang="en-US" sz="11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37" name="그림 36" descr="블랙, 어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EB210F3-255A-6CAD-2A8D-4CEF33DBC1F2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2985" y="1191723"/>
            <a:ext cx="383533" cy="383533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67873FDA-5DC6-64FB-2E24-1625AF6E7A39}"/>
              </a:ext>
            </a:extLst>
          </p:cNvPr>
          <p:cNvSpPr txBox="1"/>
          <p:nvPr/>
        </p:nvSpPr>
        <p:spPr>
          <a:xfrm>
            <a:off x="2826086" y="1293697"/>
            <a:ext cx="57184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" panose="020D0604000000000000" pitchFamily="50" charset="-127"/>
                <a:ea typeface="나눔고딕" panose="020D0604000000000000" pitchFamily="50" charset="-127"/>
              </a:rPr>
              <a:t>르그아웃</a:t>
            </a:r>
          </a:p>
        </p:txBody>
      </p:sp>
      <p:pic>
        <p:nvPicPr>
          <p:cNvPr id="39" name="Picture 4" descr="로그 아웃 아이콘">
            <a:extLst>
              <a:ext uri="{FF2B5EF4-FFF2-40B4-BE49-F238E27FC236}">
                <a16:creationId xmlns:a16="http://schemas.microsoft.com/office/drawing/2014/main" id="{0C1FF57A-56D1-3831-6579-32E24DAF7E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9631" y="1283929"/>
            <a:ext cx="217049" cy="217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0" name="직사각형 39">
            <a:extLst>
              <a:ext uri="{FF2B5EF4-FFF2-40B4-BE49-F238E27FC236}">
                <a16:creationId xmlns:a16="http://schemas.microsoft.com/office/drawing/2014/main" id="{4CF23485-6A57-3C2D-9E2E-F1D732C46770}"/>
              </a:ext>
            </a:extLst>
          </p:cNvPr>
          <p:cNvSpPr/>
          <p:nvPr/>
        </p:nvSpPr>
        <p:spPr>
          <a:xfrm>
            <a:off x="794294" y="3283174"/>
            <a:ext cx="2971189" cy="1763952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IMAGE</a:t>
            </a:r>
            <a:endParaRPr lang="ko-KR" altLang="en-US" sz="28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66855E9-4A9E-E903-555F-ADBD185ECFB7}"/>
              </a:ext>
            </a:extLst>
          </p:cNvPr>
          <p:cNvSpPr txBox="1"/>
          <p:nvPr/>
        </p:nvSpPr>
        <p:spPr>
          <a:xfrm>
            <a:off x="794294" y="3341155"/>
            <a:ext cx="29299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“</a:t>
            </a:r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하늘과 맞닿은 가장 가까운 안식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하늘누리관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”</a:t>
            </a:r>
            <a:endParaRPr lang="ko-KR" altLang="en-US" sz="1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3C2CAF0A-3FAC-126E-9354-C188E773950E}"/>
              </a:ext>
            </a:extLst>
          </p:cNvPr>
          <p:cNvCxnSpPr>
            <a:cxnSpLocks/>
          </p:cNvCxnSpPr>
          <p:nvPr/>
        </p:nvCxnSpPr>
        <p:spPr>
          <a:xfrm>
            <a:off x="753872" y="5482705"/>
            <a:ext cx="2970322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B3AD31AD-638C-D701-A354-2FF52FC6B929}"/>
              </a:ext>
            </a:extLst>
          </p:cNvPr>
          <p:cNvSpPr txBox="1"/>
          <p:nvPr/>
        </p:nvSpPr>
        <p:spPr>
          <a:xfrm>
            <a:off x="792622" y="5199532"/>
            <a:ext cx="122615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건물구조</a:t>
            </a:r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F91A62F5-62C8-C422-C6AF-7C11FF1B1D44}"/>
              </a:ext>
            </a:extLst>
          </p:cNvPr>
          <p:cNvCxnSpPr>
            <a:cxnSpLocks/>
          </p:cNvCxnSpPr>
          <p:nvPr/>
        </p:nvCxnSpPr>
        <p:spPr>
          <a:xfrm>
            <a:off x="753872" y="5833970"/>
            <a:ext cx="3011611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C8D4B89B-4245-8C58-74FB-EB7BE5FB4E5D}"/>
              </a:ext>
            </a:extLst>
          </p:cNvPr>
          <p:cNvSpPr txBox="1"/>
          <p:nvPr/>
        </p:nvSpPr>
        <p:spPr>
          <a:xfrm>
            <a:off x="792622" y="5550797"/>
            <a:ext cx="122615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총 안치 가능 기수</a:t>
            </a:r>
          </a:p>
        </p:txBody>
      </p:sp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id="{E97F225D-5E13-713F-F627-E5CC56DFB0C1}"/>
              </a:ext>
            </a:extLst>
          </p:cNvPr>
          <p:cNvCxnSpPr>
            <a:cxnSpLocks/>
          </p:cNvCxnSpPr>
          <p:nvPr/>
        </p:nvCxnSpPr>
        <p:spPr>
          <a:xfrm>
            <a:off x="753872" y="6161569"/>
            <a:ext cx="3047836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B0E02A9F-81EB-889E-95D5-D5A3CDEFA93C}"/>
              </a:ext>
            </a:extLst>
          </p:cNvPr>
          <p:cNvSpPr txBox="1"/>
          <p:nvPr/>
        </p:nvSpPr>
        <p:spPr>
          <a:xfrm>
            <a:off x="792622" y="5923221"/>
            <a:ext cx="122615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건축 자재</a:t>
            </a:r>
          </a:p>
        </p:txBody>
      </p: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AFE428EF-FD98-0413-2BAB-1A2B3D71F5E2}"/>
              </a:ext>
            </a:extLst>
          </p:cNvPr>
          <p:cNvCxnSpPr>
            <a:cxnSpLocks/>
          </p:cNvCxnSpPr>
          <p:nvPr/>
        </p:nvCxnSpPr>
        <p:spPr>
          <a:xfrm>
            <a:off x="5390921" y="1807796"/>
            <a:ext cx="2787187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1DAC1A38-742F-873B-1EC1-A0746FADBAA7}"/>
              </a:ext>
            </a:extLst>
          </p:cNvPr>
          <p:cNvSpPr txBox="1"/>
          <p:nvPr/>
        </p:nvSpPr>
        <p:spPr>
          <a:xfrm>
            <a:off x="5390921" y="1283929"/>
            <a:ext cx="122615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층별 구성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A760EF4-89F4-A3FA-484B-5627D30CB706}"/>
              </a:ext>
            </a:extLst>
          </p:cNvPr>
          <p:cNvSpPr txBox="1"/>
          <p:nvPr/>
        </p:nvSpPr>
        <p:spPr>
          <a:xfrm>
            <a:off x="2699632" y="5209073"/>
            <a:ext cx="106585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지하 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층 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~ 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지상 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층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0081D07-5CAC-86E1-D043-2EF38A009A66}"/>
              </a:ext>
            </a:extLst>
          </p:cNvPr>
          <p:cNvSpPr txBox="1"/>
          <p:nvPr/>
        </p:nvSpPr>
        <p:spPr>
          <a:xfrm>
            <a:off x="3003639" y="5568993"/>
            <a:ext cx="78858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약 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OOOO 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180D6FE-CA82-3424-5CC1-1FC40C1D299E}"/>
              </a:ext>
            </a:extLst>
          </p:cNvPr>
          <p:cNvSpPr txBox="1"/>
          <p:nvPr/>
        </p:nvSpPr>
        <p:spPr>
          <a:xfrm>
            <a:off x="2354910" y="5915290"/>
            <a:ext cx="14467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최고급 인조대리석 및 화강석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58AD441-6969-117C-1DB6-7FED1BF2D622}"/>
              </a:ext>
            </a:extLst>
          </p:cNvPr>
          <p:cNvSpPr txBox="1"/>
          <p:nvPr/>
        </p:nvSpPr>
        <p:spPr>
          <a:xfrm>
            <a:off x="6617071" y="1191723"/>
            <a:ext cx="17303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지하 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층 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가족 봉안실</a:t>
            </a:r>
            <a:endParaRPr lang="en-US" altLang="ko-KR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층 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일반봉안실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안내데스크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로비</a:t>
            </a:r>
            <a:endParaRPr lang="en-US" altLang="ko-KR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층 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프리미엄 봉안실</a:t>
            </a: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6C50B85A-94BB-2DBB-B536-E8B5FE441454}"/>
              </a:ext>
            </a:extLst>
          </p:cNvPr>
          <p:cNvSpPr/>
          <p:nvPr/>
        </p:nvSpPr>
        <p:spPr>
          <a:xfrm>
            <a:off x="5244352" y="1986890"/>
            <a:ext cx="3076127" cy="2298239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IMAGE</a:t>
            </a:r>
            <a:endParaRPr lang="ko-KR" altLang="en-US" sz="28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F776BA8-E06E-2CDF-D901-EE31C05CE942}"/>
              </a:ext>
            </a:extLst>
          </p:cNvPr>
          <p:cNvSpPr txBox="1"/>
          <p:nvPr/>
        </p:nvSpPr>
        <p:spPr>
          <a:xfrm>
            <a:off x="5374889" y="2138204"/>
            <a:ext cx="271587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“</a:t>
            </a:r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이곳의 시간은 고귀한 기억으로 흐릅니다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.”</a:t>
            </a:r>
            <a:endParaRPr lang="ko-KR" altLang="en-US" sz="1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9442104-621D-B614-C3CA-14D8736D9B59}"/>
              </a:ext>
            </a:extLst>
          </p:cNvPr>
          <p:cNvSpPr txBox="1"/>
          <p:nvPr/>
        </p:nvSpPr>
        <p:spPr>
          <a:xfrm>
            <a:off x="5771692" y="4357021"/>
            <a:ext cx="202144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일반 봉안실</a:t>
            </a:r>
            <a:r>
              <a:rPr lang="en-US" altLang="ko-KR" sz="11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1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개인형</a:t>
            </a:r>
            <a:r>
              <a:rPr lang="en-US" altLang="ko-KR" sz="11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11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A2AF606C-FEDD-352A-2F61-7656865EDEE6}"/>
              </a:ext>
            </a:extLst>
          </p:cNvPr>
          <p:cNvSpPr/>
          <p:nvPr/>
        </p:nvSpPr>
        <p:spPr>
          <a:xfrm>
            <a:off x="5244352" y="4654839"/>
            <a:ext cx="3076127" cy="1763952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33ECF7BA-A47E-BA60-146A-A5CF175990DC}"/>
              </a:ext>
            </a:extLst>
          </p:cNvPr>
          <p:cNvSpPr/>
          <p:nvPr/>
        </p:nvSpPr>
        <p:spPr>
          <a:xfrm>
            <a:off x="5374889" y="4713523"/>
            <a:ext cx="2803219" cy="1538364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ko-KR" altLang="en-US" sz="8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규격</a:t>
            </a:r>
            <a:r>
              <a:rPr lang="en-US" altLang="ko-KR" sz="8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8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가로 </a:t>
            </a:r>
            <a:r>
              <a:rPr lang="en-US" altLang="ko-KR" sz="8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30cm × </a:t>
            </a:r>
            <a:r>
              <a:rPr lang="ko-KR" altLang="en-US" sz="8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세로 </a:t>
            </a:r>
            <a:r>
              <a:rPr lang="en-US" altLang="ko-KR" sz="8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30cm × </a:t>
            </a:r>
            <a:r>
              <a:rPr lang="ko-KR" altLang="en-US" sz="8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깊이 </a:t>
            </a:r>
            <a:r>
              <a:rPr lang="en-US" altLang="ko-KR" sz="8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40cm</a:t>
            </a:r>
          </a:p>
          <a:p>
            <a:pPr>
              <a:lnSpc>
                <a:spcPct val="150000"/>
              </a:lnSpc>
            </a:pPr>
            <a:r>
              <a:rPr lang="ko-KR" altLang="en-US" sz="8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안치 위수</a:t>
            </a:r>
            <a:r>
              <a:rPr lang="en-US" altLang="ko-KR" sz="8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1</a:t>
            </a:r>
            <a:r>
              <a:rPr lang="ko-KR" altLang="en-US" sz="8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위</a:t>
            </a:r>
          </a:p>
          <a:p>
            <a:pPr>
              <a:lnSpc>
                <a:spcPct val="150000"/>
              </a:lnSpc>
            </a:pPr>
            <a:r>
              <a:rPr lang="ko-KR" altLang="en-US" sz="8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위치</a:t>
            </a:r>
            <a:r>
              <a:rPr lang="en-US" altLang="ko-KR" sz="8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1</a:t>
            </a:r>
            <a:r>
              <a:rPr lang="ko-KR" altLang="en-US" sz="8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층</a:t>
            </a:r>
            <a:r>
              <a:rPr lang="en-US" altLang="ko-KR" sz="8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~3</a:t>
            </a:r>
            <a:r>
              <a:rPr lang="ko-KR" altLang="en-US" sz="8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층 전 층</a:t>
            </a:r>
          </a:p>
          <a:p>
            <a:pPr>
              <a:lnSpc>
                <a:spcPct val="150000"/>
              </a:lnSpc>
            </a:pPr>
            <a:r>
              <a:rPr lang="ko-KR" altLang="en-US" sz="8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특징</a:t>
            </a:r>
            <a:r>
              <a:rPr lang="en-US" altLang="ko-KR" sz="8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</a:t>
            </a:r>
          </a:p>
          <a:p>
            <a:pPr>
              <a:lnSpc>
                <a:spcPct val="150000"/>
              </a:lnSpc>
            </a:pPr>
            <a:r>
              <a:rPr lang="ko-KR" altLang="en-US" sz="8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투명 유리문으로 고인 유품 및 사진 안치 가능</a:t>
            </a:r>
          </a:p>
          <a:p>
            <a:pPr>
              <a:lnSpc>
                <a:spcPct val="150000"/>
              </a:lnSpc>
            </a:pPr>
            <a:r>
              <a:rPr lang="ko-KR" altLang="en-US" sz="8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단 구분</a:t>
            </a:r>
            <a:r>
              <a:rPr lang="en-US" altLang="ko-KR" sz="8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1~9</a:t>
            </a:r>
            <a:r>
              <a:rPr lang="ko-KR" altLang="en-US" sz="8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단 </a:t>
            </a:r>
            <a:r>
              <a:rPr lang="en-US" altLang="ko-KR" sz="8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눈높이 </a:t>
            </a:r>
            <a:r>
              <a:rPr lang="en-US" altLang="ko-KR" sz="8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4~5</a:t>
            </a:r>
            <a:r>
              <a:rPr lang="ko-KR" altLang="en-US" sz="8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단 프리미엄</a:t>
            </a:r>
            <a:r>
              <a:rPr lang="en-US" altLang="ko-KR" sz="8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ko-KR" altLang="en-US" sz="8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개별 명패 부착일반 봉안실</a:t>
            </a:r>
            <a:r>
              <a:rPr lang="en-US" altLang="ko-KR" sz="8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개인형</a:t>
            </a:r>
            <a:r>
              <a:rPr lang="en-US" altLang="ko-KR" sz="8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ko-KR" altLang="en-US" sz="8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가격대</a:t>
            </a:r>
            <a:r>
              <a:rPr lang="en-US" altLang="ko-KR" sz="8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150</a:t>
            </a:r>
            <a:r>
              <a:rPr lang="ko-KR" altLang="en-US" sz="8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만원 </a:t>
            </a:r>
            <a:r>
              <a:rPr lang="en-US" altLang="ko-KR" sz="8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~ 800</a:t>
            </a:r>
            <a:r>
              <a:rPr lang="ko-KR" altLang="en-US" sz="8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만원 </a:t>
            </a:r>
            <a:r>
              <a:rPr lang="en-US" altLang="ko-KR" sz="8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위치별 차등</a:t>
            </a:r>
            <a:r>
              <a:rPr lang="en-US" altLang="ko-KR" sz="8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800" b="1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31D561-4302-A823-513B-E8925E2FCFB3}"/>
              </a:ext>
            </a:extLst>
          </p:cNvPr>
          <p:cNvSpPr txBox="1"/>
          <p:nvPr/>
        </p:nvSpPr>
        <p:spPr>
          <a:xfrm rot="19509111">
            <a:off x="8704729" y="3250453"/>
            <a:ext cx="279558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하늘누리 시설안내 확인 후 수정 필요 </a:t>
            </a:r>
          </a:p>
        </p:txBody>
      </p:sp>
    </p:spTree>
    <p:extLst>
      <p:ext uri="{BB962C8B-B14F-4D97-AF65-F5344CB8AC3E}">
        <p14:creationId xmlns:p14="http://schemas.microsoft.com/office/powerpoint/2010/main" val="114910816"/>
      </p:ext>
    </p:extLst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226F3A-963A-EE1B-1499-4F94636F0E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13F334F7-C3F8-553A-3B3C-B358D8209086}"/>
              </a:ext>
            </a:extLst>
          </p:cNvPr>
          <p:cNvGraphicFramePr>
            <a:graphicFrameLocks noGrp="1"/>
          </p:cNvGraphicFramePr>
          <p:nvPr/>
        </p:nvGraphicFramePr>
        <p:xfrm>
          <a:off x="9182101" y="947377"/>
          <a:ext cx="2795588" cy="1847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1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684046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723838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3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172599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4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290794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5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922450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6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784800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7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0538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8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199337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9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450365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EBC5C356-D3E1-0825-D6AC-ECDAA9300BD7}"/>
              </a:ext>
            </a:extLst>
          </p:cNvPr>
          <p:cNvSpPr/>
          <p:nvPr/>
        </p:nvSpPr>
        <p:spPr>
          <a:xfrm>
            <a:off x="959895" y="375614"/>
            <a:ext cx="1832553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</a:pP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메인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시설안내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봉안당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(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하늘누리관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)</a:t>
            </a:r>
            <a:endParaRPr kumimoji="1" lang="ko-KR" altLang="en-US" sz="800" dirty="0"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11F4AF9-AED1-6312-5E22-B1882FFB9D36}"/>
              </a:ext>
            </a:extLst>
          </p:cNvPr>
          <p:cNvSpPr txBox="1"/>
          <p:nvPr/>
        </p:nvSpPr>
        <p:spPr>
          <a:xfrm>
            <a:off x="6003996" y="123825"/>
            <a:ext cx="17303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HN_Facil_Bongan_001</a:t>
            </a:r>
            <a:endParaRPr lang="ko-KR" altLang="en-US" sz="800" dirty="0"/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62ED701B-54F5-C13A-99F9-38745274E3F4}"/>
              </a:ext>
            </a:extLst>
          </p:cNvPr>
          <p:cNvSpPr/>
          <p:nvPr/>
        </p:nvSpPr>
        <p:spPr>
          <a:xfrm>
            <a:off x="5244352" y="1153171"/>
            <a:ext cx="3076127" cy="2298239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IMAGE</a:t>
            </a:r>
            <a:endParaRPr lang="ko-KR" altLang="en-US" sz="28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F038CD3-F019-DC21-3F5F-BB2617138A4E}"/>
              </a:ext>
            </a:extLst>
          </p:cNvPr>
          <p:cNvSpPr txBox="1"/>
          <p:nvPr/>
        </p:nvSpPr>
        <p:spPr>
          <a:xfrm>
            <a:off x="5374889" y="1304485"/>
            <a:ext cx="294559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“</a:t>
            </a:r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가족의 사랑을 담은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단 하나의 프리미엄 에디션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”</a:t>
            </a:r>
            <a:endParaRPr lang="ko-KR" altLang="en-US" sz="1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546BD3C-4EA9-9225-C26C-017077AE2D9E}"/>
              </a:ext>
            </a:extLst>
          </p:cNvPr>
          <p:cNvSpPr txBox="1"/>
          <p:nvPr/>
        </p:nvSpPr>
        <p:spPr>
          <a:xfrm>
            <a:off x="5771692" y="3523302"/>
            <a:ext cx="202144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프리미엄 봉안실</a:t>
            </a: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E2FF1D73-99AD-355A-FED1-CCC07F63794B}"/>
              </a:ext>
            </a:extLst>
          </p:cNvPr>
          <p:cNvSpPr/>
          <p:nvPr/>
        </p:nvSpPr>
        <p:spPr>
          <a:xfrm>
            <a:off x="5244352" y="3821120"/>
            <a:ext cx="3076127" cy="1763952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730AE36E-E061-506B-74D8-103BFC0E3EB9}"/>
              </a:ext>
            </a:extLst>
          </p:cNvPr>
          <p:cNvSpPr/>
          <p:nvPr/>
        </p:nvSpPr>
        <p:spPr>
          <a:xfrm>
            <a:off x="5374889" y="3879804"/>
            <a:ext cx="2803219" cy="1538364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ko-KR" altLang="en-US" sz="8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위치</a:t>
            </a:r>
            <a:r>
              <a:rPr lang="en-US" altLang="ko-KR" sz="8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3</a:t>
            </a:r>
            <a:r>
              <a:rPr lang="ko-KR" altLang="en-US" sz="8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층 전망대 인접</a:t>
            </a:r>
          </a:p>
          <a:p>
            <a:pPr>
              <a:lnSpc>
                <a:spcPct val="150000"/>
              </a:lnSpc>
            </a:pPr>
            <a:r>
              <a:rPr lang="ko-KR" altLang="en-US" sz="8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특징</a:t>
            </a:r>
            <a:r>
              <a:rPr lang="en-US" altLang="ko-KR" sz="8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</a:t>
            </a:r>
          </a:p>
          <a:p>
            <a:pPr>
              <a:lnSpc>
                <a:spcPct val="150000"/>
              </a:lnSpc>
            </a:pPr>
            <a:r>
              <a:rPr lang="ko-KR" altLang="en-US" sz="8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자연 채광이 풍부한 공간</a:t>
            </a:r>
          </a:p>
          <a:p>
            <a:pPr>
              <a:lnSpc>
                <a:spcPct val="150000"/>
              </a:lnSpc>
            </a:pPr>
            <a:r>
              <a:rPr lang="ko-KR" altLang="en-US" sz="8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주변 산세와 풍광을 조망</a:t>
            </a:r>
          </a:p>
          <a:p>
            <a:pPr>
              <a:lnSpc>
                <a:spcPct val="150000"/>
              </a:lnSpc>
            </a:pPr>
            <a:r>
              <a:rPr lang="ko-KR" altLang="en-US" sz="8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독립적이고 </a:t>
            </a:r>
            <a:r>
              <a:rPr lang="ko-KR" altLang="en-US" sz="800" b="1" dirty="0" err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프라이빗한</a:t>
            </a:r>
            <a:r>
              <a:rPr lang="ko-KR" altLang="en-US" sz="8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환경</a:t>
            </a:r>
          </a:p>
          <a:p>
            <a:pPr>
              <a:lnSpc>
                <a:spcPct val="150000"/>
              </a:lnSpc>
            </a:pPr>
            <a:r>
              <a:rPr lang="ko-KR" altLang="en-US" sz="8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특별 설계 인테리어</a:t>
            </a:r>
          </a:p>
          <a:p>
            <a:pPr>
              <a:lnSpc>
                <a:spcPct val="150000"/>
              </a:lnSpc>
            </a:pPr>
            <a:r>
              <a:rPr lang="ko-KR" altLang="en-US" sz="8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가격대</a:t>
            </a:r>
            <a:r>
              <a:rPr lang="en-US" altLang="ko-KR" sz="8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1,000</a:t>
            </a:r>
            <a:r>
              <a:rPr lang="ko-KR" altLang="en-US" sz="8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만원 </a:t>
            </a:r>
            <a:r>
              <a:rPr lang="en-US" altLang="ko-KR" sz="8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~ 2,500</a:t>
            </a:r>
            <a:r>
              <a:rPr lang="ko-KR" altLang="en-US" sz="8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만원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2597FDD-E394-9D3B-973E-016564B4BA5B}"/>
              </a:ext>
            </a:extLst>
          </p:cNvPr>
          <p:cNvSpPr/>
          <p:nvPr/>
        </p:nvSpPr>
        <p:spPr>
          <a:xfrm>
            <a:off x="726691" y="1181515"/>
            <a:ext cx="3076127" cy="2298239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IMAGE</a:t>
            </a:r>
            <a:endParaRPr lang="ko-KR" altLang="en-US" sz="28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3E0ACD-8E7D-8888-07AA-4817EC3A2B5C}"/>
              </a:ext>
            </a:extLst>
          </p:cNvPr>
          <p:cNvSpPr txBox="1"/>
          <p:nvPr/>
        </p:nvSpPr>
        <p:spPr>
          <a:xfrm>
            <a:off x="857228" y="1332829"/>
            <a:ext cx="271587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“</a:t>
            </a:r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당신의 그리움이 별이 되어 머무는 공간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”</a:t>
            </a:r>
            <a:endParaRPr lang="ko-KR" altLang="en-US" sz="1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963D10-FD69-C07B-DEE5-2EB217C416B8}"/>
              </a:ext>
            </a:extLst>
          </p:cNvPr>
          <p:cNvSpPr txBox="1"/>
          <p:nvPr/>
        </p:nvSpPr>
        <p:spPr>
          <a:xfrm>
            <a:off x="1254031" y="3551646"/>
            <a:ext cx="202144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가족 봉안실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49E486B-1E7C-3835-152A-9E69EF982C1E}"/>
              </a:ext>
            </a:extLst>
          </p:cNvPr>
          <p:cNvSpPr/>
          <p:nvPr/>
        </p:nvSpPr>
        <p:spPr>
          <a:xfrm>
            <a:off x="726691" y="3849463"/>
            <a:ext cx="3076127" cy="2569328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63A6EE8-9485-C4B6-9DE2-75C8515D3E3D}"/>
              </a:ext>
            </a:extLst>
          </p:cNvPr>
          <p:cNvSpPr/>
          <p:nvPr/>
        </p:nvSpPr>
        <p:spPr>
          <a:xfrm>
            <a:off x="857228" y="3908148"/>
            <a:ext cx="2803219" cy="2574238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ko-KR" altLang="en-US" sz="8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종류</a:t>
            </a:r>
            <a:r>
              <a:rPr lang="en-US" altLang="ko-KR" sz="8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</a:t>
            </a:r>
          </a:p>
          <a:p>
            <a:pPr>
              <a:lnSpc>
                <a:spcPct val="150000"/>
              </a:lnSpc>
            </a:pPr>
            <a:r>
              <a:rPr lang="en-US" altLang="ko-KR" sz="8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r>
            <a:r>
              <a:rPr lang="ko-KR" altLang="en-US" sz="8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위용</a:t>
            </a:r>
            <a:r>
              <a:rPr lang="en-US" altLang="ko-KR" sz="8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8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가로 </a:t>
            </a:r>
            <a:r>
              <a:rPr lang="en-US" altLang="ko-KR" sz="8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60cm × </a:t>
            </a:r>
            <a:r>
              <a:rPr lang="ko-KR" altLang="en-US" sz="8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세로 </a:t>
            </a:r>
            <a:r>
              <a:rPr lang="en-US" altLang="ko-KR" sz="8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60cm</a:t>
            </a:r>
          </a:p>
          <a:p>
            <a:pPr>
              <a:lnSpc>
                <a:spcPct val="150000"/>
              </a:lnSpc>
            </a:pPr>
            <a:r>
              <a:rPr lang="en-US" altLang="ko-KR" sz="8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6</a:t>
            </a:r>
            <a:r>
              <a:rPr lang="ko-KR" altLang="en-US" sz="8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위용</a:t>
            </a:r>
            <a:r>
              <a:rPr lang="en-US" altLang="ko-KR" sz="8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8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가로 </a:t>
            </a:r>
            <a:r>
              <a:rPr lang="en-US" altLang="ko-KR" sz="8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90cm × </a:t>
            </a:r>
            <a:r>
              <a:rPr lang="ko-KR" altLang="en-US" sz="8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세로 </a:t>
            </a:r>
            <a:r>
              <a:rPr lang="en-US" altLang="ko-KR" sz="8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60cm</a:t>
            </a:r>
          </a:p>
          <a:p>
            <a:pPr>
              <a:lnSpc>
                <a:spcPct val="150000"/>
              </a:lnSpc>
            </a:pPr>
            <a:r>
              <a:rPr lang="en-US" altLang="ko-KR" sz="8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12</a:t>
            </a:r>
            <a:r>
              <a:rPr lang="ko-KR" altLang="en-US" sz="8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위용</a:t>
            </a:r>
            <a:r>
              <a:rPr lang="en-US" altLang="ko-KR" sz="8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8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가로 </a:t>
            </a:r>
            <a:r>
              <a:rPr lang="en-US" altLang="ko-KR" sz="8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120cm × </a:t>
            </a:r>
            <a:r>
              <a:rPr lang="ko-KR" altLang="en-US" sz="8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세로 </a:t>
            </a:r>
            <a:r>
              <a:rPr lang="en-US" altLang="ko-KR" sz="8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90cm</a:t>
            </a:r>
          </a:p>
          <a:p>
            <a:pPr>
              <a:lnSpc>
                <a:spcPct val="150000"/>
              </a:lnSpc>
            </a:pPr>
            <a:r>
              <a:rPr lang="ko-KR" altLang="en-US" sz="8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특징</a:t>
            </a:r>
            <a:r>
              <a:rPr lang="en-US" altLang="ko-KR" sz="8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</a:t>
            </a:r>
          </a:p>
          <a:p>
            <a:pPr>
              <a:lnSpc>
                <a:spcPct val="150000"/>
              </a:lnSpc>
            </a:pPr>
            <a:r>
              <a:rPr lang="ko-KR" altLang="en-US" sz="8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가족 단위 영구 안치 공간</a:t>
            </a:r>
          </a:p>
          <a:p>
            <a:pPr>
              <a:lnSpc>
                <a:spcPct val="150000"/>
              </a:lnSpc>
            </a:pPr>
            <a:r>
              <a:rPr lang="ko-KR" altLang="en-US" sz="8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고급 대리석 마감</a:t>
            </a:r>
          </a:p>
          <a:p>
            <a:pPr>
              <a:lnSpc>
                <a:spcPct val="150000"/>
              </a:lnSpc>
            </a:pPr>
            <a:r>
              <a:rPr lang="ko-KR" altLang="en-US" sz="800" b="1" dirty="0" err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가족명</a:t>
            </a:r>
            <a:r>
              <a:rPr lang="ko-KR" altLang="en-US" sz="8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통합 명패 제공</a:t>
            </a:r>
          </a:p>
          <a:p>
            <a:pPr>
              <a:lnSpc>
                <a:spcPct val="150000"/>
              </a:lnSpc>
            </a:pPr>
            <a:r>
              <a:rPr lang="ko-KR" altLang="en-US" sz="8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내부 인테리어 맞춤 가능</a:t>
            </a:r>
            <a:endParaRPr lang="en-US" altLang="ko-KR" sz="800" b="1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8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가격대</a:t>
            </a:r>
            <a:r>
              <a:rPr lang="en-US" altLang="ko-KR" sz="8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</a:t>
            </a:r>
          </a:p>
          <a:p>
            <a:pPr>
              <a:lnSpc>
                <a:spcPct val="150000"/>
              </a:lnSpc>
            </a:pPr>
            <a:r>
              <a:rPr lang="en-US" altLang="ko-KR" sz="8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r>
            <a:r>
              <a:rPr lang="ko-KR" altLang="en-US" sz="8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위용</a:t>
            </a:r>
            <a:r>
              <a:rPr lang="en-US" altLang="ko-KR" sz="8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600</a:t>
            </a:r>
            <a:r>
              <a:rPr lang="ko-KR" altLang="en-US" sz="8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만원 </a:t>
            </a:r>
            <a:r>
              <a:rPr lang="en-US" altLang="ko-KR" sz="8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~ 1,200</a:t>
            </a:r>
            <a:r>
              <a:rPr lang="ko-KR" altLang="en-US" sz="8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만원</a:t>
            </a:r>
          </a:p>
          <a:p>
            <a:pPr>
              <a:lnSpc>
                <a:spcPct val="150000"/>
              </a:lnSpc>
            </a:pPr>
            <a:r>
              <a:rPr lang="en-US" altLang="ko-KR" sz="8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6</a:t>
            </a:r>
            <a:r>
              <a:rPr lang="ko-KR" altLang="en-US" sz="8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위용</a:t>
            </a:r>
            <a:r>
              <a:rPr lang="en-US" altLang="ko-KR" sz="8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900</a:t>
            </a:r>
            <a:r>
              <a:rPr lang="ko-KR" altLang="en-US" sz="8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만원 </a:t>
            </a:r>
            <a:r>
              <a:rPr lang="en-US" altLang="ko-KR" sz="8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~ 1,800</a:t>
            </a:r>
            <a:r>
              <a:rPr lang="ko-KR" altLang="en-US" sz="8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만원</a:t>
            </a:r>
          </a:p>
          <a:p>
            <a:pPr>
              <a:lnSpc>
                <a:spcPct val="150000"/>
              </a:lnSpc>
            </a:pPr>
            <a:r>
              <a:rPr lang="en-US" altLang="ko-KR" sz="8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12</a:t>
            </a:r>
            <a:r>
              <a:rPr lang="ko-KR" altLang="en-US" sz="8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위용</a:t>
            </a:r>
            <a:r>
              <a:rPr lang="en-US" altLang="ko-KR" sz="8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1,500</a:t>
            </a:r>
            <a:r>
              <a:rPr lang="ko-KR" altLang="en-US" sz="8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만원 </a:t>
            </a:r>
            <a:r>
              <a:rPr lang="en-US" altLang="ko-KR" sz="8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~ 3,000</a:t>
            </a:r>
            <a:r>
              <a:rPr lang="ko-KR" altLang="en-US" sz="8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만원</a:t>
            </a:r>
          </a:p>
          <a:p>
            <a:pPr>
              <a:lnSpc>
                <a:spcPct val="150000"/>
              </a:lnSpc>
            </a:pPr>
            <a:endParaRPr lang="ko-KR" altLang="en-US" sz="800" b="1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77513784"/>
      </p:ext>
    </p:extLst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39CEEC-4DD7-F702-F402-A81B9280AB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38F56BCD-BC78-F807-16F3-E6F9CD8E07F4}"/>
              </a:ext>
            </a:extLst>
          </p:cNvPr>
          <p:cNvGraphicFramePr>
            <a:graphicFrameLocks noGrp="1"/>
          </p:cNvGraphicFramePr>
          <p:nvPr/>
        </p:nvGraphicFramePr>
        <p:xfrm>
          <a:off x="9182101" y="947377"/>
          <a:ext cx="2795588" cy="1847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1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684046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723838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3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172599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4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290794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5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922450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6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784800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7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0538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8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199337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9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450365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2AF0CCCF-E008-C070-7F62-2FF0F8F52778}"/>
              </a:ext>
            </a:extLst>
          </p:cNvPr>
          <p:cNvSpPr/>
          <p:nvPr/>
        </p:nvSpPr>
        <p:spPr>
          <a:xfrm>
            <a:off x="959895" y="375614"/>
            <a:ext cx="1832553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</a:pP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메인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시설안내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봉안당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(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하늘누리관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)</a:t>
            </a:r>
            <a:endParaRPr kumimoji="1" lang="ko-KR" altLang="en-US" sz="800" dirty="0"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724C861-E15E-DC71-4358-B1F911004348}"/>
              </a:ext>
            </a:extLst>
          </p:cNvPr>
          <p:cNvSpPr txBox="1"/>
          <p:nvPr/>
        </p:nvSpPr>
        <p:spPr>
          <a:xfrm>
            <a:off x="6003996" y="123825"/>
            <a:ext cx="17303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HN_Facil_Bongan_001</a:t>
            </a:r>
            <a:endParaRPr lang="ko-KR" altLang="en-US" sz="800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A234746-C362-8587-DC2C-B36476F0339C}"/>
              </a:ext>
            </a:extLst>
          </p:cNvPr>
          <p:cNvSpPr/>
          <p:nvPr/>
        </p:nvSpPr>
        <p:spPr>
          <a:xfrm>
            <a:off x="726691" y="1181515"/>
            <a:ext cx="3076127" cy="2298239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IMAGE</a:t>
            </a:r>
            <a:endParaRPr lang="ko-KR" altLang="en-US" sz="28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FC8E1C-035C-4B20-B648-AEA86A254F49}"/>
              </a:ext>
            </a:extLst>
          </p:cNvPr>
          <p:cNvSpPr txBox="1"/>
          <p:nvPr/>
        </p:nvSpPr>
        <p:spPr>
          <a:xfrm>
            <a:off x="857228" y="1332829"/>
            <a:ext cx="271587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“</a:t>
            </a:r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생의 끝에서도 빛나는 단 하나의 명예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”</a:t>
            </a:r>
            <a:endParaRPr lang="ko-KR" altLang="en-US" sz="1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2A04C18-3C6F-C7A7-D4E0-BB519DA70EEE}"/>
              </a:ext>
            </a:extLst>
          </p:cNvPr>
          <p:cNvSpPr txBox="1"/>
          <p:nvPr/>
        </p:nvSpPr>
        <p:spPr>
          <a:xfrm>
            <a:off x="1254031" y="3551646"/>
            <a:ext cx="202144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하늘누리관 특별 서비스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9DC1633-84CF-E9FA-99EE-DB8375F7EC9D}"/>
              </a:ext>
            </a:extLst>
          </p:cNvPr>
          <p:cNvSpPr/>
          <p:nvPr/>
        </p:nvSpPr>
        <p:spPr>
          <a:xfrm>
            <a:off x="726691" y="3849463"/>
            <a:ext cx="3076127" cy="2569328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0997D47-552F-050F-70B8-365CB5335FDB}"/>
              </a:ext>
            </a:extLst>
          </p:cNvPr>
          <p:cNvSpPr/>
          <p:nvPr/>
        </p:nvSpPr>
        <p:spPr>
          <a:xfrm>
            <a:off x="830564" y="4044705"/>
            <a:ext cx="2889789" cy="276519"/>
          </a:xfrm>
          <a:prstGeom prst="rect">
            <a:avLst/>
          </a:prstGeom>
          <a:solidFill>
            <a:schemeClr val="tx1"/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9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E-</a:t>
            </a:r>
            <a:r>
              <a:rPr lang="ko-KR" altLang="en-US" sz="9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추모 시스템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E73EA67-60BB-C9BB-0228-7EF1C6C11E3C}"/>
              </a:ext>
            </a:extLst>
          </p:cNvPr>
          <p:cNvSpPr/>
          <p:nvPr/>
        </p:nvSpPr>
        <p:spPr>
          <a:xfrm>
            <a:off x="830566" y="4321225"/>
            <a:ext cx="2889788" cy="469756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ko-KR" altLang="en-US" sz="8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웹사이트</a:t>
            </a:r>
            <a:r>
              <a:rPr lang="en-US" altLang="ko-KR" sz="8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모바일 사이트를 통한 고인 검색</a:t>
            </a:r>
            <a:endParaRPr lang="en-US" altLang="ko-KR" sz="800" b="1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8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고인 추모글을 쓸 수 있는 하늘편지 서비스</a:t>
            </a:r>
            <a:endParaRPr lang="en-US" altLang="ko-KR" sz="800" b="1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C903923-8797-68F3-BA09-184EC1E0A4C9}"/>
              </a:ext>
            </a:extLst>
          </p:cNvPr>
          <p:cNvSpPr/>
          <p:nvPr/>
        </p:nvSpPr>
        <p:spPr>
          <a:xfrm>
            <a:off x="830564" y="4827188"/>
            <a:ext cx="2889789" cy="276519"/>
          </a:xfrm>
          <a:prstGeom prst="rect">
            <a:avLst/>
          </a:prstGeom>
          <a:solidFill>
            <a:schemeClr val="tx1"/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900" b="1" dirty="0" err="1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제례실</a:t>
            </a:r>
            <a:endParaRPr lang="ko-KR" altLang="en-US" sz="9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CAD2D96-0DCB-B3ED-8776-3192EA44406D}"/>
              </a:ext>
            </a:extLst>
          </p:cNvPr>
          <p:cNvSpPr/>
          <p:nvPr/>
        </p:nvSpPr>
        <p:spPr>
          <a:xfrm>
            <a:off x="830565" y="5103708"/>
            <a:ext cx="2889788" cy="664142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ko-KR" altLang="en-US" sz="8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각 층별 </a:t>
            </a:r>
            <a:r>
              <a:rPr lang="en-US" altLang="ko-KR" sz="8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8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개소 배치</a:t>
            </a:r>
          </a:p>
          <a:p>
            <a:pPr>
              <a:lnSpc>
                <a:spcPct val="150000"/>
              </a:lnSpc>
            </a:pPr>
            <a:r>
              <a:rPr lang="ko-KR" altLang="en-US" sz="8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전통 제례상 및 제수용품 준비 가능</a:t>
            </a:r>
          </a:p>
          <a:p>
            <a:pPr>
              <a:lnSpc>
                <a:spcPct val="150000"/>
              </a:lnSpc>
            </a:pPr>
            <a:r>
              <a:rPr lang="ko-KR" altLang="en-US" sz="800" b="1" dirty="0" err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예약제</a:t>
            </a:r>
            <a:r>
              <a:rPr lang="ko-KR" altLang="en-US" sz="8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운영 </a:t>
            </a:r>
            <a:r>
              <a:rPr lang="en-US" altLang="ko-KR" sz="8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무료 이용</a:t>
            </a:r>
            <a:r>
              <a:rPr lang="en-US" altLang="ko-KR" sz="8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429066B-0366-EF6A-C28E-9BB741C30CF3}"/>
              </a:ext>
            </a:extLst>
          </p:cNvPr>
          <p:cNvSpPr/>
          <p:nvPr/>
        </p:nvSpPr>
        <p:spPr>
          <a:xfrm>
            <a:off x="5247399" y="1156384"/>
            <a:ext cx="3076127" cy="1111687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1F3F203-0E12-D5D9-2D14-A50C764AFED6}"/>
              </a:ext>
            </a:extLst>
          </p:cNvPr>
          <p:cNvSpPr/>
          <p:nvPr/>
        </p:nvSpPr>
        <p:spPr>
          <a:xfrm>
            <a:off x="5244352" y="1194569"/>
            <a:ext cx="3076126" cy="276519"/>
          </a:xfrm>
          <a:prstGeom prst="rect">
            <a:avLst/>
          </a:prstGeom>
          <a:solidFill>
            <a:schemeClr val="tx1"/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9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참배편의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4F673168-957E-47DF-C5BD-B2965679E633}"/>
              </a:ext>
            </a:extLst>
          </p:cNvPr>
          <p:cNvSpPr/>
          <p:nvPr/>
        </p:nvSpPr>
        <p:spPr>
          <a:xfrm>
            <a:off x="5244353" y="1471088"/>
            <a:ext cx="3076125" cy="71442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ko-KR" altLang="en-US" sz="8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계단 및 엘리베이터 완비</a:t>
            </a:r>
          </a:p>
          <a:p>
            <a:pPr>
              <a:lnSpc>
                <a:spcPct val="150000"/>
              </a:lnSpc>
            </a:pPr>
            <a:r>
              <a:rPr lang="ko-KR" altLang="en-US" sz="8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휠체어 접근 가능한 </a:t>
            </a:r>
            <a:r>
              <a:rPr lang="ko-KR" altLang="en-US" sz="800" b="1" dirty="0" err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무장애</a:t>
            </a:r>
            <a:r>
              <a:rPr lang="ko-KR" altLang="en-US" sz="8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설계</a:t>
            </a:r>
          </a:p>
          <a:p>
            <a:pPr>
              <a:lnSpc>
                <a:spcPct val="150000"/>
              </a:lnSpc>
            </a:pPr>
            <a:r>
              <a:rPr lang="ko-KR" altLang="en-US" sz="8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각 층 휴게 공간 및 화장실 배치</a:t>
            </a:r>
            <a:endParaRPr lang="en-US" altLang="ko-KR" sz="800" b="1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EDDC9E5-57D7-AB83-6BDD-146A46654324}"/>
              </a:ext>
            </a:extLst>
          </p:cNvPr>
          <p:cNvSpPr/>
          <p:nvPr/>
        </p:nvSpPr>
        <p:spPr>
          <a:xfrm>
            <a:off x="5198346" y="2544590"/>
            <a:ext cx="3168137" cy="264669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Footer</a:t>
            </a:r>
            <a:endParaRPr lang="ko-KR" altLang="en-US" sz="10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90644168"/>
      </p:ext>
    </p:extLst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A741C2-A768-FAAE-AD16-25DBF9478D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0D6D2915-F33C-5CC8-EEC4-5411989B8F6C}"/>
              </a:ext>
            </a:extLst>
          </p:cNvPr>
          <p:cNvGraphicFramePr>
            <a:graphicFrameLocks noGrp="1"/>
          </p:cNvGraphicFramePr>
          <p:nvPr/>
        </p:nvGraphicFramePr>
        <p:xfrm>
          <a:off x="9182101" y="947377"/>
          <a:ext cx="2795588" cy="1847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1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684046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723838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3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172599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4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290794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5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922450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6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784800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7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0538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8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199337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9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450365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B5F18A47-5F7F-A430-C4E3-C50A11FAFC64}"/>
              </a:ext>
            </a:extLst>
          </p:cNvPr>
          <p:cNvSpPr/>
          <p:nvPr/>
        </p:nvSpPr>
        <p:spPr>
          <a:xfrm>
            <a:off x="959895" y="375614"/>
            <a:ext cx="1277914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</a:pP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메인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시설안내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수목장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6441207-AAD5-E8D5-F5AB-595446411F66}"/>
              </a:ext>
            </a:extLst>
          </p:cNvPr>
          <p:cNvSpPr txBox="1"/>
          <p:nvPr/>
        </p:nvSpPr>
        <p:spPr>
          <a:xfrm>
            <a:off x="6003996" y="123825"/>
            <a:ext cx="17303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HN_Facil_Naburial_001</a:t>
            </a:r>
            <a:endParaRPr lang="ko-KR" altLang="en-US" sz="800" dirty="0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4D33ACE3-EBA8-3E8A-49CF-C77695CACAED}"/>
              </a:ext>
            </a:extLst>
          </p:cNvPr>
          <p:cNvCxnSpPr>
            <a:cxnSpLocks/>
          </p:cNvCxnSpPr>
          <p:nvPr/>
        </p:nvCxnSpPr>
        <p:spPr>
          <a:xfrm>
            <a:off x="655957" y="1658468"/>
            <a:ext cx="3109526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835A8A20-98CF-6D38-789D-D08066724ABA}"/>
              </a:ext>
            </a:extLst>
          </p:cNvPr>
          <p:cNvSpPr txBox="1"/>
          <p:nvPr/>
        </p:nvSpPr>
        <p:spPr>
          <a:xfrm>
            <a:off x="1793778" y="1181491"/>
            <a:ext cx="83388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하늘누리</a:t>
            </a:r>
            <a:endParaRPr lang="en-US" altLang="ko-KR" sz="11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en-US" altLang="ko-KR" sz="11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CI</a:t>
            </a:r>
            <a:endParaRPr lang="ko-KR" altLang="en-US" sz="11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34" name="그림 33" descr="블랙, 어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212C4B0-4BE7-8D42-B836-38D66F846536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2985" y="1191723"/>
            <a:ext cx="383533" cy="383533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A74B97F6-E929-F2A1-D744-C53785A1BDC7}"/>
              </a:ext>
            </a:extLst>
          </p:cNvPr>
          <p:cNvSpPr txBox="1"/>
          <p:nvPr/>
        </p:nvSpPr>
        <p:spPr>
          <a:xfrm>
            <a:off x="2826086" y="1293697"/>
            <a:ext cx="57184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" panose="020D0604000000000000" pitchFamily="50" charset="-127"/>
                <a:ea typeface="나눔고딕" panose="020D0604000000000000" pitchFamily="50" charset="-127"/>
              </a:rPr>
              <a:t>르그아웃</a:t>
            </a:r>
          </a:p>
        </p:txBody>
      </p:sp>
      <p:pic>
        <p:nvPicPr>
          <p:cNvPr id="37" name="Picture 4" descr="로그 아웃 아이콘">
            <a:extLst>
              <a:ext uri="{FF2B5EF4-FFF2-40B4-BE49-F238E27FC236}">
                <a16:creationId xmlns:a16="http://schemas.microsoft.com/office/drawing/2014/main" id="{21D4054B-E2CE-7EF1-F01D-7364288B9F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9631" y="1283929"/>
            <a:ext cx="217049" cy="217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35C3D160-E9BF-901E-D8B5-B39E606616A1}"/>
              </a:ext>
            </a:extLst>
          </p:cNvPr>
          <p:cNvSpPr txBox="1"/>
          <p:nvPr/>
        </p:nvSpPr>
        <p:spPr>
          <a:xfrm>
            <a:off x="1343128" y="1807796"/>
            <a:ext cx="17351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수목장</a:t>
            </a:r>
            <a:endParaRPr lang="en-US" altLang="ko-KR" sz="16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en-US" altLang="ko-KR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자연장</a:t>
            </a:r>
            <a:r>
              <a:rPr lang="en-US" altLang="ko-KR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A481571-1CB4-E913-5D15-52556350A243}"/>
              </a:ext>
            </a:extLst>
          </p:cNvPr>
          <p:cNvSpPr txBox="1"/>
          <p:nvPr/>
        </p:nvSpPr>
        <p:spPr>
          <a:xfrm>
            <a:off x="794294" y="2401119"/>
            <a:ext cx="2832847" cy="623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900"/>
              </a:spcAft>
              <a:buNone/>
            </a:pPr>
            <a:r>
              <a:rPr lang="ko-KR" altLang="en-US" sz="900" b="1" dirty="0">
                <a:solidFill>
                  <a:srgbClr val="2324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자연과 하나 되어 영면하는 친환경 안장 공간입니다</a:t>
            </a:r>
            <a:r>
              <a:rPr lang="en-US" altLang="ko-KR" sz="900" b="1" dirty="0">
                <a:solidFill>
                  <a:srgbClr val="2324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 algn="ctr">
              <a:spcAft>
                <a:spcPts val="900"/>
              </a:spcAft>
              <a:buNone/>
            </a:pPr>
            <a:r>
              <a:rPr lang="ko-KR" altLang="en-US" sz="900" b="1" dirty="0">
                <a:solidFill>
                  <a:srgbClr val="2324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화장 후 유골을 자연 분해 용기에 담아 나무 아래 안치합니다</a:t>
            </a:r>
            <a:endParaRPr lang="en-US" altLang="ko-KR" sz="900" b="1" dirty="0">
              <a:solidFill>
                <a:srgbClr val="232425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485546A5-892A-9049-EA67-665048C2B999}"/>
              </a:ext>
            </a:extLst>
          </p:cNvPr>
          <p:cNvSpPr/>
          <p:nvPr/>
        </p:nvSpPr>
        <p:spPr>
          <a:xfrm>
            <a:off x="700783" y="3194282"/>
            <a:ext cx="3109526" cy="1691484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IMAGE</a:t>
            </a:r>
            <a:endParaRPr lang="ko-KR" altLang="en-US" sz="28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F4D9713-55A4-BE37-E8F7-37063125BF38}"/>
              </a:ext>
            </a:extLst>
          </p:cNvPr>
          <p:cNvSpPr txBox="1"/>
          <p:nvPr/>
        </p:nvSpPr>
        <p:spPr>
          <a:xfrm>
            <a:off x="735932" y="3313584"/>
            <a:ext cx="302058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"</a:t>
            </a:r>
            <a:r>
              <a:rPr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그리울 때마다 찾아오는 당신의 숲이 되겠습니다</a:t>
            </a:r>
            <a:r>
              <a:rPr lang="en-US" altLang="ko-KR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"</a:t>
            </a:r>
            <a:r>
              <a:rPr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</p:txBody>
      </p: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44065696-9BC6-8335-8FBC-BC122F515E3D}"/>
              </a:ext>
            </a:extLst>
          </p:cNvPr>
          <p:cNvCxnSpPr>
            <a:cxnSpLocks/>
          </p:cNvCxnSpPr>
          <p:nvPr/>
        </p:nvCxnSpPr>
        <p:spPr>
          <a:xfrm>
            <a:off x="662033" y="5288241"/>
            <a:ext cx="3232320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FEBE9CEE-6749-7D19-C836-EFAD8B9F93A5}"/>
              </a:ext>
            </a:extLst>
          </p:cNvPr>
          <p:cNvSpPr txBox="1"/>
          <p:nvPr/>
        </p:nvSpPr>
        <p:spPr>
          <a:xfrm>
            <a:off x="700783" y="5005068"/>
            <a:ext cx="122615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건물구조</a:t>
            </a:r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0913C42E-591F-FADC-3C78-D52B0D30CBBF}"/>
              </a:ext>
            </a:extLst>
          </p:cNvPr>
          <p:cNvCxnSpPr>
            <a:cxnSpLocks/>
          </p:cNvCxnSpPr>
          <p:nvPr/>
        </p:nvCxnSpPr>
        <p:spPr>
          <a:xfrm>
            <a:off x="662033" y="5639506"/>
            <a:ext cx="3232320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CA14B5BC-D20C-7676-73CF-C64639D82AD0}"/>
              </a:ext>
            </a:extLst>
          </p:cNvPr>
          <p:cNvSpPr txBox="1"/>
          <p:nvPr/>
        </p:nvSpPr>
        <p:spPr>
          <a:xfrm>
            <a:off x="700783" y="5356333"/>
            <a:ext cx="122615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총 안치 가능 기수</a:t>
            </a:r>
          </a:p>
        </p:txBody>
      </p:sp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id="{3099BD15-C117-A2D0-0309-BFB01D7AFBF6}"/>
              </a:ext>
            </a:extLst>
          </p:cNvPr>
          <p:cNvCxnSpPr>
            <a:cxnSpLocks/>
          </p:cNvCxnSpPr>
          <p:nvPr/>
        </p:nvCxnSpPr>
        <p:spPr>
          <a:xfrm>
            <a:off x="662033" y="6011930"/>
            <a:ext cx="3232320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748983FC-C908-9BA6-79DB-5F36227381AF}"/>
              </a:ext>
            </a:extLst>
          </p:cNvPr>
          <p:cNvSpPr txBox="1"/>
          <p:nvPr/>
        </p:nvSpPr>
        <p:spPr>
          <a:xfrm>
            <a:off x="700783" y="5728757"/>
            <a:ext cx="122615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건축 자재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9239ADF-D7C3-8E7B-BBAE-39E129950BFA}"/>
              </a:ext>
            </a:extLst>
          </p:cNvPr>
          <p:cNvSpPr txBox="1"/>
          <p:nvPr/>
        </p:nvSpPr>
        <p:spPr>
          <a:xfrm>
            <a:off x="2020351" y="5023544"/>
            <a:ext cx="18740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지하 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층 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~ 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지상 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층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6A19E2F-3D2F-25B8-E059-6A8B0D1C098D}"/>
              </a:ext>
            </a:extLst>
          </p:cNvPr>
          <p:cNvSpPr txBox="1"/>
          <p:nvPr/>
        </p:nvSpPr>
        <p:spPr>
          <a:xfrm>
            <a:off x="2020350" y="5374808"/>
            <a:ext cx="18740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약 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OOOO 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FA992EF-5FF8-A024-1F88-22108A6D1FD3}"/>
              </a:ext>
            </a:extLst>
          </p:cNvPr>
          <p:cNvSpPr txBox="1"/>
          <p:nvPr/>
        </p:nvSpPr>
        <p:spPr>
          <a:xfrm>
            <a:off x="2020350" y="5738573"/>
            <a:ext cx="18740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최고급 인조대리석 및 화강석</a:t>
            </a:r>
          </a:p>
        </p:txBody>
      </p:sp>
      <p:cxnSp>
        <p:nvCxnSpPr>
          <p:cNvPr id="54" name="직선 연결선 53">
            <a:extLst>
              <a:ext uri="{FF2B5EF4-FFF2-40B4-BE49-F238E27FC236}">
                <a16:creationId xmlns:a16="http://schemas.microsoft.com/office/drawing/2014/main" id="{467AA76D-DDD0-74FA-798D-FA6E70BD0C37}"/>
              </a:ext>
            </a:extLst>
          </p:cNvPr>
          <p:cNvCxnSpPr>
            <a:cxnSpLocks/>
          </p:cNvCxnSpPr>
          <p:nvPr/>
        </p:nvCxnSpPr>
        <p:spPr>
          <a:xfrm>
            <a:off x="5278656" y="1715712"/>
            <a:ext cx="3054642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C94258AF-5DA4-44A3-E670-2DCC60880035}"/>
              </a:ext>
            </a:extLst>
          </p:cNvPr>
          <p:cNvSpPr txBox="1"/>
          <p:nvPr/>
        </p:nvSpPr>
        <p:spPr>
          <a:xfrm>
            <a:off x="5317406" y="1298258"/>
            <a:ext cx="122615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층별 구성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F68F084-9AE8-0FCA-A67C-858260354FFB}"/>
              </a:ext>
            </a:extLst>
          </p:cNvPr>
          <p:cNvSpPr txBox="1"/>
          <p:nvPr/>
        </p:nvSpPr>
        <p:spPr>
          <a:xfrm>
            <a:off x="6644910" y="1191723"/>
            <a:ext cx="16883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지하 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층 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가족 봉안실</a:t>
            </a:r>
            <a:endParaRPr lang="en-US" altLang="ko-KR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층 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일반봉안실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안내데스크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로비</a:t>
            </a:r>
            <a:endParaRPr lang="en-US" altLang="ko-KR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층 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프리미엄 봉안실</a:t>
            </a: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3369F9BB-D074-E425-D682-515782113265}"/>
              </a:ext>
            </a:extLst>
          </p:cNvPr>
          <p:cNvSpPr/>
          <p:nvPr/>
        </p:nvSpPr>
        <p:spPr>
          <a:xfrm>
            <a:off x="5253016" y="1807796"/>
            <a:ext cx="3054642" cy="1966345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IMAGE</a:t>
            </a:r>
            <a:endParaRPr lang="ko-KR" altLang="en-US" sz="28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62F9BA4-F56A-9E32-6E8F-A7140A0D5C70}"/>
              </a:ext>
            </a:extLst>
          </p:cNvPr>
          <p:cNvSpPr txBox="1"/>
          <p:nvPr/>
        </p:nvSpPr>
        <p:spPr>
          <a:xfrm>
            <a:off x="5780356" y="3843707"/>
            <a:ext cx="202144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개인 수목장</a:t>
            </a: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C92EC322-7852-3614-8B30-627C4B9F4E40}"/>
              </a:ext>
            </a:extLst>
          </p:cNvPr>
          <p:cNvSpPr/>
          <p:nvPr/>
        </p:nvSpPr>
        <p:spPr>
          <a:xfrm>
            <a:off x="5253016" y="4141525"/>
            <a:ext cx="3076127" cy="1763952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4A0E8216-B8DC-3015-4094-0416C27A06D9}"/>
              </a:ext>
            </a:extLst>
          </p:cNvPr>
          <p:cNvSpPr/>
          <p:nvPr/>
        </p:nvSpPr>
        <p:spPr>
          <a:xfrm>
            <a:off x="5383553" y="4200209"/>
            <a:ext cx="2803219" cy="1538364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ko-KR" altLang="en-US" sz="8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규격</a:t>
            </a:r>
            <a:r>
              <a:rPr lang="en-US" altLang="ko-KR" sz="8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30㎡</a:t>
            </a:r>
            <a:r>
              <a:rPr lang="ko-KR" altLang="en-US" sz="8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이하</a:t>
            </a:r>
            <a:endParaRPr lang="en-US" altLang="ko-KR" sz="800" b="1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8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안치 </a:t>
            </a:r>
            <a:r>
              <a:rPr lang="en-US" altLang="ko-KR" sz="8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1</a:t>
            </a:r>
            <a:r>
              <a:rPr lang="ko-KR" altLang="en-US" sz="8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위</a:t>
            </a:r>
          </a:p>
          <a:p>
            <a:pPr>
              <a:lnSpc>
                <a:spcPct val="150000"/>
              </a:lnSpc>
            </a:pPr>
            <a:r>
              <a:rPr lang="ko-KR" altLang="en-US" sz="8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수종</a:t>
            </a:r>
            <a:r>
              <a:rPr lang="en-US" altLang="ko-KR" sz="8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8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소나무</a:t>
            </a:r>
            <a:r>
              <a:rPr lang="en-US" altLang="ko-KR" sz="8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8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느티나무</a:t>
            </a:r>
            <a:r>
              <a:rPr lang="en-US" altLang="ko-KR" sz="8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800" b="1" dirty="0" err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단품나무</a:t>
            </a:r>
            <a:endParaRPr lang="en-US" altLang="ko-KR" sz="800" b="1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8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특징</a:t>
            </a:r>
            <a:r>
              <a:rPr lang="en-US" altLang="ko-KR" sz="8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8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개별 표석 </a:t>
            </a:r>
            <a:r>
              <a:rPr lang="en-US" altLang="ko-KR" sz="8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화강석</a:t>
            </a:r>
            <a:r>
              <a:rPr lang="en-US" altLang="ko-KR" sz="8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20cm × 30cm)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8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수목 번호패 부착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8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개인 추모 공간</a:t>
            </a:r>
            <a:endParaRPr lang="en-US" altLang="ko-KR" sz="8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8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가격</a:t>
            </a:r>
            <a:r>
              <a:rPr lang="en-US" altLang="ko-KR" sz="8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300</a:t>
            </a:r>
            <a:r>
              <a:rPr lang="ko-KR" altLang="en-US" sz="8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만원 </a:t>
            </a:r>
            <a:r>
              <a:rPr lang="en-US" altLang="ko-KR" sz="8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~ 500</a:t>
            </a:r>
            <a:r>
              <a:rPr lang="ko-KR" altLang="en-US" sz="8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만원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4770C10-CFBA-AE5D-347C-1AC98FA46669}"/>
              </a:ext>
            </a:extLst>
          </p:cNvPr>
          <p:cNvSpPr txBox="1"/>
          <p:nvPr/>
        </p:nvSpPr>
        <p:spPr>
          <a:xfrm>
            <a:off x="5317406" y="1896474"/>
            <a:ext cx="302058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“</a:t>
            </a:r>
            <a:r>
              <a:rPr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이곳의 시간은 고귀한 기억으로 흐릅니다</a:t>
            </a:r>
            <a:r>
              <a:rPr lang="en-US" altLang="ko-KR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.”</a:t>
            </a:r>
            <a:endParaRPr lang="ko-KR" altLang="en-US" sz="9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420565-BEE0-28EE-695E-8623B878DB83}"/>
              </a:ext>
            </a:extLst>
          </p:cNvPr>
          <p:cNvSpPr txBox="1"/>
          <p:nvPr/>
        </p:nvSpPr>
        <p:spPr>
          <a:xfrm rot="19509111">
            <a:off x="8704729" y="3250453"/>
            <a:ext cx="279558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하늘누리 시설안내 확인 후 수정 필요 </a:t>
            </a:r>
          </a:p>
        </p:txBody>
      </p:sp>
    </p:spTree>
    <p:extLst>
      <p:ext uri="{BB962C8B-B14F-4D97-AF65-F5344CB8AC3E}">
        <p14:creationId xmlns:p14="http://schemas.microsoft.com/office/powerpoint/2010/main" val="2262476458"/>
      </p:ext>
    </p:extLst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908E8F-08E6-C27D-AAE7-9FC3721228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46889FB3-1164-5990-282F-01247695C7AF}"/>
              </a:ext>
            </a:extLst>
          </p:cNvPr>
          <p:cNvGraphicFramePr>
            <a:graphicFrameLocks noGrp="1"/>
          </p:cNvGraphicFramePr>
          <p:nvPr/>
        </p:nvGraphicFramePr>
        <p:xfrm>
          <a:off x="9182101" y="947377"/>
          <a:ext cx="2795588" cy="1847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1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684046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723838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3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172599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4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290794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5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922450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6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784800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7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0538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8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199337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9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450365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C65C9528-B1A8-1806-62BD-DFA59EE77A87}"/>
              </a:ext>
            </a:extLst>
          </p:cNvPr>
          <p:cNvSpPr/>
          <p:nvPr/>
        </p:nvSpPr>
        <p:spPr>
          <a:xfrm>
            <a:off x="959895" y="375614"/>
            <a:ext cx="1277914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</a:pP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메인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시설안내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수목장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1FE8B25-0F01-7051-9A0D-DD700F03EEFB}"/>
              </a:ext>
            </a:extLst>
          </p:cNvPr>
          <p:cNvSpPr txBox="1"/>
          <p:nvPr/>
        </p:nvSpPr>
        <p:spPr>
          <a:xfrm>
            <a:off x="6003996" y="123825"/>
            <a:ext cx="17303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HN_Facil_Naburial_001</a:t>
            </a:r>
            <a:endParaRPr lang="ko-KR" altLang="en-US" sz="800" dirty="0"/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07D69BCE-A645-5A53-83AF-38FDAD70079E}"/>
              </a:ext>
            </a:extLst>
          </p:cNvPr>
          <p:cNvSpPr/>
          <p:nvPr/>
        </p:nvSpPr>
        <p:spPr>
          <a:xfrm>
            <a:off x="5253016" y="1162336"/>
            <a:ext cx="3054642" cy="1966345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IMAGE</a:t>
            </a:r>
            <a:endParaRPr lang="ko-KR" altLang="en-US" sz="28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EAC3099-D239-891F-54A3-8A600AABB6E5}"/>
              </a:ext>
            </a:extLst>
          </p:cNvPr>
          <p:cNvSpPr txBox="1"/>
          <p:nvPr/>
        </p:nvSpPr>
        <p:spPr>
          <a:xfrm>
            <a:off x="5780356" y="3198247"/>
            <a:ext cx="202144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공동 수목장</a:t>
            </a: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DFAFB1FB-9C08-9B45-EF15-401797E2AC14}"/>
              </a:ext>
            </a:extLst>
          </p:cNvPr>
          <p:cNvSpPr/>
          <p:nvPr/>
        </p:nvSpPr>
        <p:spPr>
          <a:xfrm>
            <a:off x="5253016" y="3496065"/>
            <a:ext cx="3076127" cy="1763952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D90BCA0E-1643-46D4-A7EA-69ADC4AAD4A2}"/>
              </a:ext>
            </a:extLst>
          </p:cNvPr>
          <p:cNvSpPr/>
          <p:nvPr/>
        </p:nvSpPr>
        <p:spPr>
          <a:xfrm>
            <a:off x="5383553" y="3554749"/>
            <a:ext cx="2803219" cy="1538364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ko-KR" altLang="en-US" sz="8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특징</a:t>
            </a:r>
            <a:r>
              <a:rPr lang="en-US" altLang="ko-KR" sz="8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8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여러 위를 한 그루 나무 아래 안치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8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경제적 선택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8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공동 추모비에 이름 새김</a:t>
            </a:r>
            <a:endParaRPr lang="en-US" altLang="ko-KR" sz="8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8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가격</a:t>
            </a:r>
            <a:r>
              <a:rPr lang="en-US" altLang="ko-KR" sz="8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150</a:t>
            </a:r>
            <a:r>
              <a:rPr lang="ko-KR" altLang="en-US" sz="8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만원 </a:t>
            </a:r>
            <a:r>
              <a:rPr lang="en-US" altLang="ko-KR" sz="8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~ 250</a:t>
            </a:r>
            <a:r>
              <a:rPr lang="ko-KR" altLang="en-US" sz="8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만원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2B01702-FAFA-C716-A265-30B9CED25ABC}"/>
              </a:ext>
            </a:extLst>
          </p:cNvPr>
          <p:cNvSpPr/>
          <p:nvPr/>
        </p:nvSpPr>
        <p:spPr>
          <a:xfrm>
            <a:off x="726691" y="1181515"/>
            <a:ext cx="3076127" cy="1966345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IMAGE</a:t>
            </a:r>
            <a:endParaRPr lang="ko-KR" altLang="en-US" sz="28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25BD19-BC5B-A932-BB6A-5F83B36D5488}"/>
              </a:ext>
            </a:extLst>
          </p:cNvPr>
          <p:cNvSpPr txBox="1"/>
          <p:nvPr/>
        </p:nvSpPr>
        <p:spPr>
          <a:xfrm>
            <a:off x="857228" y="1332829"/>
            <a:ext cx="27158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“</a:t>
            </a:r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하늘 아래 뿌리 내린 고결한 기억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세월이 흐를수록 깊어집니다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.”</a:t>
            </a:r>
            <a:endParaRPr lang="ko-KR" altLang="en-US" sz="1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BFDDDFC-19B2-2BB7-150D-C9B3B82CA783}"/>
              </a:ext>
            </a:extLst>
          </p:cNvPr>
          <p:cNvSpPr txBox="1"/>
          <p:nvPr/>
        </p:nvSpPr>
        <p:spPr>
          <a:xfrm>
            <a:off x="1254031" y="3228916"/>
            <a:ext cx="202144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부부</a:t>
            </a:r>
            <a:r>
              <a:rPr lang="en-US" altLang="ko-KR" sz="11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1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가족</a:t>
            </a:r>
            <a:r>
              <a:rPr lang="en-US" altLang="ko-KR" sz="11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sz="11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수목장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3FDE511-EE07-A2B7-75E3-8AB68E096A96}"/>
              </a:ext>
            </a:extLst>
          </p:cNvPr>
          <p:cNvSpPr/>
          <p:nvPr/>
        </p:nvSpPr>
        <p:spPr>
          <a:xfrm>
            <a:off x="726691" y="3526733"/>
            <a:ext cx="3076127" cy="1998438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9CC5892-E872-9684-32C1-BBAB0A0E20AF}"/>
              </a:ext>
            </a:extLst>
          </p:cNvPr>
          <p:cNvSpPr/>
          <p:nvPr/>
        </p:nvSpPr>
        <p:spPr>
          <a:xfrm>
            <a:off x="857228" y="3701959"/>
            <a:ext cx="2803219" cy="1748582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ko-KR" altLang="en-US" sz="8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규격</a:t>
            </a:r>
            <a:r>
              <a:rPr lang="en-US" altLang="ko-KR" sz="8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100㎡</a:t>
            </a:r>
            <a:r>
              <a:rPr lang="ko-KR" altLang="en-US" sz="8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이하</a:t>
            </a:r>
            <a:endParaRPr lang="en-US" altLang="ko-KR" sz="800" b="1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8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안치 </a:t>
            </a:r>
            <a:r>
              <a:rPr lang="en-US" altLang="ko-KR" sz="8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2~4</a:t>
            </a:r>
            <a:r>
              <a:rPr lang="ko-KR" altLang="en-US" sz="8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위</a:t>
            </a:r>
          </a:p>
          <a:p>
            <a:pPr>
              <a:lnSpc>
                <a:spcPct val="150000"/>
              </a:lnSpc>
            </a:pPr>
            <a:r>
              <a:rPr lang="ko-KR" altLang="en-US" sz="8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수종</a:t>
            </a:r>
            <a:r>
              <a:rPr lang="en-US" altLang="ko-KR" sz="8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8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소나무</a:t>
            </a:r>
            <a:r>
              <a:rPr lang="en-US" altLang="ko-KR" sz="8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8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느티나무</a:t>
            </a:r>
            <a:r>
              <a:rPr lang="en-US" altLang="ko-KR" sz="8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800" b="1" dirty="0" err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단품나무</a:t>
            </a:r>
            <a:r>
              <a:rPr lang="ko-KR" altLang="en-US" sz="8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등 </a:t>
            </a:r>
            <a:r>
              <a:rPr lang="ko-KR" altLang="en-US" sz="800" b="1" dirty="0" err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대형수목</a:t>
            </a:r>
            <a:endParaRPr lang="en-US" altLang="ko-KR" sz="800" b="1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8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특징</a:t>
            </a:r>
            <a:r>
              <a:rPr lang="en-US" altLang="ko-KR" sz="8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8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가족 통합 표석 </a:t>
            </a:r>
            <a:r>
              <a:rPr lang="en-US" altLang="ko-KR" sz="8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화강석</a:t>
            </a:r>
            <a:r>
              <a:rPr lang="en-US" altLang="ko-KR" sz="8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40cm × 60cm)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800" dirty="0" err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가족명</a:t>
            </a:r>
            <a:r>
              <a:rPr lang="ko-KR" altLang="en-US" sz="8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새김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800" dirty="0" err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조경석</a:t>
            </a:r>
            <a:r>
              <a:rPr lang="ko-KR" altLang="en-US" sz="8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및 벤치 설치 가능</a:t>
            </a:r>
            <a:endParaRPr lang="en-US" altLang="ko-KR" sz="8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8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가격</a:t>
            </a:r>
            <a:r>
              <a:rPr lang="en-US" altLang="ko-KR" sz="8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600</a:t>
            </a:r>
            <a:r>
              <a:rPr lang="ko-KR" altLang="en-US" sz="8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만원 </a:t>
            </a:r>
            <a:r>
              <a:rPr lang="en-US" altLang="ko-KR" sz="8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~ 1200</a:t>
            </a:r>
            <a:r>
              <a:rPr lang="ko-KR" altLang="en-US" sz="8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만원</a:t>
            </a:r>
          </a:p>
          <a:p>
            <a:pPr>
              <a:lnSpc>
                <a:spcPct val="150000"/>
              </a:lnSpc>
            </a:pPr>
            <a:endParaRPr lang="ko-KR" altLang="en-US" sz="800" b="1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B4E94E0-6C59-2A4D-321F-E2058574035F}"/>
              </a:ext>
            </a:extLst>
          </p:cNvPr>
          <p:cNvSpPr txBox="1"/>
          <p:nvPr/>
        </p:nvSpPr>
        <p:spPr>
          <a:xfrm>
            <a:off x="5383553" y="1270076"/>
            <a:ext cx="271587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“</a:t>
            </a:r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자연이 빚은 마지막 명당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하늘누리 수목장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”</a:t>
            </a:r>
            <a:endParaRPr lang="ko-KR" altLang="en-US" sz="1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06647720"/>
      </p:ext>
    </p:extLst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5A7090-97EE-B678-6785-0A751E5BFD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B5B2DB6C-6465-520F-23B8-22963F88E36B}"/>
              </a:ext>
            </a:extLst>
          </p:cNvPr>
          <p:cNvGraphicFramePr>
            <a:graphicFrameLocks noGrp="1"/>
          </p:cNvGraphicFramePr>
          <p:nvPr/>
        </p:nvGraphicFramePr>
        <p:xfrm>
          <a:off x="9182101" y="947377"/>
          <a:ext cx="2795588" cy="1847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1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684046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723838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3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172599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4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290794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5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922450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6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784800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7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0538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8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199337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9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450365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50BC2799-548C-6AE1-7257-EF5B95D3BC85}"/>
              </a:ext>
            </a:extLst>
          </p:cNvPr>
          <p:cNvSpPr/>
          <p:nvPr/>
        </p:nvSpPr>
        <p:spPr>
          <a:xfrm>
            <a:off x="959895" y="375614"/>
            <a:ext cx="1277914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</a:pP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메인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시설안내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수목장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7C4ADD2-0A61-9721-FFC4-0490D622238C}"/>
              </a:ext>
            </a:extLst>
          </p:cNvPr>
          <p:cNvSpPr txBox="1"/>
          <p:nvPr/>
        </p:nvSpPr>
        <p:spPr>
          <a:xfrm>
            <a:off x="6003996" y="123825"/>
            <a:ext cx="17303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HN_Facil_Naburial_001</a:t>
            </a:r>
            <a:endParaRPr lang="ko-KR" altLang="en-US" sz="800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D92F81C-6A02-88B1-2BAA-7BE00CCC221B}"/>
              </a:ext>
            </a:extLst>
          </p:cNvPr>
          <p:cNvSpPr/>
          <p:nvPr/>
        </p:nvSpPr>
        <p:spPr>
          <a:xfrm>
            <a:off x="726691" y="1181515"/>
            <a:ext cx="3076127" cy="1966345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IMAGE</a:t>
            </a:r>
            <a:endParaRPr lang="ko-KR" altLang="en-US" sz="28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B92F51-64F3-C191-2579-3A5B77D55C9D}"/>
              </a:ext>
            </a:extLst>
          </p:cNvPr>
          <p:cNvSpPr txBox="1"/>
          <p:nvPr/>
        </p:nvSpPr>
        <p:spPr>
          <a:xfrm>
            <a:off x="857228" y="1332829"/>
            <a:ext cx="27158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“</a:t>
            </a:r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조경 전문가의 손길로 사계절 내내 푸른 기억을 약속합니다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.”</a:t>
            </a:r>
            <a:endParaRPr lang="ko-KR" altLang="en-US" sz="1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DB7F55A-52D8-31C6-F9F9-E9152C400A23}"/>
              </a:ext>
            </a:extLst>
          </p:cNvPr>
          <p:cNvSpPr txBox="1"/>
          <p:nvPr/>
        </p:nvSpPr>
        <p:spPr>
          <a:xfrm>
            <a:off x="1254031" y="3175126"/>
            <a:ext cx="202144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수목장 관리서비스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CFD738D-969F-8C3F-8035-753EDA0190B3}"/>
              </a:ext>
            </a:extLst>
          </p:cNvPr>
          <p:cNvSpPr/>
          <p:nvPr/>
        </p:nvSpPr>
        <p:spPr>
          <a:xfrm>
            <a:off x="726691" y="3428117"/>
            <a:ext cx="3076127" cy="2569267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FF08870-9907-D87B-C1B6-74DF2C295B31}"/>
              </a:ext>
            </a:extLst>
          </p:cNvPr>
          <p:cNvSpPr/>
          <p:nvPr/>
        </p:nvSpPr>
        <p:spPr>
          <a:xfrm>
            <a:off x="753156" y="3505233"/>
            <a:ext cx="1432329" cy="400109"/>
          </a:xfrm>
          <a:prstGeom prst="rect">
            <a:avLst/>
          </a:prstGeom>
          <a:solidFill>
            <a:schemeClr val="tx1"/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9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정기관리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887BA69-A1B0-4535-D324-CB912A5E95DC}"/>
              </a:ext>
            </a:extLst>
          </p:cNvPr>
          <p:cNvSpPr/>
          <p:nvPr/>
        </p:nvSpPr>
        <p:spPr>
          <a:xfrm>
            <a:off x="753158" y="3905343"/>
            <a:ext cx="1432328" cy="779176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8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분기별 제초 및 조경 관리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8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수목 병충해 방제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8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계절별 꽃 식재</a:t>
            </a:r>
            <a:endParaRPr lang="en-US" altLang="ko-KR" sz="800" b="1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E1F8E64-628C-02CB-663F-743B90760D54}"/>
              </a:ext>
            </a:extLst>
          </p:cNvPr>
          <p:cNvSpPr/>
          <p:nvPr/>
        </p:nvSpPr>
        <p:spPr>
          <a:xfrm>
            <a:off x="2302140" y="3505233"/>
            <a:ext cx="1432329" cy="400109"/>
          </a:xfrm>
          <a:prstGeom prst="rect">
            <a:avLst/>
          </a:prstGeom>
          <a:solidFill>
            <a:schemeClr val="tx1"/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9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명절 특별관리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6659558F-592E-C997-22A4-779E12224E43}"/>
              </a:ext>
            </a:extLst>
          </p:cNvPr>
          <p:cNvSpPr/>
          <p:nvPr/>
        </p:nvSpPr>
        <p:spPr>
          <a:xfrm>
            <a:off x="2302142" y="3905342"/>
            <a:ext cx="1432328" cy="779177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8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설날</a:t>
            </a:r>
            <a:r>
              <a:rPr lang="en-US" altLang="ko-KR" sz="8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8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추석 전 집중 정비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8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표석 청소 및 주변 정리</a:t>
            </a:r>
            <a:endParaRPr lang="en-US" altLang="ko-KR" sz="800" b="1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3C0D565-8041-5929-D32D-B955106A73D7}"/>
              </a:ext>
            </a:extLst>
          </p:cNvPr>
          <p:cNvSpPr/>
          <p:nvPr/>
        </p:nvSpPr>
        <p:spPr>
          <a:xfrm>
            <a:off x="753156" y="4761293"/>
            <a:ext cx="1432329" cy="400109"/>
          </a:xfrm>
          <a:prstGeom prst="rect">
            <a:avLst/>
          </a:prstGeom>
          <a:solidFill>
            <a:schemeClr val="tx1"/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9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영구 보장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48E1EF7-3CF2-E157-EB8D-E83A4A00D570}"/>
              </a:ext>
            </a:extLst>
          </p:cNvPr>
          <p:cNvSpPr/>
          <p:nvPr/>
        </p:nvSpPr>
        <p:spPr>
          <a:xfrm>
            <a:off x="753158" y="5161402"/>
            <a:ext cx="1432328" cy="779177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8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재단법인 운영으로 영구 관리 보장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8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관리비 별도 없음 </a:t>
            </a:r>
            <a:r>
              <a:rPr lang="en-US" altLang="ko-KR" sz="8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최초 </a:t>
            </a:r>
            <a:r>
              <a:rPr lang="en-US" altLang="ko-KR" sz="8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8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회 납부 시 포함</a:t>
            </a:r>
            <a:r>
              <a:rPr lang="en-US" altLang="ko-KR" sz="8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D6C49DD9-5B27-0CEE-EFFC-C675E6B80DB5}"/>
              </a:ext>
            </a:extLst>
          </p:cNvPr>
          <p:cNvSpPr/>
          <p:nvPr/>
        </p:nvSpPr>
        <p:spPr>
          <a:xfrm>
            <a:off x="680685" y="6028356"/>
            <a:ext cx="3168137" cy="264669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Footer</a:t>
            </a:r>
            <a:endParaRPr lang="ko-KR" altLang="en-US" sz="10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66857083"/>
      </p:ext>
    </p:extLst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AEEFBE-D906-96C2-70C2-6C3AA9E046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5AB63A2F-2A2D-7C91-F4A1-00D51DD3A74A}"/>
              </a:ext>
            </a:extLst>
          </p:cNvPr>
          <p:cNvGraphicFramePr>
            <a:graphicFrameLocks noGrp="1"/>
          </p:cNvGraphicFramePr>
          <p:nvPr/>
        </p:nvGraphicFramePr>
        <p:xfrm>
          <a:off x="9182101" y="947377"/>
          <a:ext cx="2795588" cy="1847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1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684046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723838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3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172599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4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290794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5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922450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6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784800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7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0538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8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199337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9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450365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E91D91F1-732B-3DDD-9386-22BE847E7392}"/>
              </a:ext>
            </a:extLst>
          </p:cNvPr>
          <p:cNvSpPr/>
          <p:nvPr/>
        </p:nvSpPr>
        <p:spPr>
          <a:xfrm>
            <a:off x="959895" y="375614"/>
            <a:ext cx="1374094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</a:pP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메인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시설안내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부대시설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A7253B3-3C57-4657-9F96-20C4E6074931}"/>
              </a:ext>
            </a:extLst>
          </p:cNvPr>
          <p:cNvSpPr txBox="1"/>
          <p:nvPr/>
        </p:nvSpPr>
        <p:spPr>
          <a:xfrm>
            <a:off x="6003996" y="123825"/>
            <a:ext cx="17303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HN_Facil_Aditinal_001</a:t>
            </a:r>
            <a:endParaRPr lang="ko-KR" altLang="en-US" sz="800" dirty="0"/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7A6913E3-765A-0AB1-9EA0-E59305125D22}"/>
              </a:ext>
            </a:extLst>
          </p:cNvPr>
          <p:cNvCxnSpPr>
            <a:cxnSpLocks/>
          </p:cNvCxnSpPr>
          <p:nvPr/>
        </p:nvCxnSpPr>
        <p:spPr>
          <a:xfrm>
            <a:off x="655957" y="1658468"/>
            <a:ext cx="3109526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BD9078D7-A05D-3970-9D26-5ABD2FAA8B31}"/>
              </a:ext>
            </a:extLst>
          </p:cNvPr>
          <p:cNvSpPr txBox="1"/>
          <p:nvPr/>
        </p:nvSpPr>
        <p:spPr>
          <a:xfrm>
            <a:off x="1793778" y="1181491"/>
            <a:ext cx="83388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하늘누리</a:t>
            </a:r>
            <a:endParaRPr lang="en-US" altLang="ko-KR" sz="11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en-US" altLang="ko-KR" sz="11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CI</a:t>
            </a:r>
            <a:endParaRPr lang="ko-KR" altLang="en-US" sz="11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16" name="그림 15" descr="블랙, 어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025B749-2CBF-4E94-1C4A-CC7906E42F2D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2985" y="1191723"/>
            <a:ext cx="383533" cy="383533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4452B25B-DBA5-1124-518C-75D6C4674F4D}"/>
              </a:ext>
            </a:extLst>
          </p:cNvPr>
          <p:cNvSpPr txBox="1"/>
          <p:nvPr/>
        </p:nvSpPr>
        <p:spPr>
          <a:xfrm>
            <a:off x="2826086" y="1293697"/>
            <a:ext cx="57184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" panose="020D0604000000000000" pitchFamily="50" charset="-127"/>
                <a:ea typeface="나눔고딕" panose="020D0604000000000000" pitchFamily="50" charset="-127"/>
              </a:rPr>
              <a:t>르그아웃</a:t>
            </a:r>
          </a:p>
        </p:txBody>
      </p:sp>
      <p:pic>
        <p:nvPicPr>
          <p:cNvPr id="19" name="Picture 4" descr="로그 아웃 아이콘">
            <a:extLst>
              <a:ext uri="{FF2B5EF4-FFF2-40B4-BE49-F238E27FC236}">
                <a16:creationId xmlns:a16="http://schemas.microsoft.com/office/drawing/2014/main" id="{BF19AE2B-61BE-EB97-4464-8B6023D2A4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9631" y="1283929"/>
            <a:ext cx="217049" cy="217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B8D431DB-17BE-2981-6609-4530D9BBE3A5}"/>
              </a:ext>
            </a:extLst>
          </p:cNvPr>
          <p:cNvSpPr txBox="1"/>
          <p:nvPr/>
        </p:nvSpPr>
        <p:spPr>
          <a:xfrm>
            <a:off x="1343128" y="1807796"/>
            <a:ext cx="17351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부대시설</a:t>
            </a:r>
            <a:endParaRPr lang="en-US" altLang="ko-KR" sz="16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3C7E019-A5DF-C63B-C5D3-2669EE0949DA}"/>
              </a:ext>
            </a:extLst>
          </p:cNvPr>
          <p:cNvSpPr txBox="1"/>
          <p:nvPr/>
        </p:nvSpPr>
        <p:spPr>
          <a:xfrm>
            <a:off x="794294" y="2194931"/>
            <a:ext cx="2832847" cy="623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900"/>
              </a:spcAft>
              <a:buNone/>
            </a:pPr>
            <a:r>
              <a:rPr lang="ko-KR" altLang="en-US" sz="900" b="1" dirty="0">
                <a:solidFill>
                  <a:srgbClr val="2324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자연과 하나 되어 영면하는 친환경 안장 공간입니다</a:t>
            </a:r>
            <a:r>
              <a:rPr lang="en-US" altLang="ko-KR" sz="900" b="1" dirty="0">
                <a:solidFill>
                  <a:srgbClr val="2324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 algn="ctr">
              <a:spcAft>
                <a:spcPts val="900"/>
              </a:spcAft>
              <a:buNone/>
            </a:pPr>
            <a:r>
              <a:rPr lang="ko-KR" altLang="en-US" sz="900" b="1" dirty="0">
                <a:solidFill>
                  <a:srgbClr val="2324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화장 후 유골을 자연 분해 용기에 담아 나무 아래 안치합니다</a:t>
            </a:r>
            <a:r>
              <a:rPr lang="en-US" altLang="ko-KR" sz="900" b="1" dirty="0">
                <a:solidFill>
                  <a:srgbClr val="2324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1AE4672E-680F-AB78-510F-1F9EB97D85BB}"/>
              </a:ext>
            </a:extLst>
          </p:cNvPr>
          <p:cNvSpPr/>
          <p:nvPr/>
        </p:nvSpPr>
        <p:spPr>
          <a:xfrm>
            <a:off x="734956" y="2866761"/>
            <a:ext cx="3030527" cy="1579734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IMAGE</a:t>
            </a:r>
            <a:endParaRPr lang="ko-KR" altLang="en-US" sz="28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E0BF3B5-E01A-E54A-BAD0-F7DDE8D90253}"/>
              </a:ext>
            </a:extLst>
          </p:cNvPr>
          <p:cNvSpPr txBox="1"/>
          <p:nvPr/>
        </p:nvSpPr>
        <p:spPr>
          <a:xfrm>
            <a:off x="734957" y="4495077"/>
            <a:ext cx="302156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>
                <a:latin typeface="나눔고딕" panose="020D0604000000000000" pitchFamily="50" charset="-127"/>
                <a:ea typeface="나눔고딕" panose="020D0604000000000000" pitchFamily="50" charset="-127"/>
              </a:rPr>
              <a:t>주차시설</a:t>
            </a:r>
          </a:p>
        </p:txBody>
      </p:sp>
      <p:graphicFrame>
        <p:nvGraphicFramePr>
          <p:cNvPr id="24" name="표 23">
            <a:extLst>
              <a:ext uri="{FF2B5EF4-FFF2-40B4-BE49-F238E27FC236}">
                <a16:creationId xmlns:a16="http://schemas.microsoft.com/office/drawing/2014/main" id="{DBABEDB6-D4C8-D807-47E8-59476726D428}"/>
              </a:ext>
            </a:extLst>
          </p:cNvPr>
          <p:cNvGraphicFramePr>
            <a:graphicFrameLocks noGrp="1"/>
          </p:cNvGraphicFramePr>
          <p:nvPr/>
        </p:nvGraphicFramePr>
        <p:xfrm>
          <a:off x="774008" y="4789880"/>
          <a:ext cx="2982510" cy="1262016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871751">
                  <a:extLst>
                    <a:ext uri="{9D8B030D-6E8A-4147-A177-3AD203B41FA5}">
                      <a16:colId xmlns:a16="http://schemas.microsoft.com/office/drawing/2014/main" val="1553538150"/>
                    </a:ext>
                  </a:extLst>
                </a:gridCol>
                <a:gridCol w="1078631">
                  <a:extLst>
                    <a:ext uri="{9D8B030D-6E8A-4147-A177-3AD203B41FA5}">
                      <a16:colId xmlns:a16="http://schemas.microsoft.com/office/drawing/2014/main" val="1005073696"/>
                    </a:ext>
                  </a:extLst>
                </a:gridCol>
                <a:gridCol w="1032128">
                  <a:extLst>
                    <a:ext uri="{9D8B030D-6E8A-4147-A177-3AD203B41FA5}">
                      <a16:colId xmlns:a16="http://schemas.microsoft.com/office/drawing/2014/main" val="3197437344"/>
                    </a:ext>
                  </a:extLst>
                </a:gridCol>
              </a:tblGrid>
              <a:tr h="42067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지상 주차장</a:t>
                      </a:r>
                      <a:endParaRPr lang="en-US" altLang="ko-KR" sz="8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300</a:t>
                      </a: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대</a:t>
                      </a:r>
                      <a:endParaRPr lang="en-US" altLang="ko-KR" sz="8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일반 차량</a:t>
                      </a:r>
                      <a:endParaRPr lang="en-US" altLang="ko-KR" sz="8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0268165"/>
                  </a:ext>
                </a:extLst>
              </a:tr>
              <a:tr h="42067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지하 주차장</a:t>
                      </a:r>
                      <a:endParaRPr lang="en-US" altLang="ko-KR" sz="8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200</a:t>
                      </a: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대</a:t>
                      </a:r>
                      <a:endParaRPr lang="en-US" altLang="ko-KR" sz="8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봉안당 직접 연결</a:t>
                      </a:r>
                      <a:endParaRPr lang="en-US" altLang="ko-KR" sz="8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1090331"/>
                  </a:ext>
                </a:extLst>
              </a:tr>
              <a:tr h="42067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장애인 전용</a:t>
                      </a:r>
                      <a:endParaRPr lang="en-US" altLang="ko-KR" sz="8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</a:t>
                      </a: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대</a:t>
                      </a:r>
                      <a:endParaRPr lang="en-US" altLang="ko-KR" sz="8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출입구 인접 배치</a:t>
                      </a:r>
                      <a:endParaRPr lang="en-US" altLang="ko-KR" sz="8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0626559"/>
                  </a:ext>
                </a:extLst>
              </a:tr>
            </a:tbl>
          </a:graphicData>
        </a:graphic>
      </p:graphicFrame>
      <p:graphicFrame>
        <p:nvGraphicFramePr>
          <p:cNvPr id="26" name="표 25">
            <a:extLst>
              <a:ext uri="{FF2B5EF4-FFF2-40B4-BE49-F238E27FC236}">
                <a16:creationId xmlns:a16="http://schemas.microsoft.com/office/drawing/2014/main" id="{2E359D6E-C3D6-6A8A-BC5E-1233092BB21B}"/>
              </a:ext>
            </a:extLst>
          </p:cNvPr>
          <p:cNvGraphicFramePr>
            <a:graphicFrameLocks noGrp="1"/>
          </p:cNvGraphicFramePr>
          <p:nvPr/>
        </p:nvGraphicFramePr>
        <p:xfrm>
          <a:off x="5326124" y="1191723"/>
          <a:ext cx="2982510" cy="841344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871751">
                  <a:extLst>
                    <a:ext uri="{9D8B030D-6E8A-4147-A177-3AD203B41FA5}">
                      <a16:colId xmlns:a16="http://schemas.microsoft.com/office/drawing/2014/main" val="1553538150"/>
                    </a:ext>
                  </a:extLst>
                </a:gridCol>
                <a:gridCol w="1078631">
                  <a:extLst>
                    <a:ext uri="{9D8B030D-6E8A-4147-A177-3AD203B41FA5}">
                      <a16:colId xmlns:a16="http://schemas.microsoft.com/office/drawing/2014/main" val="1005073696"/>
                    </a:ext>
                  </a:extLst>
                </a:gridCol>
                <a:gridCol w="1032128">
                  <a:extLst>
                    <a:ext uri="{9D8B030D-6E8A-4147-A177-3AD203B41FA5}">
                      <a16:colId xmlns:a16="http://schemas.microsoft.com/office/drawing/2014/main" val="3197437344"/>
                    </a:ext>
                  </a:extLst>
                </a:gridCol>
              </a:tblGrid>
              <a:tr h="42067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대형 버스</a:t>
                      </a:r>
                      <a:endParaRPr lang="en-US" altLang="ko-KR" sz="8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10</a:t>
                      </a: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대</a:t>
                      </a:r>
                      <a:endParaRPr lang="en-US" altLang="ko-KR" sz="8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단체 참배 지원</a:t>
                      </a:r>
                      <a:endParaRPr lang="en-US" altLang="ko-KR" sz="8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0662131"/>
                  </a:ext>
                </a:extLst>
              </a:tr>
              <a:tr h="42067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총 규모</a:t>
                      </a:r>
                      <a:endParaRPr lang="en-US" altLang="ko-KR" sz="8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530</a:t>
                      </a: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대</a:t>
                      </a:r>
                      <a:endParaRPr lang="en-US" altLang="ko-KR" sz="8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무료 이용</a:t>
                      </a:r>
                      <a:endParaRPr lang="en-US" altLang="ko-KR" sz="8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0649130"/>
                  </a:ext>
                </a:extLst>
              </a:tr>
            </a:tbl>
          </a:graphicData>
        </a:graphic>
      </p:graphicFrame>
      <p:sp>
        <p:nvSpPr>
          <p:cNvPr id="27" name="TextBox 26">
            <a:extLst>
              <a:ext uri="{FF2B5EF4-FFF2-40B4-BE49-F238E27FC236}">
                <a16:creationId xmlns:a16="http://schemas.microsoft.com/office/drawing/2014/main" id="{ECC1B67E-4818-55C5-1AE8-10B9FA98DFB8}"/>
              </a:ext>
            </a:extLst>
          </p:cNvPr>
          <p:cNvSpPr txBox="1"/>
          <p:nvPr/>
        </p:nvSpPr>
        <p:spPr>
          <a:xfrm>
            <a:off x="5286641" y="2215148"/>
            <a:ext cx="27955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레스토랑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“</a:t>
            </a:r>
            <a:r>
              <a:rPr lang="ko-KR" altLang="en-US" sz="10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하늘정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＂</a:t>
            </a:r>
            <a:endParaRPr lang="ko-KR" altLang="en-US" sz="1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28" name="표 27">
            <a:extLst>
              <a:ext uri="{FF2B5EF4-FFF2-40B4-BE49-F238E27FC236}">
                <a16:creationId xmlns:a16="http://schemas.microsoft.com/office/drawing/2014/main" id="{52F52779-7E16-C117-4677-6BCD32E586B0}"/>
              </a:ext>
            </a:extLst>
          </p:cNvPr>
          <p:cNvGraphicFramePr>
            <a:graphicFrameLocks noGrp="1"/>
          </p:cNvGraphicFramePr>
          <p:nvPr/>
        </p:nvGraphicFramePr>
        <p:xfrm>
          <a:off x="5286641" y="2506555"/>
          <a:ext cx="2982510" cy="2278458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007250">
                  <a:extLst>
                    <a:ext uri="{9D8B030D-6E8A-4147-A177-3AD203B41FA5}">
                      <a16:colId xmlns:a16="http://schemas.microsoft.com/office/drawing/2014/main" val="1553538150"/>
                    </a:ext>
                  </a:extLst>
                </a:gridCol>
                <a:gridCol w="1975260">
                  <a:extLst>
                    <a:ext uri="{9D8B030D-6E8A-4147-A177-3AD203B41FA5}">
                      <a16:colId xmlns:a16="http://schemas.microsoft.com/office/drawing/2014/main" val="1005073696"/>
                    </a:ext>
                  </a:extLst>
                </a:gridCol>
              </a:tblGrid>
              <a:tr h="379743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위치</a:t>
                      </a:r>
                      <a:endParaRPr lang="en-US" altLang="ko-KR" sz="8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관리동 </a:t>
                      </a:r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</a:t>
                      </a: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층</a:t>
                      </a:r>
                      <a:endParaRPr lang="en-US" altLang="ko-KR" sz="8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0268165"/>
                  </a:ext>
                </a:extLst>
              </a:tr>
              <a:tr h="37974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규모</a:t>
                      </a:r>
                      <a:endParaRPr lang="en-US" altLang="ko-KR" sz="8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120 </a:t>
                      </a: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석</a:t>
                      </a:r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0" u="none" dirty="0" err="1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단체석</a:t>
                      </a: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별도 운영</a:t>
                      </a:r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1090331"/>
                  </a:ext>
                </a:extLst>
              </a:tr>
              <a:tr h="37974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메뉴</a:t>
                      </a:r>
                      <a:endParaRPr lang="en-US" altLang="ko-KR" sz="8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u="none" dirty="0" err="1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우거지탕</a:t>
                      </a:r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육개장</a:t>
                      </a:r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비빔밥</a:t>
                      </a:r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불고기 정식</a:t>
                      </a:r>
                      <a:endParaRPr lang="en-US" altLang="ko-KR" sz="8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0626559"/>
                  </a:ext>
                </a:extLst>
              </a:tr>
              <a:tr h="37974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가격대</a:t>
                      </a:r>
                      <a:endParaRPr lang="en-US" altLang="ko-KR" sz="8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8,000</a:t>
                      </a: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원 </a:t>
                      </a:r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~ 15,000</a:t>
                      </a: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원</a:t>
                      </a:r>
                      <a:endParaRPr lang="en-US" altLang="ko-KR" sz="8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0662131"/>
                  </a:ext>
                </a:extLst>
              </a:tr>
              <a:tr h="37974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운영시간</a:t>
                      </a:r>
                      <a:endParaRPr lang="en-US" altLang="ko-KR" sz="8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09:00~18:00 (</a:t>
                      </a: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연중무휴</a:t>
                      </a:r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0649130"/>
                  </a:ext>
                </a:extLst>
              </a:tr>
              <a:tr h="37974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전화</a:t>
                      </a:r>
                      <a:endParaRPr lang="en-US" altLang="ko-KR" sz="8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031-777-6666</a:t>
                      </a: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8261619"/>
                  </a:ext>
                </a:extLst>
              </a:tr>
            </a:tbl>
          </a:graphicData>
        </a:graphic>
      </p:graphicFrame>
      <p:sp>
        <p:nvSpPr>
          <p:cNvPr id="32" name="직사각형 31">
            <a:extLst>
              <a:ext uri="{FF2B5EF4-FFF2-40B4-BE49-F238E27FC236}">
                <a16:creationId xmlns:a16="http://schemas.microsoft.com/office/drawing/2014/main" id="{F84DE09E-E89F-BC70-C5F4-F3E70479052A}"/>
              </a:ext>
            </a:extLst>
          </p:cNvPr>
          <p:cNvSpPr/>
          <p:nvPr/>
        </p:nvSpPr>
        <p:spPr>
          <a:xfrm>
            <a:off x="5238624" y="4876410"/>
            <a:ext cx="3030527" cy="1262016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IMAGE</a:t>
            </a:r>
            <a:endParaRPr lang="ko-KR" altLang="en-US" sz="28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5B308B-D5F3-7D12-6C11-E193D045F4D1}"/>
              </a:ext>
            </a:extLst>
          </p:cNvPr>
          <p:cNvSpPr txBox="1"/>
          <p:nvPr/>
        </p:nvSpPr>
        <p:spPr>
          <a:xfrm rot="19509111">
            <a:off x="8704729" y="3250453"/>
            <a:ext cx="279558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하늘누리 부대시설 </a:t>
            </a:r>
            <a:r>
              <a:rPr lang="ko-KR" altLang="en-US" sz="2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확인 </a:t>
            </a:r>
            <a:r>
              <a:rPr lang="ko-KR" altLang="en-US" sz="2000" b="1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후 교체 </a:t>
            </a:r>
            <a:r>
              <a:rPr lang="ko-KR" altLang="en-US" sz="2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필요 </a:t>
            </a:r>
          </a:p>
        </p:txBody>
      </p:sp>
    </p:spTree>
    <p:extLst>
      <p:ext uri="{BB962C8B-B14F-4D97-AF65-F5344CB8AC3E}">
        <p14:creationId xmlns:p14="http://schemas.microsoft.com/office/powerpoint/2010/main" val="148266545"/>
      </p:ext>
    </p:extLst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1AE915-941C-0D61-0A09-D3A334A2FD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A52AECC0-3D3E-E138-F6ED-613F81A8AF02}"/>
              </a:ext>
            </a:extLst>
          </p:cNvPr>
          <p:cNvGraphicFramePr>
            <a:graphicFrameLocks noGrp="1"/>
          </p:cNvGraphicFramePr>
          <p:nvPr/>
        </p:nvGraphicFramePr>
        <p:xfrm>
          <a:off x="9182101" y="947377"/>
          <a:ext cx="2795588" cy="1847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1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684046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723838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3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172599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4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290794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5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922450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6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784800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7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0538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8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199337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9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450365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7196D897-5A49-2DF4-5723-5983415A2821}"/>
              </a:ext>
            </a:extLst>
          </p:cNvPr>
          <p:cNvSpPr/>
          <p:nvPr/>
        </p:nvSpPr>
        <p:spPr>
          <a:xfrm>
            <a:off x="959895" y="375614"/>
            <a:ext cx="1374094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</a:pP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메인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시설안내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부대시설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0272E50-DF8A-81E6-943B-3754851DD5DF}"/>
              </a:ext>
            </a:extLst>
          </p:cNvPr>
          <p:cNvSpPr txBox="1"/>
          <p:nvPr/>
        </p:nvSpPr>
        <p:spPr>
          <a:xfrm>
            <a:off x="6003996" y="123825"/>
            <a:ext cx="17303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HN_Facil_Aditinal_001</a:t>
            </a:r>
            <a:endParaRPr lang="ko-KR" altLang="en-US" sz="8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27C632F-769C-540C-77FE-ED5F7A8A501E}"/>
              </a:ext>
            </a:extLst>
          </p:cNvPr>
          <p:cNvSpPr txBox="1"/>
          <p:nvPr/>
        </p:nvSpPr>
        <p:spPr>
          <a:xfrm>
            <a:off x="705679" y="3039901"/>
            <a:ext cx="27955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카페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“</a:t>
            </a:r>
            <a:r>
              <a:rPr lang="ko-KR" altLang="en-US" sz="10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하늘쉼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＂</a:t>
            </a:r>
            <a:endParaRPr lang="ko-KR" altLang="en-US" sz="1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9A5B53C-8357-7CAD-471C-DF7A3E0F3F36}"/>
              </a:ext>
            </a:extLst>
          </p:cNvPr>
          <p:cNvSpPr/>
          <p:nvPr/>
        </p:nvSpPr>
        <p:spPr>
          <a:xfrm>
            <a:off x="721091" y="1191723"/>
            <a:ext cx="3062015" cy="17487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IMAGE</a:t>
            </a:r>
            <a:endParaRPr lang="ko-KR" altLang="en-US" sz="28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FBB48A39-9E5D-AE47-E70E-9EA7A2DD32BC}"/>
              </a:ext>
            </a:extLst>
          </p:cNvPr>
          <p:cNvGraphicFramePr>
            <a:graphicFrameLocks noGrp="1"/>
          </p:cNvGraphicFramePr>
          <p:nvPr/>
        </p:nvGraphicFramePr>
        <p:xfrm>
          <a:off x="829685" y="3387819"/>
          <a:ext cx="2953421" cy="2278458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997426">
                  <a:extLst>
                    <a:ext uri="{9D8B030D-6E8A-4147-A177-3AD203B41FA5}">
                      <a16:colId xmlns:a16="http://schemas.microsoft.com/office/drawing/2014/main" val="1553538150"/>
                    </a:ext>
                  </a:extLst>
                </a:gridCol>
                <a:gridCol w="1955995">
                  <a:extLst>
                    <a:ext uri="{9D8B030D-6E8A-4147-A177-3AD203B41FA5}">
                      <a16:colId xmlns:a16="http://schemas.microsoft.com/office/drawing/2014/main" val="1005073696"/>
                    </a:ext>
                  </a:extLst>
                </a:gridCol>
              </a:tblGrid>
              <a:tr h="379743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위치</a:t>
                      </a:r>
                      <a:endParaRPr lang="en-US" altLang="ko-KR" sz="8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봉안당 </a:t>
                      </a:r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층 로비</a:t>
                      </a:r>
                      <a:endParaRPr lang="en-US" altLang="ko-KR" sz="8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0268165"/>
                  </a:ext>
                </a:extLst>
              </a:tr>
              <a:tr h="37974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메뉴</a:t>
                      </a:r>
                      <a:endParaRPr lang="en-US" altLang="ko-KR" sz="8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Coffee : </a:t>
                      </a: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아메리카노</a:t>
                      </a:r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카푸치노</a:t>
                      </a:r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카페라떼</a:t>
                      </a:r>
                      <a:endParaRPr lang="en-US" altLang="ko-KR" sz="8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1090331"/>
                  </a:ext>
                </a:extLst>
              </a:tr>
              <a:tr h="37974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Tea : </a:t>
                      </a: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유자차</a:t>
                      </a:r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생강차</a:t>
                      </a:r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인삼차</a:t>
                      </a:r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800" b="0" u="none" dirty="0" err="1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허브티</a:t>
                      </a:r>
                      <a:endParaRPr lang="en-US" altLang="ko-KR" sz="8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0626559"/>
                  </a:ext>
                </a:extLst>
              </a:tr>
              <a:tr h="37974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Beverage : </a:t>
                      </a: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과일주스</a:t>
                      </a:r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에이드</a:t>
                      </a:r>
                      <a:endParaRPr lang="en-US" altLang="ko-KR" sz="8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0662131"/>
                  </a:ext>
                </a:extLst>
              </a:tr>
              <a:tr h="37974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Dessert : </a:t>
                      </a: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쿠키</a:t>
                      </a:r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샌드위치</a:t>
                      </a:r>
                      <a:endParaRPr lang="en-US" altLang="ko-KR" sz="8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0649130"/>
                  </a:ext>
                </a:extLst>
              </a:tr>
              <a:tr h="37974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운영시간</a:t>
                      </a:r>
                      <a:endParaRPr lang="en-US" altLang="ko-KR" sz="8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08:00 ~ 19:00</a:t>
                      </a: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8261619"/>
                  </a:ext>
                </a:extLst>
              </a:tr>
            </a:tbl>
          </a:graphicData>
        </a:graphic>
      </p:graphicFrame>
      <p:sp>
        <p:nvSpPr>
          <p:cNvPr id="6" name="직사각형 5">
            <a:extLst>
              <a:ext uri="{FF2B5EF4-FFF2-40B4-BE49-F238E27FC236}">
                <a16:creationId xmlns:a16="http://schemas.microsoft.com/office/drawing/2014/main" id="{2655AA08-4686-C5AB-681A-AFBF8A8CAB5D}"/>
              </a:ext>
            </a:extLst>
          </p:cNvPr>
          <p:cNvSpPr/>
          <p:nvPr/>
        </p:nvSpPr>
        <p:spPr>
          <a:xfrm>
            <a:off x="680685" y="5902852"/>
            <a:ext cx="3168137" cy="264669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Footer</a:t>
            </a:r>
            <a:endParaRPr lang="ko-KR" altLang="en-US" sz="10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99462123"/>
      </p:ext>
    </p:extLst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7842F3-EDCB-50CB-3511-8A19C5FE42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6BBAC85A-0CCC-ABB7-C8BC-36D4DE58A0E5}"/>
              </a:ext>
            </a:extLst>
          </p:cNvPr>
          <p:cNvGraphicFramePr>
            <a:graphicFrameLocks noGrp="1"/>
          </p:cNvGraphicFramePr>
          <p:nvPr/>
        </p:nvGraphicFramePr>
        <p:xfrm>
          <a:off x="9182101" y="947377"/>
          <a:ext cx="2795588" cy="1847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1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684046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723838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3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172599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4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290794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5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922450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6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784800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7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0538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8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199337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9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450365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BD4F5B32-08A7-E465-6604-5AF14FCE3523}"/>
              </a:ext>
            </a:extLst>
          </p:cNvPr>
          <p:cNvSpPr/>
          <p:nvPr/>
        </p:nvSpPr>
        <p:spPr>
          <a:xfrm>
            <a:off x="959895" y="375614"/>
            <a:ext cx="1566454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</a:pP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메인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시설안내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 err="1">
                <a:latin typeface="나눔고딕" pitchFamily="50" charset="-127"/>
                <a:ea typeface="나눔고딕" pitchFamily="50" charset="-127"/>
              </a:rPr>
              <a:t>주변돌러보기</a:t>
            </a:r>
            <a:endParaRPr kumimoji="1" lang="ko-KR" altLang="en-US" sz="800" dirty="0"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9BF51F1-E91B-7603-5288-1A6786C82D24}"/>
              </a:ext>
            </a:extLst>
          </p:cNvPr>
          <p:cNvSpPr txBox="1"/>
          <p:nvPr/>
        </p:nvSpPr>
        <p:spPr>
          <a:xfrm>
            <a:off x="6003996" y="123825"/>
            <a:ext cx="17303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HN_Facil_Surround_001</a:t>
            </a:r>
            <a:endParaRPr lang="ko-KR" altLang="en-US" sz="800" dirty="0"/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DB55BB92-4C28-0EEB-ACFC-7CC2BAE56BB9}"/>
              </a:ext>
            </a:extLst>
          </p:cNvPr>
          <p:cNvCxnSpPr>
            <a:cxnSpLocks/>
          </p:cNvCxnSpPr>
          <p:nvPr/>
        </p:nvCxnSpPr>
        <p:spPr>
          <a:xfrm>
            <a:off x="655957" y="1658468"/>
            <a:ext cx="3109526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5089104F-3448-9F40-08FD-564A5F8AC5ED}"/>
              </a:ext>
            </a:extLst>
          </p:cNvPr>
          <p:cNvSpPr txBox="1"/>
          <p:nvPr/>
        </p:nvSpPr>
        <p:spPr>
          <a:xfrm>
            <a:off x="1793778" y="1181491"/>
            <a:ext cx="83388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하늘누리</a:t>
            </a:r>
            <a:endParaRPr lang="en-US" altLang="ko-KR" sz="11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en-US" altLang="ko-KR" sz="11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CI</a:t>
            </a:r>
            <a:endParaRPr lang="ko-KR" altLang="en-US" sz="11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11" name="그림 10" descr="블랙, 어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A332DA6-EBB1-83AB-2E78-DF198DD9C33D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2985" y="1191723"/>
            <a:ext cx="383533" cy="38353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1E9B9C1D-EFC4-D3A3-A119-C367B2ADE682}"/>
              </a:ext>
            </a:extLst>
          </p:cNvPr>
          <p:cNvSpPr txBox="1"/>
          <p:nvPr/>
        </p:nvSpPr>
        <p:spPr>
          <a:xfrm>
            <a:off x="2826086" y="1293697"/>
            <a:ext cx="57184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" panose="020D0604000000000000" pitchFamily="50" charset="-127"/>
                <a:ea typeface="나눔고딕" panose="020D0604000000000000" pitchFamily="50" charset="-127"/>
              </a:rPr>
              <a:t>르그아웃</a:t>
            </a:r>
          </a:p>
        </p:txBody>
      </p:sp>
      <p:pic>
        <p:nvPicPr>
          <p:cNvPr id="17" name="Picture 4" descr="로그 아웃 아이콘">
            <a:extLst>
              <a:ext uri="{FF2B5EF4-FFF2-40B4-BE49-F238E27FC236}">
                <a16:creationId xmlns:a16="http://schemas.microsoft.com/office/drawing/2014/main" id="{C263F862-DD87-42D8-2076-A3F0B2B67C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9631" y="1283929"/>
            <a:ext cx="217049" cy="217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365DD80D-D88B-A177-4AE7-6EBB517F7DC3}"/>
              </a:ext>
            </a:extLst>
          </p:cNvPr>
          <p:cNvSpPr txBox="1"/>
          <p:nvPr/>
        </p:nvSpPr>
        <p:spPr>
          <a:xfrm>
            <a:off x="1343128" y="1807796"/>
            <a:ext cx="17351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주변 둘러보기</a:t>
            </a:r>
            <a:endParaRPr lang="en-US" altLang="ko-KR" sz="1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52C2A8E-5581-9A70-5D0E-32A7836EB0FA}"/>
              </a:ext>
            </a:extLst>
          </p:cNvPr>
          <p:cNvSpPr txBox="1"/>
          <p:nvPr/>
        </p:nvSpPr>
        <p:spPr>
          <a:xfrm>
            <a:off x="794294" y="2194931"/>
            <a:ext cx="2832847" cy="17839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00"/>
              </a:lnSpc>
              <a:spcAft>
                <a:spcPts val="900"/>
              </a:spcAft>
            </a:pP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"</a:t>
            </a:r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하늘과 맞닿은 풍경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사계절이 그려내는 찬란한 안식처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“</a:t>
            </a:r>
          </a:p>
          <a:p>
            <a:pPr algn="ctr">
              <a:lnSpc>
                <a:spcPts val="2100"/>
              </a:lnSpc>
              <a:spcAft>
                <a:spcPts val="900"/>
              </a:spcAft>
            </a:pP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탁 트인 조망과 양주시의 수려한 자연경관이 한눈에 들어오는 명당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계절마다 옷을 갈아입는 하늘누리의 풍경은 고인에게는 평안을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유족에게는 한 폭의 그림 같은 위안을 선사합니다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C1878AC0-E0D5-832E-1337-40289FB076B3}"/>
              </a:ext>
            </a:extLst>
          </p:cNvPr>
          <p:cNvSpPr/>
          <p:nvPr/>
        </p:nvSpPr>
        <p:spPr>
          <a:xfrm>
            <a:off x="677037" y="4063249"/>
            <a:ext cx="3109526" cy="20865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8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숲 </a:t>
            </a:r>
            <a:r>
              <a:rPr lang="en-US" altLang="ko-KR" sz="28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IMAGE</a:t>
            </a:r>
            <a:endParaRPr lang="ko-KR" altLang="en-US" sz="28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5CCAF1C-23E5-0058-C1EE-920F9ECF0FF2}"/>
              </a:ext>
            </a:extLst>
          </p:cNvPr>
          <p:cNvSpPr txBox="1"/>
          <p:nvPr/>
        </p:nvSpPr>
        <p:spPr>
          <a:xfrm>
            <a:off x="794294" y="4191926"/>
            <a:ext cx="289156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"</a:t>
            </a:r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하늘이 아끼고 숲이 품은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생의 마지막 보금자리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"</a:t>
            </a:r>
            <a:endParaRPr lang="ko-KR" altLang="en-US" sz="1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D37CAC9-4151-3628-3D0F-E6BC4DB579B6}"/>
              </a:ext>
            </a:extLst>
          </p:cNvPr>
          <p:cNvSpPr txBox="1"/>
          <p:nvPr/>
        </p:nvSpPr>
        <p:spPr>
          <a:xfrm>
            <a:off x="5393583" y="1194793"/>
            <a:ext cx="27044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추모의 숲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433D226-484E-ADAD-CC90-3F78D07AD12B}"/>
              </a:ext>
            </a:extLst>
          </p:cNvPr>
          <p:cNvSpPr txBox="1"/>
          <p:nvPr/>
        </p:nvSpPr>
        <p:spPr>
          <a:xfrm>
            <a:off x="5240779" y="1509141"/>
            <a:ext cx="3010094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위치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endParaRPr lang="en-US" altLang="ko-KR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수목장지 주변</a:t>
            </a:r>
            <a:endParaRPr lang="en-US" altLang="ko-KR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endParaRPr lang="en-US" altLang="ko-KR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특징</a:t>
            </a:r>
            <a:endParaRPr lang="en-US" altLang="ko-KR" sz="9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산책로 조성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총 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1.2km)</a:t>
            </a:r>
          </a:p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사계절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꽃과 나무 감상</a:t>
            </a:r>
            <a:endParaRPr lang="en-US" altLang="ko-KR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벤치 및 쉽터 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10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개소</a:t>
            </a:r>
            <a:endParaRPr lang="en-US" altLang="ko-KR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70ECAF46-ABC6-67F1-D8C6-E71E019AF62B}"/>
              </a:ext>
            </a:extLst>
          </p:cNvPr>
          <p:cNvSpPr/>
          <p:nvPr/>
        </p:nvSpPr>
        <p:spPr>
          <a:xfrm>
            <a:off x="5240779" y="2570971"/>
            <a:ext cx="3109526" cy="1620956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8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전망대 </a:t>
            </a:r>
            <a:r>
              <a:rPr lang="en-US" altLang="ko-KR" sz="28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IMAGE</a:t>
            </a:r>
            <a:endParaRPr lang="ko-KR" altLang="en-US" sz="28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7175D0C-E8C5-C307-A927-1A67834C84FD}"/>
              </a:ext>
            </a:extLst>
          </p:cNvPr>
          <p:cNvSpPr txBox="1"/>
          <p:nvPr/>
        </p:nvSpPr>
        <p:spPr>
          <a:xfrm>
            <a:off x="5161271" y="2794753"/>
            <a:ext cx="32937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"</a:t>
            </a:r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발아래 펼쳐진 사계절의 품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슬픔조차 풍경이 되는 시간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"</a:t>
            </a:r>
            <a:endParaRPr lang="ko-KR" altLang="en-US" sz="1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BB03F98-CE9A-0CC9-10AC-D48F9DB5EA0F}"/>
              </a:ext>
            </a:extLst>
          </p:cNvPr>
          <p:cNvSpPr txBox="1"/>
          <p:nvPr/>
        </p:nvSpPr>
        <p:spPr>
          <a:xfrm>
            <a:off x="5957818" y="4322731"/>
            <a:ext cx="17006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전망대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“</a:t>
            </a:r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하늘누리 뷰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＂</a:t>
            </a:r>
            <a:endParaRPr lang="ko-KR" altLang="en-US" sz="1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6FBE57D-029F-551D-6284-548D567F008A}"/>
              </a:ext>
            </a:extLst>
          </p:cNvPr>
          <p:cNvSpPr txBox="1"/>
          <p:nvPr/>
        </p:nvSpPr>
        <p:spPr>
          <a:xfrm>
            <a:off x="6096000" y="4699756"/>
            <a:ext cx="1510327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위치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endParaRPr lang="en-US" altLang="ko-KR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공원최상단부</a:t>
            </a:r>
            <a:endParaRPr lang="en-US" altLang="ko-KR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endParaRPr lang="en-US" altLang="ko-KR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높이</a:t>
            </a:r>
            <a:endParaRPr lang="en-US" altLang="ko-KR" sz="9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해발 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000m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75DA5F-7F29-8555-12E6-B6DB761400A0}"/>
              </a:ext>
            </a:extLst>
          </p:cNvPr>
          <p:cNvSpPr txBox="1"/>
          <p:nvPr/>
        </p:nvSpPr>
        <p:spPr>
          <a:xfrm rot="19509111">
            <a:off x="8704729" y="3250453"/>
            <a:ext cx="279558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하늘누리 </a:t>
            </a:r>
            <a:r>
              <a:rPr lang="ko-KR" altLang="en-US" sz="2000" b="1" dirty="0" err="1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주변둘러보기</a:t>
            </a:r>
            <a:r>
              <a:rPr lang="ko-KR" altLang="en-US" sz="2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확인 후 교체 필요 </a:t>
            </a:r>
          </a:p>
        </p:txBody>
      </p:sp>
    </p:spTree>
    <p:extLst>
      <p:ext uri="{BB962C8B-B14F-4D97-AF65-F5344CB8AC3E}">
        <p14:creationId xmlns:p14="http://schemas.microsoft.com/office/powerpoint/2010/main" val="4225995219"/>
      </p:ext>
    </p:extLst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362E69-4659-463E-BF25-86B9D36582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6D90FFFF-6BD6-5262-B135-54A0856F050D}"/>
              </a:ext>
            </a:extLst>
          </p:cNvPr>
          <p:cNvGraphicFramePr>
            <a:graphicFrameLocks noGrp="1"/>
          </p:cNvGraphicFramePr>
          <p:nvPr/>
        </p:nvGraphicFramePr>
        <p:xfrm>
          <a:off x="9182101" y="947377"/>
          <a:ext cx="2795588" cy="1847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1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684046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723838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3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172599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4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290794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5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922450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6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784800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7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0538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8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199337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9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450365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4E028801-6258-1913-CBFF-10002389D859}"/>
              </a:ext>
            </a:extLst>
          </p:cNvPr>
          <p:cNvSpPr/>
          <p:nvPr/>
        </p:nvSpPr>
        <p:spPr>
          <a:xfrm>
            <a:off x="959895" y="375614"/>
            <a:ext cx="1566454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</a:pP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메인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시설안내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 err="1">
                <a:latin typeface="나눔고딕" pitchFamily="50" charset="-127"/>
                <a:ea typeface="나눔고딕" pitchFamily="50" charset="-127"/>
              </a:rPr>
              <a:t>주변돌러보기</a:t>
            </a:r>
            <a:endParaRPr kumimoji="1" lang="ko-KR" altLang="en-US" sz="800" dirty="0"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93CEA28-CFCA-702B-9C00-2DBD9BCA7D6F}"/>
              </a:ext>
            </a:extLst>
          </p:cNvPr>
          <p:cNvSpPr txBox="1"/>
          <p:nvPr/>
        </p:nvSpPr>
        <p:spPr>
          <a:xfrm>
            <a:off x="6003996" y="123825"/>
            <a:ext cx="17303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HN_Facil_Surround_001</a:t>
            </a:r>
            <a:endParaRPr lang="ko-KR" altLang="en-US" sz="8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7BB656C-B6BE-678C-7F3D-8D73FED01038}"/>
              </a:ext>
            </a:extLst>
          </p:cNvPr>
          <p:cNvSpPr txBox="1"/>
          <p:nvPr/>
        </p:nvSpPr>
        <p:spPr>
          <a:xfrm>
            <a:off x="1447754" y="1270900"/>
            <a:ext cx="165403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조망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endParaRPr lang="en-US" altLang="ko-KR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서울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경기 도심 조망</a:t>
            </a:r>
            <a:endParaRPr lang="en-US" altLang="ko-KR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주변 산세 파노라마 뷰</a:t>
            </a:r>
            <a:endParaRPr lang="en-US" altLang="ko-KR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일출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일몰 명소</a:t>
            </a:r>
            <a:endParaRPr lang="en-US" altLang="ko-KR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endParaRPr lang="en-US" altLang="ko-KR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시설</a:t>
            </a:r>
            <a:endParaRPr lang="en-US" altLang="ko-KR" sz="9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전망 </a:t>
            </a:r>
            <a:r>
              <a:rPr lang="ko-KR" altLang="en-US" sz="9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데크</a:t>
            </a:r>
            <a:endParaRPr lang="en-US" altLang="ko-KR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망원경 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대</a:t>
            </a:r>
            <a:endParaRPr lang="en-US" altLang="ko-KR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6549E4C-93B1-1B4E-C6C0-D1DC2D2A0028}"/>
              </a:ext>
            </a:extLst>
          </p:cNvPr>
          <p:cNvSpPr/>
          <p:nvPr/>
        </p:nvSpPr>
        <p:spPr>
          <a:xfrm>
            <a:off x="690702" y="2794753"/>
            <a:ext cx="3168137" cy="264669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Footer</a:t>
            </a:r>
            <a:endParaRPr lang="ko-KR" altLang="en-US" sz="10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38034265"/>
      </p:ext>
    </p:extLst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7E9FD8-8693-386E-0232-E94528EA16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ADBC47D-6041-9F36-30DD-8646BD583F40}"/>
              </a:ext>
            </a:extLst>
          </p:cNvPr>
          <p:cNvSpPr txBox="1"/>
          <p:nvPr/>
        </p:nvSpPr>
        <p:spPr>
          <a:xfrm>
            <a:off x="1047750" y="2476500"/>
            <a:ext cx="2390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나눔고딕" pitchFamily="2" charset="-127"/>
                <a:ea typeface="나눔고딕" pitchFamily="2" charset="-127"/>
              </a:rPr>
              <a:t>05. </a:t>
            </a:r>
            <a:r>
              <a:rPr lang="ko-KR" altLang="en-US" b="1" dirty="0">
                <a:latin typeface="나눔고딕" pitchFamily="2" charset="-127"/>
                <a:ea typeface="나눔고딕" pitchFamily="2" charset="-127"/>
              </a:rPr>
              <a:t>분양안내</a:t>
            </a:r>
          </a:p>
        </p:txBody>
      </p:sp>
    </p:spTree>
    <p:extLst>
      <p:ext uri="{BB962C8B-B14F-4D97-AF65-F5344CB8AC3E}">
        <p14:creationId xmlns:p14="http://schemas.microsoft.com/office/powerpoint/2010/main" val="2059802664"/>
      </p:ext>
    </p:extLst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A4FD3F-09F9-7EF8-FBCF-082379EBEE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E8964489-205A-6F8F-44E8-2246DE038A19}"/>
              </a:ext>
            </a:extLst>
          </p:cNvPr>
          <p:cNvGraphicFramePr>
            <a:graphicFrameLocks noGrp="1"/>
          </p:cNvGraphicFramePr>
          <p:nvPr/>
        </p:nvGraphicFramePr>
        <p:xfrm>
          <a:off x="9182101" y="947377"/>
          <a:ext cx="2795588" cy="1847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1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선택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봉인실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타입 선택 부분으로 이동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684046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선택 시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졸랑단타입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 선택 부분으로 이동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723838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3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선택 시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단위치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 선택 부분으로 이동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172599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4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선택 시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사용권 계약 부분으로 이동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290794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5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선택 시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관리비 납부 부분으로 이동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922450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6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784800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7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0538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8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199337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9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450365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087862F1-C7C5-3937-4946-CB57C9A56311}"/>
              </a:ext>
            </a:extLst>
          </p:cNvPr>
          <p:cNvSpPr/>
          <p:nvPr/>
        </p:nvSpPr>
        <p:spPr>
          <a:xfrm>
            <a:off x="959895" y="375614"/>
            <a:ext cx="1374094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</a:pP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메인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분양안내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분양절차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A3923F4-8ABF-378B-F9DE-556C9B78490C}"/>
              </a:ext>
            </a:extLst>
          </p:cNvPr>
          <p:cNvSpPr txBox="1"/>
          <p:nvPr/>
        </p:nvSpPr>
        <p:spPr>
          <a:xfrm>
            <a:off x="6003996" y="123825"/>
            <a:ext cx="17303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HN_DistriInfo_Distriproce_001</a:t>
            </a:r>
            <a:endParaRPr lang="ko-KR" altLang="en-US" sz="800" dirty="0"/>
          </a:p>
        </p:txBody>
      </p: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8ABB5585-B9B1-FA5A-7037-CFDE19356FFC}"/>
              </a:ext>
            </a:extLst>
          </p:cNvPr>
          <p:cNvCxnSpPr>
            <a:cxnSpLocks/>
          </p:cNvCxnSpPr>
          <p:nvPr/>
        </p:nvCxnSpPr>
        <p:spPr>
          <a:xfrm>
            <a:off x="655957" y="1658468"/>
            <a:ext cx="3109526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BCEC1F69-0916-1BD6-9BE8-DD12BD966D8F}"/>
              </a:ext>
            </a:extLst>
          </p:cNvPr>
          <p:cNvSpPr txBox="1"/>
          <p:nvPr/>
        </p:nvSpPr>
        <p:spPr>
          <a:xfrm>
            <a:off x="1793778" y="1181491"/>
            <a:ext cx="83388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하늘누리</a:t>
            </a:r>
            <a:endParaRPr lang="en-US" altLang="ko-KR" sz="11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en-US" altLang="ko-KR" sz="11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CI</a:t>
            </a:r>
            <a:endParaRPr lang="ko-KR" altLang="en-US" sz="11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37" name="그림 36" descr="블랙, 어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AD7E45A-BA8F-60D4-9069-834986D83444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2985" y="1191723"/>
            <a:ext cx="383533" cy="383533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C54F3C9D-A7A1-29BE-4DFA-4AA2C76DA373}"/>
              </a:ext>
            </a:extLst>
          </p:cNvPr>
          <p:cNvSpPr txBox="1"/>
          <p:nvPr/>
        </p:nvSpPr>
        <p:spPr>
          <a:xfrm>
            <a:off x="2826086" y="1293697"/>
            <a:ext cx="57184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" panose="020D0604000000000000" pitchFamily="50" charset="-127"/>
                <a:ea typeface="나눔고딕" panose="020D0604000000000000" pitchFamily="50" charset="-127"/>
              </a:rPr>
              <a:t>르그아웃</a:t>
            </a:r>
          </a:p>
        </p:txBody>
      </p:sp>
      <p:pic>
        <p:nvPicPr>
          <p:cNvPr id="39" name="Picture 4" descr="로그 아웃 아이콘">
            <a:extLst>
              <a:ext uri="{FF2B5EF4-FFF2-40B4-BE49-F238E27FC236}">
                <a16:creationId xmlns:a16="http://schemas.microsoft.com/office/drawing/2014/main" id="{D0CE434A-8974-EEC9-8E76-316240B033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9631" y="1283929"/>
            <a:ext cx="217049" cy="217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70C42930-E964-7581-C86F-3E740A4223D0}"/>
              </a:ext>
            </a:extLst>
          </p:cNvPr>
          <p:cNvSpPr txBox="1"/>
          <p:nvPr/>
        </p:nvSpPr>
        <p:spPr>
          <a:xfrm>
            <a:off x="1343128" y="1807796"/>
            <a:ext cx="17351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분양 절차</a:t>
            </a:r>
            <a:endParaRPr lang="en-US" altLang="ko-KR" sz="1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CE114A5-7D7D-32C3-865F-9B4095F5EB67}"/>
              </a:ext>
            </a:extLst>
          </p:cNvPr>
          <p:cNvSpPr txBox="1"/>
          <p:nvPr/>
        </p:nvSpPr>
        <p:spPr>
          <a:xfrm>
            <a:off x="794294" y="2194931"/>
            <a:ext cx="2832847" cy="15146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00"/>
              </a:lnSpc>
              <a:spcAft>
                <a:spcPts val="900"/>
              </a:spcAft>
            </a:pP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"</a:t>
            </a:r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가장 소중한 마지막 준비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하늘누리가 정성을 다해 동행하겠습니다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.“</a:t>
            </a:r>
          </a:p>
          <a:p>
            <a:pPr algn="ctr">
              <a:lnSpc>
                <a:spcPts val="2100"/>
              </a:lnSpc>
              <a:spcAft>
                <a:spcPts val="900"/>
              </a:spcAft>
            </a:pP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복잡하고 어려운 절차는 저희에게 맡기세요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유족의 마음으로 하나하나 세밀하게 살펴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고인을 모시는 길이 오직 평온한 추억으로만 기억되도록 돕겠습니다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pSp>
        <p:nvGrpSpPr>
          <p:cNvPr id="58" name="그룹 57">
            <a:extLst>
              <a:ext uri="{FF2B5EF4-FFF2-40B4-BE49-F238E27FC236}">
                <a16:creationId xmlns:a16="http://schemas.microsoft.com/office/drawing/2014/main" id="{BEEF1852-18AC-9E9A-6E98-8DF58820EF40}"/>
              </a:ext>
            </a:extLst>
          </p:cNvPr>
          <p:cNvGrpSpPr/>
          <p:nvPr/>
        </p:nvGrpSpPr>
        <p:grpSpPr>
          <a:xfrm>
            <a:off x="655957" y="3818013"/>
            <a:ext cx="3120703" cy="302363"/>
            <a:chOff x="655957" y="3944473"/>
            <a:chExt cx="3120703" cy="302363"/>
          </a:xfrm>
        </p:grpSpPr>
        <p:cxnSp>
          <p:nvCxnSpPr>
            <p:cNvPr id="43" name="Line 1">
              <a:extLst>
                <a:ext uri="{FF2B5EF4-FFF2-40B4-BE49-F238E27FC236}">
                  <a16:creationId xmlns:a16="http://schemas.microsoft.com/office/drawing/2014/main" id="{C60A9A1F-BD7F-3942-517D-6A20A4AD30E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55957" y="4222567"/>
              <a:ext cx="355579" cy="0"/>
            </a:xfrm>
            <a:prstGeom prst="line">
              <a:avLst/>
            </a:prstGeom>
            <a:solidFill>
              <a:srgbClr val="FFFFFF"/>
            </a:solidFill>
            <a:ln w="12700">
              <a:solidFill>
                <a:srgbClr val="80808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Line 2">
              <a:extLst>
                <a:ext uri="{FF2B5EF4-FFF2-40B4-BE49-F238E27FC236}">
                  <a16:creationId xmlns:a16="http://schemas.microsoft.com/office/drawing/2014/main" id="{2BA14152-C273-E3EB-7C05-53A34D952097}"/>
                </a:ext>
              </a:extLst>
            </p:cNvPr>
            <p:cNvCxnSpPr>
              <a:cxnSpLocks/>
            </p:cNvCxnSpPr>
            <p:nvPr/>
          </p:nvCxnSpPr>
          <p:spPr>
            <a:xfrm>
              <a:off x="2264660" y="4240936"/>
              <a:ext cx="1512000" cy="5900"/>
            </a:xfrm>
            <a:prstGeom prst="line">
              <a:avLst/>
            </a:prstGeom>
            <a:solidFill>
              <a:srgbClr val="FFFFFF"/>
            </a:solidFill>
            <a:ln w="12700">
              <a:solidFill>
                <a:srgbClr val="80808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Tab Selected">
              <a:extLst>
                <a:ext uri="{FF2B5EF4-FFF2-40B4-BE49-F238E27FC236}">
                  <a16:creationId xmlns:a16="http://schemas.microsoft.com/office/drawing/2014/main" id="{A5494261-FD3A-A786-E126-528FA42F74E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0573" y="3944473"/>
              <a:ext cx="1264088" cy="283307"/>
            </a:xfrm>
            <a:custGeom>
              <a:avLst/>
              <a:gdLst>
                <a:gd name="T0" fmla="*/ 0 w 2218"/>
                <a:gd name="T1" fmla="*/ 670 h 670"/>
                <a:gd name="T2" fmla="*/ 0 w 2218"/>
                <a:gd name="T3" fmla="*/ 0 h 670"/>
                <a:gd name="T4" fmla="*/ 2218 w 2218"/>
                <a:gd name="T5" fmla="*/ 0 h 670"/>
                <a:gd name="T6" fmla="*/ 2218 w 2218"/>
                <a:gd name="T7" fmla="*/ 670 h 6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218" h="670">
                  <a:moveTo>
                    <a:pt x="0" y="670"/>
                  </a:moveTo>
                  <a:lnTo>
                    <a:pt x="0" y="0"/>
                  </a:lnTo>
                  <a:lnTo>
                    <a:pt x="2218" y="0"/>
                  </a:lnTo>
                  <a:lnTo>
                    <a:pt x="2218" y="670"/>
                  </a:lnTo>
                </a:path>
              </a:pathLst>
            </a:custGeom>
            <a:solidFill>
              <a:schemeClr val="bg1"/>
            </a:solidFill>
            <a:ln w="6350" cap="sq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90000"/>
                </a:lnSpc>
                <a:defRPr/>
              </a:pPr>
              <a:r>
                <a:rPr lang="ko-KR" altLang="en-US" sz="1000" b="1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Segoe UI" panose="020B0502040204020203" pitchFamily="34" charset="0"/>
                </a:rPr>
                <a:t>봉안당</a:t>
              </a:r>
              <a:r>
                <a:rPr lang="en-US" altLang="ko-KR" sz="1000" b="1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Segoe UI" panose="020B0502040204020203" pitchFamily="34" charset="0"/>
                </a:rPr>
                <a:t>(</a:t>
              </a:r>
              <a:r>
                <a:rPr lang="ko-KR" altLang="en-US" sz="1000" b="1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Segoe UI" panose="020B0502040204020203" pitchFamily="34" charset="0"/>
                </a:rPr>
                <a:t>하늘누리관</a:t>
              </a:r>
              <a:r>
                <a:rPr lang="en-US" altLang="ko-KR" sz="1000" b="1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Segoe UI" panose="020B0502040204020203" pitchFamily="34" charset="0"/>
                </a:rPr>
                <a:t>)</a:t>
              </a:r>
            </a:p>
          </p:txBody>
        </p:sp>
        <p:sp>
          <p:nvSpPr>
            <p:cNvPr id="55" name="Tab">
              <a:extLst>
                <a:ext uri="{FF2B5EF4-FFF2-40B4-BE49-F238E27FC236}">
                  <a16:creationId xmlns:a16="http://schemas.microsoft.com/office/drawing/2014/main" id="{216C7D88-FD0F-1637-7465-737851351C7A}"/>
                </a:ext>
              </a:extLst>
            </p:cNvPr>
            <p:cNvSpPr/>
            <p:nvPr/>
          </p:nvSpPr>
          <p:spPr>
            <a:xfrm>
              <a:off x="2264660" y="3957630"/>
              <a:ext cx="1278902" cy="28330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90000"/>
                </a:lnSpc>
                <a:defRPr/>
              </a:pPr>
              <a:r>
                <a:rPr lang="ko-KR" altLang="en-US" sz="10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Segoe UI" panose="020B0502040204020203" pitchFamily="34" charset="0"/>
                </a:rPr>
                <a:t>수목장</a:t>
              </a:r>
              <a:r>
                <a:rPr lang="en-US" altLang="ko-KR" sz="10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Segoe UI" panose="020B0502040204020203" pitchFamily="34" charset="0"/>
                </a:rPr>
                <a:t>(</a:t>
              </a:r>
              <a:r>
                <a:rPr lang="ko-KR" altLang="en-US" sz="10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Segoe UI" panose="020B0502040204020203" pitchFamily="34" charset="0"/>
                </a:rPr>
                <a:t>자연장</a:t>
              </a:r>
              <a:r>
                <a:rPr lang="en-US" altLang="ko-KR" sz="10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Segoe UI" panose="020B0502040204020203" pitchFamily="34" charset="0"/>
                </a:rPr>
                <a:t>)</a:t>
              </a:r>
              <a:endParaRPr 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Segoe UI" panose="020B0502040204020203" pitchFamily="34" charset="0"/>
              </a:endParaRPr>
            </a:p>
          </p:txBody>
        </p:sp>
      </p:grpSp>
      <p:sp>
        <p:nvSpPr>
          <p:cNvPr id="59" name="사각형: 둥근 모서리 58">
            <a:extLst>
              <a:ext uri="{FF2B5EF4-FFF2-40B4-BE49-F238E27FC236}">
                <a16:creationId xmlns:a16="http://schemas.microsoft.com/office/drawing/2014/main" id="{97888E1A-D6AC-019E-AFEB-876CC51B070F}"/>
              </a:ext>
            </a:extLst>
          </p:cNvPr>
          <p:cNvSpPr/>
          <p:nvPr/>
        </p:nvSpPr>
        <p:spPr>
          <a:xfrm>
            <a:off x="762786" y="4641976"/>
            <a:ext cx="868905" cy="767562"/>
          </a:xfrm>
          <a:prstGeom prst="roundRect">
            <a:avLst/>
          </a:prstGeom>
          <a:solidFill>
            <a:srgbClr val="002060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봉안실 </a:t>
            </a:r>
            <a:endParaRPr lang="en-US" altLang="ko-KR" sz="10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ko-KR" altLang="en-US" sz="10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타입 </a:t>
            </a:r>
            <a:endParaRPr lang="en-US" altLang="ko-KR" sz="10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ko-KR" altLang="en-US" sz="10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선택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BE86EDB-139D-BB47-955C-CAE2EDC85E4B}"/>
              </a:ext>
            </a:extLst>
          </p:cNvPr>
          <p:cNvSpPr txBox="1"/>
          <p:nvPr/>
        </p:nvSpPr>
        <p:spPr>
          <a:xfrm>
            <a:off x="738750" y="4246038"/>
            <a:ext cx="108949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en-US" altLang="ko-KR" sz="1600" b="1" baseline="30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st</a:t>
            </a:r>
            <a:endParaRPr lang="en-US" altLang="ko-KR" sz="16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8052D4F-3634-CB23-86B9-76D31EEDCD73}"/>
              </a:ext>
            </a:extLst>
          </p:cNvPr>
          <p:cNvSpPr txBox="1"/>
          <p:nvPr/>
        </p:nvSpPr>
        <p:spPr>
          <a:xfrm>
            <a:off x="1772331" y="4246038"/>
            <a:ext cx="108949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r>
              <a:rPr lang="en-US" altLang="ko-KR" sz="1600" b="1" baseline="30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nd</a:t>
            </a:r>
            <a:endParaRPr lang="en-US" altLang="ko-KR" sz="16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8B88D51-6C94-6003-F96B-ABA647CB3A3D}"/>
              </a:ext>
            </a:extLst>
          </p:cNvPr>
          <p:cNvSpPr txBox="1"/>
          <p:nvPr/>
        </p:nvSpPr>
        <p:spPr>
          <a:xfrm>
            <a:off x="2805912" y="4246038"/>
            <a:ext cx="108949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r>
              <a:rPr lang="en-US" altLang="ko-KR" sz="1600" b="1" baseline="30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rd</a:t>
            </a:r>
            <a:endParaRPr lang="en-US" altLang="ko-KR" sz="16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00B6C84-F30C-1785-26E1-E26F8BAF1038}"/>
              </a:ext>
            </a:extLst>
          </p:cNvPr>
          <p:cNvSpPr txBox="1"/>
          <p:nvPr/>
        </p:nvSpPr>
        <p:spPr>
          <a:xfrm>
            <a:off x="799141" y="5509618"/>
            <a:ext cx="86890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" panose="020D0604000000000000" pitchFamily="50" charset="-127"/>
                <a:ea typeface="나눔고딕" panose="020D0604000000000000" pitchFamily="50" charset="-127"/>
              </a:rPr>
              <a:t>More</a:t>
            </a:r>
            <a:endParaRPr lang="ko-KR" altLang="en-US" sz="9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2B740CB-3632-0DE5-038D-3345653EED03}"/>
              </a:ext>
            </a:extLst>
          </p:cNvPr>
          <p:cNvSpPr txBox="1"/>
          <p:nvPr/>
        </p:nvSpPr>
        <p:spPr>
          <a:xfrm>
            <a:off x="1772331" y="5519346"/>
            <a:ext cx="86890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" panose="020D0604000000000000" pitchFamily="50" charset="-127"/>
                <a:ea typeface="나눔고딕" panose="020D0604000000000000" pitchFamily="50" charset="-127"/>
              </a:rPr>
              <a:t>More</a:t>
            </a:r>
            <a:endParaRPr lang="ko-KR" altLang="en-US" sz="9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84CE183-EE87-B634-D69B-52D5BB517246}"/>
              </a:ext>
            </a:extLst>
          </p:cNvPr>
          <p:cNvSpPr txBox="1"/>
          <p:nvPr/>
        </p:nvSpPr>
        <p:spPr>
          <a:xfrm>
            <a:off x="2695846" y="5519346"/>
            <a:ext cx="86890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" panose="020D0604000000000000" pitchFamily="50" charset="-127"/>
                <a:ea typeface="나눔고딕" panose="020D0604000000000000" pitchFamily="50" charset="-127"/>
              </a:rPr>
              <a:t>More</a:t>
            </a:r>
            <a:endParaRPr lang="ko-KR" altLang="en-US" sz="9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8" name="Oval 109">
            <a:extLst>
              <a:ext uri="{FF2B5EF4-FFF2-40B4-BE49-F238E27FC236}">
                <a16:creationId xmlns:a16="http://schemas.microsoft.com/office/drawing/2014/main" id="{66150A37-9A9F-8230-5313-BB4BBC3F71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388" y="5452234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1</a:t>
            </a:r>
          </a:p>
        </p:txBody>
      </p:sp>
      <p:sp>
        <p:nvSpPr>
          <p:cNvPr id="69" name="Oval 109">
            <a:extLst>
              <a:ext uri="{FF2B5EF4-FFF2-40B4-BE49-F238E27FC236}">
                <a16:creationId xmlns:a16="http://schemas.microsoft.com/office/drawing/2014/main" id="{DC976604-C53A-3CF8-BDFB-B0CD590E11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2067" y="5461962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2</a:t>
            </a:r>
          </a:p>
        </p:txBody>
      </p:sp>
      <p:sp>
        <p:nvSpPr>
          <p:cNvPr id="70" name="Oval 109">
            <a:extLst>
              <a:ext uri="{FF2B5EF4-FFF2-40B4-BE49-F238E27FC236}">
                <a16:creationId xmlns:a16="http://schemas.microsoft.com/office/drawing/2014/main" id="{B2F23296-3604-DBEE-5815-71E07BA681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25714" y="5461962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3</a:t>
            </a:r>
          </a:p>
        </p:txBody>
      </p:sp>
      <p:sp>
        <p:nvSpPr>
          <p:cNvPr id="71" name="사각형: 둥근 모서리 70">
            <a:extLst>
              <a:ext uri="{FF2B5EF4-FFF2-40B4-BE49-F238E27FC236}">
                <a16:creationId xmlns:a16="http://schemas.microsoft.com/office/drawing/2014/main" id="{DCEEB56A-9B20-B1AC-0375-AFFA7ABC5287}"/>
              </a:ext>
            </a:extLst>
          </p:cNvPr>
          <p:cNvSpPr/>
          <p:nvPr/>
        </p:nvSpPr>
        <p:spPr>
          <a:xfrm>
            <a:off x="1740372" y="4641976"/>
            <a:ext cx="868905" cy="767562"/>
          </a:xfrm>
          <a:prstGeom prst="roundRect">
            <a:avLst/>
          </a:prstGeom>
          <a:solidFill>
            <a:srgbClr val="002060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 err="1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봉안단</a:t>
            </a:r>
            <a:r>
              <a:rPr lang="ko-KR" altLang="en-US" sz="10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endParaRPr lang="en-US" altLang="ko-KR" sz="10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ko-KR" altLang="en-US" sz="10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타입</a:t>
            </a:r>
            <a:endParaRPr lang="en-US" altLang="ko-KR" sz="10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ko-KR" altLang="en-US" sz="10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선택</a:t>
            </a:r>
          </a:p>
        </p:txBody>
      </p:sp>
      <p:sp>
        <p:nvSpPr>
          <p:cNvPr id="73" name="사각형: 둥근 모서리 72">
            <a:extLst>
              <a:ext uri="{FF2B5EF4-FFF2-40B4-BE49-F238E27FC236}">
                <a16:creationId xmlns:a16="http://schemas.microsoft.com/office/drawing/2014/main" id="{16815433-7F88-240F-173F-E04C910B32DB}"/>
              </a:ext>
            </a:extLst>
          </p:cNvPr>
          <p:cNvSpPr/>
          <p:nvPr/>
        </p:nvSpPr>
        <p:spPr>
          <a:xfrm>
            <a:off x="2695846" y="4641976"/>
            <a:ext cx="868905" cy="767562"/>
          </a:xfrm>
          <a:prstGeom prst="roundRect">
            <a:avLst/>
          </a:prstGeom>
          <a:solidFill>
            <a:srgbClr val="002060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단 위치</a:t>
            </a:r>
            <a:endParaRPr lang="en-US" altLang="ko-KR" sz="10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ko-KR" altLang="en-US" sz="10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선택</a:t>
            </a:r>
          </a:p>
        </p:txBody>
      </p:sp>
      <p:sp>
        <p:nvSpPr>
          <p:cNvPr id="74" name="사각형: 둥근 모서리 73">
            <a:extLst>
              <a:ext uri="{FF2B5EF4-FFF2-40B4-BE49-F238E27FC236}">
                <a16:creationId xmlns:a16="http://schemas.microsoft.com/office/drawing/2014/main" id="{44D12899-DBD2-F8DD-904C-EA1F36811244}"/>
              </a:ext>
            </a:extLst>
          </p:cNvPr>
          <p:cNvSpPr/>
          <p:nvPr/>
        </p:nvSpPr>
        <p:spPr>
          <a:xfrm>
            <a:off x="5321386" y="1616863"/>
            <a:ext cx="868905" cy="767562"/>
          </a:xfrm>
          <a:prstGeom prst="roundRect">
            <a:avLst/>
          </a:prstGeom>
          <a:solidFill>
            <a:srgbClr val="002060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사용권</a:t>
            </a:r>
            <a:endParaRPr lang="en-US" altLang="ko-KR" sz="10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ko-KR" altLang="en-US" sz="10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81DAE454-E08D-C0DB-73BE-4E85F0D043BD}"/>
              </a:ext>
            </a:extLst>
          </p:cNvPr>
          <p:cNvSpPr txBox="1"/>
          <p:nvPr/>
        </p:nvSpPr>
        <p:spPr>
          <a:xfrm>
            <a:off x="5297350" y="1220925"/>
            <a:ext cx="108949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r>
            <a:r>
              <a:rPr lang="en-US" altLang="ko-KR" sz="1600" b="1" baseline="30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th</a:t>
            </a:r>
            <a:endParaRPr lang="en-US" altLang="ko-KR" sz="16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9ECC5C8C-E617-4F3B-EB36-2E2FD5AE8E49}"/>
              </a:ext>
            </a:extLst>
          </p:cNvPr>
          <p:cNvSpPr txBox="1"/>
          <p:nvPr/>
        </p:nvSpPr>
        <p:spPr>
          <a:xfrm>
            <a:off x="5357741" y="2484505"/>
            <a:ext cx="86890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" panose="020D0604000000000000" pitchFamily="50" charset="-127"/>
                <a:ea typeface="나눔고딕" panose="020D0604000000000000" pitchFamily="50" charset="-127"/>
              </a:rPr>
              <a:t>More</a:t>
            </a:r>
            <a:endParaRPr lang="ko-KR" altLang="en-US" sz="9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318D8C3C-BA50-C4FD-3C42-128E46F6003F}"/>
              </a:ext>
            </a:extLst>
          </p:cNvPr>
          <p:cNvSpPr txBox="1"/>
          <p:nvPr/>
        </p:nvSpPr>
        <p:spPr>
          <a:xfrm>
            <a:off x="6330931" y="2494233"/>
            <a:ext cx="86890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" panose="020D0604000000000000" pitchFamily="50" charset="-127"/>
                <a:ea typeface="나눔고딕" panose="020D0604000000000000" pitchFamily="50" charset="-127"/>
              </a:rPr>
              <a:t>More</a:t>
            </a:r>
            <a:endParaRPr lang="ko-KR" altLang="en-US" sz="9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9" name="Oval 109">
            <a:extLst>
              <a:ext uri="{FF2B5EF4-FFF2-40B4-BE49-F238E27FC236}">
                <a16:creationId xmlns:a16="http://schemas.microsoft.com/office/drawing/2014/main" id="{DF45A9D6-4D93-9B51-9606-6A59C21C64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67988" y="2427121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1</a:t>
            </a:r>
          </a:p>
        </p:txBody>
      </p:sp>
      <p:sp>
        <p:nvSpPr>
          <p:cNvPr id="80" name="Oval 109">
            <a:extLst>
              <a:ext uri="{FF2B5EF4-FFF2-40B4-BE49-F238E27FC236}">
                <a16:creationId xmlns:a16="http://schemas.microsoft.com/office/drawing/2014/main" id="{BFE04FAE-1BA3-5E60-34E9-17EFCDC526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90667" y="2436849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2</a:t>
            </a:r>
          </a:p>
        </p:txBody>
      </p:sp>
      <p:sp>
        <p:nvSpPr>
          <p:cNvPr id="81" name="사각형: 둥근 모서리 80">
            <a:extLst>
              <a:ext uri="{FF2B5EF4-FFF2-40B4-BE49-F238E27FC236}">
                <a16:creationId xmlns:a16="http://schemas.microsoft.com/office/drawing/2014/main" id="{C1AD7C32-ED88-4E3F-262E-EBDED9BEFBEB}"/>
              </a:ext>
            </a:extLst>
          </p:cNvPr>
          <p:cNvSpPr/>
          <p:nvPr/>
        </p:nvSpPr>
        <p:spPr>
          <a:xfrm>
            <a:off x="6298972" y="1616863"/>
            <a:ext cx="868905" cy="767562"/>
          </a:xfrm>
          <a:prstGeom prst="roundRect">
            <a:avLst/>
          </a:prstGeom>
          <a:solidFill>
            <a:srgbClr val="002060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관리비</a:t>
            </a:r>
            <a:endParaRPr lang="en-US" altLang="ko-KR" sz="10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ko-KR" altLang="en-US" sz="10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납부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3FDB011C-7D23-028D-55D1-4CA60B432363}"/>
              </a:ext>
            </a:extLst>
          </p:cNvPr>
          <p:cNvSpPr txBox="1"/>
          <p:nvPr/>
        </p:nvSpPr>
        <p:spPr>
          <a:xfrm>
            <a:off x="6324398" y="1236702"/>
            <a:ext cx="108949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5</a:t>
            </a:r>
            <a:r>
              <a:rPr lang="en-US" altLang="ko-KR" sz="1600" b="1" baseline="30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th</a:t>
            </a:r>
            <a:endParaRPr lang="en-US" altLang="ko-KR" sz="16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807A6BA7-D581-12EA-D869-B82EF4404353}"/>
              </a:ext>
            </a:extLst>
          </p:cNvPr>
          <p:cNvSpPr/>
          <p:nvPr/>
        </p:nvSpPr>
        <p:spPr>
          <a:xfrm>
            <a:off x="5230627" y="2834873"/>
            <a:ext cx="3069511" cy="1847376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IMAGE</a:t>
            </a:r>
            <a:endParaRPr lang="ko-KR" altLang="en-US" sz="28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AB99C198-E9C6-C814-1CC8-FDE28F906023}"/>
              </a:ext>
            </a:extLst>
          </p:cNvPr>
          <p:cNvSpPr txBox="1"/>
          <p:nvPr/>
        </p:nvSpPr>
        <p:spPr>
          <a:xfrm>
            <a:off x="5725141" y="4727540"/>
            <a:ext cx="6260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en-US" altLang="ko-KR" sz="1400" b="1" baseline="30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st</a:t>
            </a:r>
            <a:endParaRPr lang="en-US" altLang="ko-KR" sz="14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0424AA51-D970-5DAA-5525-5EAC956679B0}"/>
              </a:ext>
            </a:extLst>
          </p:cNvPr>
          <p:cNvSpPr txBox="1"/>
          <p:nvPr/>
        </p:nvSpPr>
        <p:spPr>
          <a:xfrm>
            <a:off x="6078009" y="4779367"/>
            <a:ext cx="14113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봉안실 타입 선택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4C554A1A-7E93-7950-3BDF-BE5EF90C7B6D}"/>
              </a:ext>
            </a:extLst>
          </p:cNvPr>
          <p:cNvSpPr txBox="1"/>
          <p:nvPr/>
        </p:nvSpPr>
        <p:spPr>
          <a:xfrm>
            <a:off x="5335294" y="5129068"/>
            <a:ext cx="29040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하늘누리 봉안당은 지하 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층부터 지상 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층까지 다양한 타입의 봉안실을 갖추고 있습니다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고인의 성향과 가족의 추모 방식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예산에 맞춰 가장 적합한 공간을 선택하실 수 있습니다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D15BDD9-E74C-2A27-BF8D-84377C674251}"/>
              </a:ext>
            </a:extLst>
          </p:cNvPr>
          <p:cNvSpPr txBox="1"/>
          <p:nvPr/>
        </p:nvSpPr>
        <p:spPr>
          <a:xfrm rot="19509111">
            <a:off x="8704729" y="3250453"/>
            <a:ext cx="279558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하늘누리 분양안내 </a:t>
            </a:r>
            <a:r>
              <a:rPr lang="ko-KR" altLang="en-US" sz="2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확인 </a:t>
            </a:r>
            <a:r>
              <a:rPr lang="ko-KR" altLang="en-US" sz="2000" b="1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후 수정 </a:t>
            </a:r>
            <a:r>
              <a:rPr lang="ko-KR" altLang="en-US" sz="2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필요 </a:t>
            </a:r>
          </a:p>
        </p:txBody>
      </p:sp>
    </p:spTree>
    <p:extLst>
      <p:ext uri="{BB962C8B-B14F-4D97-AF65-F5344CB8AC3E}">
        <p14:creationId xmlns:p14="http://schemas.microsoft.com/office/powerpoint/2010/main" val="3162699785"/>
      </p:ext>
    </p:extLst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3716C5-E930-44B6-CD04-93DAE5E51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E8E31210-070D-17E8-FA05-19C0A0852BCE}"/>
              </a:ext>
            </a:extLst>
          </p:cNvPr>
          <p:cNvGraphicFramePr>
            <a:graphicFrameLocks noGrp="1"/>
          </p:cNvGraphicFramePr>
          <p:nvPr/>
        </p:nvGraphicFramePr>
        <p:xfrm>
          <a:off x="9182101" y="947377"/>
          <a:ext cx="2795588" cy="1847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1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선택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봉인실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타입 선택 부분으로 이동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684046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선택 시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졸랑단타입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 선택 부분으로 이동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723838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3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선택 시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단위치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 선택 부분으로 이동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172599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4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선택 시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사용권 계약 부분으로 이동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290794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5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선택 시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관리비 납부 부분으로 이동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922450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6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784800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7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0538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8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199337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9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450365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B213DD1A-7870-0C03-AD19-38982DD4360D}"/>
              </a:ext>
            </a:extLst>
          </p:cNvPr>
          <p:cNvSpPr/>
          <p:nvPr/>
        </p:nvSpPr>
        <p:spPr>
          <a:xfrm>
            <a:off x="959895" y="375614"/>
            <a:ext cx="1374094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</a:pP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메인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분양안내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분양절차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E3A1D23-7ED4-9E09-E4DE-1630C6C7A89F}"/>
              </a:ext>
            </a:extLst>
          </p:cNvPr>
          <p:cNvSpPr txBox="1"/>
          <p:nvPr/>
        </p:nvSpPr>
        <p:spPr>
          <a:xfrm>
            <a:off x="6003996" y="123825"/>
            <a:ext cx="17303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HN_DistriInfo_Distriproce_001</a:t>
            </a:r>
            <a:endParaRPr lang="ko-KR" altLang="en-US" sz="800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8839E30F-88D2-F1A2-025D-2E753434BB12}"/>
              </a:ext>
            </a:extLst>
          </p:cNvPr>
          <p:cNvGraphicFramePr>
            <a:graphicFrameLocks noGrp="1"/>
          </p:cNvGraphicFramePr>
          <p:nvPr/>
        </p:nvGraphicFramePr>
        <p:xfrm>
          <a:off x="702523" y="1165204"/>
          <a:ext cx="3069510" cy="2706404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403941">
                  <a:extLst>
                    <a:ext uri="{9D8B030D-6E8A-4147-A177-3AD203B41FA5}">
                      <a16:colId xmlns:a16="http://schemas.microsoft.com/office/drawing/2014/main" val="1553538150"/>
                    </a:ext>
                  </a:extLst>
                </a:gridCol>
                <a:gridCol w="403941">
                  <a:extLst>
                    <a:ext uri="{9D8B030D-6E8A-4147-A177-3AD203B41FA5}">
                      <a16:colId xmlns:a16="http://schemas.microsoft.com/office/drawing/2014/main" val="1005073696"/>
                    </a:ext>
                  </a:extLst>
                </a:gridCol>
                <a:gridCol w="848190">
                  <a:extLst>
                    <a:ext uri="{9D8B030D-6E8A-4147-A177-3AD203B41FA5}">
                      <a16:colId xmlns:a16="http://schemas.microsoft.com/office/drawing/2014/main" val="2912823855"/>
                    </a:ext>
                  </a:extLst>
                </a:gridCol>
                <a:gridCol w="816482">
                  <a:extLst>
                    <a:ext uri="{9D8B030D-6E8A-4147-A177-3AD203B41FA5}">
                      <a16:colId xmlns:a16="http://schemas.microsoft.com/office/drawing/2014/main" val="420109590"/>
                    </a:ext>
                  </a:extLst>
                </a:gridCol>
                <a:gridCol w="596956">
                  <a:extLst>
                    <a:ext uri="{9D8B030D-6E8A-4147-A177-3AD203B41FA5}">
                      <a16:colId xmlns:a16="http://schemas.microsoft.com/office/drawing/2014/main" val="21308472"/>
                    </a:ext>
                  </a:extLst>
                </a:gridCol>
              </a:tblGrid>
              <a:tr h="38999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타입</a:t>
                      </a:r>
                      <a:endParaRPr lang="en-US" altLang="ko-KR" sz="8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위치</a:t>
                      </a:r>
                      <a:endParaRPr lang="en-US" altLang="ko-KR" sz="8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특징</a:t>
                      </a:r>
                      <a:endParaRPr lang="en-US" altLang="ko-KR" sz="8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적합한 분</a:t>
                      </a:r>
                      <a:endParaRPr lang="en-US" altLang="ko-KR" sz="8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가격대</a:t>
                      </a:r>
                      <a:endParaRPr lang="en-US" altLang="ko-KR" sz="8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0268165"/>
                  </a:ext>
                </a:extLst>
              </a:tr>
              <a:tr h="77213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일반 봉안실</a:t>
                      </a:r>
                      <a:endParaRPr lang="en-US" altLang="ko-KR" sz="8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1~3 </a:t>
                      </a: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층</a:t>
                      </a:r>
                      <a:endParaRPr lang="en-US" altLang="ko-KR" sz="8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개인형 </a:t>
                      </a:r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(1</a:t>
                      </a: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위</a:t>
                      </a:r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 </a:t>
                      </a: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투명 유리문 자연 채광</a:t>
                      </a:r>
                      <a:endParaRPr lang="en-US" altLang="ko-KR" sz="8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개인 안치를 원하시는 분</a:t>
                      </a:r>
                      <a:endParaRPr lang="en-US" altLang="ko-KR" sz="8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200 </a:t>
                      </a: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만원 </a:t>
                      </a:r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~ 800 </a:t>
                      </a: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만원</a:t>
                      </a:r>
                      <a:endParaRPr lang="en-US" altLang="ko-KR" sz="8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1090331"/>
                  </a:ext>
                </a:extLst>
              </a:tr>
              <a:tr h="77213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가족 봉안실</a:t>
                      </a:r>
                      <a:endParaRPr lang="en-US" altLang="ko-KR" sz="8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지하 </a:t>
                      </a:r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층</a:t>
                      </a:r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~3</a:t>
                      </a: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층</a:t>
                      </a:r>
                      <a:endParaRPr lang="en-US" altLang="ko-KR" sz="8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</a:t>
                      </a: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위</a:t>
                      </a:r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/6</a:t>
                      </a: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위</a:t>
                      </a:r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가족 통합 공간 맞춤 인테리어</a:t>
                      </a:r>
                      <a:endParaRPr lang="en-US" altLang="ko-KR" sz="8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가족 함께 모시고 싶은 분</a:t>
                      </a:r>
                      <a:endParaRPr lang="en-US" altLang="ko-KR" sz="8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600 </a:t>
                      </a: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만원 </a:t>
                      </a:r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~ 3,000 </a:t>
                      </a: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만원</a:t>
                      </a:r>
                      <a:endParaRPr lang="en-US" altLang="ko-KR" sz="8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0626559"/>
                  </a:ext>
                </a:extLst>
              </a:tr>
              <a:tr h="77213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프리미엄 봉안실</a:t>
                      </a:r>
                      <a:endParaRPr lang="en-US" altLang="ko-KR" sz="8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</a:t>
                      </a: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층</a:t>
                      </a:r>
                      <a:endParaRPr lang="en-US" altLang="ko-KR" sz="8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u="none" dirty="0" err="1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스카이뷰</a:t>
                      </a: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최상층 전망 독립 공간</a:t>
                      </a:r>
                      <a:endParaRPr lang="en-US" altLang="ko-KR" sz="8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품격과 전망을 중시하는 분</a:t>
                      </a:r>
                      <a:endParaRPr lang="en-US" altLang="ko-KR" sz="8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1,000 </a:t>
                      </a: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만원 </a:t>
                      </a:r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~ 2,500 </a:t>
                      </a: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만원</a:t>
                      </a:r>
                      <a:endParaRPr lang="en-US" altLang="ko-KR" sz="8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0662131"/>
                  </a:ext>
                </a:extLst>
              </a:tr>
            </a:tbl>
          </a:graphicData>
        </a:graphic>
      </p:graphicFrame>
      <p:sp>
        <p:nvSpPr>
          <p:cNvPr id="5" name="직사각형 4">
            <a:extLst>
              <a:ext uri="{FF2B5EF4-FFF2-40B4-BE49-F238E27FC236}">
                <a16:creationId xmlns:a16="http://schemas.microsoft.com/office/drawing/2014/main" id="{1E09C7C0-19B6-9AD1-76DD-267EAB7035FC}"/>
              </a:ext>
            </a:extLst>
          </p:cNvPr>
          <p:cNvSpPr/>
          <p:nvPr/>
        </p:nvSpPr>
        <p:spPr>
          <a:xfrm>
            <a:off x="779254" y="3897483"/>
            <a:ext cx="2973323" cy="123158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IMAGE</a:t>
            </a:r>
            <a:endParaRPr lang="ko-KR" altLang="en-US" sz="28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DA41C7A-9C03-CA36-76D3-C4DDBD4254B9}"/>
              </a:ext>
            </a:extLst>
          </p:cNvPr>
          <p:cNvSpPr txBox="1"/>
          <p:nvPr/>
        </p:nvSpPr>
        <p:spPr>
          <a:xfrm>
            <a:off x="1093873" y="5247499"/>
            <a:ext cx="22868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일반 봉안실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(Standard)</a:t>
            </a:r>
            <a:endParaRPr lang="ko-KR" altLang="en-US" sz="1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C879B77-A48C-888C-5E4E-1286452DDF19}"/>
              </a:ext>
            </a:extLst>
          </p:cNvPr>
          <p:cNvSpPr txBox="1"/>
          <p:nvPr/>
        </p:nvSpPr>
        <p:spPr>
          <a:xfrm>
            <a:off x="779254" y="5559056"/>
            <a:ext cx="297332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개인형 안치단 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(1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위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  <a:p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투명 유리문으로 고인 사진 및 유품 안치 가능</a:t>
            </a:r>
          </a:p>
          <a:p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자연 채광이 스며드는 쾌적한 공간</a:t>
            </a:r>
          </a:p>
          <a:p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화강석 또는 대리석 명패</a:t>
            </a:r>
          </a:p>
          <a:p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1~9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단 높이별 선택 가능</a:t>
            </a:r>
          </a:p>
          <a:p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층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2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층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3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층 층별 선택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37343FB-D10B-C276-7A0A-1F44597E6ED5}"/>
              </a:ext>
            </a:extLst>
          </p:cNvPr>
          <p:cNvSpPr/>
          <p:nvPr/>
        </p:nvSpPr>
        <p:spPr>
          <a:xfrm>
            <a:off x="5270998" y="2418878"/>
            <a:ext cx="2973323" cy="123158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IMAGE</a:t>
            </a:r>
            <a:endParaRPr lang="ko-KR" altLang="en-US" sz="28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FE2A74-2096-115C-31F9-C9CC47119533}"/>
              </a:ext>
            </a:extLst>
          </p:cNvPr>
          <p:cNvSpPr txBox="1"/>
          <p:nvPr/>
        </p:nvSpPr>
        <p:spPr>
          <a:xfrm>
            <a:off x="5604265" y="1158116"/>
            <a:ext cx="22868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가족 봉안실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(Family)</a:t>
            </a:r>
            <a:endParaRPr lang="ko-KR" altLang="en-US" sz="1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9467857-A64D-992E-BDF0-54EB33D75229}"/>
              </a:ext>
            </a:extLst>
          </p:cNvPr>
          <p:cNvSpPr txBox="1"/>
          <p:nvPr/>
        </p:nvSpPr>
        <p:spPr>
          <a:xfrm>
            <a:off x="5289646" y="1469673"/>
            <a:ext cx="297332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가족 통합 안치단 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(4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위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/6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위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  <a:p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가족 통합 명패 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가족 이름 모두 새김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  <a:p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내부 인테리어 맞춤 가능</a:t>
            </a:r>
          </a:p>
          <a:p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독립 참배 공간 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일부 구역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  <a:p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넓고 깊은 여유로운 설계</a:t>
            </a:r>
          </a:p>
          <a:p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</a:t>
            </a:r>
            <a:r>
              <a:rPr lang="ko-KR" altLang="en-US" sz="9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프라이빗한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추모 공간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4F0241F-7555-79E3-BB27-625FFF23E6D6}"/>
              </a:ext>
            </a:extLst>
          </p:cNvPr>
          <p:cNvSpPr txBox="1"/>
          <p:nvPr/>
        </p:nvSpPr>
        <p:spPr>
          <a:xfrm>
            <a:off x="5610658" y="4973801"/>
            <a:ext cx="22868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프리미엄 봉안실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(Fremium)</a:t>
            </a:r>
            <a:endParaRPr lang="ko-KR" altLang="en-US" sz="1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25CD73E-F85D-FBB7-8EA0-E1DE729CD0A5}"/>
              </a:ext>
            </a:extLst>
          </p:cNvPr>
          <p:cNvSpPr txBox="1"/>
          <p:nvPr/>
        </p:nvSpPr>
        <p:spPr>
          <a:xfrm>
            <a:off x="5289646" y="5247499"/>
            <a:ext cx="244465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층 최상층 위치</a:t>
            </a:r>
          </a:p>
          <a:p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전망대 인접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하늘누리 전경 조망</a:t>
            </a:r>
          </a:p>
          <a:p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자연 채광 극대화 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천장 채광창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  <a:p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독립된 </a:t>
            </a:r>
            <a:r>
              <a:rPr lang="ko-KR" altLang="en-US" sz="9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프라이빗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공간</a:t>
            </a:r>
          </a:p>
          <a:p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맞춤형 인테리어 디자인 가능</a:t>
            </a:r>
          </a:p>
          <a:p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VIP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유족 대기실 우선 이용</a:t>
            </a:r>
          </a:p>
          <a:p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천연 대리석 명패 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프리미엄 재질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  <a:p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전용 주차 공간 배정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8A2CBA7-4A75-EF00-6E22-877EC59B3716}"/>
              </a:ext>
            </a:extLst>
          </p:cNvPr>
          <p:cNvSpPr/>
          <p:nvPr/>
        </p:nvSpPr>
        <p:spPr>
          <a:xfrm>
            <a:off x="5289647" y="3742216"/>
            <a:ext cx="2973323" cy="123158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IMAGE</a:t>
            </a:r>
            <a:endParaRPr lang="ko-KR" altLang="en-US" sz="28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17564901"/>
      </p:ext>
    </p:extLst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AE387C-40AA-5FB5-7F1E-BB1942EF12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8095AAF4-A5B8-80B9-59A9-8D6DBFF63F09}"/>
              </a:ext>
            </a:extLst>
          </p:cNvPr>
          <p:cNvGraphicFramePr>
            <a:graphicFrameLocks noGrp="1"/>
          </p:cNvGraphicFramePr>
          <p:nvPr/>
        </p:nvGraphicFramePr>
        <p:xfrm>
          <a:off x="9182101" y="947377"/>
          <a:ext cx="2795588" cy="1847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1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선택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봉인실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타입 선택 부분으로 이동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684046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선택 시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졸랑단타입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 선택 부분으로 이동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723838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3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선택 시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단위치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 선택 부분으로 이동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172599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4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선택 시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사용권 계약 부분으로 이동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290794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5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선택 시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관리비 납부 부분으로 이동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922450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6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784800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7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0538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8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199337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9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450365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4E371011-FCCA-BBAB-467B-84355B123C54}"/>
              </a:ext>
            </a:extLst>
          </p:cNvPr>
          <p:cNvSpPr/>
          <p:nvPr/>
        </p:nvSpPr>
        <p:spPr>
          <a:xfrm>
            <a:off x="959895" y="375614"/>
            <a:ext cx="1374094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</a:pP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메인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분양안내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분양절차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68D2AC3-E59E-9163-7DDD-9F4020233F53}"/>
              </a:ext>
            </a:extLst>
          </p:cNvPr>
          <p:cNvSpPr txBox="1"/>
          <p:nvPr/>
        </p:nvSpPr>
        <p:spPr>
          <a:xfrm>
            <a:off x="6003996" y="123825"/>
            <a:ext cx="17303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HN_DistriInfo_Distriproce_001</a:t>
            </a:r>
            <a:endParaRPr lang="ko-KR" altLang="en-US" sz="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BB5765-C42D-D2AC-6247-A34ABFB1B2D6}"/>
              </a:ext>
            </a:extLst>
          </p:cNvPr>
          <p:cNvSpPr txBox="1"/>
          <p:nvPr/>
        </p:nvSpPr>
        <p:spPr>
          <a:xfrm>
            <a:off x="5604265" y="1158116"/>
            <a:ext cx="22868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개인단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(Individual)</a:t>
            </a:r>
            <a:endParaRPr lang="ko-KR" altLang="en-US" sz="1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E7A79D4-2568-72EC-3ECB-408C3069733E}"/>
              </a:ext>
            </a:extLst>
          </p:cNvPr>
          <p:cNvSpPr txBox="1"/>
          <p:nvPr/>
        </p:nvSpPr>
        <p:spPr>
          <a:xfrm>
            <a:off x="5289646" y="1469673"/>
            <a:ext cx="2973324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고인의 평온한 영면을 위한 독립형 공간</a:t>
            </a:r>
          </a:p>
          <a:p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위 전용 안치</a:t>
            </a:r>
          </a:p>
          <a:p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인접 단의 간섭 없이 독립적</a:t>
            </a:r>
          </a:p>
          <a:p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조용히 추모에 집중할 수 있는 공간</a:t>
            </a:r>
          </a:p>
          <a:p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개인 명패 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이름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9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생몰년월일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호 등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  <a:p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유품 및 사진 배치 가능 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투명 유리문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2454E0E-9717-83B5-1AEF-610338292905}"/>
              </a:ext>
            </a:extLst>
          </p:cNvPr>
          <p:cNvSpPr txBox="1"/>
          <p:nvPr/>
        </p:nvSpPr>
        <p:spPr>
          <a:xfrm>
            <a:off x="1169101" y="1158116"/>
            <a:ext cx="6260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r>
              <a:rPr lang="en-US" altLang="ko-KR" sz="1400" b="1" baseline="30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nd</a:t>
            </a:r>
            <a:endParaRPr lang="en-US" altLang="ko-KR" sz="14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AF21CE0-B030-40D2-C139-4901E23669C4}"/>
              </a:ext>
            </a:extLst>
          </p:cNvPr>
          <p:cNvSpPr txBox="1"/>
          <p:nvPr/>
        </p:nvSpPr>
        <p:spPr>
          <a:xfrm>
            <a:off x="1521969" y="1209943"/>
            <a:ext cx="14113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봉안단</a:t>
            </a:r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타입 선택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CD1B36D-D7A2-39F2-0C7E-4588A9941649}"/>
              </a:ext>
            </a:extLst>
          </p:cNvPr>
          <p:cNvSpPr txBox="1"/>
          <p:nvPr/>
        </p:nvSpPr>
        <p:spPr>
          <a:xfrm>
            <a:off x="779254" y="1559644"/>
            <a:ext cx="290403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하늘누리 봉안당의 안치단은 일반 봉안당보다 넓고 깊게 설계되어 여유로운 공간을 제공합니다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 algn="ctr"/>
            <a:endParaRPr lang="en-US" altLang="ko-KR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모든 안치단은 영구적인 견고성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완벽한 방습과 항균성을 갖춘 특허 소재로 제작되어 유골을 원형 그대로 영구 보존합니다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17" name="표 16">
            <a:extLst>
              <a:ext uri="{FF2B5EF4-FFF2-40B4-BE49-F238E27FC236}">
                <a16:creationId xmlns:a16="http://schemas.microsoft.com/office/drawing/2014/main" id="{C72CCD19-9A86-2E67-A4B9-727366099E70}"/>
              </a:ext>
            </a:extLst>
          </p:cNvPr>
          <p:cNvGraphicFramePr>
            <a:graphicFrameLocks noGrp="1"/>
          </p:cNvGraphicFramePr>
          <p:nvPr/>
        </p:nvGraphicFramePr>
        <p:xfrm>
          <a:off x="783644" y="2622462"/>
          <a:ext cx="2968932" cy="1752566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27092">
                  <a:extLst>
                    <a:ext uri="{9D8B030D-6E8A-4147-A177-3AD203B41FA5}">
                      <a16:colId xmlns:a16="http://schemas.microsoft.com/office/drawing/2014/main" val="1553538150"/>
                    </a:ext>
                  </a:extLst>
                </a:gridCol>
                <a:gridCol w="327092">
                  <a:extLst>
                    <a:ext uri="{9D8B030D-6E8A-4147-A177-3AD203B41FA5}">
                      <a16:colId xmlns:a16="http://schemas.microsoft.com/office/drawing/2014/main" val="1005073696"/>
                    </a:ext>
                  </a:extLst>
                </a:gridCol>
                <a:gridCol w="686825">
                  <a:extLst>
                    <a:ext uri="{9D8B030D-6E8A-4147-A177-3AD203B41FA5}">
                      <a16:colId xmlns:a16="http://schemas.microsoft.com/office/drawing/2014/main" val="2912823855"/>
                    </a:ext>
                  </a:extLst>
                </a:gridCol>
                <a:gridCol w="661149">
                  <a:extLst>
                    <a:ext uri="{9D8B030D-6E8A-4147-A177-3AD203B41FA5}">
                      <a16:colId xmlns:a16="http://schemas.microsoft.com/office/drawing/2014/main" val="420109590"/>
                    </a:ext>
                  </a:extLst>
                </a:gridCol>
                <a:gridCol w="483387">
                  <a:extLst>
                    <a:ext uri="{9D8B030D-6E8A-4147-A177-3AD203B41FA5}">
                      <a16:colId xmlns:a16="http://schemas.microsoft.com/office/drawing/2014/main" val="21308472"/>
                    </a:ext>
                  </a:extLst>
                </a:gridCol>
                <a:gridCol w="483387">
                  <a:extLst>
                    <a:ext uri="{9D8B030D-6E8A-4147-A177-3AD203B41FA5}">
                      <a16:colId xmlns:a16="http://schemas.microsoft.com/office/drawing/2014/main" val="2322345466"/>
                    </a:ext>
                  </a:extLst>
                </a:gridCol>
              </a:tblGrid>
              <a:tr h="70102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구분</a:t>
                      </a:r>
                      <a:endParaRPr lang="en-US" altLang="ko-KR" sz="8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안치가능</a:t>
                      </a:r>
                      <a:endParaRPr lang="en-US" altLang="ko-KR" sz="8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공간</a:t>
                      </a:r>
                      <a:endParaRPr lang="en-US" altLang="ko-KR" sz="8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명패</a:t>
                      </a:r>
                      <a:endParaRPr lang="en-US" altLang="ko-KR" sz="8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추모</a:t>
                      </a:r>
                      <a:endParaRPr lang="en-US" altLang="ko-KR" sz="8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algn="ctr" latinLnBrk="1"/>
                      <a:r>
                        <a:rPr lang="ko-KR" altLang="en-US" sz="8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방식</a:t>
                      </a:r>
                      <a:endParaRPr lang="en-US" altLang="ko-KR" sz="8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가격</a:t>
                      </a:r>
                      <a:endParaRPr lang="en-US" altLang="ko-KR" sz="8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0268165"/>
                  </a:ext>
                </a:extLst>
              </a:tr>
              <a:tr h="52577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개인단</a:t>
                      </a:r>
                      <a:endParaRPr lang="en-US" altLang="ko-KR" sz="8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위</a:t>
                      </a:r>
                      <a:endParaRPr lang="en-US" altLang="ko-KR" sz="8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독립형 개인 공간</a:t>
                      </a:r>
                      <a:endParaRPr lang="en-US" altLang="ko-KR" sz="8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개인 명패</a:t>
                      </a:r>
                      <a:endParaRPr lang="en-US" altLang="ko-KR" sz="8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개인 중심 추모</a:t>
                      </a:r>
                      <a:endParaRPr lang="en-US" altLang="ko-KR" sz="8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단일 가격</a:t>
                      </a:r>
                      <a:endParaRPr lang="en-US" altLang="ko-KR" sz="8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1090331"/>
                  </a:ext>
                </a:extLst>
              </a:tr>
              <a:tr h="52577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부부단</a:t>
                      </a:r>
                      <a:endParaRPr lang="en-US" altLang="ko-KR" sz="8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</a:t>
                      </a: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위</a:t>
                      </a:r>
                      <a:endParaRPr lang="en-US" altLang="ko-KR" sz="8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부부 함께 공간</a:t>
                      </a:r>
                      <a:endParaRPr lang="en-US" altLang="ko-KR" sz="8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부부 통합 명패</a:t>
                      </a:r>
                      <a:endParaRPr lang="en-US" altLang="ko-KR" sz="8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부부 함께 추모</a:t>
                      </a:r>
                      <a:endParaRPr lang="en-US" altLang="ko-KR" sz="8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개인단 </a:t>
                      </a:r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* 2</a:t>
                      </a: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배</a:t>
                      </a:r>
                      <a:endParaRPr lang="en-US" altLang="ko-KR" sz="8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0626559"/>
                  </a:ext>
                </a:extLst>
              </a:tr>
            </a:tbl>
          </a:graphicData>
        </a:graphic>
      </p:graphicFrame>
      <p:sp>
        <p:nvSpPr>
          <p:cNvPr id="18" name="직사각형 17">
            <a:extLst>
              <a:ext uri="{FF2B5EF4-FFF2-40B4-BE49-F238E27FC236}">
                <a16:creationId xmlns:a16="http://schemas.microsoft.com/office/drawing/2014/main" id="{A5389D7A-58ED-9F4D-D638-015507976DA3}"/>
              </a:ext>
            </a:extLst>
          </p:cNvPr>
          <p:cNvSpPr/>
          <p:nvPr/>
        </p:nvSpPr>
        <p:spPr>
          <a:xfrm>
            <a:off x="779254" y="4424815"/>
            <a:ext cx="2968933" cy="1684155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IMAGE</a:t>
            </a:r>
            <a:endParaRPr lang="ko-KR" altLang="en-US" sz="28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B523122-CD21-0326-067A-CC4385DA5718}"/>
              </a:ext>
            </a:extLst>
          </p:cNvPr>
          <p:cNvSpPr txBox="1"/>
          <p:nvPr/>
        </p:nvSpPr>
        <p:spPr>
          <a:xfrm>
            <a:off x="5698299" y="2802428"/>
            <a:ext cx="22868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부부단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(Couple)</a:t>
            </a:r>
            <a:endParaRPr lang="ko-KR" altLang="en-US" sz="1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8877F8-B6CB-5B36-5914-4E76196ADC8A}"/>
              </a:ext>
            </a:extLst>
          </p:cNvPr>
          <p:cNvSpPr txBox="1"/>
          <p:nvPr/>
        </p:nvSpPr>
        <p:spPr>
          <a:xfrm>
            <a:off x="5383680" y="3113985"/>
            <a:ext cx="2973324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사랑하는 이와 함께 안식하실 수 있는 </a:t>
            </a:r>
            <a:r>
              <a:rPr lang="ko-KR" altLang="en-US" sz="9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프라이빗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공간</a:t>
            </a:r>
          </a:p>
          <a:p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위 함께 안치</a:t>
            </a:r>
          </a:p>
          <a:p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부부 통합 명패 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두 분 이름 함께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  <a:p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평온한 분위기 속 함께 추모</a:t>
            </a:r>
          </a:p>
          <a:p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좌우 배치로 나란히 모심</a:t>
            </a:r>
          </a:p>
          <a:p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가족이 한 곳에서 참배 가능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14FDF971-F48E-5CAF-4452-1867BFEB0FE0}"/>
              </a:ext>
            </a:extLst>
          </p:cNvPr>
          <p:cNvSpPr/>
          <p:nvPr/>
        </p:nvSpPr>
        <p:spPr>
          <a:xfrm>
            <a:off x="5263202" y="4241150"/>
            <a:ext cx="2968933" cy="1684155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IMAGE</a:t>
            </a:r>
            <a:endParaRPr lang="ko-KR" altLang="en-US" sz="28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02953349"/>
      </p:ext>
    </p:extLst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33CDE0-908D-2189-4B7F-F1E8144E7F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A2DFF43C-AF28-4609-0FB1-DF2EB0931C9D}"/>
              </a:ext>
            </a:extLst>
          </p:cNvPr>
          <p:cNvGraphicFramePr>
            <a:graphicFrameLocks noGrp="1"/>
          </p:cNvGraphicFramePr>
          <p:nvPr/>
        </p:nvGraphicFramePr>
        <p:xfrm>
          <a:off x="9182101" y="947377"/>
          <a:ext cx="2795588" cy="1847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1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선택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봉인실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타입 선택 부분으로 이동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684046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선택 시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졸랑단타입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 선택 부분으로 이동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723838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3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선택 시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단위치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 선택 부분으로 이동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172599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4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선택 시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사용권 계약 부분으로 이동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290794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5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선택 시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관리비 납부 부분으로 이동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922450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6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784800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7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0538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8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199337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9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450365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88C57A0F-96F5-9231-50AD-5F59927639BA}"/>
              </a:ext>
            </a:extLst>
          </p:cNvPr>
          <p:cNvSpPr/>
          <p:nvPr/>
        </p:nvSpPr>
        <p:spPr>
          <a:xfrm>
            <a:off x="959895" y="375614"/>
            <a:ext cx="1374094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</a:pP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메인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분양안내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분양절차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EC3C5A8-3A79-5439-D85E-2215F33DE62F}"/>
              </a:ext>
            </a:extLst>
          </p:cNvPr>
          <p:cNvSpPr txBox="1"/>
          <p:nvPr/>
        </p:nvSpPr>
        <p:spPr>
          <a:xfrm>
            <a:off x="6003996" y="123825"/>
            <a:ext cx="17303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HN_DistriInfo_Distriproce_001</a:t>
            </a:r>
            <a:endParaRPr lang="ko-KR" altLang="en-US" sz="8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24BDDB2-4FB0-BFDF-2E23-70118055D655}"/>
              </a:ext>
            </a:extLst>
          </p:cNvPr>
          <p:cNvSpPr txBox="1"/>
          <p:nvPr/>
        </p:nvSpPr>
        <p:spPr>
          <a:xfrm>
            <a:off x="1482127" y="1158116"/>
            <a:ext cx="6260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r>
              <a:rPr lang="en-US" altLang="ko-KR" sz="1400" b="1" baseline="30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rd</a:t>
            </a:r>
            <a:endParaRPr lang="en-US" altLang="ko-KR" sz="14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9E1689F-FEFF-469E-7A33-119B9787353F}"/>
              </a:ext>
            </a:extLst>
          </p:cNvPr>
          <p:cNvSpPr txBox="1"/>
          <p:nvPr/>
        </p:nvSpPr>
        <p:spPr>
          <a:xfrm>
            <a:off x="1795154" y="1197233"/>
            <a:ext cx="14113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단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위치 선택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AF430B3-8C9C-6637-B6FA-5447A5E8E732}"/>
              </a:ext>
            </a:extLst>
          </p:cNvPr>
          <p:cNvSpPr txBox="1"/>
          <p:nvPr/>
        </p:nvSpPr>
        <p:spPr>
          <a:xfrm>
            <a:off x="779254" y="1559644"/>
            <a:ext cx="290403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안당 내에서도 층별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단별 위치에 따라 참배 편의성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채광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분위기가 달라집니다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 algn="ctr"/>
            <a:endParaRPr lang="en-US" altLang="ko-KR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하늘누리는 모든 안치단이 고급 소재로 제작되며 위치에 따른 차등 가격으로 선택의 폭을 넓혔습니다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66CACB6-FEFB-B09B-ED9F-AA08304BD793}"/>
              </a:ext>
            </a:extLst>
          </p:cNvPr>
          <p:cNvSpPr txBox="1"/>
          <p:nvPr/>
        </p:nvSpPr>
        <p:spPr>
          <a:xfrm>
            <a:off x="5698299" y="2987254"/>
            <a:ext cx="22868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참배 편의성 우선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48AFD02-768E-378A-333C-BEAAA19F7037}"/>
              </a:ext>
            </a:extLst>
          </p:cNvPr>
          <p:cNvSpPr txBox="1"/>
          <p:nvPr/>
        </p:nvSpPr>
        <p:spPr>
          <a:xfrm>
            <a:off x="5383680" y="3298811"/>
            <a:ext cx="297332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추천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4~6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단 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중단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  <a:p>
            <a:endParaRPr lang="en-US" altLang="ko-KR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서서 자연스러운 눈높이</a:t>
            </a:r>
          </a:p>
          <a:p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허리 굽히지 않고 참배 가능</a:t>
            </a:r>
          </a:p>
          <a:p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고령 유족도 편안하게 참배</a:t>
            </a:r>
          </a:p>
          <a:p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가장 많이 선호되는 구간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28BFC455-F995-C156-020A-CD8625C4FFC6}"/>
              </a:ext>
            </a:extLst>
          </p:cNvPr>
          <p:cNvSpPr/>
          <p:nvPr/>
        </p:nvSpPr>
        <p:spPr>
          <a:xfrm>
            <a:off x="5282657" y="1197233"/>
            <a:ext cx="2968933" cy="1684155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IMAGE</a:t>
            </a:r>
            <a:endParaRPr lang="ko-KR" altLang="en-US" sz="28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01D8EC08-FF26-60DA-2CB4-D819E1564D44}"/>
              </a:ext>
            </a:extLst>
          </p:cNvPr>
          <p:cNvGraphicFramePr>
            <a:graphicFrameLocks noGrp="1"/>
          </p:cNvGraphicFramePr>
          <p:nvPr/>
        </p:nvGraphicFramePr>
        <p:xfrm>
          <a:off x="779254" y="2636334"/>
          <a:ext cx="2904036" cy="30789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82165">
                  <a:extLst>
                    <a:ext uri="{9D8B030D-6E8A-4147-A177-3AD203B41FA5}">
                      <a16:colId xmlns:a16="http://schemas.microsoft.com/office/drawing/2014/main" val="1553538150"/>
                    </a:ext>
                  </a:extLst>
                </a:gridCol>
                <a:gridCol w="382165">
                  <a:extLst>
                    <a:ext uri="{9D8B030D-6E8A-4147-A177-3AD203B41FA5}">
                      <a16:colId xmlns:a16="http://schemas.microsoft.com/office/drawing/2014/main" val="1005073696"/>
                    </a:ext>
                  </a:extLst>
                </a:gridCol>
                <a:gridCol w="885851">
                  <a:extLst>
                    <a:ext uri="{9D8B030D-6E8A-4147-A177-3AD203B41FA5}">
                      <a16:colId xmlns:a16="http://schemas.microsoft.com/office/drawing/2014/main" val="2912823855"/>
                    </a:ext>
                  </a:extLst>
                </a:gridCol>
                <a:gridCol w="689080">
                  <a:extLst>
                    <a:ext uri="{9D8B030D-6E8A-4147-A177-3AD203B41FA5}">
                      <a16:colId xmlns:a16="http://schemas.microsoft.com/office/drawing/2014/main" val="420109590"/>
                    </a:ext>
                  </a:extLst>
                </a:gridCol>
                <a:gridCol w="564775">
                  <a:extLst>
                    <a:ext uri="{9D8B030D-6E8A-4147-A177-3AD203B41FA5}">
                      <a16:colId xmlns:a16="http://schemas.microsoft.com/office/drawing/2014/main" val="21308472"/>
                    </a:ext>
                  </a:extLst>
                </a:gridCol>
              </a:tblGrid>
              <a:tr h="30789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단</a:t>
                      </a:r>
                      <a:endParaRPr lang="en-US" altLang="ko-KR" sz="8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높이 특징</a:t>
                      </a:r>
                      <a:endParaRPr lang="en-US" altLang="ko-KR" sz="8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참배 편의성</a:t>
                      </a:r>
                      <a:endParaRPr lang="en-US" altLang="ko-KR" sz="8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가격</a:t>
                      </a:r>
                      <a:endParaRPr lang="en-US" altLang="ko-KR" sz="8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algn="ctr" latinLnBrk="1"/>
                      <a:r>
                        <a:rPr lang="en-US" altLang="ko-KR" sz="8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개인단</a:t>
                      </a:r>
                      <a:r>
                        <a:rPr lang="en-US" altLang="ko-KR" sz="8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가격</a:t>
                      </a:r>
                      <a:endParaRPr lang="en-US" altLang="ko-KR" sz="8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algn="ctr" latinLnBrk="1"/>
                      <a:r>
                        <a:rPr lang="en-US" altLang="ko-KR" sz="8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부부단</a:t>
                      </a:r>
                      <a:r>
                        <a:rPr lang="en-US" altLang="ko-KR" sz="8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0268165"/>
                  </a:ext>
                </a:extLst>
              </a:tr>
              <a:tr h="307896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9</a:t>
                      </a:r>
                      <a:r>
                        <a:rPr lang="ko-KR" altLang="en-US" sz="8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단</a:t>
                      </a:r>
                      <a:endParaRPr lang="en-US" altLang="ko-KR" sz="8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최상단</a:t>
                      </a:r>
                      <a:endParaRPr lang="en-US" altLang="ko-KR" sz="8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고개 들어 참배</a:t>
                      </a:r>
                      <a:endParaRPr lang="en-US" altLang="ko-KR" sz="8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200 </a:t>
                      </a: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만원</a:t>
                      </a:r>
                      <a:endParaRPr lang="en-US" altLang="ko-KR" sz="8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400 </a:t>
                      </a: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만원</a:t>
                      </a:r>
                      <a:endParaRPr lang="en-US" altLang="ko-KR" sz="8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1090331"/>
                  </a:ext>
                </a:extLst>
              </a:tr>
              <a:tr h="307896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8</a:t>
                      </a:r>
                      <a:r>
                        <a:rPr lang="ko-KR" altLang="en-US" sz="8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단</a:t>
                      </a:r>
                      <a:endParaRPr lang="en-US" altLang="ko-KR" sz="8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상단</a:t>
                      </a:r>
                      <a:endParaRPr lang="en-US" altLang="ko-KR" sz="8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약간 위</a:t>
                      </a:r>
                      <a:endParaRPr lang="en-US" altLang="ko-KR" sz="8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250 </a:t>
                      </a: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만원</a:t>
                      </a:r>
                      <a:endParaRPr lang="en-US" altLang="ko-KR" sz="8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500 </a:t>
                      </a: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만원</a:t>
                      </a:r>
                      <a:endParaRPr lang="en-US" altLang="ko-KR" sz="8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0626559"/>
                  </a:ext>
                </a:extLst>
              </a:tr>
              <a:tr h="307896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7</a:t>
                      </a:r>
                      <a:r>
                        <a:rPr lang="ko-KR" altLang="en-US" sz="8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단</a:t>
                      </a:r>
                      <a:endParaRPr lang="en-US" altLang="ko-KR" sz="8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상단</a:t>
                      </a:r>
                      <a:endParaRPr lang="en-US" altLang="ko-KR" sz="8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편안한 높이</a:t>
                      </a:r>
                      <a:endParaRPr lang="en-US" altLang="ko-KR" sz="8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300 </a:t>
                      </a: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만원</a:t>
                      </a:r>
                      <a:endParaRPr lang="en-US" altLang="ko-KR" sz="8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600 </a:t>
                      </a: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만원</a:t>
                      </a:r>
                      <a:endParaRPr lang="en-US" altLang="ko-KR" sz="8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424428"/>
                  </a:ext>
                </a:extLst>
              </a:tr>
              <a:tr h="307896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6</a:t>
                      </a:r>
                      <a:r>
                        <a:rPr lang="ko-KR" altLang="en-US" sz="8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단</a:t>
                      </a:r>
                      <a:endParaRPr lang="en-US" altLang="ko-KR" sz="8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중단</a:t>
                      </a:r>
                      <a:endParaRPr lang="en-US" altLang="ko-KR" sz="8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눈높이</a:t>
                      </a:r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인기</a:t>
                      </a:r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400 </a:t>
                      </a: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만원</a:t>
                      </a:r>
                      <a:endParaRPr lang="en-US" altLang="ko-KR" sz="8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800 </a:t>
                      </a: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만원</a:t>
                      </a:r>
                      <a:endParaRPr lang="en-US" altLang="ko-KR" sz="8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2495770"/>
                  </a:ext>
                </a:extLst>
              </a:tr>
              <a:tr h="307896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</a:t>
                      </a:r>
                      <a:r>
                        <a:rPr lang="ko-KR" altLang="en-US" sz="8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단</a:t>
                      </a:r>
                      <a:endParaRPr lang="en-US" altLang="ko-KR" sz="8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중단</a:t>
                      </a:r>
                      <a:endParaRPr lang="en-US" altLang="ko-KR" sz="8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최적높이</a:t>
                      </a:r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인기</a:t>
                      </a:r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450 </a:t>
                      </a: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만원</a:t>
                      </a:r>
                      <a:endParaRPr lang="en-US" altLang="ko-KR" sz="8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900 </a:t>
                      </a: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만원</a:t>
                      </a:r>
                      <a:endParaRPr lang="en-US" altLang="ko-KR" sz="8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5299836"/>
                  </a:ext>
                </a:extLst>
              </a:tr>
              <a:tr h="307896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</a:t>
                      </a:r>
                      <a:r>
                        <a:rPr lang="ko-KR" altLang="en-US" sz="8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단</a:t>
                      </a:r>
                      <a:endParaRPr lang="en-US" altLang="ko-KR" sz="8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중단</a:t>
                      </a:r>
                      <a:endParaRPr lang="en-US" altLang="ko-KR" sz="8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편안한 높이</a:t>
                      </a:r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인기</a:t>
                      </a:r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400 </a:t>
                      </a: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만원</a:t>
                      </a:r>
                      <a:endParaRPr lang="en-US" altLang="ko-KR" sz="8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800 </a:t>
                      </a: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만원</a:t>
                      </a:r>
                      <a:endParaRPr lang="en-US" altLang="ko-KR" sz="8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0306300"/>
                  </a:ext>
                </a:extLst>
              </a:tr>
              <a:tr h="307896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</a:t>
                      </a:r>
                      <a:r>
                        <a:rPr lang="ko-KR" altLang="en-US" sz="8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단</a:t>
                      </a:r>
                      <a:endParaRPr lang="en-US" altLang="ko-KR" sz="8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하단</a:t>
                      </a:r>
                      <a:endParaRPr lang="en-US" altLang="ko-KR" sz="8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약간 낮음</a:t>
                      </a:r>
                      <a:endParaRPr lang="en-US" altLang="ko-KR" sz="8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300 </a:t>
                      </a: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만원</a:t>
                      </a:r>
                      <a:endParaRPr lang="en-US" altLang="ko-KR" sz="8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600 </a:t>
                      </a: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만원</a:t>
                      </a:r>
                      <a:endParaRPr lang="en-US" altLang="ko-KR" sz="8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2544402"/>
                  </a:ext>
                </a:extLst>
              </a:tr>
              <a:tr h="307896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</a:t>
                      </a:r>
                      <a:r>
                        <a:rPr lang="ko-KR" altLang="en-US" sz="8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단</a:t>
                      </a:r>
                      <a:endParaRPr lang="en-US" altLang="ko-KR" sz="8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하단</a:t>
                      </a:r>
                      <a:endParaRPr lang="en-US" altLang="ko-KR" sz="8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허리 숙임</a:t>
                      </a:r>
                      <a:endParaRPr lang="en-US" altLang="ko-KR" sz="8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250 </a:t>
                      </a: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만원</a:t>
                      </a:r>
                      <a:endParaRPr lang="en-US" altLang="ko-KR" sz="8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500 </a:t>
                      </a: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만원</a:t>
                      </a:r>
                      <a:endParaRPr lang="en-US" altLang="ko-KR" sz="8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7094939"/>
                  </a:ext>
                </a:extLst>
              </a:tr>
              <a:tr h="307896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r>
                        <a:rPr lang="ko-KR" altLang="en-US" sz="8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단</a:t>
                      </a:r>
                      <a:endParaRPr lang="en-US" altLang="ko-KR" sz="8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최하단</a:t>
                      </a:r>
                      <a:endParaRPr lang="en-US" altLang="ko-KR" sz="8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앉아서 참배</a:t>
                      </a:r>
                      <a:endParaRPr lang="en-US" altLang="ko-KR" sz="8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200 </a:t>
                      </a: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만원</a:t>
                      </a:r>
                      <a:endParaRPr lang="en-US" altLang="ko-KR" sz="8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400 </a:t>
                      </a: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만원</a:t>
                      </a:r>
                      <a:endParaRPr lang="en-US" altLang="ko-KR" sz="8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614567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AE1CBB1F-F192-A958-C828-D579A4E3F433}"/>
              </a:ext>
            </a:extLst>
          </p:cNvPr>
          <p:cNvSpPr txBox="1"/>
          <p:nvPr/>
        </p:nvSpPr>
        <p:spPr>
          <a:xfrm>
            <a:off x="5592885" y="4222141"/>
            <a:ext cx="22868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가격 효율성 측면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8FC7D5-DFA5-A25C-6F83-300005DFF1E8}"/>
              </a:ext>
            </a:extLst>
          </p:cNvPr>
          <p:cNvSpPr txBox="1"/>
          <p:nvPr/>
        </p:nvSpPr>
        <p:spPr>
          <a:xfrm>
            <a:off x="5278266" y="4533698"/>
            <a:ext cx="297332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추천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1~3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단 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하단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또는 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7~9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단 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상단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  <a:p>
            <a:endParaRPr lang="en-US" altLang="ko-KR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중단 대비 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20~40%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저렴</a:t>
            </a:r>
          </a:p>
          <a:p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동일한 시설과 관리</a:t>
            </a:r>
          </a:p>
          <a:p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앉아서 또는 고개 들어 참배</a:t>
            </a:r>
          </a:p>
          <a:p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예산 절감 효과</a:t>
            </a:r>
          </a:p>
        </p:txBody>
      </p:sp>
    </p:spTree>
    <p:extLst>
      <p:ext uri="{BB962C8B-B14F-4D97-AF65-F5344CB8AC3E}">
        <p14:creationId xmlns:p14="http://schemas.microsoft.com/office/powerpoint/2010/main" val="3157643971"/>
      </p:ext>
    </p:extLst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E183BA-C17F-0A64-8547-6C8A471343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FDC05EA7-9A90-1242-2ABD-6CF0595E1A71}"/>
              </a:ext>
            </a:extLst>
          </p:cNvPr>
          <p:cNvGraphicFramePr>
            <a:graphicFrameLocks noGrp="1"/>
          </p:cNvGraphicFramePr>
          <p:nvPr/>
        </p:nvGraphicFramePr>
        <p:xfrm>
          <a:off x="9182101" y="947377"/>
          <a:ext cx="2795588" cy="1847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1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선택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봉인실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타입 선택 부분으로 이동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684046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선택 시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졸랑단타입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 선택 부분으로 이동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723838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3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선택 시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단위치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 선택 부분으로 이동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172599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4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선택 시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사용권 계약 부분으로 이동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290794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5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선택 시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관리비 납부 부분으로 이동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922450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6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784800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7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0538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8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199337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9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450365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F30C026A-1C47-A317-FEDC-CA8427BDBB61}"/>
              </a:ext>
            </a:extLst>
          </p:cNvPr>
          <p:cNvSpPr/>
          <p:nvPr/>
        </p:nvSpPr>
        <p:spPr>
          <a:xfrm>
            <a:off x="959895" y="375614"/>
            <a:ext cx="1374094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</a:pP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메인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분양안내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분양절차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8533EAF-5C71-4F8A-1B76-20C4FFB31CF2}"/>
              </a:ext>
            </a:extLst>
          </p:cNvPr>
          <p:cNvSpPr txBox="1"/>
          <p:nvPr/>
        </p:nvSpPr>
        <p:spPr>
          <a:xfrm>
            <a:off x="6003996" y="123825"/>
            <a:ext cx="17303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HN_DistriInfo_Distriproce_001</a:t>
            </a:r>
            <a:endParaRPr lang="ko-KR" altLang="en-US" sz="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8495A2-5D29-1FAF-9D58-D43C4C0CA13F}"/>
              </a:ext>
            </a:extLst>
          </p:cNvPr>
          <p:cNvSpPr txBox="1"/>
          <p:nvPr/>
        </p:nvSpPr>
        <p:spPr>
          <a:xfrm>
            <a:off x="1041050" y="1149538"/>
            <a:ext cx="22868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채광 및 분위기 측면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A4B01A6-D015-BB51-AB59-6DF7CC3989D6}"/>
              </a:ext>
            </a:extLst>
          </p:cNvPr>
          <p:cNvSpPr txBox="1"/>
          <p:nvPr/>
        </p:nvSpPr>
        <p:spPr>
          <a:xfrm>
            <a:off x="726431" y="1461095"/>
            <a:ext cx="297332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추천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2~3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층 고단</a:t>
            </a:r>
          </a:p>
          <a:p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자연 채광 최대</a:t>
            </a:r>
          </a:p>
          <a:p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밝고 쾌적한 분위기</a:t>
            </a:r>
          </a:p>
          <a:p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하늘과 가까운 느낌</a:t>
            </a:r>
          </a:p>
          <a:p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프리미엄 공간감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761C6A7-99E3-3414-6957-4E3DC958065D}"/>
              </a:ext>
            </a:extLst>
          </p:cNvPr>
          <p:cNvSpPr txBox="1"/>
          <p:nvPr/>
        </p:nvSpPr>
        <p:spPr>
          <a:xfrm>
            <a:off x="1499842" y="2490807"/>
            <a:ext cx="6260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r>
            <a:r>
              <a:rPr lang="en-US" altLang="ko-KR" sz="1400" b="1" baseline="30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th</a:t>
            </a:r>
            <a:endParaRPr lang="en-US" altLang="ko-KR" sz="14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4FF32A4-2ED5-40D5-DE06-5C0F68A1D83C}"/>
              </a:ext>
            </a:extLst>
          </p:cNvPr>
          <p:cNvSpPr txBox="1"/>
          <p:nvPr/>
        </p:nvSpPr>
        <p:spPr>
          <a:xfrm>
            <a:off x="1852710" y="2542634"/>
            <a:ext cx="14113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사용권 계약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644D2ED-850F-1565-2CFA-2BF9525E807F}"/>
              </a:ext>
            </a:extLst>
          </p:cNvPr>
          <p:cNvSpPr txBox="1"/>
          <p:nvPr/>
        </p:nvSpPr>
        <p:spPr>
          <a:xfrm>
            <a:off x="779254" y="2892335"/>
            <a:ext cx="290403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하늘누리는 재단법인 운영으로 법률 검토를 마친 표준 계약서를 사용합니다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 algn="ctr"/>
            <a:endParaRPr lang="en-US" altLang="ko-KR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전용 상담실에서 편안하게 계약을 진행하며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모든 조항을 명확히 설명해드립니다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4298616-A0EE-EF84-3C8C-E9D3F29154B9}"/>
              </a:ext>
            </a:extLst>
          </p:cNvPr>
          <p:cNvSpPr/>
          <p:nvPr/>
        </p:nvSpPr>
        <p:spPr>
          <a:xfrm>
            <a:off x="779254" y="3644900"/>
            <a:ext cx="2973324" cy="18415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IMAGE</a:t>
            </a:r>
            <a:endParaRPr lang="ko-KR" altLang="en-US" sz="28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43070C7-5876-448B-7810-F36EC4878446}"/>
              </a:ext>
            </a:extLst>
          </p:cNvPr>
          <p:cNvSpPr txBox="1"/>
          <p:nvPr/>
        </p:nvSpPr>
        <p:spPr>
          <a:xfrm>
            <a:off x="5609715" y="1257259"/>
            <a:ext cx="22868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계약관련 필요 서류</a:t>
            </a: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462CEB55-06FB-CDCF-CEEB-3D5045804780}"/>
              </a:ext>
            </a:extLst>
          </p:cNvPr>
          <p:cNvGraphicFramePr>
            <a:graphicFrameLocks noGrp="1"/>
          </p:cNvGraphicFramePr>
          <p:nvPr/>
        </p:nvGraphicFramePr>
        <p:xfrm>
          <a:off x="5266457" y="1583424"/>
          <a:ext cx="2973323" cy="19184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725238">
                  <a:extLst>
                    <a:ext uri="{9D8B030D-6E8A-4147-A177-3AD203B41FA5}">
                      <a16:colId xmlns:a16="http://schemas.microsoft.com/office/drawing/2014/main" val="1553538150"/>
                    </a:ext>
                  </a:extLst>
                </a:gridCol>
                <a:gridCol w="1206230">
                  <a:extLst>
                    <a:ext uri="{9D8B030D-6E8A-4147-A177-3AD203B41FA5}">
                      <a16:colId xmlns:a16="http://schemas.microsoft.com/office/drawing/2014/main" val="1005073696"/>
                    </a:ext>
                  </a:extLst>
                </a:gridCol>
                <a:gridCol w="1041855">
                  <a:extLst>
                    <a:ext uri="{9D8B030D-6E8A-4147-A177-3AD203B41FA5}">
                      <a16:colId xmlns:a16="http://schemas.microsoft.com/office/drawing/2014/main" val="2912823855"/>
                    </a:ext>
                  </a:extLst>
                </a:gridCol>
              </a:tblGrid>
              <a:tr h="27599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구분</a:t>
                      </a:r>
                      <a:endParaRPr lang="en-US" altLang="ko-KR" sz="9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필수서류</a:t>
                      </a:r>
                      <a:endParaRPr lang="en-US" altLang="ko-KR" sz="9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비고</a:t>
                      </a:r>
                      <a:endParaRPr lang="en-US" altLang="ko-KR" sz="9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0268165"/>
                  </a:ext>
                </a:extLst>
              </a:tr>
              <a:tr h="41372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개인 계약</a:t>
                      </a:r>
                      <a:endParaRPr lang="en-US" altLang="ko-KR" sz="9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• </a:t>
                      </a:r>
                      <a:r>
                        <a:rPr lang="ko-KR" altLang="en-US" sz="9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신분증 원본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• </a:t>
                      </a:r>
                      <a:r>
                        <a:rPr lang="ko-KR" altLang="en-US" sz="9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도장 또는 서명</a:t>
                      </a:r>
                      <a:endParaRPr lang="en-US" altLang="ko-KR" sz="9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본인 계약 시</a:t>
                      </a:r>
                      <a:endParaRPr lang="en-US" altLang="ko-KR" sz="9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1090331"/>
                  </a:ext>
                </a:extLst>
              </a:tr>
              <a:tr h="61435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대리인 계약</a:t>
                      </a:r>
                      <a:endParaRPr lang="en-US" altLang="ko-KR" sz="9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• </a:t>
                      </a:r>
                      <a:r>
                        <a:rPr lang="ko-KR" altLang="en-US" sz="9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위임장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• </a:t>
                      </a:r>
                      <a:r>
                        <a:rPr lang="ko-KR" altLang="en-US" sz="9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대리인 신분증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• </a:t>
                      </a:r>
                      <a:r>
                        <a:rPr lang="ko-KR" altLang="en-US" sz="9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계약자 신분증 사본</a:t>
                      </a:r>
                      <a:endParaRPr lang="en-US" altLang="ko-KR" sz="9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대리 계약 시</a:t>
                      </a:r>
                      <a:endParaRPr lang="en-US" altLang="ko-KR" sz="9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0626559"/>
                  </a:ext>
                </a:extLst>
              </a:tr>
              <a:tr h="61435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법인 계약</a:t>
                      </a:r>
                      <a:endParaRPr lang="en-US" altLang="ko-KR" sz="9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• </a:t>
                      </a:r>
                      <a:r>
                        <a:rPr lang="ko-KR" altLang="en-US" sz="9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사업자등록증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• </a:t>
                      </a:r>
                      <a:r>
                        <a:rPr lang="ko-KR" altLang="en-US" sz="9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법인인감증명서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• </a:t>
                      </a:r>
                      <a:r>
                        <a:rPr lang="ko-KR" altLang="en-US" sz="9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대표자 신분증</a:t>
                      </a:r>
                      <a:endParaRPr lang="en-US" altLang="ko-KR" sz="9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법인 명의 시</a:t>
                      </a:r>
                      <a:endParaRPr lang="en-US" altLang="ko-KR" sz="9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469753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BB624A8E-B9A2-BC5F-0F57-07BA9C9C34B9}"/>
              </a:ext>
            </a:extLst>
          </p:cNvPr>
          <p:cNvSpPr txBox="1"/>
          <p:nvPr/>
        </p:nvSpPr>
        <p:spPr>
          <a:xfrm>
            <a:off x="5609713" y="3644900"/>
            <a:ext cx="22868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계약관련 필요 서류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FEB5A6D1-15BE-7C83-2893-BFFCA33CDA51}"/>
              </a:ext>
            </a:extLst>
          </p:cNvPr>
          <p:cNvSpPr/>
          <p:nvPr/>
        </p:nvSpPr>
        <p:spPr>
          <a:xfrm>
            <a:off x="5342832" y="4183477"/>
            <a:ext cx="622171" cy="1070042"/>
          </a:xfrm>
          <a:prstGeom prst="roundRect">
            <a:avLst/>
          </a:prstGeom>
          <a:solidFill>
            <a:srgbClr val="002060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 </a:t>
            </a:r>
            <a:endParaRPr lang="en-US" altLang="ko-KR" sz="9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내용 </a:t>
            </a:r>
            <a:endParaRPr lang="en-US" altLang="ko-KR" sz="9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최종 </a:t>
            </a:r>
            <a:endParaRPr lang="en-US" altLang="ko-KR" sz="9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확인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59D8ACB8-6AED-9D0E-048C-046BAC3B5912}"/>
              </a:ext>
            </a:extLst>
          </p:cNvPr>
          <p:cNvSpPr/>
          <p:nvPr/>
        </p:nvSpPr>
        <p:spPr>
          <a:xfrm>
            <a:off x="6078340" y="4183477"/>
            <a:ext cx="615934" cy="1070042"/>
          </a:xfrm>
          <a:prstGeom prst="roundRect">
            <a:avLst/>
          </a:prstGeom>
          <a:solidFill>
            <a:srgbClr val="002060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계약서    설명 및   작성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DB663D7C-2850-0DFC-3F1F-849A7B6DEEC2}"/>
              </a:ext>
            </a:extLst>
          </p:cNvPr>
          <p:cNvSpPr/>
          <p:nvPr/>
        </p:nvSpPr>
        <p:spPr>
          <a:xfrm>
            <a:off x="6836202" y="4183477"/>
            <a:ext cx="615934" cy="1070042"/>
          </a:xfrm>
          <a:prstGeom prst="roundRect">
            <a:avLst/>
          </a:prstGeom>
          <a:solidFill>
            <a:srgbClr val="002060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계약금</a:t>
            </a:r>
            <a:endParaRPr lang="en-US" altLang="ko-KR" sz="9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납부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3EAA4EEF-3E7E-C162-01B0-846F8F9AC1B6}"/>
              </a:ext>
            </a:extLst>
          </p:cNvPr>
          <p:cNvSpPr/>
          <p:nvPr/>
        </p:nvSpPr>
        <p:spPr>
          <a:xfrm>
            <a:off x="7610621" y="4183477"/>
            <a:ext cx="615934" cy="1070042"/>
          </a:xfrm>
          <a:prstGeom prst="roundRect">
            <a:avLst/>
          </a:prstGeom>
          <a:solidFill>
            <a:srgbClr val="002060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향후 </a:t>
            </a:r>
            <a:endParaRPr lang="en-US" altLang="ko-KR" sz="9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일정 </a:t>
            </a:r>
            <a:endParaRPr lang="en-US" altLang="ko-KR" sz="9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안내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5698917-A93B-67A7-688C-136DEA7816C1}"/>
              </a:ext>
            </a:extLst>
          </p:cNvPr>
          <p:cNvSpPr txBox="1"/>
          <p:nvPr/>
        </p:nvSpPr>
        <p:spPr>
          <a:xfrm>
            <a:off x="6108075" y="3935044"/>
            <a:ext cx="61593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r>
              <a:rPr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단계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0E27908-A90A-37BA-CF5A-76C5A527A3E3}"/>
              </a:ext>
            </a:extLst>
          </p:cNvPr>
          <p:cNvSpPr txBox="1"/>
          <p:nvPr/>
        </p:nvSpPr>
        <p:spPr>
          <a:xfrm>
            <a:off x="5307315" y="3935044"/>
            <a:ext cx="61593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b="1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단계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387A1C1-9BF2-F479-9404-EF180485274A}"/>
              </a:ext>
            </a:extLst>
          </p:cNvPr>
          <p:cNvSpPr txBox="1"/>
          <p:nvPr/>
        </p:nvSpPr>
        <p:spPr>
          <a:xfrm>
            <a:off x="7623846" y="3935044"/>
            <a:ext cx="61593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r>
            <a:r>
              <a:rPr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단계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98C3A8F-9902-000C-0DB7-85C92D5293B5}"/>
              </a:ext>
            </a:extLst>
          </p:cNvPr>
          <p:cNvSpPr txBox="1"/>
          <p:nvPr/>
        </p:nvSpPr>
        <p:spPr>
          <a:xfrm>
            <a:off x="6817555" y="3935044"/>
            <a:ext cx="61593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r>
              <a:rPr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단계</a:t>
            </a:r>
          </a:p>
        </p:txBody>
      </p: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1AAEE4C5-07A7-B1DB-EFFA-0B2236027096}"/>
              </a:ext>
            </a:extLst>
          </p:cNvPr>
          <p:cNvCxnSpPr>
            <a:cxnSpLocks/>
            <a:endCxn id="18" idx="1"/>
          </p:cNvCxnSpPr>
          <p:nvPr/>
        </p:nvCxnSpPr>
        <p:spPr>
          <a:xfrm>
            <a:off x="5867726" y="4718498"/>
            <a:ext cx="210614" cy="0"/>
          </a:xfrm>
          <a:prstGeom prst="straightConnector1">
            <a:avLst/>
          </a:prstGeom>
          <a:ln w="9525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9EFAB6C8-99B1-6B87-AE56-D0F1190D7A90}"/>
              </a:ext>
            </a:extLst>
          </p:cNvPr>
          <p:cNvCxnSpPr>
            <a:cxnSpLocks/>
            <a:stCxn id="18" idx="3"/>
            <a:endCxn id="22" idx="1"/>
          </p:cNvCxnSpPr>
          <p:nvPr/>
        </p:nvCxnSpPr>
        <p:spPr>
          <a:xfrm>
            <a:off x="6694274" y="4718498"/>
            <a:ext cx="141928" cy="0"/>
          </a:xfrm>
          <a:prstGeom prst="straightConnector1">
            <a:avLst/>
          </a:prstGeom>
          <a:ln w="9525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58DDF67F-7C47-7D8F-CC05-364E1507B79B}"/>
              </a:ext>
            </a:extLst>
          </p:cNvPr>
          <p:cNvCxnSpPr>
            <a:cxnSpLocks/>
            <a:endCxn id="23" idx="1"/>
          </p:cNvCxnSpPr>
          <p:nvPr/>
        </p:nvCxnSpPr>
        <p:spPr>
          <a:xfrm>
            <a:off x="7403496" y="4718498"/>
            <a:ext cx="207125" cy="0"/>
          </a:xfrm>
          <a:prstGeom prst="straightConnector1">
            <a:avLst/>
          </a:prstGeom>
          <a:ln w="9525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2595FCA1-DA91-D3AE-DEC1-017F6038B98F}"/>
              </a:ext>
            </a:extLst>
          </p:cNvPr>
          <p:cNvSpPr txBox="1"/>
          <p:nvPr/>
        </p:nvSpPr>
        <p:spPr>
          <a:xfrm>
            <a:off x="5268405" y="5301734"/>
            <a:ext cx="735592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b="0" i="0" dirty="0">
                <a:solidFill>
                  <a:srgbClr val="24292E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선택한 봉안실 위치 재확인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51775B7-D9F0-2583-BF78-8F01DD64AE80}"/>
              </a:ext>
            </a:extLst>
          </p:cNvPr>
          <p:cNvSpPr txBox="1"/>
          <p:nvPr/>
        </p:nvSpPr>
        <p:spPr>
          <a:xfrm>
            <a:off x="6039431" y="5339792"/>
            <a:ext cx="6548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b="0" i="0" dirty="0">
                <a:solidFill>
                  <a:srgbClr val="24292E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봉안시설 사용권 계약서 </a:t>
            </a:r>
            <a:r>
              <a:rPr lang="en-US" altLang="ko-KR" sz="900" b="0" i="0" dirty="0">
                <a:solidFill>
                  <a:srgbClr val="24292E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900" b="0" i="0" dirty="0">
                <a:solidFill>
                  <a:srgbClr val="24292E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표준양식</a:t>
            </a:r>
            <a:r>
              <a:rPr lang="en-US" altLang="ko-KR" sz="900" b="0" i="0" dirty="0">
                <a:solidFill>
                  <a:srgbClr val="24292E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B921FB8-20CA-1F3E-93FA-B0E82F9BAB5F}"/>
              </a:ext>
            </a:extLst>
          </p:cNvPr>
          <p:cNvSpPr txBox="1"/>
          <p:nvPr/>
        </p:nvSpPr>
        <p:spPr>
          <a:xfrm>
            <a:off x="6799529" y="5339792"/>
            <a:ext cx="720295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b="0" i="0" dirty="0">
                <a:solidFill>
                  <a:srgbClr val="24292E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계약금 </a:t>
            </a:r>
            <a:r>
              <a:rPr lang="en-US" altLang="ko-KR" sz="900" b="0" i="0" dirty="0">
                <a:solidFill>
                  <a:srgbClr val="24292E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30% </a:t>
            </a:r>
            <a:r>
              <a:rPr lang="ko-KR" altLang="en-US" sz="900" b="0" i="0" dirty="0">
                <a:solidFill>
                  <a:srgbClr val="24292E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즉시 납부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0231021-455A-D81D-F3F1-9FFD9AC71FBC}"/>
              </a:ext>
            </a:extLst>
          </p:cNvPr>
          <p:cNvSpPr txBox="1"/>
          <p:nvPr/>
        </p:nvSpPr>
        <p:spPr>
          <a:xfrm>
            <a:off x="7639945" y="5339792"/>
            <a:ext cx="720296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b="0" i="0" dirty="0">
                <a:solidFill>
                  <a:srgbClr val="24292E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향후 제반 일정 기타 관련 안내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75801794"/>
      </p:ext>
    </p:extLst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CE285C-5306-08B7-2B54-220E9A7947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E147D58A-F6B7-BD4E-7973-5660CE382122}"/>
              </a:ext>
            </a:extLst>
          </p:cNvPr>
          <p:cNvGraphicFramePr>
            <a:graphicFrameLocks noGrp="1"/>
          </p:cNvGraphicFramePr>
          <p:nvPr/>
        </p:nvGraphicFramePr>
        <p:xfrm>
          <a:off x="9182101" y="947377"/>
          <a:ext cx="2795588" cy="1847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1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선택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봉인실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타입 선택 부분으로 이동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684046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선택 시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졸랑단타입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 선택 부분으로 이동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723838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3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선택 시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단위치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 선택 부분으로 이동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172599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4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선택 시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사용권 계약 부분으로 이동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290794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5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선택 시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관리비 납부 부분으로 이동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922450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6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784800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7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0538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8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199337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9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450365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D79C0AC2-6AD5-67E4-71ED-E86B0DFB9032}"/>
              </a:ext>
            </a:extLst>
          </p:cNvPr>
          <p:cNvSpPr/>
          <p:nvPr/>
        </p:nvSpPr>
        <p:spPr>
          <a:xfrm>
            <a:off x="959895" y="375614"/>
            <a:ext cx="1374094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</a:pP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메인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분양안내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분양절차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7BDBE54-1E91-5510-9426-AD58ABC58316}"/>
              </a:ext>
            </a:extLst>
          </p:cNvPr>
          <p:cNvSpPr txBox="1"/>
          <p:nvPr/>
        </p:nvSpPr>
        <p:spPr>
          <a:xfrm>
            <a:off x="6003996" y="123825"/>
            <a:ext cx="17303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HN_DistriInfo_Distriproce_001</a:t>
            </a:r>
            <a:endParaRPr lang="ko-KR" altLang="en-US" sz="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4CB7A2A-F0E9-3162-E9BF-A2D944283BAB}"/>
              </a:ext>
            </a:extLst>
          </p:cNvPr>
          <p:cNvSpPr txBox="1"/>
          <p:nvPr/>
        </p:nvSpPr>
        <p:spPr>
          <a:xfrm>
            <a:off x="1499842" y="3025826"/>
            <a:ext cx="6260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5</a:t>
            </a:r>
            <a:r>
              <a:rPr lang="en-US" altLang="ko-KR" sz="1400" b="1" baseline="30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th</a:t>
            </a:r>
            <a:endParaRPr lang="en-US" altLang="ko-KR" sz="14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B927E4F-33C5-9B8E-5362-B61176C8A1F7}"/>
              </a:ext>
            </a:extLst>
          </p:cNvPr>
          <p:cNvSpPr txBox="1"/>
          <p:nvPr/>
        </p:nvSpPr>
        <p:spPr>
          <a:xfrm>
            <a:off x="1852710" y="3077653"/>
            <a:ext cx="14113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관리비 납부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187B11A-928D-108A-C8E7-263031711B28}"/>
              </a:ext>
            </a:extLst>
          </p:cNvPr>
          <p:cNvSpPr txBox="1"/>
          <p:nvPr/>
        </p:nvSpPr>
        <p:spPr>
          <a:xfrm>
            <a:off x="779254" y="3427354"/>
            <a:ext cx="290403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하늘누리의 관리비는 안치일로부터 발생하며 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5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 단위로 선납하는 방식입니다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 algn="ctr"/>
            <a:endParaRPr lang="en-US" altLang="ko-KR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재단법인 운영으로 투명하게 관리되며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영구적으로 안전하게 모십니다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2B1ED88-FDCD-B280-85A0-F022BDCCAFF7}"/>
              </a:ext>
            </a:extLst>
          </p:cNvPr>
          <p:cNvSpPr/>
          <p:nvPr/>
        </p:nvSpPr>
        <p:spPr>
          <a:xfrm>
            <a:off x="779254" y="1164342"/>
            <a:ext cx="2973324" cy="18415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IMAGE</a:t>
            </a:r>
            <a:endParaRPr lang="ko-KR" altLang="en-US" sz="28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0E82675-7C35-0FA1-4D9E-4AEB369FA653}"/>
              </a:ext>
            </a:extLst>
          </p:cNvPr>
          <p:cNvSpPr/>
          <p:nvPr/>
        </p:nvSpPr>
        <p:spPr>
          <a:xfrm>
            <a:off x="705997" y="4221219"/>
            <a:ext cx="3046581" cy="1764904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IMAGE</a:t>
            </a:r>
            <a:endParaRPr lang="ko-KR" altLang="en-US" sz="28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EB15EC4-2557-4547-3C2A-EB05E332410C}"/>
              </a:ext>
            </a:extLst>
          </p:cNvPr>
          <p:cNvSpPr txBox="1"/>
          <p:nvPr/>
        </p:nvSpPr>
        <p:spPr>
          <a:xfrm>
            <a:off x="5609713" y="1167283"/>
            <a:ext cx="22868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계약관련 필요 서류</a:t>
            </a:r>
          </a:p>
        </p:txBody>
      </p:sp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0E20DD86-023A-49DE-FD18-9063BC4B927F}"/>
              </a:ext>
            </a:extLst>
          </p:cNvPr>
          <p:cNvGraphicFramePr>
            <a:graphicFrameLocks noGrp="1"/>
          </p:cNvGraphicFramePr>
          <p:nvPr/>
        </p:nvGraphicFramePr>
        <p:xfrm>
          <a:off x="5221931" y="1418955"/>
          <a:ext cx="3017849" cy="1666632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736099">
                  <a:extLst>
                    <a:ext uri="{9D8B030D-6E8A-4147-A177-3AD203B41FA5}">
                      <a16:colId xmlns:a16="http://schemas.microsoft.com/office/drawing/2014/main" val="1553538150"/>
                    </a:ext>
                  </a:extLst>
                </a:gridCol>
                <a:gridCol w="1224293">
                  <a:extLst>
                    <a:ext uri="{9D8B030D-6E8A-4147-A177-3AD203B41FA5}">
                      <a16:colId xmlns:a16="http://schemas.microsoft.com/office/drawing/2014/main" val="1005073696"/>
                    </a:ext>
                  </a:extLst>
                </a:gridCol>
                <a:gridCol w="1057457">
                  <a:extLst>
                    <a:ext uri="{9D8B030D-6E8A-4147-A177-3AD203B41FA5}">
                      <a16:colId xmlns:a16="http://schemas.microsoft.com/office/drawing/2014/main" val="2912823855"/>
                    </a:ext>
                  </a:extLst>
                </a:gridCol>
              </a:tblGrid>
              <a:tr h="41665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구분</a:t>
                      </a:r>
                      <a:endParaRPr lang="en-US" altLang="ko-KR" sz="9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개인단</a:t>
                      </a:r>
                      <a:endParaRPr lang="en-US" altLang="ko-KR" sz="9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부부단</a:t>
                      </a:r>
                      <a:endParaRPr lang="en-US" altLang="ko-KR" sz="9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0268165"/>
                  </a:ext>
                </a:extLst>
              </a:tr>
              <a:tr h="416658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일반 </a:t>
                      </a:r>
                      <a:endParaRPr lang="en-US" altLang="ko-KR" sz="9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u="none" dirty="0" err="1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봉안실</a:t>
                      </a:r>
                      <a:endParaRPr lang="en-US" altLang="ko-KR" sz="9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50 </a:t>
                      </a:r>
                      <a:r>
                        <a:rPr lang="ko-KR" altLang="en-US" sz="9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만원 </a:t>
                      </a:r>
                      <a:r>
                        <a:rPr lang="en-US" altLang="ko-KR" sz="9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 5</a:t>
                      </a:r>
                      <a:r>
                        <a:rPr lang="ko-KR" altLang="en-US" sz="9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년</a:t>
                      </a:r>
                      <a:endParaRPr lang="en-US" altLang="ko-KR" sz="9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100 </a:t>
                      </a:r>
                      <a:r>
                        <a:rPr lang="ko-KR" altLang="en-US" sz="9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만원 </a:t>
                      </a:r>
                      <a:r>
                        <a:rPr lang="en-US" altLang="ko-KR" sz="9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 5</a:t>
                      </a:r>
                      <a:r>
                        <a:rPr lang="ko-KR" altLang="en-US" sz="9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년</a:t>
                      </a:r>
                      <a:endParaRPr lang="en-US" altLang="ko-KR" sz="9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1090331"/>
                  </a:ext>
                </a:extLst>
              </a:tr>
              <a:tr h="416658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가족 </a:t>
                      </a:r>
                      <a:endParaRPr lang="en-US" altLang="ko-KR" sz="9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u="none" dirty="0" err="1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봉안실</a:t>
                      </a:r>
                      <a:endParaRPr lang="en-US" altLang="ko-KR" sz="9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50 </a:t>
                      </a:r>
                      <a:r>
                        <a:rPr lang="ko-KR" altLang="en-US" sz="9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만원 </a:t>
                      </a:r>
                      <a:r>
                        <a:rPr lang="en-US" altLang="ko-KR" sz="9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 5</a:t>
                      </a:r>
                      <a:r>
                        <a:rPr lang="ko-KR" altLang="en-US" sz="9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년</a:t>
                      </a:r>
                      <a:r>
                        <a:rPr lang="en-US" altLang="ko-KR" sz="9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(1 </a:t>
                      </a:r>
                      <a:r>
                        <a:rPr lang="ko-KR" altLang="en-US" sz="9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위당</a:t>
                      </a:r>
                      <a:r>
                        <a:rPr lang="en-US" altLang="ko-KR" sz="9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100 </a:t>
                      </a:r>
                      <a:r>
                        <a:rPr lang="ko-KR" altLang="en-US" sz="9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만원 </a:t>
                      </a:r>
                      <a:r>
                        <a:rPr lang="en-US" altLang="ko-KR" sz="9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 5</a:t>
                      </a:r>
                      <a:r>
                        <a:rPr lang="ko-KR" altLang="en-US" sz="9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년</a:t>
                      </a:r>
                      <a:r>
                        <a:rPr lang="en-US" altLang="ko-KR" sz="9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(2</a:t>
                      </a:r>
                      <a:r>
                        <a:rPr lang="ko-KR" altLang="en-US" sz="9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위</a:t>
                      </a:r>
                      <a:r>
                        <a:rPr lang="en-US" altLang="ko-KR" sz="9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0626559"/>
                  </a:ext>
                </a:extLst>
              </a:tr>
              <a:tr h="416658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프리미엄 </a:t>
                      </a:r>
                      <a:endParaRPr lang="en-US" altLang="ko-KR" sz="9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u="none" dirty="0" err="1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봉안실</a:t>
                      </a:r>
                      <a:endParaRPr lang="en-US" altLang="ko-KR" sz="9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80 </a:t>
                      </a:r>
                      <a:r>
                        <a:rPr lang="ko-KR" altLang="en-US" sz="9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만원 </a:t>
                      </a:r>
                      <a:r>
                        <a:rPr lang="en-US" altLang="ko-KR" sz="9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 5</a:t>
                      </a:r>
                      <a:r>
                        <a:rPr lang="ko-KR" altLang="en-US" sz="9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년</a:t>
                      </a:r>
                      <a:endParaRPr lang="en-US" altLang="ko-KR" sz="9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160 </a:t>
                      </a:r>
                      <a:r>
                        <a:rPr lang="ko-KR" altLang="en-US" sz="9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만원 </a:t>
                      </a:r>
                      <a:r>
                        <a:rPr lang="en-US" altLang="ko-KR" sz="9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 5</a:t>
                      </a:r>
                      <a:r>
                        <a:rPr lang="ko-KR" altLang="en-US" sz="9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년</a:t>
                      </a:r>
                      <a:endParaRPr lang="en-US" altLang="ko-KR" sz="9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469753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778717B1-425C-2F70-8962-FC0BBC10BAB0}"/>
              </a:ext>
            </a:extLst>
          </p:cNvPr>
          <p:cNvSpPr txBox="1"/>
          <p:nvPr/>
        </p:nvSpPr>
        <p:spPr>
          <a:xfrm>
            <a:off x="5606941" y="3246052"/>
            <a:ext cx="22868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관리비 납부 일정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53AF330-6416-97BD-56AD-0C371D199DD8}"/>
              </a:ext>
            </a:extLst>
          </p:cNvPr>
          <p:cNvSpPr txBox="1"/>
          <p:nvPr/>
        </p:nvSpPr>
        <p:spPr>
          <a:xfrm>
            <a:off x="5376252" y="3546611"/>
            <a:ext cx="2863528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차 관리비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최초 안치일로부터 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5</a:t>
            </a:r>
            <a:r>
              <a:rPr lang="ko-KR" altLang="en-US" sz="9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년분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선납</a:t>
            </a:r>
          </a:p>
          <a:p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차 관리비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5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 후 갱신 시</a:t>
            </a:r>
          </a:p>
          <a:p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※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사전 준비 가능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안치 전에 미리 납부 가능</a:t>
            </a:r>
          </a:p>
          <a:p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※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사전계약 혜택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5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 관리비 면제 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사전계약 고객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12797BA8-CA90-73CF-749C-404AAAF6D467}"/>
              </a:ext>
            </a:extLst>
          </p:cNvPr>
          <p:cNvSpPr/>
          <p:nvPr/>
        </p:nvSpPr>
        <p:spPr>
          <a:xfrm>
            <a:off x="5241839" y="4385779"/>
            <a:ext cx="3046581" cy="1304938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IMAGE</a:t>
            </a:r>
            <a:endParaRPr lang="ko-KR" altLang="en-US" sz="28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A9B79375-5BB5-F99C-E6DD-BCF61634CA94}"/>
              </a:ext>
            </a:extLst>
          </p:cNvPr>
          <p:cNvSpPr/>
          <p:nvPr/>
        </p:nvSpPr>
        <p:spPr>
          <a:xfrm>
            <a:off x="5223947" y="5888847"/>
            <a:ext cx="3168137" cy="264669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Footer</a:t>
            </a:r>
            <a:endParaRPr lang="ko-KR" altLang="en-US" sz="10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82873009"/>
      </p:ext>
    </p:extLst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FFA22A-D5F3-B5AE-A091-72ADB96F63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58B8A9D1-4545-B67B-06B0-9DE6349E96FF}"/>
              </a:ext>
            </a:extLst>
          </p:cNvPr>
          <p:cNvGraphicFramePr>
            <a:graphicFrameLocks noGrp="1"/>
          </p:cNvGraphicFramePr>
          <p:nvPr/>
        </p:nvGraphicFramePr>
        <p:xfrm>
          <a:off x="9182101" y="947377"/>
          <a:ext cx="2795588" cy="1847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1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선택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수목장 타입 선택 부분으로 이동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684046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선택 시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수목 선택 부분으로 이동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723838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3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선택 시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구역 위치 선택 부분으로 이동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172599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4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선택 시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사용권 계약 부분으로 이동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290794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5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선택 시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관리비 납부 부분으로 이동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922450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6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784800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7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0538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8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199337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9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450365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20E259FB-F91C-E13E-4172-19FD787D588A}"/>
              </a:ext>
            </a:extLst>
          </p:cNvPr>
          <p:cNvSpPr/>
          <p:nvPr/>
        </p:nvSpPr>
        <p:spPr>
          <a:xfrm>
            <a:off x="959895" y="375614"/>
            <a:ext cx="1374094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</a:pP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메인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분양안내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분양절차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81C6C3E-D713-ED72-2E21-1E23C61920C7}"/>
              </a:ext>
            </a:extLst>
          </p:cNvPr>
          <p:cNvSpPr txBox="1"/>
          <p:nvPr/>
        </p:nvSpPr>
        <p:spPr>
          <a:xfrm>
            <a:off x="6003996" y="123825"/>
            <a:ext cx="17303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HN_DistriInfo_Distriproce_001</a:t>
            </a:r>
            <a:endParaRPr lang="ko-KR" altLang="en-US" sz="800" dirty="0"/>
          </a:p>
        </p:txBody>
      </p: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00111DBE-FE56-6452-92D9-DDFCD5C889FD}"/>
              </a:ext>
            </a:extLst>
          </p:cNvPr>
          <p:cNvCxnSpPr>
            <a:cxnSpLocks/>
          </p:cNvCxnSpPr>
          <p:nvPr/>
        </p:nvCxnSpPr>
        <p:spPr>
          <a:xfrm>
            <a:off x="655957" y="1658468"/>
            <a:ext cx="3109526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C12866B0-532D-1AC9-FCC5-938662BB396B}"/>
              </a:ext>
            </a:extLst>
          </p:cNvPr>
          <p:cNvSpPr txBox="1"/>
          <p:nvPr/>
        </p:nvSpPr>
        <p:spPr>
          <a:xfrm>
            <a:off x="1793778" y="1181491"/>
            <a:ext cx="83388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하늘누리</a:t>
            </a:r>
            <a:endParaRPr lang="en-US" altLang="ko-KR" sz="11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en-US" altLang="ko-KR" sz="11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CI</a:t>
            </a:r>
            <a:endParaRPr lang="ko-KR" altLang="en-US" sz="11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37" name="그림 36" descr="블랙, 어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6428C14-E7D9-F5B7-EB2D-B0649EE42811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2985" y="1191723"/>
            <a:ext cx="383533" cy="383533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AA1E266A-AEA6-2300-F30B-717B6315189F}"/>
              </a:ext>
            </a:extLst>
          </p:cNvPr>
          <p:cNvSpPr txBox="1"/>
          <p:nvPr/>
        </p:nvSpPr>
        <p:spPr>
          <a:xfrm>
            <a:off x="2826086" y="1293697"/>
            <a:ext cx="57184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" panose="020D0604000000000000" pitchFamily="50" charset="-127"/>
                <a:ea typeface="나눔고딕" panose="020D0604000000000000" pitchFamily="50" charset="-127"/>
              </a:rPr>
              <a:t>르그아웃</a:t>
            </a:r>
          </a:p>
        </p:txBody>
      </p:sp>
      <p:pic>
        <p:nvPicPr>
          <p:cNvPr id="39" name="Picture 4" descr="로그 아웃 아이콘">
            <a:extLst>
              <a:ext uri="{FF2B5EF4-FFF2-40B4-BE49-F238E27FC236}">
                <a16:creationId xmlns:a16="http://schemas.microsoft.com/office/drawing/2014/main" id="{BB116868-A793-0579-93CD-401F49ACB1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9631" y="1283929"/>
            <a:ext cx="217049" cy="217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F50B2B0F-E3A3-870A-6577-4F12A8A605B2}"/>
              </a:ext>
            </a:extLst>
          </p:cNvPr>
          <p:cNvSpPr txBox="1"/>
          <p:nvPr/>
        </p:nvSpPr>
        <p:spPr>
          <a:xfrm>
            <a:off x="1343128" y="1807796"/>
            <a:ext cx="17351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분양 절차</a:t>
            </a:r>
            <a:endParaRPr lang="en-US" altLang="ko-KR" sz="1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FC0ACFF-D1A9-C5C4-2820-95CF9A902F0E}"/>
              </a:ext>
            </a:extLst>
          </p:cNvPr>
          <p:cNvSpPr txBox="1"/>
          <p:nvPr/>
        </p:nvSpPr>
        <p:spPr>
          <a:xfrm>
            <a:off x="794294" y="2194931"/>
            <a:ext cx="2832847" cy="15146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00"/>
              </a:lnSpc>
              <a:spcAft>
                <a:spcPts val="900"/>
              </a:spcAft>
            </a:pP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"</a:t>
            </a:r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가장 소중한 마지막 준비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하늘누리가 정성을 다해 동행하겠습니다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.“</a:t>
            </a:r>
          </a:p>
          <a:p>
            <a:pPr algn="ctr">
              <a:lnSpc>
                <a:spcPts val="2100"/>
              </a:lnSpc>
              <a:spcAft>
                <a:spcPts val="900"/>
              </a:spcAft>
            </a:pP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복잡하고 어려운 절차는 저희에게 맡기세요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유족의 마음으로 하나하나 세밀하게 살펴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고인을 모시는 길이 오직 평온한 추억으로만 기억되도록 돕겠습니다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43" name="Line 1">
            <a:extLst>
              <a:ext uri="{FF2B5EF4-FFF2-40B4-BE49-F238E27FC236}">
                <a16:creationId xmlns:a16="http://schemas.microsoft.com/office/drawing/2014/main" id="{9DA39F84-BDDF-973F-D63E-FFD3C3AB5E24}"/>
              </a:ext>
            </a:extLst>
          </p:cNvPr>
          <p:cNvCxnSpPr>
            <a:cxnSpLocks/>
          </p:cNvCxnSpPr>
          <p:nvPr/>
        </p:nvCxnSpPr>
        <p:spPr>
          <a:xfrm flipH="1">
            <a:off x="655957" y="4096107"/>
            <a:ext cx="355579" cy="0"/>
          </a:xfrm>
          <a:prstGeom prst="line">
            <a:avLst/>
          </a:prstGeom>
          <a:solidFill>
            <a:srgbClr val="FFFFFF"/>
          </a:solidFill>
          <a:ln w="12700">
            <a:solidFill>
              <a:srgbClr val="8080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Line 2">
            <a:extLst>
              <a:ext uri="{FF2B5EF4-FFF2-40B4-BE49-F238E27FC236}">
                <a16:creationId xmlns:a16="http://schemas.microsoft.com/office/drawing/2014/main" id="{7CD21AE0-BF7F-CF93-A283-1F7E051618BE}"/>
              </a:ext>
            </a:extLst>
          </p:cNvPr>
          <p:cNvCxnSpPr>
            <a:cxnSpLocks/>
          </p:cNvCxnSpPr>
          <p:nvPr/>
        </p:nvCxnSpPr>
        <p:spPr>
          <a:xfrm>
            <a:off x="3372985" y="4120376"/>
            <a:ext cx="403675" cy="0"/>
          </a:xfrm>
          <a:prstGeom prst="line">
            <a:avLst/>
          </a:prstGeom>
          <a:solidFill>
            <a:srgbClr val="FFFFFF"/>
          </a:solidFill>
          <a:ln w="12700">
            <a:solidFill>
              <a:srgbClr val="8080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ab Selected">
            <a:extLst>
              <a:ext uri="{FF2B5EF4-FFF2-40B4-BE49-F238E27FC236}">
                <a16:creationId xmlns:a16="http://schemas.microsoft.com/office/drawing/2014/main" id="{96D05A25-BEAD-2A26-E813-053DC9C3CA6E}"/>
              </a:ext>
            </a:extLst>
          </p:cNvPr>
          <p:cNvSpPr>
            <a:spLocks/>
          </p:cNvSpPr>
          <p:nvPr/>
        </p:nvSpPr>
        <p:spPr bwMode="auto">
          <a:xfrm>
            <a:off x="2265350" y="3847315"/>
            <a:ext cx="1264088" cy="283307"/>
          </a:xfrm>
          <a:custGeom>
            <a:avLst/>
            <a:gdLst>
              <a:gd name="T0" fmla="*/ 0 w 2218"/>
              <a:gd name="T1" fmla="*/ 670 h 670"/>
              <a:gd name="T2" fmla="*/ 0 w 2218"/>
              <a:gd name="T3" fmla="*/ 0 h 670"/>
              <a:gd name="T4" fmla="*/ 2218 w 2218"/>
              <a:gd name="T5" fmla="*/ 0 h 670"/>
              <a:gd name="T6" fmla="*/ 2218 w 2218"/>
              <a:gd name="T7" fmla="*/ 670 h 6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218" h="670">
                <a:moveTo>
                  <a:pt x="0" y="670"/>
                </a:moveTo>
                <a:lnTo>
                  <a:pt x="0" y="0"/>
                </a:lnTo>
                <a:lnTo>
                  <a:pt x="2218" y="0"/>
                </a:lnTo>
                <a:lnTo>
                  <a:pt x="2218" y="670"/>
                </a:lnTo>
              </a:path>
            </a:pathLst>
          </a:custGeom>
          <a:solidFill>
            <a:schemeClr val="bg1"/>
          </a:solidFill>
          <a:ln w="6350" cap="sq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  <a:defRPr/>
            </a:pPr>
            <a:r>
              <a:rPr lang="ko-KR" altLang="en-US" sz="1000" b="1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Segoe UI" panose="020B0502040204020203" pitchFamily="34" charset="0"/>
              </a:rPr>
              <a:t>수목장</a:t>
            </a:r>
            <a:r>
              <a:rPr lang="en-US" altLang="ko-KR" sz="1000" b="1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Segoe UI" panose="020B0502040204020203" pitchFamily="34" charset="0"/>
              </a:rPr>
              <a:t>(</a:t>
            </a:r>
            <a:r>
              <a:rPr lang="ko-KR" altLang="en-US" sz="1000" b="1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Segoe UI" panose="020B0502040204020203" pitchFamily="34" charset="0"/>
              </a:rPr>
              <a:t>자연장</a:t>
            </a:r>
            <a:r>
              <a:rPr lang="en-US" altLang="ko-KR" sz="1000" b="1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Segoe UI" panose="020B0502040204020203" pitchFamily="34" charset="0"/>
              </a:rPr>
              <a:t>)</a:t>
            </a:r>
          </a:p>
        </p:txBody>
      </p:sp>
      <p:sp>
        <p:nvSpPr>
          <p:cNvPr id="55" name="Tab">
            <a:extLst>
              <a:ext uri="{FF2B5EF4-FFF2-40B4-BE49-F238E27FC236}">
                <a16:creationId xmlns:a16="http://schemas.microsoft.com/office/drawing/2014/main" id="{C984A08D-441C-133A-450A-BE789EA29572}"/>
              </a:ext>
            </a:extLst>
          </p:cNvPr>
          <p:cNvSpPr/>
          <p:nvPr/>
        </p:nvSpPr>
        <p:spPr>
          <a:xfrm>
            <a:off x="992240" y="3835238"/>
            <a:ext cx="1278902" cy="283306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  <a:defRPr/>
            </a:pPr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Segoe UI" panose="020B0502040204020203" pitchFamily="34" charset="0"/>
              </a:rPr>
              <a:t>봉안당</a:t>
            </a:r>
            <a:r>
              <a:rPr lang="en-US" altLang="ko-KR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Segoe UI" panose="020B0502040204020203" pitchFamily="34" charset="0"/>
              </a:rPr>
              <a:t>(</a:t>
            </a:r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Segoe UI" panose="020B0502040204020203" pitchFamily="34" charset="0"/>
              </a:rPr>
              <a:t>하늘누리관</a:t>
            </a:r>
            <a:r>
              <a:rPr lang="en-US" altLang="ko-KR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Segoe UI" panose="020B0502040204020203" pitchFamily="34" charset="0"/>
              </a:rPr>
              <a:t>)</a:t>
            </a:r>
            <a:endParaRPr lang="en-US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Segoe UI" panose="020B0502040204020203" pitchFamily="34" charset="0"/>
            </a:endParaRPr>
          </a:p>
        </p:txBody>
      </p:sp>
      <p:sp>
        <p:nvSpPr>
          <p:cNvPr id="56" name="사각형: 둥근 모서리 55">
            <a:extLst>
              <a:ext uri="{FF2B5EF4-FFF2-40B4-BE49-F238E27FC236}">
                <a16:creationId xmlns:a16="http://schemas.microsoft.com/office/drawing/2014/main" id="{9C2C5999-BD38-1215-077D-55DBB69AE3F4}"/>
              </a:ext>
            </a:extLst>
          </p:cNvPr>
          <p:cNvSpPr/>
          <p:nvPr/>
        </p:nvSpPr>
        <p:spPr>
          <a:xfrm>
            <a:off x="762786" y="4641976"/>
            <a:ext cx="868905" cy="767562"/>
          </a:xfrm>
          <a:prstGeom prst="roundRect">
            <a:avLst/>
          </a:prstGeom>
          <a:solidFill>
            <a:srgbClr val="002060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수목장 </a:t>
            </a:r>
            <a:endParaRPr lang="en-US" altLang="ko-KR" sz="10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ko-KR" altLang="en-US" sz="10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타입 </a:t>
            </a:r>
            <a:endParaRPr lang="en-US" altLang="ko-KR" sz="10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ko-KR" altLang="en-US" sz="10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선택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0DDB20B-CF6E-F398-7139-5C08DF2980EA}"/>
              </a:ext>
            </a:extLst>
          </p:cNvPr>
          <p:cNvSpPr txBox="1"/>
          <p:nvPr/>
        </p:nvSpPr>
        <p:spPr>
          <a:xfrm>
            <a:off x="738750" y="4246038"/>
            <a:ext cx="108949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en-US" altLang="ko-KR" sz="1600" b="1" baseline="30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st</a:t>
            </a:r>
            <a:endParaRPr lang="en-US" altLang="ko-KR" sz="16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D6DB436-9925-01A8-5467-9BEDCEE5D197}"/>
              </a:ext>
            </a:extLst>
          </p:cNvPr>
          <p:cNvSpPr txBox="1"/>
          <p:nvPr/>
        </p:nvSpPr>
        <p:spPr>
          <a:xfrm>
            <a:off x="1772331" y="4246038"/>
            <a:ext cx="108949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r>
              <a:rPr lang="en-US" altLang="ko-KR" sz="1600" b="1" baseline="30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nd</a:t>
            </a:r>
            <a:endParaRPr lang="en-US" altLang="ko-KR" sz="16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51B7622-400C-908C-BB93-6071CB9E08CB}"/>
              </a:ext>
            </a:extLst>
          </p:cNvPr>
          <p:cNvSpPr txBox="1"/>
          <p:nvPr/>
        </p:nvSpPr>
        <p:spPr>
          <a:xfrm>
            <a:off x="2805912" y="4246038"/>
            <a:ext cx="108949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r>
              <a:rPr lang="en-US" altLang="ko-KR" sz="1600" b="1" baseline="30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rd</a:t>
            </a:r>
            <a:endParaRPr lang="en-US" altLang="ko-KR" sz="16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6CA00AA-12A4-DB9C-0C01-B18A516E04A7}"/>
              </a:ext>
            </a:extLst>
          </p:cNvPr>
          <p:cNvSpPr txBox="1"/>
          <p:nvPr/>
        </p:nvSpPr>
        <p:spPr>
          <a:xfrm>
            <a:off x="799141" y="5509618"/>
            <a:ext cx="86890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" panose="020D0604000000000000" pitchFamily="50" charset="-127"/>
                <a:ea typeface="나눔고딕" panose="020D0604000000000000" pitchFamily="50" charset="-127"/>
              </a:rPr>
              <a:t>More</a:t>
            </a:r>
            <a:endParaRPr lang="ko-KR" altLang="en-US" sz="9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AC1C77E-9160-26C3-B950-C3185151DF3D}"/>
              </a:ext>
            </a:extLst>
          </p:cNvPr>
          <p:cNvSpPr txBox="1"/>
          <p:nvPr/>
        </p:nvSpPr>
        <p:spPr>
          <a:xfrm>
            <a:off x="1772331" y="5519346"/>
            <a:ext cx="86890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" panose="020D0604000000000000" pitchFamily="50" charset="-127"/>
                <a:ea typeface="나눔고딕" panose="020D0604000000000000" pitchFamily="50" charset="-127"/>
              </a:rPr>
              <a:t>More</a:t>
            </a:r>
            <a:endParaRPr lang="ko-KR" altLang="en-US" sz="9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7F57FFC-9C85-3F8D-B5F1-35C4A8E4BFB3}"/>
              </a:ext>
            </a:extLst>
          </p:cNvPr>
          <p:cNvSpPr txBox="1"/>
          <p:nvPr/>
        </p:nvSpPr>
        <p:spPr>
          <a:xfrm>
            <a:off x="2695846" y="5519346"/>
            <a:ext cx="86890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" panose="020D0604000000000000" pitchFamily="50" charset="-127"/>
                <a:ea typeface="나눔고딕" panose="020D0604000000000000" pitchFamily="50" charset="-127"/>
              </a:rPr>
              <a:t>More</a:t>
            </a:r>
            <a:endParaRPr lang="ko-KR" altLang="en-US" sz="9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3" name="Oval 109">
            <a:extLst>
              <a:ext uri="{FF2B5EF4-FFF2-40B4-BE49-F238E27FC236}">
                <a16:creationId xmlns:a16="http://schemas.microsoft.com/office/drawing/2014/main" id="{9DBD82E8-104C-C93E-BFDC-35FE3681B3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388" y="5452234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1</a:t>
            </a:r>
          </a:p>
        </p:txBody>
      </p:sp>
      <p:sp>
        <p:nvSpPr>
          <p:cNvPr id="64" name="Oval 109">
            <a:extLst>
              <a:ext uri="{FF2B5EF4-FFF2-40B4-BE49-F238E27FC236}">
                <a16:creationId xmlns:a16="http://schemas.microsoft.com/office/drawing/2014/main" id="{2D91A222-28CC-29D5-37FA-9797D96173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2067" y="5461962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2</a:t>
            </a:r>
          </a:p>
        </p:txBody>
      </p:sp>
      <p:sp>
        <p:nvSpPr>
          <p:cNvPr id="65" name="Oval 109">
            <a:extLst>
              <a:ext uri="{FF2B5EF4-FFF2-40B4-BE49-F238E27FC236}">
                <a16:creationId xmlns:a16="http://schemas.microsoft.com/office/drawing/2014/main" id="{15C2CFEA-7027-7502-060D-6890BFAA88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25714" y="5461962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3</a:t>
            </a:r>
          </a:p>
        </p:txBody>
      </p:sp>
      <p:sp>
        <p:nvSpPr>
          <p:cNvPr id="66" name="사각형: 둥근 모서리 65">
            <a:extLst>
              <a:ext uri="{FF2B5EF4-FFF2-40B4-BE49-F238E27FC236}">
                <a16:creationId xmlns:a16="http://schemas.microsoft.com/office/drawing/2014/main" id="{1D43B039-D995-4C3C-99BE-CBA022E84213}"/>
              </a:ext>
            </a:extLst>
          </p:cNvPr>
          <p:cNvSpPr/>
          <p:nvPr/>
        </p:nvSpPr>
        <p:spPr>
          <a:xfrm>
            <a:off x="1740372" y="4641976"/>
            <a:ext cx="868905" cy="767562"/>
          </a:xfrm>
          <a:prstGeom prst="roundRect">
            <a:avLst/>
          </a:prstGeom>
          <a:solidFill>
            <a:srgbClr val="002060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수목</a:t>
            </a:r>
            <a:endParaRPr lang="en-US" altLang="ko-KR" sz="10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ko-KR" altLang="en-US" sz="10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선택</a:t>
            </a:r>
          </a:p>
        </p:txBody>
      </p:sp>
      <p:sp>
        <p:nvSpPr>
          <p:cNvPr id="67" name="사각형: 둥근 모서리 66">
            <a:extLst>
              <a:ext uri="{FF2B5EF4-FFF2-40B4-BE49-F238E27FC236}">
                <a16:creationId xmlns:a16="http://schemas.microsoft.com/office/drawing/2014/main" id="{DA491C37-8C39-2B2D-B505-A704F2A8C303}"/>
              </a:ext>
            </a:extLst>
          </p:cNvPr>
          <p:cNvSpPr/>
          <p:nvPr/>
        </p:nvSpPr>
        <p:spPr>
          <a:xfrm>
            <a:off x="2695846" y="4641976"/>
            <a:ext cx="868905" cy="767562"/>
          </a:xfrm>
          <a:prstGeom prst="roundRect">
            <a:avLst/>
          </a:prstGeom>
          <a:solidFill>
            <a:srgbClr val="002060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구역 위치</a:t>
            </a:r>
            <a:endParaRPr lang="en-US" altLang="ko-KR" sz="10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ko-KR" altLang="en-US" sz="10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선택</a:t>
            </a:r>
          </a:p>
        </p:txBody>
      </p:sp>
      <p:sp>
        <p:nvSpPr>
          <p:cNvPr id="68" name="사각형: 둥근 모서리 67">
            <a:extLst>
              <a:ext uri="{FF2B5EF4-FFF2-40B4-BE49-F238E27FC236}">
                <a16:creationId xmlns:a16="http://schemas.microsoft.com/office/drawing/2014/main" id="{3D94B011-1696-E80A-2ED4-24A09A91D8D6}"/>
              </a:ext>
            </a:extLst>
          </p:cNvPr>
          <p:cNvSpPr/>
          <p:nvPr/>
        </p:nvSpPr>
        <p:spPr>
          <a:xfrm>
            <a:off x="5321386" y="1616863"/>
            <a:ext cx="868905" cy="767562"/>
          </a:xfrm>
          <a:prstGeom prst="roundRect">
            <a:avLst/>
          </a:prstGeom>
          <a:solidFill>
            <a:srgbClr val="002060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사용권</a:t>
            </a:r>
            <a:endParaRPr lang="en-US" altLang="ko-KR" sz="10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ko-KR" altLang="en-US" sz="10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4F3EB6EC-A42F-A4C8-3F39-DDF31F7C630C}"/>
              </a:ext>
            </a:extLst>
          </p:cNvPr>
          <p:cNvSpPr txBox="1"/>
          <p:nvPr/>
        </p:nvSpPr>
        <p:spPr>
          <a:xfrm>
            <a:off x="5297350" y="1220925"/>
            <a:ext cx="108949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r>
            <a:r>
              <a:rPr lang="en-US" altLang="ko-KR" sz="1600" b="1" baseline="30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th</a:t>
            </a:r>
            <a:endParaRPr lang="en-US" altLang="ko-KR" sz="16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1B77E26-10FB-C5E7-F06E-D1F893FDFFC0}"/>
              </a:ext>
            </a:extLst>
          </p:cNvPr>
          <p:cNvSpPr txBox="1"/>
          <p:nvPr/>
        </p:nvSpPr>
        <p:spPr>
          <a:xfrm>
            <a:off x="5357741" y="2484505"/>
            <a:ext cx="86890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" panose="020D0604000000000000" pitchFamily="50" charset="-127"/>
                <a:ea typeface="나눔고딕" panose="020D0604000000000000" pitchFamily="50" charset="-127"/>
              </a:rPr>
              <a:t>More</a:t>
            </a:r>
            <a:endParaRPr lang="ko-KR" altLang="en-US" sz="9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D6415D63-1ADB-F18C-E300-92C92F7DC7F1}"/>
              </a:ext>
            </a:extLst>
          </p:cNvPr>
          <p:cNvSpPr txBox="1"/>
          <p:nvPr/>
        </p:nvSpPr>
        <p:spPr>
          <a:xfrm>
            <a:off x="6330931" y="2494233"/>
            <a:ext cx="86890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" panose="020D0604000000000000" pitchFamily="50" charset="-127"/>
                <a:ea typeface="나눔고딕" panose="020D0604000000000000" pitchFamily="50" charset="-127"/>
              </a:rPr>
              <a:t>More</a:t>
            </a:r>
            <a:endParaRPr lang="ko-KR" altLang="en-US" sz="9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2" name="Oval 109">
            <a:extLst>
              <a:ext uri="{FF2B5EF4-FFF2-40B4-BE49-F238E27FC236}">
                <a16:creationId xmlns:a16="http://schemas.microsoft.com/office/drawing/2014/main" id="{B198C903-4DEF-7A85-DCD7-D0D474A15E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67988" y="2427121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1</a:t>
            </a:r>
          </a:p>
        </p:txBody>
      </p:sp>
      <p:sp>
        <p:nvSpPr>
          <p:cNvPr id="73" name="Oval 109">
            <a:extLst>
              <a:ext uri="{FF2B5EF4-FFF2-40B4-BE49-F238E27FC236}">
                <a16:creationId xmlns:a16="http://schemas.microsoft.com/office/drawing/2014/main" id="{87552789-A693-A4EE-80CA-6315650DE9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90667" y="2436849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2</a:t>
            </a:r>
          </a:p>
        </p:txBody>
      </p:sp>
      <p:sp>
        <p:nvSpPr>
          <p:cNvPr id="74" name="사각형: 둥근 모서리 73">
            <a:extLst>
              <a:ext uri="{FF2B5EF4-FFF2-40B4-BE49-F238E27FC236}">
                <a16:creationId xmlns:a16="http://schemas.microsoft.com/office/drawing/2014/main" id="{7BF635BD-F026-4E2E-D29C-7E8E276E3643}"/>
              </a:ext>
            </a:extLst>
          </p:cNvPr>
          <p:cNvSpPr/>
          <p:nvPr/>
        </p:nvSpPr>
        <p:spPr>
          <a:xfrm>
            <a:off x="6298972" y="1616863"/>
            <a:ext cx="868905" cy="767562"/>
          </a:xfrm>
          <a:prstGeom prst="roundRect">
            <a:avLst/>
          </a:prstGeom>
          <a:solidFill>
            <a:srgbClr val="002060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관리비</a:t>
            </a:r>
            <a:endParaRPr lang="en-US" altLang="ko-KR" sz="10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ko-KR" altLang="en-US" sz="10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납부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F97DC136-98C6-5F62-4C2D-5F003F201071}"/>
              </a:ext>
            </a:extLst>
          </p:cNvPr>
          <p:cNvSpPr txBox="1"/>
          <p:nvPr/>
        </p:nvSpPr>
        <p:spPr>
          <a:xfrm>
            <a:off x="6324398" y="1236702"/>
            <a:ext cx="108949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5</a:t>
            </a:r>
            <a:r>
              <a:rPr lang="en-US" altLang="ko-KR" sz="1600" b="1" baseline="30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th</a:t>
            </a:r>
            <a:endParaRPr lang="en-US" altLang="ko-KR" sz="16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CE883892-8165-18A1-CAC9-F32CCA756119}"/>
              </a:ext>
            </a:extLst>
          </p:cNvPr>
          <p:cNvSpPr/>
          <p:nvPr/>
        </p:nvSpPr>
        <p:spPr>
          <a:xfrm>
            <a:off x="5230627" y="2834873"/>
            <a:ext cx="3069511" cy="1847376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IMAGE</a:t>
            </a:r>
            <a:endParaRPr lang="ko-KR" altLang="en-US" sz="28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525CFC08-C47C-1299-302A-CABFBDD5F5D3}"/>
              </a:ext>
            </a:extLst>
          </p:cNvPr>
          <p:cNvSpPr txBox="1"/>
          <p:nvPr/>
        </p:nvSpPr>
        <p:spPr>
          <a:xfrm>
            <a:off x="5725141" y="4727540"/>
            <a:ext cx="6260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en-US" altLang="ko-KR" sz="1400" b="1" baseline="30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st</a:t>
            </a:r>
            <a:endParaRPr lang="en-US" altLang="ko-KR" sz="14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F90FCD12-DF07-3102-4A6E-6D465731F9DE}"/>
              </a:ext>
            </a:extLst>
          </p:cNvPr>
          <p:cNvSpPr txBox="1"/>
          <p:nvPr/>
        </p:nvSpPr>
        <p:spPr>
          <a:xfrm>
            <a:off x="6078009" y="4779367"/>
            <a:ext cx="14113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수목장 타입 선택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C09C7194-4F8C-AF56-2893-04C8CF6917F6}"/>
              </a:ext>
            </a:extLst>
          </p:cNvPr>
          <p:cNvSpPr txBox="1"/>
          <p:nvPr/>
        </p:nvSpPr>
        <p:spPr>
          <a:xfrm>
            <a:off x="5335294" y="5129068"/>
            <a:ext cx="290403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하늘누리 수목장은 화장 후 유골을 자연 분해 용기에 담아 나무 뿌리 깊이 안치하는 친환경 자연장입니다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 algn="ctr"/>
            <a:endParaRPr lang="en-US" altLang="ko-KR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개인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부부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가족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공동 수목장부터  잔디장까지 다양한 선택지를 제공합니다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198956-F9D5-2D13-212C-B19CC259C7B9}"/>
              </a:ext>
            </a:extLst>
          </p:cNvPr>
          <p:cNvSpPr txBox="1"/>
          <p:nvPr/>
        </p:nvSpPr>
        <p:spPr>
          <a:xfrm rot="19509111">
            <a:off x="8704729" y="3250453"/>
            <a:ext cx="279558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하늘누리 분양안내 </a:t>
            </a:r>
            <a:r>
              <a:rPr lang="ko-KR" altLang="en-US" sz="2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확인 </a:t>
            </a:r>
            <a:r>
              <a:rPr lang="ko-KR" altLang="en-US" sz="2000" b="1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후 수정 </a:t>
            </a:r>
            <a:r>
              <a:rPr lang="ko-KR" altLang="en-US" sz="2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필요 </a:t>
            </a:r>
          </a:p>
        </p:txBody>
      </p:sp>
    </p:spTree>
    <p:extLst>
      <p:ext uri="{BB962C8B-B14F-4D97-AF65-F5344CB8AC3E}">
        <p14:creationId xmlns:p14="http://schemas.microsoft.com/office/powerpoint/2010/main" val="3853702130"/>
      </p:ext>
    </p:extLst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16DBF3-1B1E-83AA-F291-1CBC1070F2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8CCFC78F-5344-832A-C4E9-CF3C6451A9AA}"/>
              </a:ext>
            </a:extLst>
          </p:cNvPr>
          <p:cNvGraphicFramePr>
            <a:graphicFrameLocks noGrp="1"/>
          </p:cNvGraphicFramePr>
          <p:nvPr/>
        </p:nvGraphicFramePr>
        <p:xfrm>
          <a:off x="9182101" y="947377"/>
          <a:ext cx="2795588" cy="1847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1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684046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723838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3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172599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4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290794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5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922450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6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784800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7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0538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8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199337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9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450365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A808A452-7058-C652-2D34-70B7A5525AA4}"/>
              </a:ext>
            </a:extLst>
          </p:cNvPr>
          <p:cNvSpPr/>
          <p:nvPr/>
        </p:nvSpPr>
        <p:spPr>
          <a:xfrm>
            <a:off x="959895" y="375614"/>
            <a:ext cx="1374094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</a:pP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메인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분양안내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분양절차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1B02FA4-CE11-97E0-3576-7FD51FE654C6}"/>
              </a:ext>
            </a:extLst>
          </p:cNvPr>
          <p:cNvSpPr txBox="1"/>
          <p:nvPr/>
        </p:nvSpPr>
        <p:spPr>
          <a:xfrm>
            <a:off x="6003996" y="123825"/>
            <a:ext cx="17303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HN_DistriInfo_Distriproce_001</a:t>
            </a:r>
            <a:endParaRPr lang="ko-KR" altLang="en-US" sz="800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7452C2D-DA8E-49A3-6B3D-004F9FAA4AD2}"/>
              </a:ext>
            </a:extLst>
          </p:cNvPr>
          <p:cNvSpPr/>
          <p:nvPr/>
        </p:nvSpPr>
        <p:spPr>
          <a:xfrm>
            <a:off x="700109" y="1116980"/>
            <a:ext cx="3109891" cy="1231585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IMAGE</a:t>
            </a:r>
            <a:endParaRPr lang="ko-KR" altLang="en-US" sz="28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794E74-FF31-3F77-682D-5B3E2CC1D7F7}"/>
              </a:ext>
            </a:extLst>
          </p:cNvPr>
          <p:cNvSpPr txBox="1"/>
          <p:nvPr/>
        </p:nvSpPr>
        <p:spPr>
          <a:xfrm>
            <a:off x="1041050" y="2395633"/>
            <a:ext cx="22868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개인 수목장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(Individual)</a:t>
            </a:r>
            <a:endParaRPr lang="ko-KR" altLang="en-US" sz="1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E3972FD-E236-D2FA-6875-1ACA3FDE1D3A}"/>
              </a:ext>
            </a:extLst>
          </p:cNvPr>
          <p:cNvSpPr txBox="1"/>
          <p:nvPr/>
        </p:nvSpPr>
        <p:spPr>
          <a:xfrm>
            <a:off x="726431" y="2707190"/>
            <a:ext cx="2973324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위 전용 안치</a:t>
            </a:r>
          </a:p>
          <a:p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30㎡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이하 개별 공간</a:t>
            </a:r>
          </a:p>
          <a:p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나무 수종 선택 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소나무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느티나무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벚나무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단풍나무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  <a:p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개인 표석 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화강석 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20cm × 30cm)</a:t>
            </a:r>
          </a:p>
          <a:p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표석에 이름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9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생몰년월일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새김</a:t>
            </a:r>
          </a:p>
          <a:p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번호패 부착</a:t>
            </a:r>
          </a:p>
          <a:p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정기 관리 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연 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회 제초 및 조경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DBA1A54-1B4C-C7B1-39DA-3E04EC3B88C9}"/>
              </a:ext>
            </a:extLst>
          </p:cNvPr>
          <p:cNvSpPr txBox="1"/>
          <p:nvPr/>
        </p:nvSpPr>
        <p:spPr>
          <a:xfrm>
            <a:off x="1014728" y="3946527"/>
            <a:ext cx="22868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부부 수목장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(Couple)</a:t>
            </a:r>
            <a:endParaRPr lang="ko-KR" altLang="en-US" sz="1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3E44F65-A1F1-DD4F-CB1E-9B05AE89959A}"/>
              </a:ext>
            </a:extLst>
          </p:cNvPr>
          <p:cNvSpPr txBox="1"/>
          <p:nvPr/>
        </p:nvSpPr>
        <p:spPr>
          <a:xfrm>
            <a:off x="700109" y="4258084"/>
            <a:ext cx="297332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위 함께 안치</a:t>
            </a:r>
          </a:p>
          <a:p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50㎡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이하 공간</a:t>
            </a:r>
          </a:p>
          <a:p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대형 수목 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수령 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20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 이상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  <a:p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부부 통합 표석 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화강석 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30cm × 40cm)</a:t>
            </a:r>
          </a:p>
          <a:p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나란히 또는 좌우 배치</a:t>
            </a:r>
          </a:p>
          <a:p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벤치 설치 가능 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옵션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B79B4B6-6F0E-6C12-1000-3F9E2B4B1EAF}"/>
              </a:ext>
            </a:extLst>
          </p:cNvPr>
          <p:cNvSpPr/>
          <p:nvPr/>
        </p:nvSpPr>
        <p:spPr>
          <a:xfrm>
            <a:off x="682179" y="5181414"/>
            <a:ext cx="3109891" cy="106183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IMAGE</a:t>
            </a:r>
            <a:endParaRPr lang="ko-KR" altLang="en-US" sz="28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DDF010A-D38B-53C1-DEEA-AAA2FB53384C}"/>
              </a:ext>
            </a:extLst>
          </p:cNvPr>
          <p:cNvSpPr/>
          <p:nvPr/>
        </p:nvSpPr>
        <p:spPr>
          <a:xfrm>
            <a:off x="5227286" y="1128188"/>
            <a:ext cx="3109891" cy="1231585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IMAGE</a:t>
            </a:r>
            <a:endParaRPr lang="ko-KR" altLang="en-US" sz="28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AC8FA46-E42A-BCD7-BFAD-ED6F904AEB12}"/>
              </a:ext>
            </a:extLst>
          </p:cNvPr>
          <p:cNvSpPr txBox="1"/>
          <p:nvPr/>
        </p:nvSpPr>
        <p:spPr>
          <a:xfrm>
            <a:off x="5568800" y="2402512"/>
            <a:ext cx="22868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가족 수목장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(Family)</a:t>
            </a:r>
            <a:endParaRPr lang="ko-KR" altLang="en-US" sz="1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592D8F5-83E8-4884-C3FE-1DB8C0FDA1C6}"/>
              </a:ext>
            </a:extLst>
          </p:cNvPr>
          <p:cNvSpPr txBox="1"/>
          <p:nvPr/>
        </p:nvSpPr>
        <p:spPr>
          <a:xfrm>
            <a:off x="5254181" y="2714069"/>
            <a:ext cx="297332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3~4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위 안치 가능</a:t>
            </a:r>
          </a:p>
          <a:p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100㎡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이하 넓은 공간</a:t>
            </a:r>
          </a:p>
          <a:p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</a:t>
            </a:r>
            <a:r>
              <a:rPr lang="ko-KR" altLang="en-US" sz="9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천년송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또는 대형 수목</a:t>
            </a:r>
          </a:p>
          <a:p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가족 통합 표석 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화강석 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40cm × 60cm)</a:t>
            </a:r>
          </a:p>
          <a:p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</a:t>
            </a:r>
            <a:r>
              <a:rPr lang="ko-KR" altLang="en-US" sz="9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조경석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및 벤치 설치</a:t>
            </a:r>
          </a:p>
          <a:p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가족 전용 산책로 연결 가능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2A7EEF0-2E62-FE91-766C-E73436B8F115}"/>
              </a:ext>
            </a:extLst>
          </p:cNvPr>
          <p:cNvSpPr txBox="1"/>
          <p:nvPr/>
        </p:nvSpPr>
        <p:spPr>
          <a:xfrm>
            <a:off x="5568800" y="3774248"/>
            <a:ext cx="22868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공동 수목장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(Community)</a:t>
            </a:r>
            <a:endParaRPr lang="ko-KR" altLang="en-US" sz="1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7390413-3804-5684-F7E5-8C42D0FFEE4F}"/>
              </a:ext>
            </a:extLst>
          </p:cNvPr>
          <p:cNvSpPr txBox="1"/>
          <p:nvPr/>
        </p:nvSpPr>
        <p:spPr>
          <a:xfrm>
            <a:off x="5254181" y="4085805"/>
            <a:ext cx="29733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여러 위를 한 그루 큰 나무 아래 안치</a:t>
            </a:r>
          </a:p>
          <a:p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경제적이면서도 품격 유지</a:t>
            </a:r>
          </a:p>
          <a:p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공동 추모비에 이름 새김</a:t>
            </a:r>
          </a:p>
          <a:p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합동 추모제 참석 가능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DE6EEDC7-4A8C-E750-2333-42956495AA33}"/>
              </a:ext>
            </a:extLst>
          </p:cNvPr>
          <p:cNvSpPr/>
          <p:nvPr/>
        </p:nvSpPr>
        <p:spPr>
          <a:xfrm>
            <a:off x="5216077" y="4866471"/>
            <a:ext cx="3109891" cy="1231585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IMAGE</a:t>
            </a:r>
            <a:endParaRPr lang="ko-KR" altLang="en-US" sz="28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04013748"/>
      </p:ext>
    </p:extLst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CD011E-8D57-408F-8027-C03D02D5D0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5100C511-D0E1-28F7-C96B-DA2FF47DF108}"/>
              </a:ext>
            </a:extLst>
          </p:cNvPr>
          <p:cNvGraphicFramePr>
            <a:graphicFrameLocks noGrp="1"/>
          </p:cNvGraphicFramePr>
          <p:nvPr/>
        </p:nvGraphicFramePr>
        <p:xfrm>
          <a:off x="9182101" y="947377"/>
          <a:ext cx="2795588" cy="1847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1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684046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723838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3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172599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4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290794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5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922450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6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784800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7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0538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8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199337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9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450365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AFCDAC6A-B8B6-886E-F23B-A4216AD979C9}"/>
              </a:ext>
            </a:extLst>
          </p:cNvPr>
          <p:cNvSpPr/>
          <p:nvPr/>
        </p:nvSpPr>
        <p:spPr>
          <a:xfrm>
            <a:off x="959895" y="375614"/>
            <a:ext cx="1374094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</a:pP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메인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분양안내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분양절차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3E67A95-970F-876F-FDEA-D7532836B2A5}"/>
              </a:ext>
            </a:extLst>
          </p:cNvPr>
          <p:cNvSpPr txBox="1"/>
          <p:nvPr/>
        </p:nvSpPr>
        <p:spPr>
          <a:xfrm>
            <a:off x="6003996" y="123825"/>
            <a:ext cx="17303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HN_DistriInfo_Distriproce_001</a:t>
            </a:r>
            <a:endParaRPr lang="ko-KR" altLang="en-US" sz="800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1CE8442-5243-D50D-3796-1E20113086B4}"/>
              </a:ext>
            </a:extLst>
          </p:cNvPr>
          <p:cNvSpPr/>
          <p:nvPr/>
        </p:nvSpPr>
        <p:spPr>
          <a:xfrm>
            <a:off x="700109" y="1116980"/>
            <a:ext cx="3109891" cy="1231585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IMAGE</a:t>
            </a:r>
            <a:endParaRPr lang="ko-KR" altLang="en-US" sz="28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816861-C8C6-D923-2866-952DBF673231}"/>
              </a:ext>
            </a:extLst>
          </p:cNvPr>
          <p:cNvSpPr txBox="1"/>
          <p:nvPr/>
        </p:nvSpPr>
        <p:spPr>
          <a:xfrm>
            <a:off x="1041050" y="2395633"/>
            <a:ext cx="22868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잔디장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(Grass Memorial)</a:t>
            </a:r>
            <a:endParaRPr lang="ko-KR" altLang="en-US" sz="1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A20A6B1-0F9D-A1E6-7F12-A67F034F01AA}"/>
              </a:ext>
            </a:extLst>
          </p:cNvPr>
          <p:cNvSpPr txBox="1"/>
          <p:nvPr/>
        </p:nvSpPr>
        <p:spPr>
          <a:xfrm>
            <a:off x="726431" y="2707190"/>
            <a:ext cx="2973324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잔디 평지에 안치</a:t>
            </a:r>
          </a:p>
          <a:p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1㎡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당 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위</a:t>
            </a:r>
          </a:p>
          <a:p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개별 표석 설치</a:t>
            </a:r>
          </a:p>
          <a:p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깔끔하고 현대적 디자인</a:t>
            </a:r>
          </a:p>
          <a:p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개방적인 공간감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B9CA25D-EF13-A84B-8A07-5B57BA874BF0}"/>
              </a:ext>
            </a:extLst>
          </p:cNvPr>
          <p:cNvSpPr txBox="1"/>
          <p:nvPr/>
        </p:nvSpPr>
        <p:spPr>
          <a:xfrm>
            <a:off x="5568800" y="1210203"/>
            <a:ext cx="22868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소나무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(Korean Pine)</a:t>
            </a:r>
            <a:endParaRPr lang="ko-KR" altLang="en-US" sz="1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58BB85D-C22C-2C37-7245-0309CB390053}"/>
              </a:ext>
            </a:extLst>
          </p:cNvPr>
          <p:cNvSpPr txBox="1"/>
          <p:nvPr/>
        </p:nvSpPr>
        <p:spPr>
          <a:xfrm>
            <a:off x="5254181" y="1521760"/>
            <a:ext cx="2973324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사계절 푸른 잎</a:t>
            </a:r>
          </a:p>
          <a:p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강인한 생명력</a:t>
            </a:r>
          </a:p>
          <a:p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수령 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100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 이상 장수</a:t>
            </a:r>
          </a:p>
          <a:p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전통적으로 가장 선호되는 수종</a:t>
            </a:r>
          </a:p>
          <a:p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한국의 정서와 가장 잘 어울림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A448EF1-CCF9-970A-6971-E5A51BA7C9A2}"/>
              </a:ext>
            </a:extLst>
          </p:cNvPr>
          <p:cNvSpPr txBox="1"/>
          <p:nvPr/>
        </p:nvSpPr>
        <p:spPr>
          <a:xfrm>
            <a:off x="5568800" y="2393683"/>
            <a:ext cx="22868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느티나무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(Zelkova)</a:t>
            </a:r>
            <a:endParaRPr lang="ko-KR" altLang="en-US" sz="1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9B2E4DB-854F-C4EB-FAAE-0543CEF1E132}"/>
              </a:ext>
            </a:extLst>
          </p:cNvPr>
          <p:cNvSpPr txBox="1"/>
          <p:nvPr/>
        </p:nvSpPr>
        <p:spPr>
          <a:xfrm>
            <a:off x="5254181" y="2705240"/>
            <a:ext cx="2973324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수백 년 장수 수종</a:t>
            </a:r>
          </a:p>
          <a:p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넓은 그늘 제공</a:t>
            </a:r>
          </a:p>
          <a:p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마을 어귀 </a:t>
            </a:r>
            <a:r>
              <a:rPr lang="ko-KR" altLang="en-US" sz="9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수호목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역할</a:t>
            </a:r>
          </a:p>
          <a:p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봄 신록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가을 단풍 아름다움</a:t>
            </a:r>
          </a:p>
          <a:p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가족을 지키는 상징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21EE3AE7-6591-9ED3-0E43-6F10E9326C9C}"/>
              </a:ext>
            </a:extLst>
          </p:cNvPr>
          <p:cNvSpPr/>
          <p:nvPr/>
        </p:nvSpPr>
        <p:spPr>
          <a:xfrm>
            <a:off x="5216077" y="3494868"/>
            <a:ext cx="3109891" cy="1231585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IMAGE</a:t>
            </a:r>
            <a:endParaRPr lang="ko-KR" altLang="en-US" sz="28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38AA5D7-C89C-79AE-15F0-94B0F2D5E9B6}"/>
              </a:ext>
            </a:extLst>
          </p:cNvPr>
          <p:cNvSpPr txBox="1"/>
          <p:nvPr/>
        </p:nvSpPr>
        <p:spPr>
          <a:xfrm>
            <a:off x="1535192" y="3545778"/>
            <a:ext cx="6260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r>
              <a:rPr lang="en-US" altLang="ko-KR" sz="1400" b="1" baseline="30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nd</a:t>
            </a:r>
            <a:endParaRPr lang="en-US" altLang="ko-KR" sz="14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CC26D69-9905-3BC9-07AD-FAA0834E50C3}"/>
              </a:ext>
            </a:extLst>
          </p:cNvPr>
          <p:cNvSpPr txBox="1"/>
          <p:nvPr/>
        </p:nvSpPr>
        <p:spPr>
          <a:xfrm>
            <a:off x="1888060" y="3597605"/>
            <a:ext cx="14113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수목 선택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05E8E9E-E4F1-E64C-0AD2-DD14C4F1C63D}"/>
              </a:ext>
            </a:extLst>
          </p:cNvPr>
          <p:cNvSpPr txBox="1"/>
          <p:nvPr/>
        </p:nvSpPr>
        <p:spPr>
          <a:xfrm>
            <a:off x="795720" y="3947306"/>
            <a:ext cx="290403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하늘누리 수목장은 수령 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20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 이상의 국내 </a:t>
            </a:r>
            <a:r>
              <a:rPr lang="ko-KR" altLang="en-US" sz="9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자생종만을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엄선하여 식재합니다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 algn="ctr"/>
            <a:endParaRPr lang="en-US" altLang="ko-KR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나무는 묘비가 되고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숲은 추모의 성전이 됩니다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고인의 성품과 가족의 마음에 맞는 나무를 선택하세요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EEEDB7EE-56B3-69E5-AC34-0AC24E6AD88D}"/>
              </a:ext>
            </a:extLst>
          </p:cNvPr>
          <p:cNvSpPr/>
          <p:nvPr/>
        </p:nvSpPr>
        <p:spPr>
          <a:xfrm>
            <a:off x="700109" y="4825887"/>
            <a:ext cx="3109891" cy="1231585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IMAGE</a:t>
            </a:r>
            <a:endParaRPr lang="ko-KR" altLang="en-US" sz="28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214DC1B7-C953-E445-783A-6BFB4A0314FE}"/>
              </a:ext>
            </a:extLst>
          </p:cNvPr>
          <p:cNvSpPr/>
          <p:nvPr/>
        </p:nvSpPr>
        <p:spPr>
          <a:xfrm>
            <a:off x="5207113" y="3500551"/>
            <a:ext cx="3109891" cy="1231585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IMAGE</a:t>
            </a:r>
            <a:endParaRPr lang="ko-KR" altLang="en-US" sz="28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6C0A75E3-8F6A-E630-4F62-8F42A396222F}"/>
              </a:ext>
            </a:extLst>
          </p:cNvPr>
          <p:cNvSpPr/>
          <p:nvPr/>
        </p:nvSpPr>
        <p:spPr>
          <a:xfrm>
            <a:off x="5216077" y="4899045"/>
            <a:ext cx="3109891" cy="1231585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IMAGE</a:t>
            </a:r>
            <a:endParaRPr lang="ko-KR" altLang="en-US" sz="28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08155043"/>
      </p:ext>
    </p:extLst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B1E43D-D453-3682-EFB8-68F7B1E74F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9880B492-B303-5C3F-1A9E-CB3C4F8675CF}"/>
              </a:ext>
            </a:extLst>
          </p:cNvPr>
          <p:cNvGraphicFramePr>
            <a:graphicFrameLocks noGrp="1"/>
          </p:cNvGraphicFramePr>
          <p:nvPr/>
        </p:nvGraphicFramePr>
        <p:xfrm>
          <a:off x="9182101" y="947377"/>
          <a:ext cx="2795588" cy="1847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1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684046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723838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3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172599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4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290794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5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922450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6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784800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7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0538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8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199337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9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450365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57D52D3F-0C05-7B93-E38C-9B241D828275}"/>
              </a:ext>
            </a:extLst>
          </p:cNvPr>
          <p:cNvSpPr/>
          <p:nvPr/>
        </p:nvSpPr>
        <p:spPr>
          <a:xfrm>
            <a:off x="959895" y="375614"/>
            <a:ext cx="1374094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</a:pP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메인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분양안내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분양절차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595C777-45E1-EB62-399E-24BC34498CC0}"/>
              </a:ext>
            </a:extLst>
          </p:cNvPr>
          <p:cNvSpPr txBox="1"/>
          <p:nvPr/>
        </p:nvSpPr>
        <p:spPr>
          <a:xfrm>
            <a:off x="6003996" y="123825"/>
            <a:ext cx="17303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HN_DistriInfo_Distriproce_001</a:t>
            </a:r>
            <a:endParaRPr lang="ko-KR" altLang="en-US" sz="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C1540A-26B9-A78C-8958-8ED2F0298604}"/>
              </a:ext>
            </a:extLst>
          </p:cNvPr>
          <p:cNvSpPr txBox="1"/>
          <p:nvPr/>
        </p:nvSpPr>
        <p:spPr>
          <a:xfrm>
            <a:off x="1041050" y="1131608"/>
            <a:ext cx="22868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벗나무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(Cherry Blossom)</a:t>
            </a:r>
            <a:endParaRPr lang="ko-KR" altLang="en-US" sz="1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23E581D-3513-A8CF-D2E5-E2EBDD839CFF}"/>
              </a:ext>
            </a:extLst>
          </p:cNvPr>
          <p:cNvSpPr txBox="1"/>
          <p:nvPr/>
        </p:nvSpPr>
        <p:spPr>
          <a:xfrm>
            <a:off x="726431" y="1443165"/>
            <a:ext cx="2973324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봄철 화려한 꽃</a:t>
            </a:r>
          </a:p>
          <a:p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낭만적 분위기</a:t>
            </a:r>
          </a:p>
          <a:p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젊은 층 선호</a:t>
            </a:r>
          </a:p>
          <a:p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포토존으로 인기</a:t>
            </a:r>
          </a:p>
          <a:p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벚꽃 축제 기간 아름다움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012E7D7-965D-C176-5E6F-40D5B7C9722B}"/>
              </a:ext>
            </a:extLst>
          </p:cNvPr>
          <p:cNvSpPr txBox="1"/>
          <p:nvPr/>
        </p:nvSpPr>
        <p:spPr>
          <a:xfrm>
            <a:off x="1110339" y="4550713"/>
            <a:ext cx="22868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A </a:t>
            </a:r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구역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(Premium Zone)</a:t>
            </a:r>
            <a:endParaRPr lang="ko-KR" altLang="en-US" sz="1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BEFE5EA-42B5-A13B-F543-EE65E8DDC068}"/>
              </a:ext>
            </a:extLst>
          </p:cNvPr>
          <p:cNvSpPr txBox="1"/>
          <p:nvPr/>
        </p:nvSpPr>
        <p:spPr>
          <a:xfrm>
            <a:off x="795720" y="4862270"/>
            <a:ext cx="2973324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전망대 인접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하늘누리 전경 조망</a:t>
            </a:r>
          </a:p>
          <a:p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남향 또는 동향</a:t>
            </a:r>
          </a:p>
          <a:p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일조량 최고</a:t>
            </a:r>
          </a:p>
          <a:p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산책로 직접 연결</a:t>
            </a:r>
          </a:p>
          <a:p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계절별 꽃 정원 인접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F12D070-58B9-F3AB-3E38-A48794EDEA0E}"/>
              </a:ext>
            </a:extLst>
          </p:cNvPr>
          <p:cNvSpPr txBox="1"/>
          <p:nvPr/>
        </p:nvSpPr>
        <p:spPr>
          <a:xfrm>
            <a:off x="5568800" y="3828037"/>
            <a:ext cx="22868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B </a:t>
            </a:r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구역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(Standard Zone)</a:t>
            </a:r>
            <a:endParaRPr lang="ko-KR" altLang="en-US" sz="1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31B450A-301F-8EF7-150B-F54313C33439}"/>
              </a:ext>
            </a:extLst>
          </p:cNvPr>
          <p:cNvSpPr txBox="1"/>
          <p:nvPr/>
        </p:nvSpPr>
        <p:spPr>
          <a:xfrm>
            <a:off x="5254181" y="4139594"/>
            <a:ext cx="2973324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산책로 바로 인접</a:t>
            </a:r>
          </a:p>
          <a:p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동향 또는 남동향</a:t>
            </a:r>
          </a:p>
          <a:p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일조량 양호</a:t>
            </a:r>
          </a:p>
          <a:p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접근성 우수</a:t>
            </a:r>
          </a:p>
          <a:p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벤치 및 휴게 공간 근처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180DCE6-9404-B6AF-E1EC-D163045619A8}"/>
              </a:ext>
            </a:extLst>
          </p:cNvPr>
          <p:cNvSpPr txBox="1"/>
          <p:nvPr/>
        </p:nvSpPr>
        <p:spPr>
          <a:xfrm>
            <a:off x="1535192" y="2326577"/>
            <a:ext cx="6260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r>
              <a:rPr lang="en-US" altLang="ko-KR" sz="1400" b="1" baseline="30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rd</a:t>
            </a:r>
            <a:endParaRPr lang="en-US" altLang="ko-KR" sz="14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55ACF22-ED1A-B489-A0A2-1D3176130803}"/>
              </a:ext>
            </a:extLst>
          </p:cNvPr>
          <p:cNvSpPr txBox="1"/>
          <p:nvPr/>
        </p:nvSpPr>
        <p:spPr>
          <a:xfrm>
            <a:off x="1888060" y="2378404"/>
            <a:ext cx="14113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구역 위치 선택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E5B7007-2BFE-38B0-3CD4-EB3CD65871EF}"/>
              </a:ext>
            </a:extLst>
          </p:cNvPr>
          <p:cNvSpPr txBox="1"/>
          <p:nvPr/>
        </p:nvSpPr>
        <p:spPr>
          <a:xfrm>
            <a:off x="795720" y="2728105"/>
            <a:ext cx="290403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하늘누리 수목장은 전체 부지가 자연 경관과 조화를 이루도록 설계되었습니다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 algn="ctr"/>
            <a:endParaRPr lang="en-US" altLang="ko-KR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위치에 따라 전망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접근성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일조량이 달라지며 가격도 차등 적용됩니다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8A1298C3-BAA5-AB17-24F0-B2DB902EA5E4}"/>
              </a:ext>
            </a:extLst>
          </p:cNvPr>
          <p:cNvSpPr/>
          <p:nvPr/>
        </p:nvSpPr>
        <p:spPr>
          <a:xfrm>
            <a:off x="5216077" y="1131608"/>
            <a:ext cx="3109891" cy="1231585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IMAGE</a:t>
            </a:r>
            <a:endParaRPr lang="ko-KR" altLang="en-US" sz="28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DD4B4839-162F-3AFE-48C4-CE5221B7AC94}"/>
              </a:ext>
            </a:extLst>
          </p:cNvPr>
          <p:cNvGraphicFramePr>
            <a:graphicFrameLocks noGrp="1"/>
          </p:cNvGraphicFramePr>
          <p:nvPr/>
        </p:nvGraphicFramePr>
        <p:xfrm>
          <a:off x="795720" y="3639409"/>
          <a:ext cx="2973324" cy="78483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91283">
                  <a:extLst>
                    <a:ext uri="{9D8B030D-6E8A-4147-A177-3AD203B41FA5}">
                      <a16:colId xmlns:a16="http://schemas.microsoft.com/office/drawing/2014/main" val="1553538150"/>
                    </a:ext>
                  </a:extLst>
                </a:gridCol>
                <a:gridCol w="579044">
                  <a:extLst>
                    <a:ext uri="{9D8B030D-6E8A-4147-A177-3AD203B41FA5}">
                      <a16:colId xmlns:a16="http://schemas.microsoft.com/office/drawing/2014/main" val="1005073696"/>
                    </a:ext>
                  </a:extLst>
                </a:gridCol>
                <a:gridCol w="633850">
                  <a:extLst>
                    <a:ext uri="{9D8B030D-6E8A-4147-A177-3AD203B41FA5}">
                      <a16:colId xmlns:a16="http://schemas.microsoft.com/office/drawing/2014/main" val="2912823855"/>
                    </a:ext>
                  </a:extLst>
                </a:gridCol>
                <a:gridCol w="639138">
                  <a:extLst>
                    <a:ext uri="{9D8B030D-6E8A-4147-A177-3AD203B41FA5}">
                      <a16:colId xmlns:a16="http://schemas.microsoft.com/office/drawing/2014/main" val="420109590"/>
                    </a:ext>
                  </a:extLst>
                </a:gridCol>
                <a:gridCol w="730009">
                  <a:extLst>
                    <a:ext uri="{9D8B030D-6E8A-4147-A177-3AD203B41FA5}">
                      <a16:colId xmlns:a16="http://schemas.microsoft.com/office/drawing/2014/main" val="21308472"/>
                    </a:ext>
                  </a:extLst>
                </a:gridCol>
              </a:tblGrid>
              <a:tr h="39241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구분</a:t>
                      </a:r>
                      <a:endParaRPr lang="en-US" altLang="ko-KR" sz="10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A </a:t>
                      </a:r>
                      <a:r>
                        <a:rPr lang="ko-KR" altLang="en-US" sz="10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구역</a:t>
                      </a:r>
                      <a:endParaRPr lang="en-US" altLang="ko-KR" sz="10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B </a:t>
                      </a:r>
                      <a:r>
                        <a:rPr lang="ko-KR" altLang="en-US" sz="10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구역</a:t>
                      </a:r>
                      <a:endParaRPr lang="en-US" altLang="ko-KR" sz="10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C </a:t>
                      </a:r>
                      <a:r>
                        <a:rPr lang="ko-KR" altLang="en-US" sz="10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구역</a:t>
                      </a:r>
                      <a:endParaRPr lang="en-US" altLang="ko-KR" sz="10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D </a:t>
                      </a:r>
                      <a:r>
                        <a:rPr lang="ko-KR" altLang="en-US" sz="10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구역</a:t>
                      </a:r>
                      <a:endParaRPr lang="en-US" altLang="ko-KR" sz="10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0268165"/>
                  </a:ext>
                </a:extLst>
              </a:tr>
              <a:tr h="392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특징</a:t>
                      </a:r>
                      <a:endParaRPr lang="en-US" altLang="ko-KR" sz="10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전망 </a:t>
                      </a:r>
                      <a:endParaRPr lang="en-US" altLang="ko-KR" sz="10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최고</a:t>
                      </a:r>
                      <a:endParaRPr lang="en-US" altLang="ko-KR" sz="10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산책로 </a:t>
                      </a:r>
                      <a:endParaRPr lang="en-US" altLang="ko-KR" sz="10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인접</a:t>
                      </a:r>
                      <a:endParaRPr lang="en-US" altLang="ko-KR" sz="10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조용한 </a:t>
                      </a:r>
                      <a:endParaRPr lang="en-US" altLang="ko-KR" sz="10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숲속</a:t>
                      </a:r>
                      <a:endParaRPr lang="en-US" altLang="ko-KR" sz="10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공동 </a:t>
                      </a:r>
                      <a:endParaRPr lang="en-US" altLang="ko-KR" sz="10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수목장</a:t>
                      </a:r>
                      <a:endParaRPr lang="en-US" altLang="ko-KR" sz="10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1090331"/>
                  </a:ext>
                </a:extLst>
              </a:tr>
            </a:tbl>
          </a:graphicData>
        </a:graphic>
      </p:graphicFrame>
      <p:sp>
        <p:nvSpPr>
          <p:cNvPr id="8" name="직사각형 7">
            <a:extLst>
              <a:ext uri="{FF2B5EF4-FFF2-40B4-BE49-F238E27FC236}">
                <a16:creationId xmlns:a16="http://schemas.microsoft.com/office/drawing/2014/main" id="{32E3ACAE-CADD-086C-36BA-1D181936BCB0}"/>
              </a:ext>
            </a:extLst>
          </p:cNvPr>
          <p:cNvSpPr/>
          <p:nvPr/>
        </p:nvSpPr>
        <p:spPr>
          <a:xfrm>
            <a:off x="5216077" y="2480465"/>
            <a:ext cx="3109891" cy="1231585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IMAGE</a:t>
            </a:r>
            <a:endParaRPr lang="ko-KR" altLang="en-US" sz="28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9F42B3A-BBD6-EDA8-E1E3-5661DCD6333F}"/>
              </a:ext>
            </a:extLst>
          </p:cNvPr>
          <p:cNvSpPr txBox="1"/>
          <p:nvPr/>
        </p:nvSpPr>
        <p:spPr>
          <a:xfrm>
            <a:off x="5568800" y="5040411"/>
            <a:ext cx="22868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C </a:t>
            </a:r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구역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(Forest Zone)</a:t>
            </a:r>
            <a:endParaRPr lang="ko-KR" altLang="en-US" sz="1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BFA65E9-7500-70D7-A8D4-AAEB72DDF3FF}"/>
              </a:ext>
            </a:extLst>
          </p:cNvPr>
          <p:cNvSpPr txBox="1"/>
          <p:nvPr/>
        </p:nvSpPr>
        <p:spPr>
          <a:xfrm>
            <a:off x="5254181" y="5351968"/>
            <a:ext cx="2973324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깊은 숲속 조용한 공간</a:t>
            </a:r>
          </a:p>
          <a:p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북향 또는 </a:t>
            </a:r>
            <a:r>
              <a:rPr lang="ko-KR" altLang="en-US" sz="9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북동향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나무 그늘 아래 시원함</a:t>
            </a:r>
          </a:p>
          <a:p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</a:t>
            </a:r>
            <a:r>
              <a:rPr lang="ko-KR" altLang="en-US" sz="9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프라이빗한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분위기</a:t>
            </a:r>
          </a:p>
          <a:p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새소리와 자연 소리</a:t>
            </a:r>
          </a:p>
        </p:txBody>
      </p:sp>
    </p:spTree>
    <p:extLst>
      <p:ext uri="{BB962C8B-B14F-4D97-AF65-F5344CB8AC3E}">
        <p14:creationId xmlns:p14="http://schemas.microsoft.com/office/powerpoint/2010/main" val="3832584717"/>
      </p:ext>
    </p:extLst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113B0A-ADF8-DB02-54B6-94CC306163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A7234756-04DC-8EE7-4A0B-495B3ADAC9C0}"/>
              </a:ext>
            </a:extLst>
          </p:cNvPr>
          <p:cNvGraphicFramePr>
            <a:graphicFrameLocks noGrp="1"/>
          </p:cNvGraphicFramePr>
          <p:nvPr/>
        </p:nvGraphicFramePr>
        <p:xfrm>
          <a:off x="9182101" y="947377"/>
          <a:ext cx="2795588" cy="1847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1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684046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723838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3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172599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4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290794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5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922450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6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784800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7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0538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8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199337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9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450365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E9453FBC-B216-2F77-0010-E36B73726899}"/>
              </a:ext>
            </a:extLst>
          </p:cNvPr>
          <p:cNvSpPr/>
          <p:nvPr/>
        </p:nvSpPr>
        <p:spPr>
          <a:xfrm>
            <a:off x="959895" y="375614"/>
            <a:ext cx="1374094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</a:pP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메인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분양안내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분양절차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4850B81-CDC0-7E76-3615-AC47FF716338}"/>
              </a:ext>
            </a:extLst>
          </p:cNvPr>
          <p:cNvSpPr txBox="1"/>
          <p:nvPr/>
        </p:nvSpPr>
        <p:spPr>
          <a:xfrm>
            <a:off x="6003996" y="123825"/>
            <a:ext cx="17303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HN_DistriInfo_Distriproce_001</a:t>
            </a:r>
            <a:endParaRPr lang="ko-KR" altLang="en-US" sz="8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F689CA2-AB1C-379D-FC70-F420A82092F3}"/>
              </a:ext>
            </a:extLst>
          </p:cNvPr>
          <p:cNvSpPr txBox="1"/>
          <p:nvPr/>
        </p:nvSpPr>
        <p:spPr>
          <a:xfrm>
            <a:off x="1110339" y="3860430"/>
            <a:ext cx="22868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D </a:t>
            </a:r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구역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(Community Zone)</a:t>
            </a:r>
            <a:endParaRPr lang="ko-KR" altLang="en-US" sz="1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AC57FBA-EE88-3ACD-70F0-EB646D47EDD1}"/>
              </a:ext>
            </a:extLst>
          </p:cNvPr>
          <p:cNvSpPr txBox="1"/>
          <p:nvPr/>
        </p:nvSpPr>
        <p:spPr>
          <a:xfrm>
            <a:off x="795720" y="4171987"/>
            <a:ext cx="29733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공동 수목장 전용 구역</a:t>
            </a:r>
          </a:p>
          <a:p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대형 </a:t>
            </a:r>
            <a:r>
              <a:rPr lang="ko-KR" altLang="en-US" sz="9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천년송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5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그루</a:t>
            </a:r>
          </a:p>
          <a:p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공동 추모비</a:t>
            </a:r>
          </a:p>
          <a:p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합동 추모제 공간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B819D8C-C6EA-A8B4-7D75-F7B8D878B42A}"/>
              </a:ext>
            </a:extLst>
          </p:cNvPr>
          <p:cNvSpPr txBox="1"/>
          <p:nvPr/>
        </p:nvSpPr>
        <p:spPr>
          <a:xfrm>
            <a:off x="5568800" y="2447471"/>
            <a:ext cx="22868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계약관련 필요 서류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43A99E3-A784-7EF0-D88B-0E59A9AA3620}"/>
              </a:ext>
            </a:extLst>
          </p:cNvPr>
          <p:cNvSpPr txBox="1"/>
          <p:nvPr/>
        </p:nvSpPr>
        <p:spPr>
          <a:xfrm>
            <a:off x="1450193" y="4950440"/>
            <a:ext cx="6260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r>
            <a:r>
              <a:rPr lang="en-US" altLang="ko-KR" sz="1400" b="1" baseline="30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th</a:t>
            </a:r>
            <a:endParaRPr lang="en-US" altLang="ko-KR" sz="14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25B5805-533E-3119-0C4D-CEB3F6E6FBDF}"/>
              </a:ext>
            </a:extLst>
          </p:cNvPr>
          <p:cNvSpPr txBox="1"/>
          <p:nvPr/>
        </p:nvSpPr>
        <p:spPr>
          <a:xfrm>
            <a:off x="1803061" y="5002267"/>
            <a:ext cx="14113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사용권 계약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9540D71-69D4-4E7E-302E-6B50247AFBDF}"/>
              </a:ext>
            </a:extLst>
          </p:cNvPr>
          <p:cNvSpPr txBox="1"/>
          <p:nvPr/>
        </p:nvSpPr>
        <p:spPr>
          <a:xfrm>
            <a:off x="710721" y="5351968"/>
            <a:ext cx="290403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수목장 사용권 계약은 자연 회귀의 철학을 실천하는 첫걸음입니다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 algn="ctr"/>
            <a:endParaRPr lang="en-US" altLang="ko-KR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투명하고 명확한 계약으로 평생 안심하고 모실 수 있도록 </a:t>
            </a:r>
            <a:r>
              <a:rPr lang="ko-KR" altLang="en-US" sz="9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약속드립니다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7003EEC0-21A6-94E9-31D9-EEE6F02EDE6D}"/>
              </a:ext>
            </a:extLst>
          </p:cNvPr>
          <p:cNvSpPr/>
          <p:nvPr/>
        </p:nvSpPr>
        <p:spPr>
          <a:xfrm>
            <a:off x="5216077" y="1131608"/>
            <a:ext cx="3109891" cy="1231585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IMAGE</a:t>
            </a:r>
            <a:endParaRPr lang="ko-KR" altLang="en-US" sz="28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358F2B7-35F5-51B3-8F4C-27A42E5A24B8}"/>
              </a:ext>
            </a:extLst>
          </p:cNvPr>
          <p:cNvSpPr/>
          <p:nvPr/>
        </p:nvSpPr>
        <p:spPr>
          <a:xfrm>
            <a:off x="692791" y="1131607"/>
            <a:ext cx="3109891" cy="1231585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IMAGE</a:t>
            </a:r>
            <a:endParaRPr lang="ko-KR" altLang="en-US" sz="28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B2E14CCF-C0B7-A4D9-3260-F615A4C678FD}"/>
              </a:ext>
            </a:extLst>
          </p:cNvPr>
          <p:cNvSpPr/>
          <p:nvPr/>
        </p:nvSpPr>
        <p:spPr>
          <a:xfrm>
            <a:off x="692791" y="2480464"/>
            <a:ext cx="3109891" cy="1231585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IMAGE</a:t>
            </a:r>
            <a:endParaRPr lang="ko-KR" altLang="en-US" sz="28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20" name="표 19">
            <a:extLst>
              <a:ext uri="{FF2B5EF4-FFF2-40B4-BE49-F238E27FC236}">
                <a16:creationId xmlns:a16="http://schemas.microsoft.com/office/drawing/2014/main" id="{F41CD343-F5D6-11A2-1C54-325F2008A489}"/>
              </a:ext>
            </a:extLst>
          </p:cNvPr>
          <p:cNvGraphicFramePr>
            <a:graphicFrameLocks noGrp="1"/>
          </p:cNvGraphicFramePr>
          <p:nvPr/>
        </p:nvGraphicFramePr>
        <p:xfrm>
          <a:off x="5254181" y="2791492"/>
          <a:ext cx="2973323" cy="19184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725238">
                  <a:extLst>
                    <a:ext uri="{9D8B030D-6E8A-4147-A177-3AD203B41FA5}">
                      <a16:colId xmlns:a16="http://schemas.microsoft.com/office/drawing/2014/main" val="1553538150"/>
                    </a:ext>
                  </a:extLst>
                </a:gridCol>
                <a:gridCol w="1206230">
                  <a:extLst>
                    <a:ext uri="{9D8B030D-6E8A-4147-A177-3AD203B41FA5}">
                      <a16:colId xmlns:a16="http://schemas.microsoft.com/office/drawing/2014/main" val="1005073696"/>
                    </a:ext>
                  </a:extLst>
                </a:gridCol>
                <a:gridCol w="1041855">
                  <a:extLst>
                    <a:ext uri="{9D8B030D-6E8A-4147-A177-3AD203B41FA5}">
                      <a16:colId xmlns:a16="http://schemas.microsoft.com/office/drawing/2014/main" val="2912823855"/>
                    </a:ext>
                  </a:extLst>
                </a:gridCol>
              </a:tblGrid>
              <a:tr h="27599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구분</a:t>
                      </a:r>
                      <a:endParaRPr lang="en-US" altLang="ko-KR" sz="9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필수서류</a:t>
                      </a:r>
                      <a:endParaRPr lang="en-US" altLang="ko-KR" sz="9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비고</a:t>
                      </a:r>
                      <a:endParaRPr lang="en-US" altLang="ko-KR" sz="9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0268165"/>
                  </a:ext>
                </a:extLst>
              </a:tr>
              <a:tr h="41372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개인 계약</a:t>
                      </a:r>
                      <a:endParaRPr lang="en-US" altLang="ko-KR" sz="9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• </a:t>
                      </a:r>
                      <a:r>
                        <a:rPr lang="ko-KR" altLang="en-US" sz="9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신분증 원본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• </a:t>
                      </a:r>
                      <a:r>
                        <a:rPr lang="ko-KR" altLang="en-US" sz="9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도장 또는 서명</a:t>
                      </a:r>
                      <a:endParaRPr lang="en-US" altLang="ko-KR" sz="9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본인 계약 시</a:t>
                      </a:r>
                      <a:endParaRPr lang="en-US" altLang="ko-KR" sz="9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1090331"/>
                  </a:ext>
                </a:extLst>
              </a:tr>
              <a:tr h="61435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대리인 계약</a:t>
                      </a:r>
                      <a:endParaRPr lang="en-US" altLang="ko-KR" sz="9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• </a:t>
                      </a:r>
                      <a:r>
                        <a:rPr lang="ko-KR" altLang="en-US" sz="9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위임장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• </a:t>
                      </a:r>
                      <a:r>
                        <a:rPr lang="ko-KR" altLang="en-US" sz="9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대리인 신분증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• </a:t>
                      </a:r>
                      <a:r>
                        <a:rPr lang="ko-KR" altLang="en-US" sz="9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계약자 신분증 사본</a:t>
                      </a:r>
                      <a:endParaRPr lang="en-US" altLang="ko-KR" sz="9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대리 계약 시</a:t>
                      </a:r>
                      <a:endParaRPr lang="en-US" altLang="ko-KR" sz="9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0626559"/>
                  </a:ext>
                </a:extLst>
              </a:tr>
              <a:tr h="61435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법인 계약</a:t>
                      </a:r>
                      <a:endParaRPr lang="en-US" altLang="ko-KR" sz="9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• </a:t>
                      </a:r>
                      <a:r>
                        <a:rPr lang="ko-KR" altLang="en-US" sz="9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사업자등록증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• </a:t>
                      </a:r>
                      <a:r>
                        <a:rPr lang="ko-KR" altLang="en-US" sz="9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법인인감증명서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• </a:t>
                      </a:r>
                      <a:r>
                        <a:rPr lang="ko-KR" altLang="en-US" sz="9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대표자 신분증</a:t>
                      </a:r>
                      <a:endParaRPr lang="en-US" altLang="ko-KR" sz="9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법인 명의 시</a:t>
                      </a:r>
                      <a:endParaRPr lang="en-US" altLang="ko-KR" sz="9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4697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3794051"/>
      </p:ext>
    </p:extLst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57396F-855F-8FBF-3945-D0E13EF9FD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E5810FDD-14E3-46E0-E64F-B9F8A6526210}"/>
              </a:ext>
            </a:extLst>
          </p:cNvPr>
          <p:cNvGraphicFramePr>
            <a:graphicFrameLocks noGrp="1"/>
          </p:cNvGraphicFramePr>
          <p:nvPr/>
        </p:nvGraphicFramePr>
        <p:xfrm>
          <a:off x="9182101" y="947377"/>
          <a:ext cx="2795588" cy="1847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1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684046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723838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3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172599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4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290794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5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922450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6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784800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7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0538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8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199337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9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450365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136898F4-0331-6FBB-1DC3-1E76A3E1CD03}"/>
              </a:ext>
            </a:extLst>
          </p:cNvPr>
          <p:cNvSpPr/>
          <p:nvPr/>
        </p:nvSpPr>
        <p:spPr>
          <a:xfrm>
            <a:off x="959895" y="375614"/>
            <a:ext cx="1374094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</a:pP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메인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분양안내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분양절차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0A15953-946B-5CEA-A765-A4FAE6A6D4B8}"/>
              </a:ext>
            </a:extLst>
          </p:cNvPr>
          <p:cNvSpPr txBox="1"/>
          <p:nvPr/>
        </p:nvSpPr>
        <p:spPr>
          <a:xfrm>
            <a:off x="6003996" y="123825"/>
            <a:ext cx="17303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HN_DistriInfo_Distriproce_001</a:t>
            </a:r>
            <a:endParaRPr lang="ko-KR" altLang="en-US" sz="8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20A35E8-69B6-338F-9B32-D770B5D9706C}"/>
              </a:ext>
            </a:extLst>
          </p:cNvPr>
          <p:cNvSpPr txBox="1"/>
          <p:nvPr/>
        </p:nvSpPr>
        <p:spPr>
          <a:xfrm>
            <a:off x="5568800" y="3433588"/>
            <a:ext cx="22868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관리비 포함 서비스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6103CB6-0E85-1330-F6F0-35DFB5D95525}"/>
              </a:ext>
            </a:extLst>
          </p:cNvPr>
          <p:cNvSpPr txBox="1"/>
          <p:nvPr/>
        </p:nvSpPr>
        <p:spPr>
          <a:xfrm>
            <a:off x="1450193" y="4645639"/>
            <a:ext cx="6260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5</a:t>
            </a:r>
            <a:r>
              <a:rPr lang="en-US" altLang="ko-KR" sz="1400" b="1" baseline="30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th</a:t>
            </a:r>
            <a:endParaRPr lang="en-US" altLang="ko-KR" sz="14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82C521F-CBC6-F4FF-18EE-EDEC0F114EE0}"/>
              </a:ext>
            </a:extLst>
          </p:cNvPr>
          <p:cNvSpPr txBox="1"/>
          <p:nvPr/>
        </p:nvSpPr>
        <p:spPr>
          <a:xfrm>
            <a:off x="1803061" y="4697466"/>
            <a:ext cx="14113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관리비 납부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6A04FA4-2C6E-0DF6-C723-2E17087BDABA}"/>
              </a:ext>
            </a:extLst>
          </p:cNvPr>
          <p:cNvSpPr txBox="1"/>
          <p:nvPr/>
        </p:nvSpPr>
        <p:spPr>
          <a:xfrm>
            <a:off x="710721" y="5047167"/>
            <a:ext cx="29040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수목장 관리비는 나무의 성장과 관리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구역 조경 및 유지보수에 사용됩니다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 algn="ctr"/>
            <a:endParaRPr lang="en-US" altLang="ko-KR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5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 단위로 선납하며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자연 친화적으로 관리합니다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85FE9F-5F50-382B-C303-7557AFA58D64}"/>
              </a:ext>
            </a:extLst>
          </p:cNvPr>
          <p:cNvSpPr txBox="1"/>
          <p:nvPr/>
        </p:nvSpPr>
        <p:spPr>
          <a:xfrm>
            <a:off x="1138365" y="1194360"/>
            <a:ext cx="22868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계약관련 필요 서류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3E9FC841-4D9E-31B5-4B88-962F27DBC8ED}"/>
              </a:ext>
            </a:extLst>
          </p:cNvPr>
          <p:cNvSpPr/>
          <p:nvPr/>
        </p:nvSpPr>
        <p:spPr>
          <a:xfrm>
            <a:off x="765623" y="1747355"/>
            <a:ext cx="856034" cy="1070042"/>
          </a:xfrm>
          <a:prstGeom prst="roundRect">
            <a:avLst/>
          </a:prstGeom>
          <a:solidFill>
            <a:srgbClr val="002060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 내용 최종 확인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16E2780F-FC45-7A0B-5563-1AE531526435}"/>
              </a:ext>
            </a:extLst>
          </p:cNvPr>
          <p:cNvSpPr/>
          <p:nvPr/>
        </p:nvSpPr>
        <p:spPr>
          <a:xfrm>
            <a:off x="1841601" y="1747355"/>
            <a:ext cx="856034" cy="1070042"/>
          </a:xfrm>
          <a:prstGeom prst="roundRect">
            <a:avLst/>
          </a:prstGeom>
          <a:solidFill>
            <a:srgbClr val="002060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계약서    </a:t>
            </a:r>
            <a:endParaRPr lang="en-US" altLang="ko-KR" sz="9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설명 및   </a:t>
            </a:r>
            <a:endParaRPr lang="en-US" altLang="ko-KR" sz="9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작성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7A6AB62B-66A6-1064-FBD8-10DF27B201C4}"/>
              </a:ext>
            </a:extLst>
          </p:cNvPr>
          <p:cNvSpPr/>
          <p:nvPr/>
        </p:nvSpPr>
        <p:spPr>
          <a:xfrm>
            <a:off x="2881567" y="1747355"/>
            <a:ext cx="856034" cy="1070042"/>
          </a:xfrm>
          <a:prstGeom prst="roundRect">
            <a:avLst/>
          </a:prstGeom>
          <a:solidFill>
            <a:srgbClr val="002060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계약금</a:t>
            </a:r>
            <a:endParaRPr lang="en-US" altLang="ko-KR" sz="9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납부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B85F076-2F13-B28C-748D-D31CAB423B02}"/>
              </a:ext>
            </a:extLst>
          </p:cNvPr>
          <p:cNvSpPr txBox="1"/>
          <p:nvPr/>
        </p:nvSpPr>
        <p:spPr>
          <a:xfrm>
            <a:off x="1955959" y="1508552"/>
            <a:ext cx="61593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r>
              <a:rPr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단계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426EC69-6FCF-CBC2-9090-82D6880A3B24}"/>
              </a:ext>
            </a:extLst>
          </p:cNvPr>
          <p:cNvSpPr txBox="1"/>
          <p:nvPr/>
        </p:nvSpPr>
        <p:spPr>
          <a:xfrm>
            <a:off x="887376" y="1508552"/>
            <a:ext cx="61593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단계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3053721-3C48-1F96-4DB9-0FDCF7CA61E8}"/>
              </a:ext>
            </a:extLst>
          </p:cNvPr>
          <p:cNvSpPr txBox="1"/>
          <p:nvPr/>
        </p:nvSpPr>
        <p:spPr>
          <a:xfrm>
            <a:off x="3024542" y="1508552"/>
            <a:ext cx="61593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r>
              <a:rPr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단계</a:t>
            </a:r>
          </a:p>
        </p:txBody>
      </p: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3C816F6F-8C91-8734-79B3-143FC40DDA47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1621657" y="2282376"/>
            <a:ext cx="219944" cy="0"/>
          </a:xfrm>
          <a:prstGeom prst="straightConnector1">
            <a:avLst/>
          </a:prstGeom>
          <a:ln w="9525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A4118830-9E34-F350-0716-A9D99A1059FF}"/>
              </a:ext>
            </a:extLst>
          </p:cNvPr>
          <p:cNvCxnSpPr>
            <a:stCxn id="7" idx="3"/>
            <a:endCxn id="8" idx="1"/>
          </p:cNvCxnSpPr>
          <p:nvPr/>
        </p:nvCxnSpPr>
        <p:spPr>
          <a:xfrm>
            <a:off x="2697635" y="2282376"/>
            <a:ext cx="183932" cy="0"/>
          </a:xfrm>
          <a:prstGeom prst="straightConnector1">
            <a:avLst/>
          </a:prstGeom>
          <a:ln w="9525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DA0A55E7-0BB7-E70E-7349-278E06065020}"/>
              </a:ext>
            </a:extLst>
          </p:cNvPr>
          <p:cNvSpPr txBox="1"/>
          <p:nvPr/>
        </p:nvSpPr>
        <p:spPr>
          <a:xfrm>
            <a:off x="732112" y="2903670"/>
            <a:ext cx="99951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800" b="0" i="0" dirty="0">
                <a:solidFill>
                  <a:srgbClr val="24292E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선택한 봉안실 위치 재확인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49129E3-875F-4248-EAFE-8323F2441A7A}"/>
              </a:ext>
            </a:extLst>
          </p:cNvPr>
          <p:cNvSpPr txBox="1"/>
          <p:nvPr/>
        </p:nvSpPr>
        <p:spPr>
          <a:xfrm>
            <a:off x="1841601" y="2903670"/>
            <a:ext cx="99951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800" b="0" i="0" dirty="0">
                <a:solidFill>
                  <a:srgbClr val="24292E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봉안시설 사용권 계약서 </a:t>
            </a:r>
            <a:r>
              <a:rPr lang="en-US" altLang="ko-KR" sz="800" b="0" i="0" dirty="0">
                <a:solidFill>
                  <a:srgbClr val="24292E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b="0" i="0" dirty="0">
                <a:solidFill>
                  <a:srgbClr val="24292E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표준양식</a:t>
            </a:r>
            <a:r>
              <a:rPr lang="en-US" altLang="ko-KR" sz="800" b="0" i="0" dirty="0">
                <a:solidFill>
                  <a:srgbClr val="24292E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1F3DE79-CC2D-C8B9-6754-1B64E21384D1}"/>
              </a:ext>
            </a:extLst>
          </p:cNvPr>
          <p:cNvSpPr txBox="1"/>
          <p:nvPr/>
        </p:nvSpPr>
        <p:spPr>
          <a:xfrm>
            <a:off x="2805981" y="2903670"/>
            <a:ext cx="99951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800" b="0" i="0" dirty="0">
                <a:solidFill>
                  <a:srgbClr val="24292E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계약금 </a:t>
            </a:r>
            <a:r>
              <a:rPr lang="en-US" altLang="ko-KR" sz="800" b="0" i="0" dirty="0">
                <a:solidFill>
                  <a:srgbClr val="24292E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30% </a:t>
            </a:r>
            <a:r>
              <a:rPr lang="ko-KR" altLang="en-US" sz="800" b="0" i="0" dirty="0">
                <a:solidFill>
                  <a:srgbClr val="24292E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즉시 납부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8927A2F0-BEC1-6CAE-DA39-99813503E38C}"/>
              </a:ext>
            </a:extLst>
          </p:cNvPr>
          <p:cNvSpPr/>
          <p:nvPr/>
        </p:nvSpPr>
        <p:spPr>
          <a:xfrm>
            <a:off x="695607" y="3237437"/>
            <a:ext cx="3109891" cy="1231585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IMAGE</a:t>
            </a:r>
            <a:endParaRPr lang="ko-KR" altLang="en-US" sz="28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27" name="표 26">
            <a:extLst>
              <a:ext uri="{FF2B5EF4-FFF2-40B4-BE49-F238E27FC236}">
                <a16:creationId xmlns:a16="http://schemas.microsoft.com/office/drawing/2014/main" id="{A828B6FF-6C89-B845-3B1B-725B763366EE}"/>
              </a:ext>
            </a:extLst>
          </p:cNvPr>
          <p:cNvGraphicFramePr>
            <a:graphicFrameLocks noGrp="1"/>
          </p:cNvGraphicFramePr>
          <p:nvPr/>
        </p:nvGraphicFramePr>
        <p:xfrm>
          <a:off x="5254181" y="1255273"/>
          <a:ext cx="2973323" cy="815574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483231">
                  <a:extLst>
                    <a:ext uri="{9D8B030D-6E8A-4147-A177-3AD203B41FA5}">
                      <a16:colId xmlns:a16="http://schemas.microsoft.com/office/drawing/2014/main" val="1553538150"/>
                    </a:ext>
                  </a:extLst>
                </a:gridCol>
                <a:gridCol w="510988">
                  <a:extLst>
                    <a:ext uri="{9D8B030D-6E8A-4147-A177-3AD203B41FA5}">
                      <a16:colId xmlns:a16="http://schemas.microsoft.com/office/drawing/2014/main" val="1005073696"/>
                    </a:ext>
                  </a:extLst>
                </a:gridCol>
                <a:gridCol w="502024">
                  <a:extLst>
                    <a:ext uri="{9D8B030D-6E8A-4147-A177-3AD203B41FA5}">
                      <a16:colId xmlns:a16="http://schemas.microsoft.com/office/drawing/2014/main" val="2912823855"/>
                    </a:ext>
                  </a:extLst>
                </a:gridCol>
                <a:gridCol w="582705">
                  <a:extLst>
                    <a:ext uri="{9D8B030D-6E8A-4147-A177-3AD203B41FA5}">
                      <a16:colId xmlns:a16="http://schemas.microsoft.com/office/drawing/2014/main" val="420109590"/>
                    </a:ext>
                  </a:extLst>
                </a:gridCol>
                <a:gridCol w="448236">
                  <a:extLst>
                    <a:ext uri="{9D8B030D-6E8A-4147-A177-3AD203B41FA5}">
                      <a16:colId xmlns:a16="http://schemas.microsoft.com/office/drawing/2014/main" val="21308472"/>
                    </a:ext>
                  </a:extLst>
                </a:gridCol>
                <a:gridCol w="446139">
                  <a:extLst>
                    <a:ext uri="{9D8B030D-6E8A-4147-A177-3AD203B41FA5}">
                      <a16:colId xmlns:a16="http://schemas.microsoft.com/office/drawing/2014/main" val="1371821468"/>
                    </a:ext>
                  </a:extLst>
                </a:gridCol>
              </a:tblGrid>
              <a:tr h="40778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구분</a:t>
                      </a:r>
                      <a:endParaRPr lang="en-US" altLang="ko-KR" sz="8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개인 </a:t>
                      </a:r>
                      <a:endParaRPr lang="en-US" altLang="ko-KR" sz="8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algn="ctr" latinLnBrk="1"/>
                      <a:r>
                        <a:rPr lang="ko-KR" altLang="en-US" sz="8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수목장</a:t>
                      </a:r>
                      <a:endParaRPr lang="en-US" altLang="ko-KR" sz="8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부부 </a:t>
                      </a:r>
                      <a:endParaRPr lang="en-US" altLang="ko-KR" sz="8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algn="ctr" latinLnBrk="1"/>
                      <a:r>
                        <a:rPr lang="ko-KR" altLang="en-US" sz="8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수목장</a:t>
                      </a:r>
                      <a:endParaRPr lang="en-US" altLang="ko-KR" sz="8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가족 </a:t>
                      </a:r>
                      <a:endParaRPr lang="en-US" altLang="ko-KR" sz="8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algn="ctr" latinLnBrk="1"/>
                      <a:r>
                        <a:rPr lang="ko-KR" altLang="en-US" sz="8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수목장</a:t>
                      </a:r>
                      <a:endParaRPr lang="en-US" altLang="ko-KR" sz="8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공동 </a:t>
                      </a:r>
                      <a:endParaRPr lang="en-US" altLang="ko-KR" sz="8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algn="ctr" latinLnBrk="1"/>
                      <a:r>
                        <a:rPr lang="ko-KR" altLang="en-US" sz="8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수목장</a:t>
                      </a:r>
                      <a:endParaRPr lang="en-US" altLang="ko-KR" sz="8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잔디장</a:t>
                      </a:r>
                      <a:endParaRPr lang="en-US" altLang="ko-KR" sz="8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0268165"/>
                  </a:ext>
                </a:extLst>
              </a:tr>
              <a:tr h="40778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관리비</a:t>
                      </a:r>
                      <a:endParaRPr lang="en-US" altLang="ko-KR" sz="8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(5</a:t>
                      </a:r>
                      <a:r>
                        <a:rPr lang="ko-KR" altLang="en-US" sz="8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년</a:t>
                      </a:r>
                      <a:r>
                        <a:rPr lang="en-US" altLang="ko-KR" sz="8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</a:txBody>
                  <a:tcPr marL="46800" marR="468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100 </a:t>
                      </a: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만원</a:t>
                      </a:r>
                      <a:endParaRPr lang="en-US" altLang="ko-KR" sz="8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150 </a:t>
                      </a: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만원</a:t>
                      </a:r>
                      <a:endParaRPr lang="en-US" altLang="ko-KR" sz="8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200 </a:t>
                      </a: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만원</a:t>
                      </a:r>
                      <a:endParaRPr lang="en-US" altLang="ko-KR" sz="8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30 </a:t>
                      </a: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만원</a:t>
                      </a:r>
                      <a:endParaRPr lang="en-US" altLang="ko-KR" sz="8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80 </a:t>
                      </a: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만원</a:t>
                      </a:r>
                      <a:endParaRPr lang="en-US" altLang="ko-KR" sz="8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1090331"/>
                  </a:ext>
                </a:extLst>
              </a:tr>
            </a:tbl>
          </a:graphicData>
        </a:graphic>
      </p:graphicFrame>
      <p:sp>
        <p:nvSpPr>
          <p:cNvPr id="28" name="직사각형 27">
            <a:extLst>
              <a:ext uri="{FF2B5EF4-FFF2-40B4-BE49-F238E27FC236}">
                <a16:creationId xmlns:a16="http://schemas.microsoft.com/office/drawing/2014/main" id="{0944F748-9B78-9049-6511-C5E0B08293FA}"/>
              </a:ext>
            </a:extLst>
          </p:cNvPr>
          <p:cNvSpPr/>
          <p:nvPr/>
        </p:nvSpPr>
        <p:spPr>
          <a:xfrm>
            <a:off x="5216176" y="2146982"/>
            <a:ext cx="3109891" cy="1231585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IMAGE</a:t>
            </a:r>
            <a:endParaRPr lang="ko-KR" altLang="en-US" sz="28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BF00B32-7453-E674-9D82-FCC80E966BBD}"/>
              </a:ext>
            </a:extLst>
          </p:cNvPr>
          <p:cNvSpPr txBox="1"/>
          <p:nvPr/>
        </p:nvSpPr>
        <p:spPr>
          <a:xfrm>
            <a:off x="5246728" y="4084598"/>
            <a:ext cx="14113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공동 수목장 전용 구역</a:t>
            </a:r>
          </a:p>
          <a:p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대형 </a:t>
            </a:r>
            <a:r>
              <a:rPr lang="ko-KR" altLang="en-US" sz="9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천년송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5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그루</a:t>
            </a:r>
          </a:p>
          <a:p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공동 추모비</a:t>
            </a:r>
          </a:p>
          <a:p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합동 추모제 공간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A3ADFFE-6FFE-AE44-A5F4-89FB870DDF7F}"/>
              </a:ext>
            </a:extLst>
          </p:cNvPr>
          <p:cNvSpPr txBox="1"/>
          <p:nvPr/>
        </p:nvSpPr>
        <p:spPr>
          <a:xfrm>
            <a:off x="5278448" y="3803916"/>
            <a:ext cx="105063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나무 관리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1ADF5A4-012B-20F2-945D-769D33B0C0F4}"/>
              </a:ext>
            </a:extLst>
          </p:cNvPr>
          <p:cNvSpPr txBox="1"/>
          <p:nvPr/>
        </p:nvSpPr>
        <p:spPr>
          <a:xfrm>
            <a:off x="6719678" y="4062063"/>
            <a:ext cx="14113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산책로 유지보수</a:t>
            </a:r>
          </a:p>
          <a:p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계절별 꽃 식재</a:t>
            </a:r>
          </a:p>
          <a:p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잡초 제거</a:t>
            </a:r>
          </a:p>
          <a:p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배수로 관리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0275C92-F9CE-F90F-01EF-11549C24C433}"/>
              </a:ext>
            </a:extLst>
          </p:cNvPr>
          <p:cNvSpPr txBox="1"/>
          <p:nvPr/>
        </p:nvSpPr>
        <p:spPr>
          <a:xfrm>
            <a:off x="6751398" y="3781381"/>
            <a:ext cx="105063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구역관리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32C0B48-7737-80DA-60FB-77DBDDC67A79}"/>
              </a:ext>
            </a:extLst>
          </p:cNvPr>
          <p:cNvSpPr txBox="1"/>
          <p:nvPr/>
        </p:nvSpPr>
        <p:spPr>
          <a:xfrm>
            <a:off x="5243070" y="5068724"/>
            <a:ext cx="1411320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표석 청소 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분기별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  <a:p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명패 광택</a:t>
            </a:r>
          </a:p>
          <a:p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주변 정돈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9D7FF90-FA3B-FFBF-2878-946EA07C6AFB}"/>
              </a:ext>
            </a:extLst>
          </p:cNvPr>
          <p:cNvSpPr txBox="1"/>
          <p:nvPr/>
        </p:nvSpPr>
        <p:spPr>
          <a:xfrm>
            <a:off x="5274790" y="4788042"/>
            <a:ext cx="105063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표석 관리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3C7D263-17A0-191D-2D1E-1FDB054D1AFB}"/>
              </a:ext>
            </a:extLst>
          </p:cNvPr>
          <p:cNvSpPr txBox="1"/>
          <p:nvPr/>
        </p:nvSpPr>
        <p:spPr>
          <a:xfrm>
            <a:off x="6716019" y="5046189"/>
            <a:ext cx="1411321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나무 성장 사진 발송</a:t>
            </a:r>
            <a:endParaRPr lang="en-US" altLang="ko-KR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명절 특별 관리 </a:t>
            </a:r>
            <a:endParaRPr lang="en-US" altLang="ko-KR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합동 추모제 개최 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8637CD4-DE9A-F08A-2AC4-369E7FF87F65}"/>
              </a:ext>
            </a:extLst>
          </p:cNvPr>
          <p:cNvSpPr txBox="1"/>
          <p:nvPr/>
        </p:nvSpPr>
        <p:spPr>
          <a:xfrm>
            <a:off x="6747740" y="4765507"/>
            <a:ext cx="105063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추가 서비스</a:t>
            </a:r>
          </a:p>
        </p:txBody>
      </p:sp>
    </p:spTree>
    <p:extLst>
      <p:ext uri="{BB962C8B-B14F-4D97-AF65-F5344CB8AC3E}">
        <p14:creationId xmlns:p14="http://schemas.microsoft.com/office/powerpoint/2010/main" val="15887263"/>
      </p:ext>
    </p:extLst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DA6249-4832-5DE4-B656-6AF1B8D6A6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857146B4-7EAD-1F27-D334-2D23FD4AE9E0}"/>
              </a:ext>
            </a:extLst>
          </p:cNvPr>
          <p:cNvGraphicFramePr>
            <a:graphicFrameLocks noGrp="1"/>
          </p:cNvGraphicFramePr>
          <p:nvPr/>
        </p:nvGraphicFramePr>
        <p:xfrm>
          <a:off x="9182101" y="947377"/>
          <a:ext cx="2795588" cy="1847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1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684046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723838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3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172599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4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290794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5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922450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6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784800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7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0538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8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199337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9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450365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A6AFC8A0-5A4A-CAC8-D13D-0BDDFA7A84A4}"/>
              </a:ext>
            </a:extLst>
          </p:cNvPr>
          <p:cNvSpPr/>
          <p:nvPr/>
        </p:nvSpPr>
        <p:spPr>
          <a:xfrm>
            <a:off x="959895" y="375614"/>
            <a:ext cx="1374094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</a:pP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메인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분양안내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분양절차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D7867D1-3DAB-4B32-E054-C7648E74067D}"/>
              </a:ext>
            </a:extLst>
          </p:cNvPr>
          <p:cNvSpPr txBox="1"/>
          <p:nvPr/>
        </p:nvSpPr>
        <p:spPr>
          <a:xfrm>
            <a:off x="6003996" y="123825"/>
            <a:ext cx="17303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HN_DistriInfo_Distriproce_001</a:t>
            </a:r>
            <a:endParaRPr lang="ko-KR" altLang="en-US" sz="800" dirty="0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BCEC2B20-415E-748E-A3AD-3C02D9477741}"/>
              </a:ext>
            </a:extLst>
          </p:cNvPr>
          <p:cNvSpPr/>
          <p:nvPr/>
        </p:nvSpPr>
        <p:spPr>
          <a:xfrm>
            <a:off x="695607" y="1175553"/>
            <a:ext cx="3109891" cy="1231585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IMAGE</a:t>
            </a:r>
            <a:endParaRPr lang="ko-KR" altLang="en-US" sz="28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A4851D-ED5A-6436-658F-C1E704712784}"/>
              </a:ext>
            </a:extLst>
          </p:cNvPr>
          <p:cNvSpPr txBox="1"/>
          <p:nvPr/>
        </p:nvSpPr>
        <p:spPr>
          <a:xfrm>
            <a:off x="790414" y="2748878"/>
            <a:ext cx="2904034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차 관리비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안치일로부터 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5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 분 선납</a:t>
            </a:r>
          </a:p>
          <a:p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차 관리비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5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 후 갱신</a:t>
            </a:r>
          </a:p>
          <a:p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※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사전 준비 가능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안치 전 미리 납부 가능</a:t>
            </a:r>
          </a:p>
          <a:p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※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사전계약 혜택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5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 관리비 면제 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사전계약 고객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CCC9E60-F202-D172-ADF5-AA58FC895C41}"/>
              </a:ext>
            </a:extLst>
          </p:cNvPr>
          <p:cNvSpPr txBox="1"/>
          <p:nvPr/>
        </p:nvSpPr>
        <p:spPr>
          <a:xfrm>
            <a:off x="813168" y="2477159"/>
            <a:ext cx="262927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관리비 납부일정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881FF40-1471-50B0-2FE6-2ED90C773503}"/>
              </a:ext>
            </a:extLst>
          </p:cNvPr>
          <p:cNvSpPr txBox="1"/>
          <p:nvPr/>
        </p:nvSpPr>
        <p:spPr>
          <a:xfrm>
            <a:off x="813168" y="3887138"/>
            <a:ext cx="2904034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10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 분 선납 시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5%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할인</a:t>
            </a:r>
          </a:p>
          <a:p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15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 분 선납 시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10%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할인</a:t>
            </a:r>
          </a:p>
          <a:p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20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 분 선납 시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15%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할인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EA51F0B-F856-199E-3FDE-C593398545AA}"/>
              </a:ext>
            </a:extLst>
          </p:cNvPr>
          <p:cNvSpPr txBox="1"/>
          <p:nvPr/>
        </p:nvSpPr>
        <p:spPr>
          <a:xfrm>
            <a:off x="835922" y="3615419"/>
            <a:ext cx="262927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장기 선납 할인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B5A63FB3-8C47-0FC3-854A-AC61A78BFAA7}"/>
              </a:ext>
            </a:extLst>
          </p:cNvPr>
          <p:cNvSpPr/>
          <p:nvPr/>
        </p:nvSpPr>
        <p:spPr>
          <a:xfrm>
            <a:off x="658362" y="4623948"/>
            <a:ext cx="3168137" cy="264669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Footer</a:t>
            </a:r>
            <a:endParaRPr lang="ko-KR" altLang="en-US" sz="10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79470421"/>
      </p:ext>
    </p:extLst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552CEE-F903-0F6C-6A06-7513B3D7F0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205163A1-5D09-089A-9CAE-B2F138DB8C0B}"/>
              </a:ext>
            </a:extLst>
          </p:cNvPr>
          <p:cNvGraphicFramePr>
            <a:graphicFrameLocks noGrp="1"/>
          </p:cNvGraphicFramePr>
          <p:nvPr/>
        </p:nvGraphicFramePr>
        <p:xfrm>
          <a:off x="9182101" y="947377"/>
          <a:ext cx="2795588" cy="1847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1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684046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723838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3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172599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4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290794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5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922450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6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784800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7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0538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8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199337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9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450365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9B0F925A-ED60-162B-5771-5D56E4696E0F}"/>
              </a:ext>
            </a:extLst>
          </p:cNvPr>
          <p:cNvSpPr/>
          <p:nvPr/>
        </p:nvSpPr>
        <p:spPr>
          <a:xfrm>
            <a:off x="959895" y="375614"/>
            <a:ext cx="1374094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</a:pP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메인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분양안내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분양가격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998C3DE-86B0-EEC4-5D6C-115713B6554A}"/>
              </a:ext>
            </a:extLst>
          </p:cNvPr>
          <p:cNvSpPr txBox="1"/>
          <p:nvPr/>
        </p:nvSpPr>
        <p:spPr>
          <a:xfrm>
            <a:off x="6003996" y="123825"/>
            <a:ext cx="17303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HN_DistriInfo_Distriprice_001</a:t>
            </a:r>
            <a:endParaRPr lang="ko-KR" altLang="en-US" sz="800" dirty="0"/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458A16C7-B26C-F4EE-2345-8B86BAA8602C}"/>
              </a:ext>
            </a:extLst>
          </p:cNvPr>
          <p:cNvCxnSpPr>
            <a:cxnSpLocks/>
          </p:cNvCxnSpPr>
          <p:nvPr/>
        </p:nvCxnSpPr>
        <p:spPr>
          <a:xfrm>
            <a:off x="655957" y="1658468"/>
            <a:ext cx="3109526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C1567D4F-203F-6AB3-08C6-B709088AB110}"/>
              </a:ext>
            </a:extLst>
          </p:cNvPr>
          <p:cNvSpPr txBox="1"/>
          <p:nvPr/>
        </p:nvSpPr>
        <p:spPr>
          <a:xfrm>
            <a:off x="1793778" y="1181491"/>
            <a:ext cx="83388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하늘누리</a:t>
            </a:r>
            <a:endParaRPr lang="en-US" altLang="ko-KR" sz="11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en-US" altLang="ko-KR" sz="11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CI</a:t>
            </a:r>
            <a:endParaRPr lang="ko-KR" altLang="en-US" sz="11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12" name="그림 11" descr="블랙, 어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AB926F9-294C-3CB2-6401-0363C77FDCB4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2985" y="1191723"/>
            <a:ext cx="383533" cy="38353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A8D63713-3C60-ADA6-CDE3-A5F1269B5A6F}"/>
              </a:ext>
            </a:extLst>
          </p:cNvPr>
          <p:cNvSpPr txBox="1"/>
          <p:nvPr/>
        </p:nvSpPr>
        <p:spPr>
          <a:xfrm>
            <a:off x="2826086" y="1293697"/>
            <a:ext cx="57184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" panose="020D0604000000000000" pitchFamily="50" charset="-127"/>
                <a:ea typeface="나눔고딕" panose="020D0604000000000000" pitchFamily="50" charset="-127"/>
              </a:rPr>
              <a:t>르그아웃</a:t>
            </a:r>
          </a:p>
        </p:txBody>
      </p:sp>
      <p:pic>
        <p:nvPicPr>
          <p:cNvPr id="23" name="Picture 4" descr="로그 아웃 아이콘">
            <a:extLst>
              <a:ext uri="{FF2B5EF4-FFF2-40B4-BE49-F238E27FC236}">
                <a16:creationId xmlns:a16="http://schemas.microsoft.com/office/drawing/2014/main" id="{BACCFC5E-A21A-0DFC-5E72-1679F4F64F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9631" y="1283929"/>
            <a:ext cx="217049" cy="217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95563704-CA69-F63E-2604-A444E61335BB}"/>
              </a:ext>
            </a:extLst>
          </p:cNvPr>
          <p:cNvSpPr txBox="1"/>
          <p:nvPr/>
        </p:nvSpPr>
        <p:spPr>
          <a:xfrm>
            <a:off x="1343128" y="1807796"/>
            <a:ext cx="17351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분양 가격</a:t>
            </a:r>
            <a:endParaRPr lang="en-US" altLang="ko-KR" sz="1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6AACA53-63DD-A07C-B948-6AEB183D09DF}"/>
              </a:ext>
            </a:extLst>
          </p:cNvPr>
          <p:cNvSpPr txBox="1"/>
          <p:nvPr/>
        </p:nvSpPr>
        <p:spPr>
          <a:xfrm>
            <a:off x="794294" y="2194931"/>
            <a:ext cx="2832847" cy="982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00"/>
              </a:lnSpc>
              <a:spcAft>
                <a:spcPts val="900"/>
              </a:spcAft>
            </a:pPr>
            <a:r>
              <a:rPr lang="en-US" altLang="ko-KR" sz="105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"</a:t>
            </a:r>
            <a:r>
              <a:rPr lang="ko-KR" altLang="en-US" sz="105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가격 이상의 가치를 제공합니다</a:t>
            </a:r>
            <a:r>
              <a:rPr lang="en-US" altLang="ko-KR" sz="105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“</a:t>
            </a:r>
          </a:p>
          <a:p>
            <a:pPr algn="ctr">
              <a:lnSpc>
                <a:spcPts val="2100"/>
              </a:lnSpc>
              <a:spcAft>
                <a:spcPts val="900"/>
              </a:spcAft>
            </a:pP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하늘누리는 재단법인 운영으로 과도한 영리 추구 없이 합리적인 가격을 책정합니다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6FDEB9D7-1A72-DC58-8A8C-8987254576CA}"/>
              </a:ext>
            </a:extLst>
          </p:cNvPr>
          <p:cNvGrpSpPr/>
          <p:nvPr/>
        </p:nvGrpSpPr>
        <p:grpSpPr>
          <a:xfrm>
            <a:off x="655957" y="3379863"/>
            <a:ext cx="3120703" cy="302363"/>
            <a:chOff x="655957" y="3944473"/>
            <a:chExt cx="3120703" cy="302363"/>
          </a:xfrm>
        </p:grpSpPr>
        <p:cxnSp>
          <p:nvCxnSpPr>
            <p:cNvPr id="28" name="Line 1">
              <a:extLst>
                <a:ext uri="{FF2B5EF4-FFF2-40B4-BE49-F238E27FC236}">
                  <a16:creationId xmlns:a16="http://schemas.microsoft.com/office/drawing/2014/main" id="{98D1AB4D-CB6C-EE3A-900E-250F1FE02A2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55957" y="4222567"/>
              <a:ext cx="355579" cy="0"/>
            </a:xfrm>
            <a:prstGeom prst="line">
              <a:avLst/>
            </a:prstGeom>
            <a:solidFill>
              <a:srgbClr val="FFFFFF"/>
            </a:solidFill>
            <a:ln w="12700">
              <a:solidFill>
                <a:srgbClr val="80808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Line 2">
              <a:extLst>
                <a:ext uri="{FF2B5EF4-FFF2-40B4-BE49-F238E27FC236}">
                  <a16:creationId xmlns:a16="http://schemas.microsoft.com/office/drawing/2014/main" id="{4146CC45-CAA4-08EA-B1BC-3225ED367767}"/>
                </a:ext>
              </a:extLst>
            </p:cNvPr>
            <p:cNvCxnSpPr>
              <a:cxnSpLocks/>
            </p:cNvCxnSpPr>
            <p:nvPr/>
          </p:nvCxnSpPr>
          <p:spPr>
            <a:xfrm>
              <a:off x="2264660" y="4240936"/>
              <a:ext cx="1512000" cy="5900"/>
            </a:xfrm>
            <a:prstGeom prst="line">
              <a:avLst/>
            </a:prstGeom>
            <a:solidFill>
              <a:srgbClr val="FFFFFF"/>
            </a:solidFill>
            <a:ln w="12700">
              <a:solidFill>
                <a:srgbClr val="80808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ab Selected">
              <a:extLst>
                <a:ext uri="{FF2B5EF4-FFF2-40B4-BE49-F238E27FC236}">
                  <a16:creationId xmlns:a16="http://schemas.microsoft.com/office/drawing/2014/main" id="{D89209F0-D332-9369-DF4A-E9176AB51DA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0573" y="3944473"/>
              <a:ext cx="1264088" cy="283307"/>
            </a:xfrm>
            <a:custGeom>
              <a:avLst/>
              <a:gdLst>
                <a:gd name="T0" fmla="*/ 0 w 2218"/>
                <a:gd name="T1" fmla="*/ 670 h 670"/>
                <a:gd name="T2" fmla="*/ 0 w 2218"/>
                <a:gd name="T3" fmla="*/ 0 h 670"/>
                <a:gd name="T4" fmla="*/ 2218 w 2218"/>
                <a:gd name="T5" fmla="*/ 0 h 670"/>
                <a:gd name="T6" fmla="*/ 2218 w 2218"/>
                <a:gd name="T7" fmla="*/ 670 h 6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218" h="670">
                  <a:moveTo>
                    <a:pt x="0" y="670"/>
                  </a:moveTo>
                  <a:lnTo>
                    <a:pt x="0" y="0"/>
                  </a:lnTo>
                  <a:lnTo>
                    <a:pt x="2218" y="0"/>
                  </a:lnTo>
                  <a:lnTo>
                    <a:pt x="2218" y="670"/>
                  </a:lnTo>
                </a:path>
              </a:pathLst>
            </a:custGeom>
            <a:solidFill>
              <a:schemeClr val="bg1"/>
            </a:solidFill>
            <a:ln w="6350" cap="sq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90000"/>
                </a:lnSpc>
                <a:defRPr/>
              </a:pPr>
              <a:r>
                <a:rPr lang="ko-KR" altLang="en-US" sz="1000" b="1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Segoe UI" panose="020B0502040204020203" pitchFamily="34" charset="0"/>
                </a:rPr>
                <a:t>봉안당</a:t>
              </a:r>
              <a:r>
                <a:rPr lang="en-US" altLang="ko-KR" sz="1000" b="1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Segoe UI" panose="020B0502040204020203" pitchFamily="34" charset="0"/>
                </a:rPr>
                <a:t>(</a:t>
              </a:r>
              <a:r>
                <a:rPr lang="ko-KR" altLang="en-US" sz="1000" b="1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Segoe UI" panose="020B0502040204020203" pitchFamily="34" charset="0"/>
                </a:rPr>
                <a:t>하늘누리관</a:t>
              </a:r>
              <a:r>
                <a:rPr lang="en-US" altLang="ko-KR" sz="1000" b="1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Segoe UI" panose="020B0502040204020203" pitchFamily="34" charset="0"/>
                </a:rPr>
                <a:t>)</a:t>
              </a:r>
            </a:p>
          </p:txBody>
        </p:sp>
        <p:sp>
          <p:nvSpPr>
            <p:cNvPr id="36" name="Tab">
              <a:extLst>
                <a:ext uri="{FF2B5EF4-FFF2-40B4-BE49-F238E27FC236}">
                  <a16:creationId xmlns:a16="http://schemas.microsoft.com/office/drawing/2014/main" id="{31086E54-533E-1E80-0A61-B6CA7F4BD6BB}"/>
                </a:ext>
              </a:extLst>
            </p:cNvPr>
            <p:cNvSpPr/>
            <p:nvPr/>
          </p:nvSpPr>
          <p:spPr>
            <a:xfrm>
              <a:off x="2264660" y="3957630"/>
              <a:ext cx="1278902" cy="28330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90000"/>
                </a:lnSpc>
                <a:defRPr/>
              </a:pPr>
              <a:r>
                <a:rPr lang="ko-KR" altLang="en-US" sz="10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Segoe UI" panose="020B0502040204020203" pitchFamily="34" charset="0"/>
                </a:rPr>
                <a:t>수목장</a:t>
              </a:r>
              <a:r>
                <a:rPr lang="en-US" altLang="ko-KR" sz="10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Segoe UI" panose="020B0502040204020203" pitchFamily="34" charset="0"/>
                </a:rPr>
                <a:t>(</a:t>
              </a:r>
              <a:r>
                <a:rPr lang="ko-KR" altLang="en-US" sz="10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Segoe UI" panose="020B0502040204020203" pitchFamily="34" charset="0"/>
                </a:rPr>
                <a:t>자연장</a:t>
              </a:r>
              <a:r>
                <a:rPr lang="en-US" altLang="ko-KR" sz="10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Segoe UI" panose="020B0502040204020203" pitchFamily="34" charset="0"/>
                </a:rPr>
                <a:t>)</a:t>
              </a:r>
              <a:endParaRPr 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Segoe UI" panose="020B0502040204020203" pitchFamily="34" charset="0"/>
              </a:endParaRPr>
            </a:p>
          </p:txBody>
        </p:sp>
      </p:grp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136FD466-2AAF-D95D-9964-EA4AB21FC26B}"/>
              </a:ext>
            </a:extLst>
          </p:cNvPr>
          <p:cNvSpPr/>
          <p:nvPr/>
        </p:nvSpPr>
        <p:spPr>
          <a:xfrm>
            <a:off x="703582" y="3796599"/>
            <a:ext cx="3100561" cy="1445373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IMAGE</a:t>
            </a:r>
            <a:endParaRPr lang="ko-KR" altLang="en-US" sz="28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69AF887-92B9-CFAB-A78B-33715289D8AE}"/>
              </a:ext>
            </a:extLst>
          </p:cNvPr>
          <p:cNvSpPr txBox="1"/>
          <p:nvPr/>
        </p:nvSpPr>
        <p:spPr>
          <a:xfrm>
            <a:off x="1168798" y="5337955"/>
            <a:ext cx="208383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일반 개인 분양가격</a:t>
            </a:r>
          </a:p>
        </p:txBody>
      </p:sp>
      <p:graphicFrame>
        <p:nvGraphicFramePr>
          <p:cNvPr id="39" name="표 38">
            <a:extLst>
              <a:ext uri="{FF2B5EF4-FFF2-40B4-BE49-F238E27FC236}">
                <a16:creationId xmlns:a16="http://schemas.microsoft.com/office/drawing/2014/main" id="{DD77B817-B1B4-71FE-A9B2-2F1AB0C810B9}"/>
              </a:ext>
            </a:extLst>
          </p:cNvPr>
          <p:cNvGraphicFramePr>
            <a:graphicFrameLocks noGrp="1"/>
          </p:cNvGraphicFramePr>
          <p:nvPr/>
        </p:nvGraphicFramePr>
        <p:xfrm>
          <a:off x="5305425" y="1177128"/>
          <a:ext cx="2939345" cy="1665364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677936">
                  <a:extLst>
                    <a:ext uri="{9D8B030D-6E8A-4147-A177-3AD203B41FA5}">
                      <a16:colId xmlns:a16="http://schemas.microsoft.com/office/drawing/2014/main" val="1553538150"/>
                    </a:ext>
                  </a:extLst>
                </a:gridCol>
                <a:gridCol w="854536">
                  <a:extLst>
                    <a:ext uri="{9D8B030D-6E8A-4147-A177-3AD203B41FA5}">
                      <a16:colId xmlns:a16="http://schemas.microsoft.com/office/drawing/2014/main" val="1005073696"/>
                    </a:ext>
                  </a:extLst>
                </a:gridCol>
                <a:gridCol w="723549">
                  <a:extLst>
                    <a:ext uri="{9D8B030D-6E8A-4147-A177-3AD203B41FA5}">
                      <a16:colId xmlns:a16="http://schemas.microsoft.com/office/drawing/2014/main" val="2912823855"/>
                    </a:ext>
                  </a:extLst>
                </a:gridCol>
                <a:gridCol w="683324">
                  <a:extLst>
                    <a:ext uri="{9D8B030D-6E8A-4147-A177-3AD203B41FA5}">
                      <a16:colId xmlns:a16="http://schemas.microsoft.com/office/drawing/2014/main" val="420109590"/>
                    </a:ext>
                  </a:extLst>
                </a:gridCol>
              </a:tblGrid>
              <a:tr h="41634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구분</a:t>
                      </a:r>
                      <a:endParaRPr lang="en-US" altLang="ko-KR" sz="9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1~3 </a:t>
                      </a:r>
                      <a:r>
                        <a:rPr lang="ko-KR" altLang="en-US" sz="9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단</a:t>
                      </a:r>
                      <a:endParaRPr lang="en-US" altLang="ko-KR" sz="9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4~6 </a:t>
                      </a:r>
                      <a:r>
                        <a:rPr lang="ko-KR" altLang="en-US" sz="9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단</a:t>
                      </a:r>
                      <a:endParaRPr lang="en-US" altLang="ko-KR" sz="9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7~9 </a:t>
                      </a:r>
                      <a:r>
                        <a:rPr lang="ko-KR" altLang="en-US" sz="9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단</a:t>
                      </a:r>
                      <a:endParaRPr lang="en-US" altLang="ko-KR" sz="9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0268165"/>
                  </a:ext>
                </a:extLst>
              </a:tr>
              <a:tr h="416341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r>
                        <a:rPr lang="ko-KR" altLang="en-US" sz="9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층</a:t>
                      </a:r>
                      <a:endParaRPr lang="en-US" altLang="ko-KR" sz="9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200 </a:t>
                      </a:r>
                      <a:r>
                        <a:rPr lang="ko-KR" altLang="en-US" sz="9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만원</a:t>
                      </a:r>
                      <a:endParaRPr lang="en-US" altLang="ko-KR" sz="9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350 </a:t>
                      </a:r>
                      <a:r>
                        <a:rPr lang="ko-KR" altLang="en-US" sz="9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만원</a:t>
                      </a:r>
                      <a:endParaRPr lang="en-US" altLang="ko-KR" sz="9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250 </a:t>
                      </a:r>
                      <a:r>
                        <a:rPr lang="ko-KR" altLang="en-US" sz="9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만원</a:t>
                      </a:r>
                      <a:endParaRPr lang="en-US" altLang="ko-KR" sz="9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1090331"/>
                  </a:ext>
                </a:extLst>
              </a:tr>
              <a:tr h="416341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</a:t>
                      </a:r>
                      <a:r>
                        <a:rPr lang="ko-KR" altLang="en-US" sz="9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층</a:t>
                      </a:r>
                      <a:endParaRPr lang="en-US" altLang="ko-KR" sz="9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250 </a:t>
                      </a:r>
                      <a:r>
                        <a:rPr lang="ko-KR" altLang="en-US" sz="9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만원</a:t>
                      </a:r>
                      <a:endParaRPr lang="en-US" altLang="ko-KR" sz="9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450 </a:t>
                      </a:r>
                      <a:r>
                        <a:rPr lang="ko-KR" altLang="en-US" sz="9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만원</a:t>
                      </a:r>
                      <a:endParaRPr lang="en-US" altLang="ko-KR" sz="9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300 </a:t>
                      </a:r>
                      <a:r>
                        <a:rPr lang="ko-KR" altLang="en-US" sz="9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만원</a:t>
                      </a:r>
                      <a:endParaRPr lang="en-US" altLang="ko-KR" sz="9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3516558"/>
                  </a:ext>
                </a:extLst>
              </a:tr>
              <a:tr h="416341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</a:t>
                      </a:r>
                      <a:r>
                        <a:rPr lang="ko-KR" altLang="en-US" sz="9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층</a:t>
                      </a:r>
                      <a:endParaRPr lang="en-US" altLang="ko-KR" sz="9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300 </a:t>
                      </a:r>
                      <a:r>
                        <a:rPr lang="ko-KR" altLang="en-US" sz="9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만원</a:t>
                      </a:r>
                      <a:endParaRPr lang="en-US" altLang="ko-KR" sz="9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550 </a:t>
                      </a:r>
                      <a:r>
                        <a:rPr lang="ko-KR" altLang="en-US" sz="9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만원</a:t>
                      </a:r>
                      <a:endParaRPr lang="en-US" altLang="ko-KR" sz="9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350 </a:t>
                      </a:r>
                      <a:r>
                        <a:rPr lang="ko-KR" altLang="en-US" sz="9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만원</a:t>
                      </a:r>
                      <a:endParaRPr lang="en-US" altLang="ko-KR" sz="9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018452"/>
                  </a:ext>
                </a:extLst>
              </a:tr>
            </a:tbl>
          </a:graphicData>
        </a:graphic>
      </p:graphicFrame>
      <p:sp>
        <p:nvSpPr>
          <p:cNvPr id="40" name="TextBox 39">
            <a:extLst>
              <a:ext uri="{FF2B5EF4-FFF2-40B4-BE49-F238E27FC236}">
                <a16:creationId xmlns:a16="http://schemas.microsoft.com/office/drawing/2014/main" id="{6520E58A-B9E6-0B76-5F12-417D55715454}"/>
              </a:ext>
            </a:extLst>
          </p:cNvPr>
          <p:cNvSpPr txBox="1"/>
          <p:nvPr/>
        </p:nvSpPr>
        <p:spPr>
          <a:xfrm>
            <a:off x="5733178" y="3007846"/>
            <a:ext cx="208383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가족 분양실 분양가격</a:t>
            </a:r>
          </a:p>
        </p:txBody>
      </p:sp>
      <p:graphicFrame>
        <p:nvGraphicFramePr>
          <p:cNvPr id="41" name="표 40">
            <a:extLst>
              <a:ext uri="{FF2B5EF4-FFF2-40B4-BE49-F238E27FC236}">
                <a16:creationId xmlns:a16="http://schemas.microsoft.com/office/drawing/2014/main" id="{E58C46E0-987B-1B15-23B6-288D7A5FFC99}"/>
              </a:ext>
            </a:extLst>
          </p:cNvPr>
          <p:cNvGraphicFramePr>
            <a:graphicFrameLocks noGrp="1"/>
          </p:cNvGraphicFramePr>
          <p:nvPr/>
        </p:nvGraphicFramePr>
        <p:xfrm>
          <a:off x="5305425" y="3242538"/>
          <a:ext cx="2962309" cy="1665363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81858">
                  <a:extLst>
                    <a:ext uri="{9D8B030D-6E8A-4147-A177-3AD203B41FA5}">
                      <a16:colId xmlns:a16="http://schemas.microsoft.com/office/drawing/2014/main" val="1553538150"/>
                    </a:ext>
                  </a:extLst>
                </a:gridCol>
                <a:gridCol w="621005">
                  <a:extLst>
                    <a:ext uri="{9D8B030D-6E8A-4147-A177-3AD203B41FA5}">
                      <a16:colId xmlns:a16="http://schemas.microsoft.com/office/drawing/2014/main" val="2912823855"/>
                    </a:ext>
                  </a:extLst>
                </a:gridCol>
                <a:gridCol w="586482">
                  <a:extLst>
                    <a:ext uri="{9D8B030D-6E8A-4147-A177-3AD203B41FA5}">
                      <a16:colId xmlns:a16="http://schemas.microsoft.com/office/drawing/2014/main" val="420109590"/>
                    </a:ext>
                  </a:extLst>
                </a:gridCol>
                <a:gridCol w="586482">
                  <a:extLst>
                    <a:ext uri="{9D8B030D-6E8A-4147-A177-3AD203B41FA5}">
                      <a16:colId xmlns:a16="http://schemas.microsoft.com/office/drawing/2014/main" val="534608901"/>
                    </a:ext>
                  </a:extLst>
                </a:gridCol>
                <a:gridCol w="586482">
                  <a:extLst>
                    <a:ext uri="{9D8B030D-6E8A-4147-A177-3AD203B41FA5}">
                      <a16:colId xmlns:a16="http://schemas.microsoft.com/office/drawing/2014/main" val="715179042"/>
                    </a:ext>
                  </a:extLst>
                </a:gridCol>
              </a:tblGrid>
              <a:tr h="55512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규격</a:t>
                      </a:r>
                      <a:endParaRPr lang="en-US" altLang="ko-KR" sz="9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지하</a:t>
                      </a:r>
                      <a:r>
                        <a:rPr lang="en-US" altLang="ko-KR" sz="9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r>
                        <a:rPr lang="ko-KR" altLang="en-US" sz="9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층</a:t>
                      </a:r>
                      <a:endParaRPr lang="en-US" altLang="ko-KR" sz="9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r>
                        <a:rPr lang="ko-KR" altLang="en-US" sz="9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층</a:t>
                      </a:r>
                      <a:endParaRPr lang="en-US" altLang="ko-KR" sz="9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</a:t>
                      </a:r>
                      <a:r>
                        <a:rPr lang="ko-KR" altLang="en-US" sz="9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층</a:t>
                      </a:r>
                      <a:endParaRPr lang="en-US" altLang="ko-KR" sz="9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</a:t>
                      </a:r>
                      <a:r>
                        <a:rPr lang="ko-KR" altLang="en-US" sz="9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층</a:t>
                      </a:r>
                      <a:endParaRPr lang="en-US" altLang="ko-KR" sz="9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0268165"/>
                  </a:ext>
                </a:extLst>
              </a:tr>
              <a:tr h="555121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</a:t>
                      </a:r>
                      <a:r>
                        <a:rPr lang="ko-KR" altLang="en-US" sz="9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위용</a:t>
                      </a:r>
                      <a:endParaRPr lang="en-US" altLang="ko-KR" sz="9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600 </a:t>
                      </a:r>
                      <a:r>
                        <a:rPr lang="ko-KR" altLang="en-US" sz="9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만원</a:t>
                      </a:r>
                      <a:endParaRPr lang="en-US" altLang="ko-KR" sz="9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800 </a:t>
                      </a:r>
                      <a:r>
                        <a:rPr lang="ko-KR" altLang="en-US" sz="9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만원</a:t>
                      </a:r>
                      <a:endParaRPr lang="en-US" altLang="ko-KR" sz="9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1,000 </a:t>
                      </a: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만원</a:t>
                      </a:r>
                      <a:endParaRPr lang="en-US" altLang="ko-KR" sz="9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1,200 </a:t>
                      </a: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만원</a:t>
                      </a:r>
                      <a:endParaRPr lang="en-US" altLang="ko-KR" sz="9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1090331"/>
                  </a:ext>
                </a:extLst>
              </a:tr>
              <a:tr h="555121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6</a:t>
                      </a:r>
                      <a:r>
                        <a:rPr lang="ko-KR" altLang="en-US" sz="9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위용</a:t>
                      </a:r>
                      <a:endParaRPr lang="en-US" altLang="ko-KR" sz="9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900 </a:t>
                      </a:r>
                      <a:r>
                        <a:rPr lang="ko-KR" altLang="en-US" sz="9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만원</a:t>
                      </a:r>
                      <a:endParaRPr lang="en-US" altLang="ko-KR" sz="9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1,200 </a:t>
                      </a: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만원</a:t>
                      </a:r>
                      <a:endParaRPr lang="en-US" altLang="ko-KR" sz="9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1,500 </a:t>
                      </a: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만원</a:t>
                      </a:r>
                      <a:endParaRPr lang="en-US" altLang="ko-KR" sz="9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1,800 </a:t>
                      </a: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만원</a:t>
                      </a:r>
                      <a:endParaRPr lang="en-US" altLang="ko-KR" sz="9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3516558"/>
                  </a:ext>
                </a:extLst>
              </a:tr>
            </a:tbl>
          </a:graphicData>
        </a:graphic>
      </p:graphicFrame>
      <p:sp>
        <p:nvSpPr>
          <p:cNvPr id="42" name="TextBox 41">
            <a:extLst>
              <a:ext uri="{FF2B5EF4-FFF2-40B4-BE49-F238E27FC236}">
                <a16:creationId xmlns:a16="http://schemas.microsoft.com/office/drawing/2014/main" id="{F6E4E2DC-11B4-B30E-8F1E-421AA1C08147}"/>
              </a:ext>
            </a:extLst>
          </p:cNvPr>
          <p:cNvSpPr txBox="1"/>
          <p:nvPr/>
        </p:nvSpPr>
        <p:spPr>
          <a:xfrm>
            <a:off x="5733177" y="5168678"/>
            <a:ext cx="208383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프리미엄 봉안실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C757B87-0940-22CC-C717-92C67489E5C8}"/>
              </a:ext>
            </a:extLst>
          </p:cNvPr>
          <p:cNvSpPr txBox="1"/>
          <p:nvPr/>
        </p:nvSpPr>
        <p:spPr>
          <a:xfrm rot="19509111">
            <a:off x="8704729" y="3250453"/>
            <a:ext cx="279558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하늘누리 분양안내 </a:t>
            </a:r>
            <a:r>
              <a:rPr lang="ko-KR" altLang="en-US" sz="2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확인 </a:t>
            </a:r>
            <a:r>
              <a:rPr lang="ko-KR" altLang="en-US" sz="2000" b="1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후 수정 </a:t>
            </a:r>
            <a:r>
              <a:rPr lang="ko-KR" altLang="en-US" sz="2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필요 </a:t>
            </a:r>
          </a:p>
        </p:txBody>
      </p:sp>
    </p:spTree>
    <p:extLst>
      <p:ext uri="{BB962C8B-B14F-4D97-AF65-F5344CB8AC3E}">
        <p14:creationId xmlns:p14="http://schemas.microsoft.com/office/powerpoint/2010/main" val="4284917076"/>
      </p:ext>
    </p:extLst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2EEA2C-D331-2F89-9EF0-2E1263AFE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B9F86CC6-950F-D4E3-4C81-727873B91749}"/>
              </a:ext>
            </a:extLst>
          </p:cNvPr>
          <p:cNvGraphicFramePr>
            <a:graphicFrameLocks noGrp="1"/>
          </p:cNvGraphicFramePr>
          <p:nvPr/>
        </p:nvGraphicFramePr>
        <p:xfrm>
          <a:off x="9182101" y="947377"/>
          <a:ext cx="2795588" cy="1847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1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684046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723838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3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172599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4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290794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5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922450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6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784800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7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0538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8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199337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9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450365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AB23CD10-C3B6-56C5-E3C4-CCAA7C5E5A13}"/>
              </a:ext>
            </a:extLst>
          </p:cNvPr>
          <p:cNvSpPr/>
          <p:nvPr/>
        </p:nvSpPr>
        <p:spPr>
          <a:xfrm>
            <a:off x="959895" y="375614"/>
            <a:ext cx="1374094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</a:pP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메인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분양안내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분양가격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D236D4B-6C54-EB48-1FBE-E06DF742214A}"/>
              </a:ext>
            </a:extLst>
          </p:cNvPr>
          <p:cNvSpPr txBox="1"/>
          <p:nvPr/>
        </p:nvSpPr>
        <p:spPr>
          <a:xfrm>
            <a:off x="6003996" y="123825"/>
            <a:ext cx="17303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HN_DistriInfo_Distriprice_001</a:t>
            </a:r>
            <a:endParaRPr lang="ko-KR" altLang="en-US" sz="800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1870349-0E08-C28D-7166-CC7DE287D200}"/>
              </a:ext>
            </a:extLst>
          </p:cNvPr>
          <p:cNvSpPr/>
          <p:nvPr/>
        </p:nvSpPr>
        <p:spPr>
          <a:xfrm>
            <a:off x="699508" y="1153650"/>
            <a:ext cx="3120018" cy="1230776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IMAGE</a:t>
            </a:r>
            <a:endParaRPr lang="ko-KR" altLang="en-US" sz="28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B87518D0-B514-1B98-0883-E1EA088CB9A0}"/>
              </a:ext>
            </a:extLst>
          </p:cNvPr>
          <p:cNvGraphicFramePr>
            <a:graphicFrameLocks noGrp="1"/>
          </p:cNvGraphicFramePr>
          <p:nvPr/>
        </p:nvGraphicFramePr>
        <p:xfrm>
          <a:off x="810791" y="2384425"/>
          <a:ext cx="2939345" cy="1854196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711178">
                  <a:extLst>
                    <a:ext uri="{9D8B030D-6E8A-4147-A177-3AD203B41FA5}">
                      <a16:colId xmlns:a16="http://schemas.microsoft.com/office/drawing/2014/main" val="1553538150"/>
                    </a:ext>
                  </a:extLst>
                </a:gridCol>
                <a:gridCol w="740630">
                  <a:extLst>
                    <a:ext uri="{9D8B030D-6E8A-4147-A177-3AD203B41FA5}">
                      <a16:colId xmlns:a16="http://schemas.microsoft.com/office/drawing/2014/main" val="1005073696"/>
                    </a:ext>
                  </a:extLst>
                </a:gridCol>
                <a:gridCol w="1487537">
                  <a:extLst>
                    <a:ext uri="{9D8B030D-6E8A-4147-A177-3AD203B41FA5}">
                      <a16:colId xmlns:a16="http://schemas.microsoft.com/office/drawing/2014/main" val="2912823855"/>
                    </a:ext>
                  </a:extLst>
                </a:gridCol>
              </a:tblGrid>
              <a:tr h="46354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유형</a:t>
                      </a:r>
                      <a:endParaRPr lang="en-US" altLang="ko-KR" sz="9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위치</a:t>
                      </a:r>
                      <a:endParaRPr lang="en-US" altLang="ko-KR" sz="9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가격</a:t>
                      </a:r>
                      <a:endParaRPr lang="en-US" altLang="ko-KR" sz="9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0268165"/>
                  </a:ext>
                </a:extLst>
              </a:tr>
              <a:tr h="46354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개인형</a:t>
                      </a:r>
                      <a:endParaRPr lang="en-US" altLang="ko-KR" sz="9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</a:t>
                      </a:r>
                      <a:r>
                        <a:rPr lang="ko-KR" altLang="en-US" sz="9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층 전망대 인접</a:t>
                      </a:r>
                      <a:endParaRPr lang="en-US" altLang="ko-KR" sz="9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1,000 </a:t>
                      </a:r>
                      <a:r>
                        <a:rPr lang="ko-KR" altLang="en-US" sz="9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만원 </a:t>
                      </a:r>
                      <a:r>
                        <a:rPr lang="en-US" altLang="ko-KR" sz="9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~ 1,500 </a:t>
                      </a:r>
                      <a:r>
                        <a:rPr lang="ko-KR" altLang="en-US" sz="9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만원</a:t>
                      </a:r>
                      <a:endParaRPr lang="en-US" altLang="ko-KR" sz="9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1090331"/>
                  </a:ext>
                </a:extLst>
              </a:tr>
              <a:tr h="46354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가족형</a:t>
                      </a:r>
                      <a:r>
                        <a:rPr lang="en-US" altLang="ko-KR" sz="9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(4</a:t>
                      </a:r>
                      <a:r>
                        <a:rPr lang="ko-KR" altLang="en-US" sz="9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위</a:t>
                      </a:r>
                      <a:r>
                        <a:rPr lang="en-US" altLang="ko-KR" sz="9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</a:txBody>
                  <a:tcPr marL="46800" marR="468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</a:t>
                      </a:r>
                      <a:r>
                        <a:rPr lang="ko-KR" altLang="en-US" sz="9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층 전망대 인접</a:t>
                      </a:r>
                      <a:endParaRPr lang="en-US" altLang="ko-KR" sz="9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1,800 </a:t>
                      </a:r>
                      <a:r>
                        <a:rPr lang="ko-KR" altLang="en-US" sz="9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만원 </a:t>
                      </a:r>
                      <a:r>
                        <a:rPr lang="en-US" altLang="ko-KR" sz="9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~ 2,200 </a:t>
                      </a:r>
                      <a:r>
                        <a:rPr lang="ko-KR" altLang="en-US" sz="9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만원</a:t>
                      </a:r>
                      <a:endParaRPr lang="en-US" altLang="ko-KR" sz="9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3516558"/>
                  </a:ext>
                </a:extLst>
              </a:tr>
              <a:tr h="46354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가족형</a:t>
                      </a:r>
                      <a:r>
                        <a:rPr lang="en-US" altLang="ko-KR" sz="9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(6</a:t>
                      </a:r>
                      <a:r>
                        <a:rPr lang="ko-KR" altLang="en-US" sz="9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위</a:t>
                      </a:r>
                      <a:r>
                        <a:rPr lang="en-US" altLang="ko-KR" sz="9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</a:txBody>
                  <a:tcPr marL="46800" marR="468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</a:t>
                      </a:r>
                      <a:r>
                        <a:rPr lang="ko-KR" altLang="en-US" sz="9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층 최상층</a:t>
                      </a:r>
                      <a:endParaRPr lang="en-US" altLang="ko-KR" sz="9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2,200 </a:t>
                      </a:r>
                      <a:r>
                        <a:rPr lang="ko-KR" altLang="en-US" sz="9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만원 </a:t>
                      </a:r>
                      <a:r>
                        <a:rPr lang="en-US" altLang="ko-KR" sz="9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~ 2,500 </a:t>
                      </a:r>
                      <a:r>
                        <a:rPr lang="ko-KR" altLang="en-US" sz="9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만원</a:t>
                      </a:r>
                      <a:endParaRPr lang="en-US" altLang="ko-KR" sz="9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018452"/>
                  </a:ext>
                </a:extLst>
              </a:tr>
            </a:tbl>
          </a:graphicData>
        </a:graphic>
      </p:graphicFrame>
      <p:sp>
        <p:nvSpPr>
          <p:cNvPr id="6" name="직사각형 5">
            <a:extLst>
              <a:ext uri="{FF2B5EF4-FFF2-40B4-BE49-F238E27FC236}">
                <a16:creationId xmlns:a16="http://schemas.microsoft.com/office/drawing/2014/main" id="{F7B77395-9BEF-B567-BCBA-DCDBD0FF651F}"/>
              </a:ext>
            </a:extLst>
          </p:cNvPr>
          <p:cNvSpPr/>
          <p:nvPr/>
        </p:nvSpPr>
        <p:spPr>
          <a:xfrm>
            <a:off x="658362" y="4623948"/>
            <a:ext cx="3168137" cy="264669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Footer</a:t>
            </a:r>
            <a:endParaRPr lang="ko-KR" altLang="en-US" sz="10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09350232"/>
      </p:ext>
    </p:extLst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2DB43F-3E3D-83CD-32AF-E257F5E0C1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1393623D-E4F6-6654-29E2-1AA54F0BCE73}"/>
              </a:ext>
            </a:extLst>
          </p:cNvPr>
          <p:cNvGraphicFramePr>
            <a:graphicFrameLocks noGrp="1"/>
          </p:cNvGraphicFramePr>
          <p:nvPr/>
        </p:nvGraphicFramePr>
        <p:xfrm>
          <a:off x="9182101" y="947377"/>
          <a:ext cx="2795588" cy="1847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1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684046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723838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3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172599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4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290794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5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922450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6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784800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7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0538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8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199337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9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450365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97588CD7-7F9E-FD9B-F930-42F59DB6A698}"/>
              </a:ext>
            </a:extLst>
          </p:cNvPr>
          <p:cNvSpPr/>
          <p:nvPr/>
        </p:nvSpPr>
        <p:spPr>
          <a:xfrm>
            <a:off x="959895" y="375614"/>
            <a:ext cx="1374094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</a:pP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메인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분양안내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분양가격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90F49EC-4560-2D01-2DB3-C6A0AF60C0C0}"/>
              </a:ext>
            </a:extLst>
          </p:cNvPr>
          <p:cNvSpPr txBox="1"/>
          <p:nvPr/>
        </p:nvSpPr>
        <p:spPr>
          <a:xfrm>
            <a:off x="6003996" y="123825"/>
            <a:ext cx="17303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HN_DistriInfo_Distriprice_001</a:t>
            </a:r>
            <a:endParaRPr lang="ko-KR" altLang="en-US" sz="800" dirty="0"/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662EC210-514F-6491-ACCD-F2012DAED4B1}"/>
              </a:ext>
            </a:extLst>
          </p:cNvPr>
          <p:cNvCxnSpPr>
            <a:cxnSpLocks/>
          </p:cNvCxnSpPr>
          <p:nvPr/>
        </p:nvCxnSpPr>
        <p:spPr>
          <a:xfrm>
            <a:off x="655957" y="1658468"/>
            <a:ext cx="3109526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2783D877-D4C8-2983-2116-96B98F711C7F}"/>
              </a:ext>
            </a:extLst>
          </p:cNvPr>
          <p:cNvSpPr txBox="1"/>
          <p:nvPr/>
        </p:nvSpPr>
        <p:spPr>
          <a:xfrm>
            <a:off x="1793778" y="1181491"/>
            <a:ext cx="83388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하늘누리</a:t>
            </a:r>
            <a:endParaRPr lang="en-US" altLang="ko-KR" sz="11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en-US" altLang="ko-KR" sz="11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CI</a:t>
            </a:r>
            <a:endParaRPr lang="ko-KR" altLang="en-US" sz="11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19" name="그림 18" descr="블랙, 어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B31CE85-2D13-2118-2734-C970C96AE9BF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2985" y="1191723"/>
            <a:ext cx="383533" cy="383533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1640CB58-1922-2135-C802-BBC841CD5B55}"/>
              </a:ext>
            </a:extLst>
          </p:cNvPr>
          <p:cNvSpPr txBox="1"/>
          <p:nvPr/>
        </p:nvSpPr>
        <p:spPr>
          <a:xfrm>
            <a:off x="2826086" y="1293697"/>
            <a:ext cx="57184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" panose="020D0604000000000000" pitchFamily="50" charset="-127"/>
                <a:ea typeface="나눔고딕" panose="020D0604000000000000" pitchFamily="50" charset="-127"/>
              </a:rPr>
              <a:t>르그아웃</a:t>
            </a:r>
          </a:p>
        </p:txBody>
      </p:sp>
      <p:pic>
        <p:nvPicPr>
          <p:cNvPr id="21" name="Picture 4" descr="로그 아웃 아이콘">
            <a:extLst>
              <a:ext uri="{FF2B5EF4-FFF2-40B4-BE49-F238E27FC236}">
                <a16:creationId xmlns:a16="http://schemas.microsoft.com/office/drawing/2014/main" id="{A68CA6E5-37AB-523D-26F5-B49A58E31C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9631" y="1283929"/>
            <a:ext cx="217049" cy="217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DC50F6EC-37D2-A868-2F1B-FA22C36F64FC}"/>
              </a:ext>
            </a:extLst>
          </p:cNvPr>
          <p:cNvSpPr txBox="1"/>
          <p:nvPr/>
        </p:nvSpPr>
        <p:spPr>
          <a:xfrm>
            <a:off x="1343128" y="1807796"/>
            <a:ext cx="17351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분양 가격</a:t>
            </a:r>
            <a:endParaRPr lang="en-US" altLang="ko-KR" sz="1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083149B-7BFF-4239-9A48-AC2B6DF49903}"/>
              </a:ext>
            </a:extLst>
          </p:cNvPr>
          <p:cNvSpPr txBox="1"/>
          <p:nvPr/>
        </p:nvSpPr>
        <p:spPr>
          <a:xfrm>
            <a:off x="794294" y="2194931"/>
            <a:ext cx="2832847" cy="982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00"/>
              </a:lnSpc>
              <a:spcAft>
                <a:spcPts val="900"/>
              </a:spcAft>
            </a:pP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"</a:t>
            </a:r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가격 이상의 가치를 제공합니다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“</a:t>
            </a:r>
          </a:p>
          <a:p>
            <a:pPr algn="ctr">
              <a:lnSpc>
                <a:spcPts val="2100"/>
              </a:lnSpc>
              <a:spcAft>
                <a:spcPts val="900"/>
              </a:spcAft>
            </a:pP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하늘누리는 재단법인 운영으로 과도한 영리 추구 없이 합리적인 가격을 책정합니다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</p:txBody>
      </p:sp>
      <p:cxnSp>
        <p:nvCxnSpPr>
          <p:cNvPr id="27" name="Line 1">
            <a:extLst>
              <a:ext uri="{FF2B5EF4-FFF2-40B4-BE49-F238E27FC236}">
                <a16:creationId xmlns:a16="http://schemas.microsoft.com/office/drawing/2014/main" id="{F8592C2A-7595-31D5-36B7-8DFB69514685}"/>
              </a:ext>
            </a:extLst>
          </p:cNvPr>
          <p:cNvCxnSpPr>
            <a:cxnSpLocks/>
          </p:cNvCxnSpPr>
          <p:nvPr/>
        </p:nvCxnSpPr>
        <p:spPr>
          <a:xfrm flipH="1">
            <a:off x="655957" y="3534132"/>
            <a:ext cx="355579" cy="0"/>
          </a:xfrm>
          <a:prstGeom prst="line">
            <a:avLst/>
          </a:prstGeom>
          <a:solidFill>
            <a:srgbClr val="FFFFFF"/>
          </a:solidFill>
          <a:ln w="12700">
            <a:solidFill>
              <a:srgbClr val="8080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Line 2">
            <a:extLst>
              <a:ext uri="{FF2B5EF4-FFF2-40B4-BE49-F238E27FC236}">
                <a16:creationId xmlns:a16="http://schemas.microsoft.com/office/drawing/2014/main" id="{134B4E4B-9E9C-36F1-6F17-CA0545382FB7}"/>
              </a:ext>
            </a:extLst>
          </p:cNvPr>
          <p:cNvCxnSpPr>
            <a:cxnSpLocks/>
          </p:cNvCxnSpPr>
          <p:nvPr/>
        </p:nvCxnSpPr>
        <p:spPr>
          <a:xfrm>
            <a:off x="3372985" y="3558401"/>
            <a:ext cx="403675" cy="0"/>
          </a:xfrm>
          <a:prstGeom prst="line">
            <a:avLst/>
          </a:prstGeom>
          <a:solidFill>
            <a:srgbClr val="FFFFFF"/>
          </a:solidFill>
          <a:ln w="12700">
            <a:solidFill>
              <a:srgbClr val="8080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ab Selected">
            <a:extLst>
              <a:ext uri="{FF2B5EF4-FFF2-40B4-BE49-F238E27FC236}">
                <a16:creationId xmlns:a16="http://schemas.microsoft.com/office/drawing/2014/main" id="{AED0E09F-52FD-50F1-8805-F43257057BF4}"/>
              </a:ext>
            </a:extLst>
          </p:cNvPr>
          <p:cNvSpPr>
            <a:spLocks/>
          </p:cNvSpPr>
          <p:nvPr/>
        </p:nvSpPr>
        <p:spPr bwMode="auto">
          <a:xfrm>
            <a:off x="2265350" y="3285340"/>
            <a:ext cx="1264088" cy="283307"/>
          </a:xfrm>
          <a:custGeom>
            <a:avLst/>
            <a:gdLst>
              <a:gd name="T0" fmla="*/ 0 w 2218"/>
              <a:gd name="T1" fmla="*/ 670 h 670"/>
              <a:gd name="T2" fmla="*/ 0 w 2218"/>
              <a:gd name="T3" fmla="*/ 0 h 670"/>
              <a:gd name="T4" fmla="*/ 2218 w 2218"/>
              <a:gd name="T5" fmla="*/ 0 h 670"/>
              <a:gd name="T6" fmla="*/ 2218 w 2218"/>
              <a:gd name="T7" fmla="*/ 670 h 6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218" h="670">
                <a:moveTo>
                  <a:pt x="0" y="670"/>
                </a:moveTo>
                <a:lnTo>
                  <a:pt x="0" y="0"/>
                </a:lnTo>
                <a:lnTo>
                  <a:pt x="2218" y="0"/>
                </a:lnTo>
                <a:lnTo>
                  <a:pt x="2218" y="670"/>
                </a:lnTo>
              </a:path>
            </a:pathLst>
          </a:custGeom>
          <a:solidFill>
            <a:schemeClr val="bg1"/>
          </a:solidFill>
          <a:ln w="6350" cap="sq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  <a:defRPr/>
            </a:pPr>
            <a:r>
              <a:rPr lang="ko-KR" altLang="en-US" sz="1000" b="1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Segoe UI" panose="020B0502040204020203" pitchFamily="34" charset="0"/>
              </a:rPr>
              <a:t>수목장</a:t>
            </a:r>
            <a:r>
              <a:rPr lang="en-US" altLang="ko-KR" sz="1000" b="1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Segoe UI" panose="020B0502040204020203" pitchFamily="34" charset="0"/>
              </a:rPr>
              <a:t>(</a:t>
            </a:r>
            <a:r>
              <a:rPr lang="ko-KR" altLang="en-US" sz="1000" b="1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Segoe UI" panose="020B0502040204020203" pitchFamily="34" charset="0"/>
              </a:rPr>
              <a:t>자연장</a:t>
            </a:r>
            <a:r>
              <a:rPr lang="en-US" altLang="ko-KR" sz="1000" b="1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Segoe UI" panose="020B0502040204020203" pitchFamily="34" charset="0"/>
              </a:rPr>
              <a:t>)</a:t>
            </a:r>
          </a:p>
        </p:txBody>
      </p:sp>
      <p:sp>
        <p:nvSpPr>
          <p:cNvPr id="34" name="Tab">
            <a:extLst>
              <a:ext uri="{FF2B5EF4-FFF2-40B4-BE49-F238E27FC236}">
                <a16:creationId xmlns:a16="http://schemas.microsoft.com/office/drawing/2014/main" id="{D41D76E1-005C-D0DD-3037-0390063C0F7E}"/>
              </a:ext>
            </a:extLst>
          </p:cNvPr>
          <p:cNvSpPr/>
          <p:nvPr/>
        </p:nvSpPr>
        <p:spPr>
          <a:xfrm>
            <a:off x="992240" y="3273263"/>
            <a:ext cx="1278902" cy="283306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  <a:defRPr/>
            </a:pPr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Segoe UI" panose="020B0502040204020203" pitchFamily="34" charset="0"/>
              </a:rPr>
              <a:t>봉안당</a:t>
            </a:r>
            <a:r>
              <a:rPr lang="en-US" altLang="ko-KR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Segoe UI" panose="020B0502040204020203" pitchFamily="34" charset="0"/>
              </a:rPr>
              <a:t>(</a:t>
            </a:r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Segoe UI" panose="020B0502040204020203" pitchFamily="34" charset="0"/>
              </a:rPr>
              <a:t>하늘누리관</a:t>
            </a:r>
            <a:r>
              <a:rPr lang="en-US" altLang="ko-KR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Segoe UI" panose="020B0502040204020203" pitchFamily="34" charset="0"/>
              </a:rPr>
              <a:t>)</a:t>
            </a:r>
            <a:endParaRPr lang="en-US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Segoe UI" panose="020B0502040204020203" pitchFamily="34" charset="0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8BCADFFE-EC53-8BD2-96E5-35EF12D4F038}"/>
              </a:ext>
            </a:extLst>
          </p:cNvPr>
          <p:cNvSpPr/>
          <p:nvPr/>
        </p:nvSpPr>
        <p:spPr>
          <a:xfrm>
            <a:off x="699508" y="3620625"/>
            <a:ext cx="3120018" cy="1230776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IMAGE</a:t>
            </a:r>
            <a:endParaRPr lang="ko-KR" altLang="en-US" sz="28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4698B3C-A192-E889-B3DF-B2A941DC0143}"/>
              </a:ext>
            </a:extLst>
          </p:cNvPr>
          <p:cNvSpPr txBox="1"/>
          <p:nvPr/>
        </p:nvSpPr>
        <p:spPr>
          <a:xfrm>
            <a:off x="1168798" y="4909330"/>
            <a:ext cx="208383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개인 수목장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수종별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) </a:t>
            </a:r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가격표</a:t>
            </a:r>
          </a:p>
        </p:txBody>
      </p:sp>
      <p:graphicFrame>
        <p:nvGraphicFramePr>
          <p:cNvPr id="38" name="표 37">
            <a:extLst>
              <a:ext uri="{FF2B5EF4-FFF2-40B4-BE49-F238E27FC236}">
                <a16:creationId xmlns:a16="http://schemas.microsoft.com/office/drawing/2014/main" id="{457001EC-58DE-543F-2150-D3094E172BF6}"/>
              </a:ext>
            </a:extLst>
          </p:cNvPr>
          <p:cNvGraphicFramePr>
            <a:graphicFrameLocks noGrp="1"/>
          </p:cNvGraphicFramePr>
          <p:nvPr/>
        </p:nvGraphicFramePr>
        <p:xfrm>
          <a:off x="766015" y="5155551"/>
          <a:ext cx="2990503" cy="1064276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898649">
                  <a:extLst>
                    <a:ext uri="{9D8B030D-6E8A-4147-A177-3AD203B41FA5}">
                      <a16:colId xmlns:a16="http://schemas.microsoft.com/office/drawing/2014/main" val="1553538150"/>
                    </a:ext>
                  </a:extLst>
                </a:gridCol>
                <a:gridCol w="701548">
                  <a:extLst>
                    <a:ext uri="{9D8B030D-6E8A-4147-A177-3AD203B41FA5}">
                      <a16:colId xmlns:a16="http://schemas.microsoft.com/office/drawing/2014/main" val="1005073696"/>
                    </a:ext>
                  </a:extLst>
                </a:gridCol>
                <a:gridCol w="1390306">
                  <a:extLst>
                    <a:ext uri="{9D8B030D-6E8A-4147-A177-3AD203B41FA5}">
                      <a16:colId xmlns:a16="http://schemas.microsoft.com/office/drawing/2014/main" val="2912823855"/>
                    </a:ext>
                  </a:extLst>
                </a:gridCol>
              </a:tblGrid>
              <a:tr h="26606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수종</a:t>
                      </a:r>
                      <a:endParaRPr lang="en-US" altLang="ko-KR" sz="9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규격</a:t>
                      </a:r>
                      <a:endParaRPr lang="en-US" altLang="ko-KR" sz="9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가격</a:t>
                      </a:r>
                      <a:endParaRPr lang="en-US" altLang="ko-KR" sz="9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0268165"/>
                  </a:ext>
                </a:extLst>
              </a:tr>
              <a:tr h="26606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소나무</a:t>
                      </a:r>
                      <a:endParaRPr lang="en-US" altLang="ko-KR" sz="9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30</a:t>
                      </a:r>
                      <a:r>
                        <a:rPr lang="en-US" altLang="ko-KR" sz="9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㎡ </a:t>
                      </a:r>
                      <a:r>
                        <a:rPr lang="ko-KR" altLang="en-US" sz="9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이하</a:t>
                      </a:r>
                      <a:endParaRPr lang="en-US" altLang="ko-KR" sz="9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400 </a:t>
                      </a:r>
                      <a:r>
                        <a:rPr lang="ko-KR" altLang="en-US" sz="9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만원</a:t>
                      </a:r>
                      <a:endParaRPr lang="en-US" altLang="ko-KR" sz="9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1090331"/>
                  </a:ext>
                </a:extLst>
              </a:tr>
              <a:tr h="26606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느티나무</a:t>
                      </a:r>
                      <a:endParaRPr lang="en-US" altLang="ko-KR" sz="9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30㎡ </a:t>
                      </a: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이하</a:t>
                      </a:r>
                      <a:endParaRPr kumimoji="0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450 </a:t>
                      </a:r>
                      <a:r>
                        <a:rPr lang="ko-KR" altLang="en-US" sz="9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만원</a:t>
                      </a:r>
                      <a:endParaRPr lang="en-US" altLang="ko-KR" sz="9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3516558"/>
                  </a:ext>
                </a:extLst>
              </a:tr>
              <a:tr h="26606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u="none" dirty="0" err="1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벗나무</a:t>
                      </a:r>
                      <a:endParaRPr lang="en-US" altLang="ko-KR" sz="9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30㎡ </a:t>
                      </a: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이하</a:t>
                      </a:r>
                      <a:endParaRPr kumimoji="0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420 </a:t>
                      </a:r>
                      <a:r>
                        <a:rPr lang="ko-KR" altLang="en-US" sz="9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만원</a:t>
                      </a:r>
                      <a:endParaRPr lang="en-US" altLang="ko-KR" sz="9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018452"/>
                  </a:ext>
                </a:extLst>
              </a:tr>
            </a:tbl>
          </a:graphicData>
        </a:graphic>
      </p:graphicFrame>
      <p:sp>
        <p:nvSpPr>
          <p:cNvPr id="39" name="TextBox 38">
            <a:extLst>
              <a:ext uri="{FF2B5EF4-FFF2-40B4-BE49-F238E27FC236}">
                <a16:creationId xmlns:a16="http://schemas.microsoft.com/office/drawing/2014/main" id="{2A7684BF-90D5-0622-4157-A3C498FFE5C3}"/>
              </a:ext>
            </a:extLst>
          </p:cNvPr>
          <p:cNvSpPr txBox="1"/>
          <p:nvPr/>
        </p:nvSpPr>
        <p:spPr>
          <a:xfrm>
            <a:off x="5650462" y="1170586"/>
            <a:ext cx="208383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부부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가족 수목장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0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위용벌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) </a:t>
            </a:r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가격표</a:t>
            </a:r>
          </a:p>
        </p:txBody>
      </p:sp>
      <p:graphicFrame>
        <p:nvGraphicFramePr>
          <p:cNvPr id="40" name="표 39">
            <a:extLst>
              <a:ext uri="{FF2B5EF4-FFF2-40B4-BE49-F238E27FC236}">
                <a16:creationId xmlns:a16="http://schemas.microsoft.com/office/drawing/2014/main" id="{44899204-EDCC-D7D2-A094-99325131A402}"/>
              </a:ext>
            </a:extLst>
          </p:cNvPr>
          <p:cNvGraphicFramePr>
            <a:graphicFrameLocks noGrp="1"/>
          </p:cNvGraphicFramePr>
          <p:nvPr/>
        </p:nvGraphicFramePr>
        <p:xfrm>
          <a:off x="5380109" y="1500978"/>
          <a:ext cx="2795589" cy="1461296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684660">
                  <a:extLst>
                    <a:ext uri="{9D8B030D-6E8A-4147-A177-3AD203B41FA5}">
                      <a16:colId xmlns:a16="http://schemas.microsoft.com/office/drawing/2014/main" val="1553538150"/>
                    </a:ext>
                  </a:extLst>
                </a:gridCol>
                <a:gridCol w="730725">
                  <a:extLst>
                    <a:ext uri="{9D8B030D-6E8A-4147-A177-3AD203B41FA5}">
                      <a16:colId xmlns:a16="http://schemas.microsoft.com/office/drawing/2014/main" val="2912823855"/>
                    </a:ext>
                  </a:extLst>
                </a:gridCol>
                <a:gridCol w="690102">
                  <a:extLst>
                    <a:ext uri="{9D8B030D-6E8A-4147-A177-3AD203B41FA5}">
                      <a16:colId xmlns:a16="http://schemas.microsoft.com/office/drawing/2014/main" val="420109590"/>
                    </a:ext>
                  </a:extLst>
                </a:gridCol>
                <a:gridCol w="690102">
                  <a:extLst>
                    <a:ext uri="{9D8B030D-6E8A-4147-A177-3AD203B41FA5}">
                      <a16:colId xmlns:a16="http://schemas.microsoft.com/office/drawing/2014/main" val="715179042"/>
                    </a:ext>
                  </a:extLst>
                </a:gridCol>
              </a:tblGrid>
              <a:tr h="36532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구분</a:t>
                      </a:r>
                      <a:endParaRPr lang="en-US" altLang="ko-KR" sz="9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규격</a:t>
                      </a:r>
                      <a:endParaRPr lang="en-US" altLang="ko-KR" sz="9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안치가능</a:t>
                      </a:r>
                      <a:endParaRPr lang="en-US" altLang="ko-KR" sz="9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가격</a:t>
                      </a:r>
                      <a:endParaRPr lang="en-US" altLang="ko-KR" sz="9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0268165"/>
                  </a:ext>
                </a:extLst>
              </a:tr>
              <a:tr h="365324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부부형</a:t>
                      </a:r>
                      <a:endParaRPr lang="en-US" altLang="ko-KR" sz="9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50</a:t>
                      </a:r>
                      <a:r>
                        <a:rPr lang="en-US" altLang="ko-KR" sz="9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㎡ </a:t>
                      </a:r>
                      <a:r>
                        <a:rPr lang="ko-KR" altLang="en-US" sz="9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이하</a:t>
                      </a:r>
                      <a:endParaRPr lang="en-US" altLang="ko-KR" sz="9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</a:t>
                      </a:r>
                      <a:r>
                        <a:rPr lang="ko-KR" altLang="en-US" sz="9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위</a:t>
                      </a:r>
                      <a:endParaRPr lang="en-US" altLang="ko-KR" sz="9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700 </a:t>
                      </a:r>
                      <a:r>
                        <a:rPr lang="ko-KR" altLang="en-US" sz="9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만원</a:t>
                      </a:r>
                      <a:endParaRPr lang="en-US" altLang="ko-KR" sz="9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1090331"/>
                  </a:ext>
                </a:extLst>
              </a:tr>
              <a:tr h="365324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가족형</a:t>
                      </a:r>
                      <a:r>
                        <a:rPr lang="en-US" altLang="ko-KR" sz="9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9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소</a:t>
                      </a:r>
                      <a:r>
                        <a:rPr lang="en-US" altLang="ko-KR" sz="9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</a:txBody>
                  <a:tcPr marL="46800" marR="468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80㎡ </a:t>
                      </a: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이하</a:t>
                      </a:r>
                      <a:endParaRPr kumimoji="0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</a:t>
                      </a:r>
                      <a:r>
                        <a:rPr lang="ko-KR" altLang="en-US" sz="9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위</a:t>
                      </a:r>
                      <a:endParaRPr lang="en-US" altLang="ko-KR" sz="9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900 </a:t>
                      </a:r>
                      <a:r>
                        <a:rPr lang="ko-KR" altLang="en-US" sz="9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만원</a:t>
                      </a:r>
                      <a:endParaRPr lang="en-US" altLang="ko-KR" sz="9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8587233"/>
                  </a:ext>
                </a:extLst>
              </a:tr>
              <a:tr h="365324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가족형</a:t>
                      </a:r>
                      <a:r>
                        <a:rPr lang="en-US" altLang="ko-KR" sz="9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9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대</a:t>
                      </a:r>
                      <a:r>
                        <a:rPr lang="en-US" altLang="ko-KR" sz="9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</a:txBody>
                  <a:tcPr marL="46800" marR="468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100㎡ </a:t>
                      </a: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이하</a:t>
                      </a:r>
                      <a:endParaRPr kumimoji="0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</a:t>
                      </a:r>
                      <a:r>
                        <a:rPr lang="ko-KR" altLang="en-US" sz="9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위</a:t>
                      </a:r>
                      <a:endParaRPr lang="en-US" altLang="ko-KR" sz="9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1,200 </a:t>
                      </a:r>
                      <a:r>
                        <a:rPr lang="ko-KR" altLang="en-US" sz="9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만원</a:t>
                      </a:r>
                      <a:endParaRPr lang="en-US" altLang="ko-KR" sz="9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3516558"/>
                  </a:ext>
                </a:extLst>
              </a:tr>
            </a:tbl>
          </a:graphicData>
        </a:graphic>
      </p:graphicFrame>
      <p:sp>
        <p:nvSpPr>
          <p:cNvPr id="41" name="직사각형 40">
            <a:extLst>
              <a:ext uri="{FF2B5EF4-FFF2-40B4-BE49-F238E27FC236}">
                <a16:creationId xmlns:a16="http://schemas.microsoft.com/office/drawing/2014/main" id="{77A5D01F-C10B-93BE-2D71-B1F99236DF8C}"/>
              </a:ext>
            </a:extLst>
          </p:cNvPr>
          <p:cNvSpPr/>
          <p:nvPr/>
        </p:nvSpPr>
        <p:spPr>
          <a:xfrm>
            <a:off x="5217894" y="3046445"/>
            <a:ext cx="3120018" cy="1230776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IMAGE</a:t>
            </a:r>
            <a:endParaRPr lang="ko-KR" altLang="en-US" sz="28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7DC1A52-4601-F411-4ED6-F78D9D96447B}"/>
              </a:ext>
            </a:extLst>
          </p:cNvPr>
          <p:cNvSpPr txBox="1"/>
          <p:nvPr/>
        </p:nvSpPr>
        <p:spPr>
          <a:xfrm>
            <a:off x="5650461" y="4361392"/>
            <a:ext cx="208383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공동 수목장</a:t>
            </a:r>
          </a:p>
        </p:txBody>
      </p:sp>
      <p:graphicFrame>
        <p:nvGraphicFramePr>
          <p:cNvPr id="43" name="표 42">
            <a:extLst>
              <a:ext uri="{FF2B5EF4-FFF2-40B4-BE49-F238E27FC236}">
                <a16:creationId xmlns:a16="http://schemas.microsoft.com/office/drawing/2014/main" id="{700A1A17-8DB2-8CEC-9D48-56FBD910BC78}"/>
              </a:ext>
            </a:extLst>
          </p:cNvPr>
          <p:cNvGraphicFramePr>
            <a:graphicFrameLocks noGrp="1"/>
          </p:cNvGraphicFramePr>
          <p:nvPr/>
        </p:nvGraphicFramePr>
        <p:xfrm>
          <a:off x="5298585" y="4760316"/>
          <a:ext cx="2990502" cy="927098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723555">
                  <a:extLst>
                    <a:ext uri="{9D8B030D-6E8A-4147-A177-3AD203B41FA5}">
                      <a16:colId xmlns:a16="http://schemas.microsoft.com/office/drawing/2014/main" val="1553538150"/>
                    </a:ext>
                  </a:extLst>
                </a:gridCol>
                <a:gridCol w="1177092">
                  <a:extLst>
                    <a:ext uri="{9D8B030D-6E8A-4147-A177-3AD203B41FA5}">
                      <a16:colId xmlns:a16="http://schemas.microsoft.com/office/drawing/2014/main" val="1005073696"/>
                    </a:ext>
                  </a:extLst>
                </a:gridCol>
                <a:gridCol w="1089855">
                  <a:extLst>
                    <a:ext uri="{9D8B030D-6E8A-4147-A177-3AD203B41FA5}">
                      <a16:colId xmlns:a16="http://schemas.microsoft.com/office/drawing/2014/main" val="2912823855"/>
                    </a:ext>
                  </a:extLst>
                </a:gridCol>
              </a:tblGrid>
              <a:tr h="46354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구분</a:t>
                      </a:r>
                      <a:endParaRPr lang="en-US" altLang="ko-KR" sz="9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특징</a:t>
                      </a:r>
                      <a:endParaRPr lang="en-US" altLang="ko-KR" sz="9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가격</a:t>
                      </a:r>
                      <a:endParaRPr lang="en-US" altLang="ko-KR" sz="9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0268165"/>
                  </a:ext>
                </a:extLst>
              </a:tr>
              <a:tr h="46354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공동 수목장</a:t>
                      </a:r>
                      <a:endParaRPr lang="en-US" altLang="ko-KR" sz="9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큰 나무 아래 여러 위 안치</a:t>
                      </a:r>
                      <a:endParaRPr lang="en-US" altLang="ko-KR" sz="9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200 </a:t>
                      </a:r>
                      <a:r>
                        <a:rPr lang="ko-KR" altLang="en-US" sz="9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만원</a:t>
                      </a:r>
                      <a:endParaRPr lang="en-US" altLang="ko-KR" sz="9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109033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D0A3414F-24F1-BD27-B0C5-A92051A9F55F}"/>
              </a:ext>
            </a:extLst>
          </p:cNvPr>
          <p:cNvSpPr txBox="1"/>
          <p:nvPr/>
        </p:nvSpPr>
        <p:spPr>
          <a:xfrm rot="19509111">
            <a:off x="8704729" y="3250453"/>
            <a:ext cx="279558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하늘누리 분양안내 </a:t>
            </a:r>
            <a:r>
              <a:rPr lang="ko-KR" altLang="en-US" sz="2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확인 </a:t>
            </a:r>
            <a:r>
              <a:rPr lang="ko-KR" altLang="en-US" sz="2000" b="1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후 수정 </a:t>
            </a:r>
            <a:r>
              <a:rPr lang="ko-KR" altLang="en-US" sz="2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필요 </a:t>
            </a:r>
          </a:p>
        </p:txBody>
      </p:sp>
    </p:spTree>
    <p:extLst>
      <p:ext uri="{BB962C8B-B14F-4D97-AF65-F5344CB8AC3E}">
        <p14:creationId xmlns:p14="http://schemas.microsoft.com/office/powerpoint/2010/main" val="473802004"/>
      </p:ext>
    </p:extLst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61778C-ABCB-6019-04F9-A96B6BDA13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A9005361-E902-F3D4-DD4A-ABADD4C28427}"/>
              </a:ext>
            </a:extLst>
          </p:cNvPr>
          <p:cNvGraphicFramePr>
            <a:graphicFrameLocks noGrp="1"/>
          </p:cNvGraphicFramePr>
          <p:nvPr/>
        </p:nvGraphicFramePr>
        <p:xfrm>
          <a:off x="9182101" y="947377"/>
          <a:ext cx="2795588" cy="1847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1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684046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723838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3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172599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4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290794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5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922450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6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784800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7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0538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8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199337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9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450365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8E1C678C-5FEE-F57F-F918-F86860F6BA54}"/>
              </a:ext>
            </a:extLst>
          </p:cNvPr>
          <p:cNvSpPr/>
          <p:nvPr/>
        </p:nvSpPr>
        <p:spPr>
          <a:xfrm>
            <a:off x="959895" y="375614"/>
            <a:ext cx="1374094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</a:pP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메인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분양안내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분양가격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BA762FC-F93D-C332-6161-EB2E2819A262}"/>
              </a:ext>
            </a:extLst>
          </p:cNvPr>
          <p:cNvSpPr txBox="1"/>
          <p:nvPr/>
        </p:nvSpPr>
        <p:spPr>
          <a:xfrm>
            <a:off x="6003996" y="123825"/>
            <a:ext cx="17303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HN_DistriInfo_Distriprice_001</a:t>
            </a:r>
            <a:endParaRPr lang="ko-KR" altLang="en-US" sz="8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C878AFA-5EC6-8556-3A1D-019D05C498CF}"/>
              </a:ext>
            </a:extLst>
          </p:cNvPr>
          <p:cNvSpPr txBox="1"/>
          <p:nvPr/>
        </p:nvSpPr>
        <p:spPr>
          <a:xfrm>
            <a:off x="1168798" y="1299355"/>
            <a:ext cx="208383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잔디장</a:t>
            </a:r>
            <a:endParaRPr lang="ko-KR" altLang="en-US" sz="1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E2AB2ACB-9C45-6B72-000F-4EE3CDEAFE75}"/>
              </a:ext>
            </a:extLst>
          </p:cNvPr>
          <p:cNvGraphicFramePr>
            <a:graphicFrameLocks noGrp="1"/>
          </p:cNvGraphicFramePr>
          <p:nvPr/>
        </p:nvGraphicFramePr>
        <p:xfrm>
          <a:off x="766015" y="1545576"/>
          <a:ext cx="2990502" cy="927098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460142">
                  <a:extLst>
                    <a:ext uri="{9D8B030D-6E8A-4147-A177-3AD203B41FA5}">
                      <a16:colId xmlns:a16="http://schemas.microsoft.com/office/drawing/2014/main" val="1553538150"/>
                    </a:ext>
                  </a:extLst>
                </a:gridCol>
                <a:gridCol w="632191">
                  <a:extLst>
                    <a:ext uri="{9D8B030D-6E8A-4147-A177-3AD203B41FA5}">
                      <a16:colId xmlns:a16="http://schemas.microsoft.com/office/drawing/2014/main" val="1005073696"/>
                    </a:ext>
                  </a:extLst>
                </a:gridCol>
                <a:gridCol w="906779">
                  <a:extLst>
                    <a:ext uri="{9D8B030D-6E8A-4147-A177-3AD203B41FA5}">
                      <a16:colId xmlns:a16="http://schemas.microsoft.com/office/drawing/2014/main" val="2912823855"/>
                    </a:ext>
                  </a:extLst>
                </a:gridCol>
                <a:gridCol w="991390">
                  <a:extLst>
                    <a:ext uri="{9D8B030D-6E8A-4147-A177-3AD203B41FA5}">
                      <a16:colId xmlns:a16="http://schemas.microsoft.com/office/drawing/2014/main" val="922063837"/>
                    </a:ext>
                  </a:extLst>
                </a:gridCol>
              </a:tblGrid>
              <a:tr h="46354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구분</a:t>
                      </a:r>
                      <a:endParaRPr lang="en-US" altLang="ko-KR" sz="9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규격</a:t>
                      </a:r>
                      <a:endParaRPr lang="en-US" altLang="ko-KR" sz="9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특징</a:t>
                      </a:r>
                      <a:endParaRPr lang="en-US" altLang="ko-KR" sz="9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가격</a:t>
                      </a:r>
                      <a:endParaRPr lang="en-US" altLang="ko-KR" sz="9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0268165"/>
                  </a:ext>
                </a:extLst>
              </a:tr>
              <a:tr h="46354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잔디장</a:t>
                      </a:r>
                      <a:endParaRPr lang="en-US" altLang="ko-KR" sz="900" b="1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r>
                        <a:rPr lang="en-US" altLang="ko-KR" sz="9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㎡ </a:t>
                      </a:r>
                      <a:r>
                        <a:rPr lang="ko-KR" altLang="en-US" sz="9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당 </a:t>
                      </a:r>
                      <a:r>
                        <a:rPr lang="en-US" altLang="ko-KR" sz="9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 </a:t>
                      </a:r>
                      <a:r>
                        <a:rPr lang="ko-KR" altLang="en-US" sz="9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위</a:t>
                      </a:r>
                      <a:endParaRPr lang="en-US" altLang="ko-KR" sz="9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잔디 평지</a:t>
                      </a:r>
                      <a:r>
                        <a:rPr lang="en-US" altLang="ko-KR" sz="9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9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개별표식</a:t>
                      </a:r>
                      <a:endParaRPr lang="en-US" altLang="ko-KR" sz="9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250</a:t>
                      </a:r>
                      <a:r>
                        <a:rPr lang="ko-KR" altLang="en-US" sz="9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만원</a:t>
                      </a:r>
                      <a:r>
                        <a:rPr lang="en-US" altLang="ko-KR" sz="9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~ </a:t>
                      </a: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350 </a:t>
                      </a:r>
                      <a:r>
                        <a:rPr lang="ko-KR" altLang="en-US" sz="900" b="0" u="non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만원</a:t>
                      </a:r>
                      <a:endParaRPr lang="en-US" altLang="ko-KR" sz="900" b="0" u="non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1090331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7D31D6D4-9F5E-9ABA-7842-54738EB95151}"/>
              </a:ext>
            </a:extLst>
          </p:cNvPr>
          <p:cNvSpPr/>
          <p:nvPr/>
        </p:nvSpPr>
        <p:spPr>
          <a:xfrm>
            <a:off x="658362" y="2947548"/>
            <a:ext cx="3168137" cy="264669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Footer</a:t>
            </a:r>
            <a:endParaRPr lang="ko-KR" altLang="en-US" sz="10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41107732"/>
      </p:ext>
    </p:extLst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B81554-A1AF-9EE6-1522-EB8BCEA408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E9056839-2581-873B-11BA-1CEB5AC8573E}"/>
              </a:ext>
            </a:extLst>
          </p:cNvPr>
          <p:cNvGraphicFramePr>
            <a:graphicFrameLocks noGrp="1"/>
          </p:cNvGraphicFramePr>
          <p:nvPr/>
        </p:nvGraphicFramePr>
        <p:xfrm>
          <a:off x="9182101" y="947377"/>
          <a:ext cx="2795588" cy="1847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1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684046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723838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3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172599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4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290794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5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922450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6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784800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7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0538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8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199337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9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450365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98FE54E8-3C89-E2D9-1525-198F9F4F4EAC}"/>
              </a:ext>
            </a:extLst>
          </p:cNvPr>
          <p:cNvSpPr/>
          <p:nvPr/>
        </p:nvSpPr>
        <p:spPr>
          <a:xfrm>
            <a:off x="959895" y="375614"/>
            <a:ext cx="1595309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</a:pP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메인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분양안내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사전청약 혜택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2BD50D2-FAF7-FB87-6AC8-7189B280E725}"/>
              </a:ext>
            </a:extLst>
          </p:cNvPr>
          <p:cNvSpPr txBox="1"/>
          <p:nvPr/>
        </p:nvSpPr>
        <p:spPr>
          <a:xfrm>
            <a:off x="6003996" y="123825"/>
            <a:ext cx="17303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HN_DistriInfo_Applibenefit_001</a:t>
            </a:r>
            <a:endParaRPr lang="ko-KR" altLang="en-US" sz="800" dirty="0"/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BCA9BFA5-2D6A-A141-EA5E-0171C4EE1B45}"/>
              </a:ext>
            </a:extLst>
          </p:cNvPr>
          <p:cNvCxnSpPr>
            <a:cxnSpLocks/>
          </p:cNvCxnSpPr>
          <p:nvPr/>
        </p:nvCxnSpPr>
        <p:spPr>
          <a:xfrm>
            <a:off x="655957" y="1658468"/>
            <a:ext cx="3109526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0D57782-D106-1B2B-BDAB-28F7290AB0EF}"/>
              </a:ext>
            </a:extLst>
          </p:cNvPr>
          <p:cNvSpPr txBox="1"/>
          <p:nvPr/>
        </p:nvSpPr>
        <p:spPr>
          <a:xfrm>
            <a:off x="1793778" y="1181491"/>
            <a:ext cx="83388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하늘누리</a:t>
            </a:r>
            <a:endParaRPr lang="en-US" altLang="ko-KR" sz="11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en-US" altLang="ko-KR" sz="11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CI</a:t>
            </a:r>
            <a:endParaRPr lang="ko-KR" altLang="en-US" sz="11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12" name="그림 11" descr="블랙, 어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EB3141D-533E-A8AF-1D24-529208963AB4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2985" y="1191723"/>
            <a:ext cx="383533" cy="38353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6D48257-B8DC-6B1B-FD6D-BDD743598BD4}"/>
              </a:ext>
            </a:extLst>
          </p:cNvPr>
          <p:cNvSpPr txBox="1"/>
          <p:nvPr/>
        </p:nvSpPr>
        <p:spPr>
          <a:xfrm>
            <a:off x="2826086" y="1293697"/>
            <a:ext cx="57184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" panose="020D0604000000000000" pitchFamily="50" charset="-127"/>
                <a:ea typeface="나눔고딕" panose="020D0604000000000000" pitchFamily="50" charset="-127"/>
              </a:rPr>
              <a:t>르그아웃</a:t>
            </a:r>
          </a:p>
        </p:txBody>
      </p:sp>
      <p:pic>
        <p:nvPicPr>
          <p:cNvPr id="23" name="Picture 4" descr="로그 아웃 아이콘">
            <a:extLst>
              <a:ext uri="{FF2B5EF4-FFF2-40B4-BE49-F238E27FC236}">
                <a16:creationId xmlns:a16="http://schemas.microsoft.com/office/drawing/2014/main" id="{63BC6900-AA2B-F64C-7B99-FEC7E54C02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9631" y="1283929"/>
            <a:ext cx="217049" cy="217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5FFF86EC-D2A2-25B1-5C2E-72A5E99E8970}"/>
              </a:ext>
            </a:extLst>
          </p:cNvPr>
          <p:cNvSpPr txBox="1"/>
          <p:nvPr/>
        </p:nvSpPr>
        <p:spPr>
          <a:xfrm>
            <a:off x="1343128" y="1807796"/>
            <a:ext cx="17351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사전청약 혜택</a:t>
            </a:r>
            <a:endParaRPr lang="en-US" altLang="ko-KR" sz="1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490F120-966F-BBB7-3546-3F9EEA1FB7A4}"/>
              </a:ext>
            </a:extLst>
          </p:cNvPr>
          <p:cNvSpPr txBox="1"/>
          <p:nvPr/>
        </p:nvSpPr>
        <p:spPr>
          <a:xfrm>
            <a:off x="794294" y="2194931"/>
            <a:ext cx="2832847" cy="1251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00"/>
              </a:lnSpc>
              <a:spcAft>
                <a:spcPts val="900"/>
              </a:spcAft>
            </a:pP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"</a:t>
            </a:r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현명한 선택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사전계약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“</a:t>
            </a:r>
          </a:p>
          <a:p>
            <a:pPr algn="ctr">
              <a:lnSpc>
                <a:spcPts val="2100"/>
              </a:lnSpc>
              <a:spcAft>
                <a:spcPts val="900"/>
              </a:spcAft>
            </a:pP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사전계약은 하늘누리 추모공원의 일부 구역이 개장 전이거나 추가 조성 중일 때 미리 계약하시는 분들께 드리는 특별한 혜택입니다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6480308B-E8A7-F8C4-B588-A98BE36862FF}"/>
              </a:ext>
            </a:extLst>
          </p:cNvPr>
          <p:cNvSpPr/>
          <p:nvPr/>
        </p:nvSpPr>
        <p:spPr>
          <a:xfrm>
            <a:off x="699508" y="3620625"/>
            <a:ext cx="3120018" cy="1230776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IMAGE</a:t>
            </a:r>
            <a:endParaRPr lang="ko-KR" altLang="en-US" sz="28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2" name="타원 31">
            <a:extLst>
              <a:ext uri="{FF2B5EF4-FFF2-40B4-BE49-F238E27FC236}">
                <a16:creationId xmlns:a16="http://schemas.microsoft.com/office/drawing/2014/main" id="{2B5CAACB-D45F-2FCF-E0FB-65BFA5F186FC}"/>
              </a:ext>
            </a:extLst>
          </p:cNvPr>
          <p:cNvSpPr/>
          <p:nvPr/>
        </p:nvSpPr>
        <p:spPr>
          <a:xfrm>
            <a:off x="714674" y="4941401"/>
            <a:ext cx="900000" cy="900000"/>
          </a:xfrm>
          <a:prstGeom prst="ellipse">
            <a:avLst/>
          </a:prstGeom>
          <a:solidFill>
            <a:srgbClr val="002060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가격</a:t>
            </a:r>
            <a:endParaRPr lang="en-US" altLang="ko-KR" sz="10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ko-KR" altLang="en-US" sz="10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혜택</a:t>
            </a:r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937590C9-E0A8-FF49-7FB9-9A70A18CF0B7}"/>
              </a:ext>
            </a:extLst>
          </p:cNvPr>
          <p:cNvSpPr/>
          <p:nvPr/>
        </p:nvSpPr>
        <p:spPr>
          <a:xfrm>
            <a:off x="1744239" y="4941401"/>
            <a:ext cx="900000" cy="900000"/>
          </a:xfrm>
          <a:prstGeom prst="ellipse">
            <a:avLst/>
          </a:prstGeom>
          <a:solidFill>
            <a:srgbClr val="002060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위치</a:t>
            </a:r>
            <a:endParaRPr lang="en-US" altLang="ko-KR" sz="10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ko-KR" altLang="en-US" sz="10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우선권</a:t>
            </a:r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BE8D364B-5545-039C-22EF-85920C051C1C}"/>
              </a:ext>
            </a:extLst>
          </p:cNvPr>
          <p:cNvSpPr/>
          <p:nvPr/>
        </p:nvSpPr>
        <p:spPr>
          <a:xfrm>
            <a:off x="2773805" y="4941401"/>
            <a:ext cx="900000" cy="900000"/>
          </a:xfrm>
          <a:prstGeom prst="ellipse">
            <a:avLst/>
          </a:prstGeom>
          <a:solidFill>
            <a:srgbClr val="002060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특별</a:t>
            </a:r>
            <a:endParaRPr lang="en-US" altLang="ko-KR" sz="10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ko-KR" altLang="en-US" sz="10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서비스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7B75640-0909-9D6A-CB26-C56960ADB05A}"/>
              </a:ext>
            </a:extLst>
          </p:cNvPr>
          <p:cNvSpPr txBox="1"/>
          <p:nvPr/>
        </p:nvSpPr>
        <p:spPr>
          <a:xfrm>
            <a:off x="714674" y="5841401"/>
            <a:ext cx="821293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정식 분양가 대비 </a:t>
            </a:r>
            <a:r>
              <a:rPr lang="en-US" altLang="ko-KR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10% </a:t>
            </a:r>
            <a:r>
              <a:rPr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할인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817B82E-61AC-5F0C-505C-76C65CD09AE0}"/>
              </a:ext>
            </a:extLst>
          </p:cNvPr>
          <p:cNvSpPr txBox="1"/>
          <p:nvPr/>
        </p:nvSpPr>
        <p:spPr>
          <a:xfrm>
            <a:off x="1764272" y="5857193"/>
            <a:ext cx="8098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원하는 위치 먼저 선택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7C7E6DC-6FAC-6A31-01E3-3EFECD296428}"/>
              </a:ext>
            </a:extLst>
          </p:cNvPr>
          <p:cNvSpPr txBox="1"/>
          <p:nvPr/>
        </p:nvSpPr>
        <p:spPr>
          <a:xfrm>
            <a:off x="2802380" y="5857193"/>
            <a:ext cx="8112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5</a:t>
            </a:r>
            <a:r>
              <a:rPr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 관리비 면제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1DB1B2B-E64C-23D1-3E10-6E973C8A7EE9}"/>
              </a:ext>
            </a:extLst>
          </p:cNvPr>
          <p:cNvSpPr txBox="1"/>
          <p:nvPr/>
        </p:nvSpPr>
        <p:spPr>
          <a:xfrm>
            <a:off x="5252605" y="1181491"/>
            <a:ext cx="14708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혜택 </a:t>
            </a:r>
            <a:r>
              <a:rPr lang="en-US" altLang="ko-KR" sz="11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endParaRPr lang="ko-KR" altLang="en-US" sz="11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3D0365E-4E20-9755-ABE3-7871445D655F}"/>
              </a:ext>
            </a:extLst>
          </p:cNvPr>
          <p:cNvSpPr txBox="1"/>
          <p:nvPr/>
        </p:nvSpPr>
        <p:spPr>
          <a:xfrm>
            <a:off x="5261570" y="1444451"/>
            <a:ext cx="26632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분양가 </a:t>
            </a:r>
            <a:r>
              <a:rPr lang="en-US" altLang="ko-KR" sz="11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10% </a:t>
            </a:r>
            <a:r>
              <a:rPr lang="ko-KR" altLang="en-US" sz="11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할인 </a:t>
            </a:r>
            <a:r>
              <a:rPr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</a:t>
            </a:r>
            <a:endParaRPr lang="en-US" altLang="ko-KR" sz="11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정식분양기에서 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10%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할인된 가격으로 계약 가능</a:t>
            </a:r>
            <a:endParaRPr lang="ko-KR" altLang="en-US" sz="9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13094A5-4810-EF1E-E436-BA727D586E86}"/>
              </a:ext>
            </a:extLst>
          </p:cNvPr>
          <p:cNvSpPr txBox="1"/>
          <p:nvPr/>
        </p:nvSpPr>
        <p:spPr>
          <a:xfrm>
            <a:off x="5252605" y="1871765"/>
            <a:ext cx="30262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일반 봉안실  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500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만원 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 450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만원 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(50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만원 할인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)</a:t>
            </a:r>
          </a:p>
          <a:p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가족 봉안실  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1,000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만원 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 900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만원 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(100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만원 할인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)</a:t>
            </a:r>
          </a:p>
          <a:p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개인 수목장 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 400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만원 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 360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만원 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(40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만원 할인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)</a:t>
            </a:r>
          </a:p>
          <a:p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프리미엄  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 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1,500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만원 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 1,350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만원 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(150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만원 할인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)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3B7306F-0317-0F15-4B77-BA2EC445C7E3}"/>
              </a:ext>
            </a:extLst>
          </p:cNvPr>
          <p:cNvSpPr txBox="1"/>
          <p:nvPr/>
        </p:nvSpPr>
        <p:spPr>
          <a:xfrm>
            <a:off x="5252605" y="2607185"/>
            <a:ext cx="14708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혜택 </a:t>
            </a:r>
            <a:r>
              <a:rPr lang="en-US" altLang="ko-KR" sz="11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endParaRPr lang="ko-KR" altLang="en-US" sz="11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C434833-77CE-15D4-20FC-12060D001A39}"/>
              </a:ext>
            </a:extLst>
          </p:cNvPr>
          <p:cNvSpPr txBox="1"/>
          <p:nvPr/>
        </p:nvSpPr>
        <p:spPr>
          <a:xfrm>
            <a:off x="5261570" y="2870145"/>
            <a:ext cx="266323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원하는 위치를 먼저 선택할 수 있습니다</a:t>
            </a:r>
            <a:r>
              <a:rPr lang="en-US" altLang="ko-KR" sz="11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11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3E01A02-0978-30EA-22A4-FE0B516CB2D7}"/>
              </a:ext>
            </a:extLst>
          </p:cNvPr>
          <p:cNvSpPr txBox="1"/>
          <p:nvPr/>
        </p:nvSpPr>
        <p:spPr>
          <a:xfrm>
            <a:off x="5252605" y="3141816"/>
            <a:ext cx="3026264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우선 선택 가능 위치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</a:t>
            </a:r>
          </a:p>
          <a:p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봉안당 중단 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(4~6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단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가장 선호되는 높이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  <a:p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봉안당 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2~3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층 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밝고 쾌적한 층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  <a:p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프리미엄 </a:t>
            </a:r>
            <a:r>
              <a:rPr lang="ko-KR" altLang="en-US" sz="9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스카이뷰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전망대 인접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  <a:p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수목장 전망 좋은 구역</a:t>
            </a:r>
          </a:p>
          <a:p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산책로 인접 수목장</a:t>
            </a:r>
          </a:p>
          <a:p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남향 또는 동향 위치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2227176-75CF-8524-2726-6CC4F15F3327}"/>
              </a:ext>
            </a:extLst>
          </p:cNvPr>
          <p:cNvSpPr txBox="1"/>
          <p:nvPr/>
        </p:nvSpPr>
        <p:spPr>
          <a:xfrm>
            <a:off x="5261570" y="4339905"/>
            <a:ext cx="14708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혜택 </a:t>
            </a:r>
            <a:r>
              <a:rPr lang="en-US" altLang="ko-KR" sz="11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endParaRPr lang="ko-KR" altLang="en-US" sz="11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B9EC768-CC03-A447-BBCD-50F72F676156}"/>
              </a:ext>
            </a:extLst>
          </p:cNvPr>
          <p:cNvSpPr txBox="1"/>
          <p:nvPr/>
        </p:nvSpPr>
        <p:spPr>
          <a:xfrm>
            <a:off x="5270535" y="4602865"/>
            <a:ext cx="266323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5</a:t>
            </a:r>
            <a:r>
              <a:rPr lang="ko-KR" altLang="en-US" sz="11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년간 추가 관리비 면제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2818D1D-C5D2-2CB6-D73A-8CC4E9B1C031}"/>
              </a:ext>
            </a:extLst>
          </p:cNvPr>
          <p:cNvSpPr txBox="1"/>
          <p:nvPr/>
        </p:nvSpPr>
        <p:spPr>
          <a:xfrm>
            <a:off x="5261570" y="4874536"/>
            <a:ext cx="3026264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포함 서비스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</a:t>
            </a:r>
          </a:p>
          <a:p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정기 청소 및 관리</a:t>
            </a:r>
          </a:p>
          <a:p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명절 특별 관리</a:t>
            </a:r>
          </a:p>
          <a:p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시설 유지보수</a:t>
            </a:r>
          </a:p>
          <a:p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조경 및 제초 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수목장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  <a:p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병충해 방제 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수목장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  <a:p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✓ 24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시간 보안</a:t>
            </a: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CE89B6B9-B39D-9F7C-6A01-13607048AFAA}"/>
              </a:ext>
            </a:extLst>
          </p:cNvPr>
          <p:cNvSpPr/>
          <p:nvPr/>
        </p:nvSpPr>
        <p:spPr>
          <a:xfrm>
            <a:off x="5139365" y="5909524"/>
            <a:ext cx="3168137" cy="264669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Footer</a:t>
            </a:r>
            <a:endParaRPr lang="ko-KR" altLang="en-US" sz="10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1B708B-9E26-D4C6-9543-ED46248528DC}"/>
              </a:ext>
            </a:extLst>
          </p:cNvPr>
          <p:cNvSpPr txBox="1"/>
          <p:nvPr/>
        </p:nvSpPr>
        <p:spPr>
          <a:xfrm rot="19509111">
            <a:off x="8704729" y="3250453"/>
            <a:ext cx="279558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하늘누리 분양안내 </a:t>
            </a:r>
            <a:r>
              <a:rPr lang="ko-KR" altLang="en-US" sz="2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확인 </a:t>
            </a:r>
            <a:r>
              <a:rPr lang="ko-KR" altLang="en-US" sz="2000" b="1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후 수정 </a:t>
            </a:r>
            <a:r>
              <a:rPr lang="ko-KR" altLang="en-US" sz="2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필요 </a:t>
            </a:r>
          </a:p>
        </p:txBody>
      </p:sp>
    </p:spTree>
    <p:extLst>
      <p:ext uri="{BB962C8B-B14F-4D97-AF65-F5344CB8AC3E}">
        <p14:creationId xmlns:p14="http://schemas.microsoft.com/office/powerpoint/2010/main" val="3311218714"/>
      </p:ext>
    </p:extLst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2E7473-356D-69FD-B81A-9768E7C214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A7AEC48-5062-7201-E0B2-669FA7A9D47F}"/>
              </a:ext>
            </a:extLst>
          </p:cNvPr>
          <p:cNvSpPr txBox="1"/>
          <p:nvPr/>
        </p:nvSpPr>
        <p:spPr>
          <a:xfrm>
            <a:off x="1047750" y="2476500"/>
            <a:ext cx="2390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나눔고딕" pitchFamily="2" charset="-127"/>
                <a:ea typeface="나눔고딕" pitchFamily="2" charset="-127"/>
              </a:rPr>
              <a:t>06. </a:t>
            </a:r>
            <a:r>
              <a:rPr lang="ko-KR" altLang="en-US" b="1" dirty="0">
                <a:latin typeface="나눔고딕" pitchFamily="2" charset="-127"/>
                <a:ea typeface="나눔고딕" pitchFamily="2" charset="-127"/>
              </a:rPr>
              <a:t>사이버 추모관</a:t>
            </a:r>
          </a:p>
        </p:txBody>
      </p:sp>
    </p:spTree>
    <p:extLst>
      <p:ext uri="{BB962C8B-B14F-4D97-AF65-F5344CB8AC3E}">
        <p14:creationId xmlns:p14="http://schemas.microsoft.com/office/powerpoint/2010/main" val="76612983"/>
      </p:ext>
    </p:extLst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F8D542-AFAC-AD0C-0F16-2CBE61A47A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67EF8B5F-34E9-9671-547A-69638FBB0A94}"/>
              </a:ext>
            </a:extLst>
          </p:cNvPr>
          <p:cNvGraphicFramePr>
            <a:graphicFrameLocks noGrp="1"/>
          </p:cNvGraphicFramePr>
          <p:nvPr/>
        </p:nvGraphicFramePr>
        <p:xfrm>
          <a:off x="9182101" y="947377"/>
          <a:ext cx="2795588" cy="20911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1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고인명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입력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684046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검색 선택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정합성 체크 후 검색 결과 화면으로 이동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입력하지 않고 검색 선택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Alert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노출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“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고인명을 입력해주세요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.”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723838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3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172599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4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290794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5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922450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6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784800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7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0538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8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199337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9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450365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BFA2E54B-1D48-D442-B23A-CBCC04603BCA}"/>
              </a:ext>
            </a:extLst>
          </p:cNvPr>
          <p:cNvSpPr/>
          <p:nvPr/>
        </p:nvSpPr>
        <p:spPr>
          <a:xfrm>
            <a:off x="959895" y="375614"/>
            <a:ext cx="1566454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</a:pP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메인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사이버추모관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고인검색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C7BD34A-0E17-8A0D-26D1-A06314125147}"/>
              </a:ext>
            </a:extLst>
          </p:cNvPr>
          <p:cNvSpPr txBox="1"/>
          <p:nvPr/>
        </p:nvSpPr>
        <p:spPr>
          <a:xfrm>
            <a:off x="6003996" y="123825"/>
            <a:ext cx="17303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HN_Memorial_Deadsearch_001</a:t>
            </a:r>
            <a:endParaRPr lang="ko-KR" altLang="en-US" sz="800" dirty="0"/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D93F49EC-EBB9-9D51-C965-797D640AED51}"/>
              </a:ext>
            </a:extLst>
          </p:cNvPr>
          <p:cNvCxnSpPr>
            <a:cxnSpLocks/>
          </p:cNvCxnSpPr>
          <p:nvPr/>
        </p:nvCxnSpPr>
        <p:spPr>
          <a:xfrm>
            <a:off x="655957" y="1658468"/>
            <a:ext cx="3109526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CD587295-0446-25DD-7149-9B66ADC5E344}"/>
              </a:ext>
            </a:extLst>
          </p:cNvPr>
          <p:cNvSpPr txBox="1"/>
          <p:nvPr/>
        </p:nvSpPr>
        <p:spPr>
          <a:xfrm>
            <a:off x="1793778" y="1181491"/>
            <a:ext cx="83388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하늘누리</a:t>
            </a:r>
            <a:endParaRPr lang="en-US" altLang="ko-KR" sz="11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en-US" altLang="ko-KR" sz="11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CI</a:t>
            </a:r>
            <a:endParaRPr lang="ko-KR" altLang="en-US" sz="11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22" name="그림 21" descr="블랙, 어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6B16DA6-DCF4-A993-77BD-F5985F638696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2985" y="1191723"/>
            <a:ext cx="383533" cy="383533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B939A7DA-1429-B6BD-32A1-1F129D4DA6E4}"/>
              </a:ext>
            </a:extLst>
          </p:cNvPr>
          <p:cNvSpPr txBox="1"/>
          <p:nvPr/>
        </p:nvSpPr>
        <p:spPr>
          <a:xfrm>
            <a:off x="2826086" y="1293697"/>
            <a:ext cx="57184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" panose="020D0604000000000000" pitchFamily="50" charset="-127"/>
                <a:ea typeface="나눔고딕" panose="020D0604000000000000" pitchFamily="50" charset="-127"/>
              </a:rPr>
              <a:t>르그아웃</a:t>
            </a:r>
          </a:p>
        </p:txBody>
      </p:sp>
      <p:pic>
        <p:nvPicPr>
          <p:cNvPr id="24" name="Picture 4" descr="로그 아웃 아이콘">
            <a:extLst>
              <a:ext uri="{FF2B5EF4-FFF2-40B4-BE49-F238E27FC236}">
                <a16:creationId xmlns:a16="http://schemas.microsoft.com/office/drawing/2014/main" id="{69ECF81E-3897-2016-1C00-0FAC59792F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9631" y="1283929"/>
            <a:ext cx="217049" cy="217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9B20937B-0E4E-F1A2-90FF-D123FC06C178}"/>
              </a:ext>
            </a:extLst>
          </p:cNvPr>
          <p:cNvSpPr txBox="1"/>
          <p:nvPr/>
        </p:nvSpPr>
        <p:spPr>
          <a:xfrm>
            <a:off x="1343128" y="1807796"/>
            <a:ext cx="17351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고인 검색</a:t>
            </a:r>
            <a:endParaRPr lang="en-US" altLang="ko-KR" sz="1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0E94CB1-31FC-1408-8288-FBE40C28E13A}"/>
              </a:ext>
            </a:extLst>
          </p:cNvPr>
          <p:cNvSpPr txBox="1"/>
          <p:nvPr/>
        </p:nvSpPr>
        <p:spPr>
          <a:xfrm>
            <a:off x="794294" y="2194931"/>
            <a:ext cx="283284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"</a:t>
            </a:r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마음으로 부르는 이름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다시 만나는 그곳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“ </a:t>
            </a:r>
          </a:p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하늘누리 사이버 추모관에 모셔진 고인을 성함으로 검색하실 수 있습니다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2C69F81E-8EEA-71A1-C6B9-82B8014D7577}"/>
              </a:ext>
            </a:extLst>
          </p:cNvPr>
          <p:cNvSpPr/>
          <p:nvPr/>
        </p:nvSpPr>
        <p:spPr>
          <a:xfrm>
            <a:off x="762963" y="3039952"/>
            <a:ext cx="2971184" cy="13716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07F3400-3C0B-5B9A-A3D7-D49D45D09809}"/>
              </a:ext>
            </a:extLst>
          </p:cNvPr>
          <p:cNvSpPr txBox="1"/>
          <p:nvPr/>
        </p:nvSpPr>
        <p:spPr>
          <a:xfrm>
            <a:off x="959895" y="3162162"/>
            <a:ext cx="119230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고인 검색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9FEF87D9-A817-5F61-3FD8-9AD71D21751D}"/>
              </a:ext>
            </a:extLst>
          </p:cNvPr>
          <p:cNvSpPr/>
          <p:nvPr/>
        </p:nvSpPr>
        <p:spPr>
          <a:xfrm>
            <a:off x="1242356" y="3488689"/>
            <a:ext cx="2145006" cy="31242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6" name="모서리가 둥근 직사각형 63">
            <a:extLst>
              <a:ext uri="{FF2B5EF4-FFF2-40B4-BE49-F238E27FC236}">
                <a16:creationId xmlns:a16="http://schemas.microsoft.com/office/drawing/2014/main" id="{867418BB-28C2-0242-C5FA-31E05E0CD3B7}"/>
              </a:ext>
            </a:extLst>
          </p:cNvPr>
          <p:cNvSpPr/>
          <p:nvPr/>
        </p:nvSpPr>
        <p:spPr bwMode="auto">
          <a:xfrm>
            <a:off x="1242355" y="3934967"/>
            <a:ext cx="2130629" cy="312417"/>
          </a:xfrm>
          <a:prstGeom prst="roundRect">
            <a:avLst/>
          </a:prstGeom>
          <a:solidFill>
            <a:schemeClr val="tx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400" b="1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검색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3B58C29-597D-65BD-1A2C-0B175E6D8BF0}"/>
              </a:ext>
            </a:extLst>
          </p:cNvPr>
          <p:cNvSpPr txBox="1"/>
          <p:nvPr/>
        </p:nvSpPr>
        <p:spPr>
          <a:xfrm>
            <a:off x="939890" y="3498416"/>
            <a:ext cx="34291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故</a:t>
            </a:r>
          </a:p>
        </p:txBody>
      </p:sp>
      <p:sp>
        <p:nvSpPr>
          <p:cNvPr id="38" name="Oval 109">
            <a:extLst>
              <a:ext uri="{FF2B5EF4-FFF2-40B4-BE49-F238E27FC236}">
                <a16:creationId xmlns:a16="http://schemas.microsoft.com/office/drawing/2014/main" id="{F2238CCF-CAA5-51E5-0EEF-A618FB9722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5956" y="3330398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1</a:t>
            </a:r>
          </a:p>
        </p:txBody>
      </p:sp>
      <p:sp>
        <p:nvSpPr>
          <p:cNvPr id="39" name="Oval 109">
            <a:extLst>
              <a:ext uri="{FF2B5EF4-FFF2-40B4-BE49-F238E27FC236}">
                <a16:creationId xmlns:a16="http://schemas.microsoft.com/office/drawing/2014/main" id="{96FD885E-B1BC-F279-8780-4B6FFA85EC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7494" y="3834830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2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E01D866B-AB30-8E16-1D83-41D4D967C81F}"/>
              </a:ext>
            </a:extLst>
          </p:cNvPr>
          <p:cNvSpPr/>
          <p:nvPr/>
        </p:nvSpPr>
        <p:spPr>
          <a:xfrm>
            <a:off x="664486" y="5909524"/>
            <a:ext cx="3168137" cy="264669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Footer</a:t>
            </a:r>
            <a:endParaRPr lang="ko-KR" altLang="en-US" sz="10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89762912"/>
      </p:ext>
    </p:extLst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0D8A46-5159-99A1-8E83-83FCC6D860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F7B09E05-24BB-F4CC-6EDD-67DF77AF1A69}"/>
              </a:ext>
            </a:extLst>
          </p:cNvPr>
          <p:cNvGraphicFramePr>
            <a:graphicFrameLocks noGrp="1"/>
          </p:cNvGraphicFramePr>
          <p:nvPr/>
        </p:nvGraphicFramePr>
        <p:xfrm>
          <a:off x="9182101" y="947377"/>
          <a:ext cx="2795588" cy="257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1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검색한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고인명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노출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684046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고인명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다시 입력 후 검색 선택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고임검색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결과화면 노출</a:t>
                      </a: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723838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3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선택시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로그인 여부 체크 후 로그인 안된 상태에서는 로그인 화면으로 이동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.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로그인 된 상태에서는 하늘편지 쓰기 화면으로 이동</a:t>
                      </a: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172599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4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선택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슬라이딩 되며 고인 안치정보 노출</a:t>
                      </a: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290794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5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목록은 한화면에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10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개까지 노출되며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10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개 이상이면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더보기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버튼 노출</a:t>
                      </a: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922450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6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더보기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선택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추가 목록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10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개가 목록하단에 노출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더보기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버튼은 목록수가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10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개 이하일 때는 노출되지 않음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784800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7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0538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8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199337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9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450365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71767298-6F5D-1434-A1D7-CB26766BA497}"/>
              </a:ext>
            </a:extLst>
          </p:cNvPr>
          <p:cNvSpPr/>
          <p:nvPr/>
        </p:nvSpPr>
        <p:spPr>
          <a:xfrm>
            <a:off x="959895" y="375614"/>
            <a:ext cx="1566454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</a:pP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메인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사이버추모관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고인검색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46380AE-1A02-DF3B-C49A-365BAD31EE08}"/>
              </a:ext>
            </a:extLst>
          </p:cNvPr>
          <p:cNvSpPr txBox="1"/>
          <p:nvPr/>
        </p:nvSpPr>
        <p:spPr>
          <a:xfrm>
            <a:off x="6003996" y="123825"/>
            <a:ext cx="17303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HN_Memorial_Deadresult_001</a:t>
            </a:r>
            <a:endParaRPr lang="ko-KR" altLang="en-US" sz="800" dirty="0"/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39D904B3-18F5-D388-4156-41EBF40F9A6E}"/>
              </a:ext>
            </a:extLst>
          </p:cNvPr>
          <p:cNvCxnSpPr>
            <a:cxnSpLocks/>
          </p:cNvCxnSpPr>
          <p:nvPr/>
        </p:nvCxnSpPr>
        <p:spPr>
          <a:xfrm>
            <a:off x="655957" y="1658468"/>
            <a:ext cx="3109526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65233479-3C11-ED6A-4DB0-27D1F6E51F7D}"/>
              </a:ext>
            </a:extLst>
          </p:cNvPr>
          <p:cNvSpPr txBox="1"/>
          <p:nvPr/>
        </p:nvSpPr>
        <p:spPr>
          <a:xfrm>
            <a:off x="1793778" y="1181491"/>
            <a:ext cx="83388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하늘누리</a:t>
            </a:r>
            <a:endParaRPr lang="en-US" altLang="ko-KR" sz="11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en-US" altLang="ko-KR" sz="11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CI</a:t>
            </a:r>
            <a:endParaRPr lang="ko-KR" altLang="en-US" sz="11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20" name="그림 19" descr="블랙, 어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9C163AA-8FEB-B298-4704-847E756A02F9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2985" y="1191723"/>
            <a:ext cx="383533" cy="383533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7C90F300-9F0A-4C93-1FDF-632CD9CC639C}"/>
              </a:ext>
            </a:extLst>
          </p:cNvPr>
          <p:cNvSpPr txBox="1"/>
          <p:nvPr/>
        </p:nvSpPr>
        <p:spPr>
          <a:xfrm>
            <a:off x="2826086" y="1293697"/>
            <a:ext cx="57184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" panose="020D0604000000000000" pitchFamily="50" charset="-127"/>
                <a:ea typeface="나눔고딕" panose="020D0604000000000000" pitchFamily="50" charset="-127"/>
              </a:rPr>
              <a:t>르그아웃</a:t>
            </a:r>
          </a:p>
        </p:txBody>
      </p:sp>
      <p:pic>
        <p:nvPicPr>
          <p:cNvPr id="22" name="Picture 4" descr="로그 아웃 아이콘">
            <a:extLst>
              <a:ext uri="{FF2B5EF4-FFF2-40B4-BE49-F238E27FC236}">
                <a16:creationId xmlns:a16="http://schemas.microsoft.com/office/drawing/2014/main" id="{F9364C16-D577-A925-A0A3-DF8FF65CA7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9631" y="1283929"/>
            <a:ext cx="217049" cy="217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FEDEA17E-AAC6-DC5B-2843-0D4BCCC3D423}"/>
              </a:ext>
            </a:extLst>
          </p:cNvPr>
          <p:cNvSpPr txBox="1"/>
          <p:nvPr/>
        </p:nvSpPr>
        <p:spPr>
          <a:xfrm>
            <a:off x="1343128" y="1807796"/>
            <a:ext cx="17351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고인 검색</a:t>
            </a:r>
            <a:endParaRPr lang="en-US" altLang="ko-KR" sz="1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E9C8889-EB67-6E26-3AB9-1C4351DC21FD}"/>
              </a:ext>
            </a:extLst>
          </p:cNvPr>
          <p:cNvSpPr txBox="1"/>
          <p:nvPr/>
        </p:nvSpPr>
        <p:spPr>
          <a:xfrm>
            <a:off x="794294" y="2194931"/>
            <a:ext cx="283284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"</a:t>
            </a:r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마음으로 부르는 이름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다시 만나는 그곳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“ </a:t>
            </a:r>
          </a:p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하늘누리 사이버 추모관에 모셔진 고인을 성함으로 검색하실 수 있습니다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38" name="표 37">
            <a:extLst>
              <a:ext uri="{FF2B5EF4-FFF2-40B4-BE49-F238E27FC236}">
                <a16:creationId xmlns:a16="http://schemas.microsoft.com/office/drawing/2014/main" id="{BE3FA315-EA70-07D4-B0AB-768CDA814A7F}"/>
              </a:ext>
            </a:extLst>
          </p:cNvPr>
          <p:cNvGraphicFramePr>
            <a:graphicFrameLocks noGrp="1"/>
          </p:cNvGraphicFramePr>
          <p:nvPr/>
        </p:nvGraphicFramePr>
        <p:xfrm>
          <a:off x="794294" y="3734382"/>
          <a:ext cx="2962225" cy="897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1514">
                  <a:extLst>
                    <a:ext uri="{9D8B030D-6E8A-4147-A177-3AD203B41FA5}">
                      <a16:colId xmlns:a16="http://schemas.microsoft.com/office/drawing/2014/main" val="1469299564"/>
                    </a:ext>
                  </a:extLst>
                </a:gridCol>
                <a:gridCol w="1494524">
                  <a:extLst>
                    <a:ext uri="{9D8B030D-6E8A-4147-A177-3AD203B41FA5}">
                      <a16:colId xmlns:a16="http://schemas.microsoft.com/office/drawing/2014/main" val="1966851842"/>
                    </a:ext>
                  </a:extLst>
                </a:gridCol>
                <a:gridCol w="486187">
                  <a:extLst>
                    <a:ext uri="{9D8B030D-6E8A-4147-A177-3AD203B41FA5}">
                      <a16:colId xmlns:a16="http://schemas.microsoft.com/office/drawing/2014/main" val="148862190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고인 성함</a:t>
                      </a:r>
                    </a:p>
                  </a:txBody>
                  <a:tcPr marL="0" marR="0" marT="41672" marB="4167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1000" b="1" dirty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기일</a:t>
                      </a:r>
                    </a:p>
                  </a:txBody>
                  <a:tcPr marL="0" marR="0" marT="41672" marB="4167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endParaRPr lang="ko-KR" altLang="en-US" sz="1000" b="1" dirty="0">
                        <a:solidFill>
                          <a:schemeClr val="bg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41672" marB="4167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446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latin typeface="나눔고딕" pitchFamily="50" charset="-127"/>
                          <a:ea typeface="나눔고딕" pitchFamily="50" charset="-127"/>
                        </a:rPr>
                        <a:t>故 홍길동</a:t>
                      </a:r>
                    </a:p>
                  </a:txBody>
                  <a:tcPr marL="3600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2021-12-24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0" marR="0" marT="41672" marB="41672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▿</a:t>
                      </a:r>
                    </a:p>
                  </a:txBody>
                  <a:tcPr marL="0" marR="0" marT="41672" marB="41672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446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latin typeface="나눔고딕" pitchFamily="50" charset="-127"/>
                          <a:ea typeface="나눔고딕" pitchFamily="50" charset="-127"/>
                        </a:rPr>
                        <a:t>故 홍길동</a:t>
                      </a:r>
                    </a:p>
                  </a:txBody>
                  <a:tcPr marL="3600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2022-11-24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0" marR="0" marT="41672" marB="41672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▿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0" marR="0" marT="41672" marB="41672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446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latin typeface="나눔고딕" pitchFamily="50" charset="-127"/>
                          <a:ea typeface="나눔고딕" pitchFamily="50" charset="-127"/>
                        </a:rPr>
                        <a:t>故 홍길동</a:t>
                      </a:r>
                    </a:p>
                  </a:txBody>
                  <a:tcPr marL="3600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1026-01-24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0" marR="0" marT="41672" marB="41672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▿</a:t>
                      </a:r>
                    </a:p>
                  </a:txBody>
                  <a:tcPr marL="0" marR="0" marT="41672" marB="41672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39" name="표 38">
            <a:extLst>
              <a:ext uri="{FF2B5EF4-FFF2-40B4-BE49-F238E27FC236}">
                <a16:creationId xmlns:a16="http://schemas.microsoft.com/office/drawing/2014/main" id="{63E44245-53C3-BC9A-1BC3-7D875722A068}"/>
              </a:ext>
            </a:extLst>
          </p:cNvPr>
          <p:cNvGraphicFramePr>
            <a:graphicFrameLocks noGrp="1"/>
          </p:cNvGraphicFramePr>
          <p:nvPr/>
        </p:nvGraphicFramePr>
        <p:xfrm>
          <a:off x="803258" y="4979028"/>
          <a:ext cx="2962225" cy="220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1514">
                  <a:extLst>
                    <a:ext uri="{9D8B030D-6E8A-4147-A177-3AD203B41FA5}">
                      <a16:colId xmlns:a16="http://schemas.microsoft.com/office/drawing/2014/main" val="313675558"/>
                    </a:ext>
                  </a:extLst>
                </a:gridCol>
                <a:gridCol w="1494524">
                  <a:extLst>
                    <a:ext uri="{9D8B030D-6E8A-4147-A177-3AD203B41FA5}">
                      <a16:colId xmlns:a16="http://schemas.microsoft.com/office/drawing/2014/main" val="4222684852"/>
                    </a:ext>
                  </a:extLst>
                </a:gridCol>
                <a:gridCol w="486187">
                  <a:extLst>
                    <a:ext uri="{9D8B030D-6E8A-4147-A177-3AD203B41FA5}">
                      <a16:colId xmlns:a16="http://schemas.microsoft.com/office/drawing/2014/main" val="3681488013"/>
                    </a:ext>
                  </a:extLst>
                </a:gridCol>
              </a:tblGrid>
              <a:tr h="19446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latin typeface="나눔고딕" pitchFamily="50" charset="-127"/>
                          <a:ea typeface="나눔고딕" pitchFamily="50" charset="-127"/>
                        </a:rPr>
                        <a:t>故 홍길동</a:t>
                      </a:r>
                    </a:p>
                  </a:txBody>
                  <a:tcPr marL="3600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1026-01-24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0" marR="0" marT="41672" marB="41672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▿</a:t>
                      </a:r>
                    </a:p>
                  </a:txBody>
                  <a:tcPr marL="0" marR="0" marT="41672" marB="41672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405702"/>
                  </a:ext>
                </a:extLst>
              </a:tr>
            </a:tbl>
          </a:graphicData>
        </a:graphic>
      </p:graphicFrame>
      <p:sp>
        <p:nvSpPr>
          <p:cNvPr id="40" name="TextBox 39">
            <a:extLst>
              <a:ext uri="{FF2B5EF4-FFF2-40B4-BE49-F238E27FC236}">
                <a16:creationId xmlns:a16="http://schemas.microsoft.com/office/drawing/2014/main" id="{ACF0ABEE-330A-68DF-5CBB-BEA43A0ECB17}"/>
              </a:ext>
            </a:extLst>
          </p:cNvPr>
          <p:cNvSpPr txBox="1"/>
          <p:nvPr/>
        </p:nvSpPr>
        <p:spPr>
          <a:xfrm>
            <a:off x="2034505" y="4563605"/>
            <a:ext cx="9836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....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1" name="모서리가 둥근 직사각형 63">
            <a:extLst>
              <a:ext uri="{FF2B5EF4-FFF2-40B4-BE49-F238E27FC236}">
                <a16:creationId xmlns:a16="http://schemas.microsoft.com/office/drawing/2014/main" id="{65027DD2-C4ED-3006-9749-F6B2ACDBC0CA}"/>
              </a:ext>
            </a:extLst>
          </p:cNvPr>
          <p:cNvSpPr/>
          <p:nvPr/>
        </p:nvSpPr>
        <p:spPr bwMode="auto">
          <a:xfrm>
            <a:off x="763072" y="5353855"/>
            <a:ext cx="3002412" cy="312422"/>
          </a:xfrm>
          <a:prstGeom prst="roundRect">
            <a:avLst/>
          </a:prstGeom>
          <a:solidFill>
            <a:schemeClr val="tx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000" b="1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더보기</a:t>
            </a:r>
            <a:endParaRPr kumimoji="1" lang="ko-KR" altLang="en-US" sz="1000" b="1" dirty="0">
              <a:ln w="0" cmpd="sng">
                <a:solidFill>
                  <a:schemeClr val="tx2">
                    <a:satMod val="155000"/>
                    <a:alpha val="0"/>
                  </a:schemeClr>
                </a:solidFill>
                <a:prstDash val="solid"/>
                <a:round/>
              </a:ln>
              <a:solidFill>
                <a:schemeClr val="bg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4051772-1DF8-FB4A-483E-AFA64BABBBAF}"/>
              </a:ext>
            </a:extLst>
          </p:cNvPr>
          <p:cNvSpPr txBox="1"/>
          <p:nvPr/>
        </p:nvSpPr>
        <p:spPr>
          <a:xfrm>
            <a:off x="803258" y="3429000"/>
            <a:ext cx="148274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>
                <a:latin typeface="나눔고딕" panose="020D0604000000000000" pitchFamily="50" charset="-127"/>
                <a:ea typeface="나눔고딕" panose="020D0604000000000000" pitchFamily="50" charset="-127"/>
              </a:rPr>
              <a:t>고인검색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DA225F83-D9F5-139D-0260-7C8609E705F2}"/>
              </a:ext>
            </a:extLst>
          </p:cNvPr>
          <p:cNvSpPr/>
          <p:nvPr/>
        </p:nvSpPr>
        <p:spPr>
          <a:xfrm>
            <a:off x="1685394" y="3411000"/>
            <a:ext cx="1231286" cy="24622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9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홍길동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1214BC4-1A36-C1BC-0481-7F354190B335}"/>
              </a:ext>
            </a:extLst>
          </p:cNvPr>
          <p:cNvSpPr txBox="1"/>
          <p:nvPr/>
        </p:nvSpPr>
        <p:spPr>
          <a:xfrm>
            <a:off x="1412110" y="3410998"/>
            <a:ext cx="34291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故</a:t>
            </a:r>
          </a:p>
        </p:txBody>
      </p:sp>
      <p:sp>
        <p:nvSpPr>
          <p:cNvPr id="46" name="모서리가 둥근 직사각형 63">
            <a:extLst>
              <a:ext uri="{FF2B5EF4-FFF2-40B4-BE49-F238E27FC236}">
                <a16:creationId xmlns:a16="http://schemas.microsoft.com/office/drawing/2014/main" id="{DDA84473-7180-2FC4-E302-D4DEEFC25911}"/>
              </a:ext>
            </a:extLst>
          </p:cNvPr>
          <p:cNvSpPr/>
          <p:nvPr/>
        </p:nvSpPr>
        <p:spPr bwMode="auto">
          <a:xfrm>
            <a:off x="2978245" y="3410619"/>
            <a:ext cx="648896" cy="253737"/>
          </a:xfrm>
          <a:prstGeom prst="roundRect">
            <a:avLst/>
          </a:prstGeom>
          <a:solidFill>
            <a:schemeClr val="tx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000" b="1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검색</a:t>
            </a:r>
          </a:p>
        </p:txBody>
      </p:sp>
      <p:sp>
        <p:nvSpPr>
          <p:cNvPr id="47" name="모서리가 둥근 직사각형 63">
            <a:extLst>
              <a:ext uri="{FF2B5EF4-FFF2-40B4-BE49-F238E27FC236}">
                <a16:creationId xmlns:a16="http://schemas.microsoft.com/office/drawing/2014/main" id="{3B75C48B-8760-F389-C5A2-D6B9405C7A1B}"/>
              </a:ext>
            </a:extLst>
          </p:cNvPr>
          <p:cNvSpPr/>
          <p:nvPr/>
        </p:nvSpPr>
        <p:spPr bwMode="auto">
          <a:xfrm>
            <a:off x="2462104" y="2868567"/>
            <a:ext cx="1232410" cy="246220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900" b="1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하늘편지 쓰러가기</a:t>
            </a:r>
          </a:p>
        </p:txBody>
      </p:sp>
      <p:sp>
        <p:nvSpPr>
          <p:cNvPr id="57" name="Oval 109">
            <a:extLst>
              <a:ext uri="{FF2B5EF4-FFF2-40B4-BE49-F238E27FC236}">
                <a16:creationId xmlns:a16="http://schemas.microsoft.com/office/drawing/2014/main" id="{C8D55068-76BC-28EC-6D27-2694B6C889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56722" y="3256200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1</a:t>
            </a:r>
          </a:p>
        </p:txBody>
      </p:sp>
      <p:sp>
        <p:nvSpPr>
          <p:cNvPr id="58" name="Oval 109">
            <a:extLst>
              <a:ext uri="{FF2B5EF4-FFF2-40B4-BE49-F238E27FC236}">
                <a16:creationId xmlns:a16="http://schemas.microsoft.com/office/drawing/2014/main" id="{3B17D3CE-7646-15A9-7268-E4B57F609D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01037" y="2748085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3</a:t>
            </a:r>
          </a:p>
        </p:txBody>
      </p:sp>
      <p:sp>
        <p:nvSpPr>
          <p:cNvPr id="59" name="Oval 109">
            <a:extLst>
              <a:ext uri="{FF2B5EF4-FFF2-40B4-BE49-F238E27FC236}">
                <a16:creationId xmlns:a16="http://schemas.microsoft.com/office/drawing/2014/main" id="{17ECF009-4D0C-B1F0-5E57-7D45E2F4FB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63115" y="3270048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2</a:t>
            </a:r>
          </a:p>
        </p:txBody>
      </p:sp>
      <p:sp>
        <p:nvSpPr>
          <p:cNvPr id="60" name="Oval 109">
            <a:extLst>
              <a:ext uri="{FF2B5EF4-FFF2-40B4-BE49-F238E27FC236}">
                <a16:creationId xmlns:a16="http://schemas.microsoft.com/office/drawing/2014/main" id="{81C3C8F1-B1A3-9121-1565-3C96CEA5AE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02693" y="3949603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4</a:t>
            </a:r>
          </a:p>
        </p:txBody>
      </p:sp>
      <p:sp>
        <p:nvSpPr>
          <p:cNvPr id="61" name="Oval 109">
            <a:extLst>
              <a:ext uri="{FF2B5EF4-FFF2-40B4-BE49-F238E27FC236}">
                <a16:creationId xmlns:a16="http://schemas.microsoft.com/office/drawing/2014/main" id="{B9DBD334-2AE3-EFF8-A2BC-93EB8045BD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5562" y="3854808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5</a:t>
            </a:r>
          </a:p>
        </p:txBody>
      </p:sp>
      <p:sp>
        <p:nvSpPr>
          <p:cNvPr id="62" name="Oval 109">
            <a:extLst>
              <a:ext uri="{FF2B5EF4-FFF2-40B4-BE49-F238E27FC236}">
                <a16:creationId xmlns:a16="http://schemas.microsoft.com/office/drawing/2014/main" id="{23536391-7E5C-0E69-D871-DB6FBAC2CD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0458" y="5267455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6</a:t>
            </a: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8FDC7D39-3BB2-6CB8-9899-7066C5733D28}"/>
              </a:ext>
            </a:extLst>
          </p:cNvPr>
          <p:cNvSpPr/>
          <p:nvPr/>
        </p:nvSpPr>
        <p:spPr>
          <a:xfrm>
            <a:off x="664486" y="5909524"/>
            <a:ext cx="3168137" cy="264669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Footer</a:t>
            </a:r>
            <a:endParaRPr lang="ko-KR" altLang="en-US" sz="10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52155725"/>
      </p:ext>
    </p:extLst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A0C75A-8EC2-C6EE-3A1D-A679E70CB1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1684E27F-6B70-C0E7-42F5-3D49F24A9858}"/>
              </a:ext>
            </a:extLst>
          </p:cNvPr>
          <p:cNvGraphicFramePr>
            <a:graphicFrameLocks noGrp="1"/>
          </p:cNvGraphicFramePr>
          <p:nvPr/>
        </p:nvGraphicFramePr>
        <p:xfrm>
          <a:off x="9182101" y="947377"/>
          <a:ext cx="2795588" cy="24569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1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화살표 선택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하단으로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슬라이딩되며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고인 안치정보 노출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안치 정보의 화살표를 선택하면 해당 안치정보 영역이 닫힘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다른 목록을 선택 하면 선택한 목록의 안치정보 영역이 노출되면서 기존 노출된 영역은 자동으로 닫힘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684046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723838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3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172599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4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290794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5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922450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6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784800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7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0538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8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199337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9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450365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3A0B5528-030C-9650-424C-0164A7CA27EC}"/>
              </a:ext>
            </a:extLst>
          </p:cNvPr>
          <p:cNvSpPr/>
          <p:nvPr/>
        </p:nvSpPr>
        <p:spPr>
          <a:xfrm>
            <a:off x="959895" y="375614"/>
            <a:ext cx="2371162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</a:pP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메인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사이버추모관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고인검색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(</a:t>
            </a:r>
            <a:r>
              <a:rPr kumimoji="1" lang="ko-KR" altLang="en-US" sz="800" dirty="0" err="1">
                <a:latin typeface="나눔고딕" pitchFamily="50" charset="-127"/>
                <a:ea typeface="나눔고딕" pitchFamily="50" charset="-127"/>
              </a:rPr>
              <a:t>더보기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 펼친 경우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)</a:t>
            </a:r>
            <a:endParaRPr kumimoji="1" lang="ko-KR" altLang="en-US" sz="800" dirty="0"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2B70584-3953-1584-B912-FD490B44A907}"/>
              </a:ext>
            </a:extLst>
          </p:cNvPr>
          <p:cNvSpPr txBox="1"/>
          <p:nvPr/>
        </p:nvSpPr>
        <p:spPr>
          <a:xfrm>
            <a:off x="6003996" y="123825"/>
            <a:ext cx="17303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HN_Memorial_Deadresult_001</a:t>
            </a:r>
            <a:endParaRPr lang="ko-KR" altLang="en-US" sz="800" dirty="0"/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F86E6839-0BA4-9E69-F3D2-D0FC567C85F0}"/>
              </a:ext>
            </a:extLst>
          </p:cNvPr>
          <p:cNvCxnSpPr>
            <a:cxnSpLocks/>
          </p:cNvCxnSpPr>
          <p:nvPr/>
        </p:nvCxnSpPr>
        <p:spPr>
          <a:xfrm>
            <a:off x="655957" y="1658468"/>
            <a:ext cx="3109526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9DBD8B1E-7E49-50C0-0456-86B7445FBF4A}"/>
              </a:ext>
            </a:extLst>
          </p:cNvPr>
          <p:cNvSpPr txBox="1"/>
          <p:nvPr/>
        </p:nvSpPr>
        <p:spPr>
          <a:xfrm>
            <a:off x="1793778" y="1181491"/>
            <a:ext cx="83388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하늘누리</a:t>
            </a:r>
            <a:endParaRPr lang="en-US" altLang="ko-KR" sz="11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en-US" altLang="ko-KR" sz="11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CI</a:t>
            </a:r>
            <a:endParaRPr lang="ko-KR" altLang="en-US" sz="11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22" name="그림 21" descr="블랙, 어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30953DC-FB25-2EF5-4F14-608A154E02B2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2985" y="1191723"/>
            <a:ext cx="383533" cy="383533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9201C87F-09A1-C20B-30EE-C6BEB491443B}"/>
              </a:ext>
            </a:extLst>
          </p:cNvPr>
          <p:cNvSpPr txBox="1"/>
          <p:nvPr/>
        </p:nvSpPr>
        <p:spPr>
          <a:xfrm>
            <a:off x="2826086" y="1293697"/>
            <a:ext cx="57184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" panose="020D0604000000000000" pitchFamily="50" charset="-127"/>
                <a:ea typeface="나눔고딕" panose="020D0604000000000000" pitchFamily="50" charset="-127"/>
              </a:rPr>
              <a:t>르그아웃</a:t>
            </a:r>
          </a:p>
        </p:txBody>
      </p:sp>
      <p:pic>
        <p:nvPicPr>
          <p:cNvPr id="24" name="Picture 4" descr="로그 아웃 아이콘">
            <a:extLst>
              <a:ext uri="{FF2B5EF4-FFF2-40B4-BE49-F238E27FC236}">
                <a16:creationId xmlns:a16="http://schemas.microsoft.com/office/drawing/2014/main" id="{200236D7-2395-E0DF-51E5-8E28B39ED1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9631" y="1283929"/>
            <a:ext cx="217049" cy="217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7422D11B-2924-3D5B-8092-86383D0BB6E9}"/>
              </a:ext>
            </a:extLst>
          </p:cNvPr>
          <p:cNvSpPr txBox="1"/>
          <p:nvPr/>
        </p:nvSpPr>
        <p:spPr>
          <a:xfrm>
            <a:off x="1343128" y="1807796"/>
            <a:ext cx="17351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고인 검색</a:t>
            </a:r>
            <a:endParaRPr lang="en-US" altLang="ko-KR" sz="1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AF1191B-7C8C-8301-4BB9-497176AB9F75}"/>
              </a:ext>
            </a:extLst>
          </p:cNvPr>
          <p:cNvSpPr txBox="1"/>
          <p:nvPr/>
        </p:nvSpPr>
        <p:spPr>
          <a:xfrm>
            <a:off x="794294" y="2194931"/>
            <a:ext cx="283284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"</a:t>
            </a:r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마음으로 부르는 이름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다시 만나는 그곳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“ </a:t>
            </a:r>
          </a:p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하늘누리 사이버 추모관에 모셔진 고인을 성함으로 검색하실 수 있습니다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28" name="표 27">
            <a:extLst>
              <a:ext uri="{FF2B5EF4-FFF2-40B4-BE49-F238E27FC236}">
                <a16:creationId xmlns:a16="http://schemas.microsoft.com/office/drawing/2014/main" id="{8770B842-BB01-0ED3-7BCE-13EA70C3BEED}"/>
              </a:ext>
            </a:extLst>
          </p:cNvPr>
          <p:cNvGraphicFramePr>
            <a:graphicFrameLocks noGrp="1"/>
          </p:cNvGraphicFramePr>
          <p:nvPr/>
        </p:nvGraphicFramePr>
        <p:xfrm>
          <a:off x="794294" y="3734382"/>
          <a:ext cx="2962225" cy="1034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1514">
                  <a:extLst>
                    <a:ext uri="{9D8B030D-6E8A-4147-A177-3AD203B41FA5}">
                      <a16:colId xmlns:a16="http://schemas.microsoft.com/office/drawing/2014/main" val="1469299564"/>
                    </a:ext>
                  </a:extLst>
                </a:gridCol>
                <a:gridCol w="1494524">
                  <a:extLst>
                    <a:ext uri="{9D8B030D-6E8A-4147-A177-3AD203B41FA5}">
                      <a16:colId xmlns:a16="http://schemas.microsoft.com/office/drawing/2014/main" val="1966851842"/>
                    </a:ext>
                  </a:extLst>
                </a:gridCol>
                <a:gridCol w="486187">
                  <a:extLst>
                    <a:ext uri="{9D8B030D-6E8A-4147-A177-3AD203B41FA5}">
                      <a16:colId xmlns:a16="http://schemas.microsoft.com/office/drawing/2014/main" val="148862190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고인 성함</a:t>
                      </a:r>
                    </a:p>
                  </a:txBody>
                  <a:tcPr marL="0" marR="0" marT="41672" marB="4167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1000" b="1" dirty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기일</a:t>
                      </a:r>
                    </a:p>
                  </a:txBody>
                  <a:tcPr marL="0" marR="0" marT="41672" marB="4167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endParaRPr lang="ko-KR" altLang="en-US" sz="1000" b="1" dirty="0">
                        <a:solidFill>
                          <a:schemeClr val="bg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41672" marB="4167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446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latin typeface="나눔고딕" pitchFamily="50" charset="-127"/>
                          <a:ea typeface="나눔고딕" pitchFamily="50" charset="-127"/>
                        </a:rPr>
                        <a:t>故 홍길동</a:t>
                      </a:r>
                    </a:p>
                  </a:txBody>
                  <a:tcPr marL="3600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2021-12-24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0" marR="0" marT="41672" marB="41672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▿</a:t>
                      </a:r>
                    </a:p>
                  </a:txBody>
                  <a:tcPr marL="0" marR="0" marT="41672" marB="41672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446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900" b="1" dirty="0">
                          <a:latin typeface="나눔고딕" pitchFamily="50" charset="-127"/>
                          <a:ea typeface="나눔고딕" pitchFamily="50" charset="-127"/>
                        </a:rPr>
                        <a:t>하늘누리관 </a:t>
                      </a:r>
                      <a:r>
                        <a:rPr lang="en-US" altLang="ko-KR" sz="900" b="1" dirty="0">
                          <a:latin typeface="나눔고딕" pitchFamily="50" charset="-127"/>
                          <a:ea typeface="나눔고딕" pitchFamily="50" charset="-127"/>
                        </a:rPr>
                        <a:t>OO</a:t>
                      </a:r>
                      <a:r>
                        <a:rPr lang="ko-KR" altLang="en-US" sz="900" b="1" dirty="0">
                          <a:latin typeface="나눔고딕" pitchFamily="50" charset="-127"/>
                          <a:ea typeface="나눔고딕" pitchFamily="50" charset="-127"/>
                        </a:rPr>
                        <a:t>관 </a:t>
                      </a:r>
                      <a:r>
                        <a:rPr lang="en-US" altLang="ko-KR" sz="900" b="1" dirty="0">
                          <a:latin typeface="나눔고딕" pitchFamily="50" charset="-127"/>
                          <a:ea typeface="나눔고딕" pitchFamily="50" charset="-127"/>
                        </a:rPr>
                        <a:t>OO</a:t>
                      </a:r>
                      <a:r>
                        <a:rPr lang="ko-KR" altLang="en-US" sz="900" b="1" dirty="0">
                          <a:latin typeface="나눔고딕" pitchFamily="50" charset="-127"/>
                          <a:ea typeface="나눔고딕" pitchFamily="50" charset="-127"/>
                        </a:rPr>
                        <a:t>열 </a:t>
                      </a:r>
                      <a:r>
                        <a:rPr lang="en-US" altLang="ko-KR" sz="900" b="1" dirty="0">
                          <a:latin typeface="나눔고딕" pitchFamily="50" charset="-127"/>
                          <a:ea typeface="나눔고딕" pitchFamily="50" charset="-127"/>
                        </a:rPr>
                        <a:t>OO 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0" marT="41672" marB="4167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41672" marB="41672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0" marR="0" marT="41672" marB="41672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446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latin typeface="나눔고딕" pitchFamily="50" charset="-127"/>
                          <a:ea typeface="나눔고딕" pitchFamily="50" charset="-127"/>
                        </a:rPr>
                        <a:t>故 홍길동</a:t>
                      </a:r>
                    </a:p>
                  </a:txBody>
                  <a:tcPr marL="3600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1026-01-24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0" marR="0" marT="41672" marB="41672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▿</a:t>
                      </a:r>
                    </a:p>
                  </a:txBody>
                  <a:tcPr marL="0" marR="0" marT="41672" marB="41672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32" name="표 31">
            <a:extLst>
              <a:ext uri="{FF2B5EF4-FFF2-40B4-BE49-F238E27FC236}">
                <a16:creationId xmlns:a16="http://schemas.microsoft.com/office/drawing/2014/main" id="{AD65FA52-862F-B135-2903-93952051EEDE}"/>
              </a:ext>
            </a:extLst>
          </p:cNvPr>
          <p:cNvGraphicFramePr>
            <a:graphicFrameLocks noGrp="1"/>
          </p:cNvGraphicFramePr>
          <p:nvPr/>
        </p:nvGraphicFramePr>
        <p:xfrm>
          <a:off x="803258" y="4979028"/>
          <a:ext cx="2962225" cy="220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1514">
                  <a:extLst>
                    <a:ext uri="{9D8B030D-6E8A-4147-A177-3AD203B41FA5}">
                      <a16:colId xmlns:a16="http://schemas.microsoft.com/office/drawing/2014/main" val="313675558"/>
                    </a:ext>
                  </a:extLst>
                </a:gridCol>
                <a:gridCol w="1494524">
                  <a:extLst>
                    <a:ext uri="{9D8B030D-6E8A-4147-A177-3AD203B41FA5}">
                      <a16:colId xmlns:a16="http://schemas.microsoft.com/office/drawing/2014/main" val="4222684852"/>
                    </a:ext>
                  </a:extLst>
                </a:gridCol>
                <a:gridCol w="486187">
                  <a:extLst>
                    <a:ext uri="{9D8B030D-6E8A-4147-A177-3AD203B41FA5}">
                      <a16:colId xmlns:a16="http://schemas.microsoft.com/office/drawing/2014/main" val="3681488013"/>
                    </a:ext>
                  </a:extLst>
                </a:gridCol>
              </a:tblGrid>
              <a:tr h="19446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latin typeface="나눔고딕" pitchFamily="50" charset="-127"/>
                          <a:ea typeface="나눔고딕" pitchFamily="50" charset="-127"/>
                        </a:rPr>
                        <a:t>故 홍길동</a:t>
                      </a:r>
                    </a:p>
                  </a:txBody>
                  <a:tcPr marL="3600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1026-01-24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0" marR="0" marT="41672" marB="41672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▿</a:t>
                      </a:r>
                    </a:p>
                  </a:txBody>
                  <a:tcPr marL="0" marR="0" marT="41672" marB="41672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405702"/>
                  </a:ext>
                </a:extLst>
              </a:tr>
            </a:tbl>
          </a:graphicData>
        </a:graphic>
      </p:graphicFrame>
      <p:sp>
        <p:nvSpPr>
          <p:cNvPr id="34" name="TextBox 33">
            <a:extLst>
              <a:ext uri="{FF2B5EF4-FFF2-40B4-BE49-F238E27FC236}">
                <a16:creationId xmlns:a16="http://schemas.microsoft.com/office/drawing/2014/main" id="{9A708154-5A84-7F08-0D5D-AFDD0E6DB7D7}"/>
              </a:ext>
            </a:extLst>
          </p:cNvPr>
          <p:cNvSpPr txBox="1"/>
          <p:nvPr/>
        </p:nvSpPr>
        <p:spPr>
          <a:xfrm>
            <a:off x="2034505" y="4563605"/>
            <a:ext cx="9836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....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6" name="모서리가 둥근 직사각형 63">
            <a:extLst>
              <a:ext uri="{FF2B5EF4-FFF2-40B4-BE49-F238E27FC236}">
                <a16:creationId xmlns:a16="http://schemas.microsoft.com/office/drawing/2014/main" id="{7A000601-BE57-F40B-4A6D-16F00E4A93C2}"/>
              </a:ext>
            </a:extLst>
          </p:cNvPr>
          <p:cNvSpPr/>
          <p:nvPr/>
        </p:nvSpPr>
        <p:spPr bwMode="auto">
          <a:xfrm>
            <a:off x="763072" y="5353855"/>
            <a:ext cx="3002412" cy="312422"/>
          </a:xfrm>
          <a:prstGeom prst="roundRect">
            <a:avLst/>
          </a:prstGeom>
          <a:solidFill>
            <a:schemeClr val="tx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000" b="1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더보기</a:t>
            </a:r>
            <a:endParaRPr kumimoji="1" lang="ko-KR" altLang="en-US" sz="1000" b="1" dirty="0">
              <a:ln w="0" cmpd="sng">
                <a:solidFill>
                  <a:schemeClr val="tx2">
                    <a:satMod val="155000"/>
                    <a:alpha val="0"/>
                  </a:schemeClr>
                </a:solidFill>
                <a:prstDash val="solid"/>
                <a:round/>
              </a:ln>
              <a:solidFill>
                <a:schemeClr val="bg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1C8DCB4-4EDE-38AA-33F7-845956779520}"/>
              </a:ext>
            </a:extLst>
          </p:cNvPr>
          <p:cNvSpPr txBox="1"/>
          <p:nvPr/>
        </p:nvSpPr>
        <p:spPr>
          <a:xfrm>
            <a:off x="803258" y="3429000"/>
            <a:ext cx="148274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>
                <a:latin typeface="나눔고딕" panose="020D0604000000000000" pitchFamily="50" charset="-127"/>
                <a:ea typeface="나눔고딕" panose="020D0604000000000000" pitchFamily="50" charset="-127"/>
              </a:rPr>
              <a:t>고인검색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55D79FEC-8C4D-72C1-566B-71E49A193090}"/>
              </a:ext>
            </a:extLst>
          </p:cNvPr>
          <p:cNvSpPr/>
          <p:nvPr/>
        </p:nvSpPr>
        <p:spPr>
          <a:xfrm>
            <a:off x="1685394" y="3411000"/>
            <a:ext cx="1231286" cy="24622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9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홍길동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6E40522-C88A-0EFB-2399-55C5614B52F7}"/>
              </a:ext>
            </a:extLst>
          </p:cNvPr>
          <p:cNvSpPr txBox="1"/>
          <p:nvPr/>
        </p:nvSpPr>
        <p:spPr>
          <a:xfrm>
            <a:off x="1412110" y="3410998"/>
            <a:ext cx="34291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故</a:t>
            </a:r>
          </a:p>
        </p:txBody>
      </p:sp>
      <p:sp>
        <p:nvSpPr>
          <p:cNvPr id="40" name="모서리가 둥근 직사각형 63">
            <a:extLst>
              <a:ext uri="{FF2B5EF4-FFF2-40B4-BE49-F238E27FC236}">
                <a16:creationId xmlns:a16="http://schemas.microsoft.com/office/drawing/2014/main" id="{561D8BAA-92B9-4D45-EDD4-7D99A1FE2023}"/>
              </a:ext>
            </a:extLst>
          </p:cNvPr>
          <p:cNvSpPr/>
          <p:nvPr/>
        </p:nvSpPr>
        <p:spPr bwMode="auto">
          <a:xfrm>
            <a:off x="2978245" y="3410619"/>
            <a:ext cx="648896" cy="253737"/>
          </a:xfrm>
          <a:prstGeom prst="roundRect">
            <a:avLst/>
          </a:prstGeom>
          <a:solidFill>
            <a:schemeClr val="tx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000" b="1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검색</a:t>
            </a:r>
          </a:p>
        </p:txBody>
      </p:sp>
      <p:sp>
        <p:nvSpPr>
          <p:cNvPr id="41" name="모서리가 둥근 직사각형 63">
            <a:extLst>
              <a:ext uri="{FF2B5EF4-FFF2-40B4-BE49-F238E27FC236}">
                <a16:creationId xmlns:a16="http://schemas.microsoft.com/office/drawing/2014/main" id="{B258CFF9-6841-1670-245B-5A0AE1FFC959}"/>
              </a:ext>
            </a:extLst>
          </p:cNvPr>
          <p:cNvSpPr/>
          <p:nvPr/>
        </p:nvSpPr>
        <p:spPr bwMode="auto">
          <a:xfrm>
            <a:off x="2462104" y="2868567"/>
            <a:ext cx="1232410" cy="246220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900" b="1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하늘편지 쓰러가기</a:t>
            </a:r>
          </a:p>
        </p:txBody>
      </p:sp>
      <p:sp>
        <p:nvSpPr>
          <p:cNvPr id="42" name="Oval 109">
            <a:extLst>
              <a:ext uri="{FF2B5EF4-FFF2-40B4-BE49-F238E27FC236}">
                <a16:creationId xmlns:a16="http://schemas.microsoft.com/office/drawing/2014/main" id="{AB0EA05D-455B-7883-728D-4C1800AB52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7279" y="4250368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0BA34E9-DD26-7FCF-D1E7-2A7C5D1E9387}"/>
              </a:ext>
            </a:extLst>
          </p:cNvPr>
          <p:cNvSpPr txBox="1"/>
          <p:nvPr/>
        </p:nvSpPr>
        <p:spPr>
          <a:xfrm>
            <a:off x="3351333" y="4255257"/>
            <a:ext cx="26776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▵</a:t>
            </a: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12A42D3F-5A52-F7B1-C22A-464E49F34F66}"/>
              </a:ext>
            </a:extLst>
          </p:cNvPr>
          <p:cNvSpPr/>
          <p:nvPr/>
        </p:nvSpPr>
        <p:spPr>
          <a:xfrm>
            <a:off x="664486" y="5909524"/>
            <a:ext cx="3168137" cy="264669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Footer</a:t>
            </a:r>
            <a:endParaRPr lang="ko-KR" altLang="en-US" sz="10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20982490"/>
      </p:ext>
    </p:extLst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F347AC-5B18-7FC4-C69F-B36E043136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4545A4B5-D92B-D539-CA04-ED1DA83C0E22}"/>
              </a:ext>
            </a:extLst>
          </p:cNvPr>
          <p:cNvGraphicFramePr>
            <a:graphicFrameLocks noGrp="1"/>
          </p:cNvGraphicFramePr>
          <p:nvPr/>
        </p:nvGraphicFramePr>
        <p:xfrm>
          <a:off x="9182101" y="947377"/>
          <a:ext cx="2795588" cy="1847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1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검색 결과가 없는 경우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“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검색결과가 없습니다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.”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노출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684046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723838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3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172599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4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290794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5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922450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6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784800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7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0538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8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199337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9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450365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F9E05D3F-9038-D5F8-97B7-6AAE4A1964B7}"/>
              </a:ext>
            </a:extLst>
          </p:cNvPr>
          <p:cNvSpPr/>
          <p:nvPr/>
        </p:nvSpPr>
        <p:spPr>
          <a:xfrm>
            <a:off x="959895" y="375614"/>
            <a:ext cx="2563522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</a:pP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메인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사이버추모관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고인검색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(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검색결과가 없는 경우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)</a:t>
            </a:r>
            <a:endParaRPr kumimoji="1" lang="ko-KR" altLang="en-US" sz="800" dirty="0"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8EA02AE-CF0F-00FC-4AB7-6B2F0D977E02}"/>
              </a:ext>
            </a:extLst>
          </p:cNvPr>
          <p:cNvSpPr txBox="1"/>
          <p:nvPr/>
        </p:nvSpPr>
        <p:spPr>
          <a:xfrm>
            <a:off x="6003996" y="123825"/>
            <a:ext cx="17303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HN_Memorial_Deadresult_001</a:t>
            </a:r>
            <a:endParaRPr lang="ko-KR" altLang="en-US" sz="800" dirty="0"/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15FD806D-39EF-8A5F-4A17-A7994D0D6914}"/>
              </a:ext>
            </a:extLst>
          </p:cNvPr>
          <p:cNvCxnSpPr>
            <a:cxnSpLocks/>
          </p:cNvCxnSpPr>
          <p:nvPr/>
        </p:nvCxnSpPr>
        <p:spPr>
          <a:xfrm>
            <a:off x="655957" y="1658468"/>
            <a:ext cx="3109526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CE380C01-E1EE-B5EC-A7AD-A74BC13FBFDC}"/>
              </a:ext>
            </a:extLst>
          </p:cNvPr>
          <p:cNvSpPr txBox="1"/>
          <p:nvPr/>
        </p:nvSpPr>
        <p:spPr>
          <a:xfrm>
            <a:off x="1793778" y="1181491"/>
            <a:ext cx="83388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하늘누리</a:t>
            </a:r>
            <a:endParaRPr lang="en-US" altLang="ko-KR" sz="11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en-US" altLang="ko-KR" sz="11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CI</a:t>
            </a:r>
            <a:endParaRPr lang="ko-KR" altLang="en-US" sz="11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22" name="그림 21" descr="블랙, 어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4D3A29E-A784-31D9-181A-0D61A7A285C5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2985" y="1191723"/>
            <a:ext cx="383533" cy="383533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9D83590D-A703-2991-17D2-03436B0A5CD6}"/>
              </a:ext>
            </a:extLst>
          </p:cNvPr>
          <p:cNvSpPr txBox="1"/>
          <p:nvPr/>
        </p:nvSpPr>
        <p:spPr>
          <a:xfrm>
            <a:off x="2826086" y="1293697"/>
            <a:ext cx="57184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" panose="020D0604000000000000" pitchFamily="50" charset="-127"/>
                <a:ea typeface="나눔고딕" panose="020D0604000000000000" pitchFamily="50" charset="-127"/>
              </a:rPr>
              <a:t>르그아웃</a:t>
            </a:r>
          </a:p>
        </p:txBody>
      </p:sp>
      <p:pic>
        <p:nvPicPr>
          <p:cNvPr id="24" name="Picture 4" descr="로그 아웃 아이콘">
            <a:extLst>
              <a:ext uri="{FF2B5EF4-FFF2-40B4-BE49-F238E27FC236}">
                <a16:creationId xmlns:a16="http://schemas.microsoft.com/office/drawing/2014/main" id="{ADB7D139-618E-5B7D-0C2A-ACFBC29292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9631" y="1283929"/>
            <a:ext cx="217049" cy="217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382D3AD6-699D-F394-2EDD-C4CCE606642C}"/>
              </a:ext>
            </a:extLst>
          </p:cNvPr>
          <p:cNvSpPr txBox="1"/>
          <p:nvPr/>
        </p:nvSpPr>
        <p:spPr>
          <a:xfrm>
            <a:off x="1343128" y="1807796"/>
            <a:ext cx="17351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고인 검색</a:t>
            </a:r>
            <a:endParaRPr lang="en-US" altLang="ko-KR" sz="1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C94F6AD-BFB5-2253-15DC-F68116B24430}"/>
              </a:ext>
            </a:extLst>
          </p:cNvPr>
          <p:cNvSpPr txBox="1"/>
          <p:nvPr/>
        </p:nvSpPr>
        <p:spPr>
          <a:xfrm>
            <a:off x="794294" y="2194931"/>
            <a:ext cx="283284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"</a:t>
            </a:r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마음으로 부르는 이름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다시 만나는 그곳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“ </a:t>
            </a:r>
          </a:p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하늘누리 사이버 추모관에 모셔진 고인을 성함으로 검색하실 수 있습니다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28" name="표 27">
            <a:extLst>
              <a:ext uri="{FF2B5EF4-FFF2-40B4-BE49-F238E27FC236}">
                <a16:creationId xmlns:a16="http://schemas.microsoft.com/office/drawing/2014/main" id="{4E8AFB12-0B83-DF28-C25A-C2F3D582BE21}"/>
              </a:ext>
            </a:extLst>
          </p:cNvPr>
          <p:cNvGraphicFramePr>
            <a:graphicFrameLocks noGrp="1"/>
          </p:cNvGraphicFramePr>
          <p:nvPr/>
        </p:nvGraphicFramePr>
        <p:xfrm>
          <a:off x="794294" y="3734382"/>
          <a:ext cx="2962225" cy="4562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1514">
                  <a:extLst>
                    <a:ext uri="{9D8B030D-6E8A-4147-A177-3AD203B41FA5}">
                      <a16:colId xmlns:a16="http://schemas.microsoft.com/office/drawing/2014/main" val="1469299564"/>
                    </a:ext>
                  </a:extLst>
                </a:gridCol>
                <a:gridCol w="1494524">
                  <a:extLst>
                    <a:ext uri="{9D8B030D-6E8A-4147-A177-3AD203B41FA5}">
                      <a16:colId xmlns:a16="http://schemas.microsoft.com/office/drawing/2014/main" val="1966851842"/>
                    </a:ext>
                  </a:extLst>
                </a:gridCol>
                <a:gridCol w="486187">
                  <a:extLst>
                    <a:ext uri="{9D8B030D-6E8A-4147-A177-3AD203B41FA5}">
                      <a16:colId xmlns:a16="http://schemas.microsoft.com/office/drawing/2014/main" val="148862190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고인 성함</a:t>
                      </a:r>
                    </a:p>
                  </a:txBody>
                  <a:tcPr marL="0" marR="0" marT="41672" marB="4167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1000" b="1" dirty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기일</a:t>
                      </a:r>
                    </a:p>
                  </a:txBody>
                  <a:tcPr marL="0" marR="0" marT="41672" marB="4167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endParaRPr lang="ko-KR" altLang="en-US" sz="1000" b="1" dirty="0">
                        <a:solidFill>
                          <a:schemeClr val="bg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41672" marB="4167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446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latin typeface="나눔고딕" pitchFamily="50" charset="-127"/>
                          <a:ea typeface="나눔고딕" pitchFamily="50" charset="-127"/>
                        </a:rPr>
                        <a:t>검색결과가 없습니다</a:t>
                      </a:r>
                      <a:r>
                        <a:rPr lang="en-US" altLang="ko-KR" sz="900" dirty="0">
                          <a:latin typeface="나눔고딕" pitchFamily="50" charset="-127"/>
                          <a:ea typeface="나눔고딕" pitchFamily="50" charset="-127"/>
                        </a:rPr>
                        <a:t>.</a:t>
                      </a:r>
                      <a:endParaRPr lang="ko-KR" altLang="en-US" sz="9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600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0" marR="0" marT="41672" marB="41672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0" marR="0" marT="41672" marB="41672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7" name="TextBox 36">
            <a:extLst>
              <a:ext uri="{FF2B5EF4-FFF2-40B4-BE49-F238E27FC236}">
                <a16:creationId xmlns:a16="http://schemas.microsoft.com/office/drawing/2014/main" id="{20EE1DEE-F5CB-C604-33B7-E9B0A2F619FE}"/>
              </a:ext>
            </a:extLst>
          </p:cNvPr>
          <p:cNvSpPr txBox="1"/>
          <p:nvPr/>
        </p:nvSpPr>
        <p:spPr>
          <a:xfrm>
            <a:off x="803258" y="3429000"/>
            <a:ext cx="148274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>
                <a:latin typeface="나눔고딕" panose="020D0604000000000000" pitchFamily="50" charset="-127"/>
                <a:ea typeface="나눔고딕" panose="020D0604000000000000" pitchFamily="50" charset="-127"/>
              </a:rPr>
              <a:t>고인검색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4F36A163-45A9-9C58-ED72-831C6FEF1CF8}"/>
              </a:ext>
            </a:extLst>
          </p:cNvPr>
          <p:cNvSpPr/>
          <p:nvPr/>
        </p:nvSpPr>
        <p:spPr>
          <a:xfrm>
            <a:off x="1685394" y="3411000"/>
            <a:ext cx="1231286" cy="24622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9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홍길동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20A2C4C-3DD8-A3F5-F995-C9E200DA6991}"/>
              </a:ext>
            </a:extLst>
          </p:cNvPr>
          <p:cNvSpPr txBox="1"/>
          <p:nvPr/>
        </p:nvSpPr>
        <p:spPr>
          <a:xfrm>
            <a:off x="1412110" y="3410998"/>
            <a:ext cx="34291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故</a:t>
            </a:r>
          </a:p>
        </p:txBody>
      </p:sp>
      <p:sp>
        <p:nvSpPr>
          <p:cNvPr id="40" name="모서리가 둥근 직사각형 63">
            <a:extLst>
              <a:ext uri="{FF2B5EF4-FFF2-40B4-BE49-F238E27FC236}">
                <a16:creationId xmlns:a16="http://schemas.microsoft.com/office/drawing/2014/main" id="{F2CF8859-2AD8-AA1E-5018-21286016E7F8}"/>
              </a:ext>
            </a:extLst>
          </p:cNvPr>
          <p:cNvSpPr/>
          <p:nvPr/>
        </p:nvSpPr>
        <p:spPr bwMode="auto">
          <a:xfrm>
            <a:off x="2978245" y="3410619"/>
            <a:ext cx="648896" cy="253737"/>
          </a:xfrm>
          <a:prstGeom prst="roundRect">
            <a:avLst/>
          </a:prstGeom>
          <a:solidFill>
            <a:schemeClr val="tx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000" b="1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검색</a:t>
            </a:r>
          </a:p>
        </p:txBody>
      </p:sp>
      <p:sp>
        <p:nvSpPr>
          <p:cNvPr id="41" name="모서리가 둥근 직사각형 63">
            <a:extLst>
              <a:ext uri="{FF2B5EF4-FFF2-40B4-BE49-F238E27FC236}">
                <a16:creationId xmlns:a16="http://schemas.microsoft.com/office/drawing/2014/main" id="{8F22C781-105A-8218-FFB5-46C7041CD322}"/>
              </a:ext>
            </a:extLst>
          </p:cNvPr>
          <p:cNvSpPr/>
          <p:nvPr/>
        </p:nvSpPr>
        <p:spPr bwMode="auto">
          <a:xfrm>
            <a:off x="2462104" y="2868567"/>
            <a:ext cx="1232410" cy="246220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900" b="1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하늘편지 쓰러가기</a:t>
            </a:r>
          </a:p>
        </p:txBody>
      </p:sp>
      <p:sp>
        <p:nvSpPr>
          <p:cNvPr id="42" name="Oval 109">
            <a:extLst>
              <a:ext uri="{FF2B5EF4-FFF2-40B4-BE49-F238E27FC236}">
                <a16:creationId xmlns:a16="http://schemas.microsoft.com/office/drawing/2014/main" id="{4F0DC595-0452-FC4F-D9EA-CB949070CC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4629" y="3953432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1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F6D31596-89D5-A4FA-E3A1-15328E7011BB}"/>
              </a:ext>
            </a:extLst>
          </p:cNvPr>
          <p:cNvSpPr/>
          <p:nvPr/>
        </p:nvSpPr>
        <p:spPr>
          <a:xfrm>
            <a:off x="664486" y="5909524"/>
            <a:ext cx="3168137" cy="264669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Footer</a:t>
            </a:r>
            <a:endParaRPr lang="ko-KR" altLang="en-US" sz="10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77916632"/>
      </p:ext>
    </p:extLst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645BD0-5C16-C951-CD94-DA6A2F197C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F4251762-94EC-16D9-99EA-D2CA15EC80B7}"/>
              </a:ext>
            </a:extLst>
          </p:cNvPr>
          <p:cNvGraphicFramePr>
            <a:graphicFrameLocks noGrp="1"/>
          </p:cNvGraphicFramePr>
          <p:nvPr/>
        </p:nvGraphicFramePr>
        <p:xfrm>
          <a:off x="9182101" y="947377"/>
          <a:ext cx="2795588" cy="30661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1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선택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로그인 체크 후 로그인 된 상태에서 하늘편지 쓰기로 이동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로그인 안된 상태인 경우는 로그인 화면으로 이동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684046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하늘 편지 총 등록 수</a:t>
                      </a: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723838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3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키워드 입력 후 검색 버튼 선택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내용을 검색하여 결과화면 노출</a:t>
                      </a: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172599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4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전체와 내가 쓴 하늘편지 탭으로 구성하여 내가 쓴 하늘 편지 선택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로그인 여부 체크 후 해당 회원이 쓴 하늘편지 목록만 노출됨</a:t>
                      </a: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290794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5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하늘편지 작성시 비밀글 체크를 하면 목록에 자물쇠 아이콘 노출</a:t>
                      </a: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922450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6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내용에 텍스트가 보이는 글은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비밀글이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아니므로 누구나 볼 수 있는 게시물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784800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7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목록은 최초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10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개의 목록을 노출하고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더보기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선택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추가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10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개의 목록이 목록하단에 노출된다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.</a:t>
                      </a: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0538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8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선택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추가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10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개의 목록 노출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.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더보기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버튼은 목록수가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10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개 초과시에만 노출됨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. 10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개 이하일 때는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더보기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버튼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노출안됨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199337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9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450365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E7494D1B-B7CD-94DD-226B-14A8C78D7465}"/>
              </a:ext>
            </a:extLst>
          </p:cNvPr>
          <p:cNvSpPr/>
          <p:nvPr/>
        </p:nvSpPr>
        <p:spPr>
          <a:xfrm>
            <a:off x="959895" y="375614"/>
            <a:ext cx="1566454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</a:pP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메인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사이버추모관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하늘편지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887FF49-EFE8-FA67-C340-7511135D6E11}"/>
              </a:ext>
            </a:extLst>
          </p:cNvPr>
          <p:cNvSpPr txBox="1"/>
          <p:nvPr/>
        </p:nvSpPr>
        <p:spPr>
          <a:xfrm>
            <a:off x="6003996" y="123825"/>
            <a:ext cx="17303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HN_Memorial_Letterlist_001</a:t>
            </a:r>
            <a:endParaRPr lang="ko-KR" altLang="en-US" sz="800" dirty="0"/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DF3938C7-11C6-033C-A573-88494160241F}"/>
              </a:ext>
            </a:extLst>
          </p:cNvPr>
          <p:cNvCxnSpPr>
            <a:cxnSpLocks/>
          </p:cNvCxnSpPr>
          <p:nvPr/>
        </p:nvCxnSpPr>
        <p:spPr>
          <a:xfrm>
            <a:off x="655957" y="1658468"/>
            <a:ext cx="3109526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A7E7FDC9-C34B-8376-E27F-F79F4A41E8E3}"/>
              </a:ext>
            </a:extLst>
          </p:cNvPr>
          <p:cNvSpPr txBox="1"/>
          <p:nvPr/>
        </p:nvSpPr>
        <p:spPr>
          <a:xfrm>
            <a:off x="1793778" y="1181491"/>
            <a:ext cx="83388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하늘누리</a:t>
            </a:r>
            <a:endParaRPr lang="en-US" altLang="ko-KR" sz="11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en-US" altLang="ko-KR" sz="11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CI</a:t>
            </a:r>
            <a:endParaRPr lang="ko-KR" altLang="en-US" sz="11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32" name="그림 31" descr="블랙, 어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0BACEC8-B4B5-9F0A-8F40-0F00757FE4EF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2985" y="1191723"/>
            <a:ext cx="383533" cy="383533"/>
          </a:xfrm>
          <a:prstGeom prst="rect">
            <a:avLst/>
          </a:prstGeom>
        </p:spPr>
      </p:pic>
      <p:sp>
        <p:nvSpPr>
          <p:cNvPr id="63" name="TextBox 62">
            <a:extLst>
              <a:ext uri="{FF2B5EF4-FFF2-40B4-BE49-F238E27FC236}">
                <a16:creationId xmlns:a16="http://schemas.microsoft.com/office/drawing/2014/main" id="{D8EBB196-D23E-F798-B5B8-BE1BCED2B098}"/>
              </a:ext>
            </a:extLst>
          </p:cNvPr>
          <p:cNvSpPr txBox="1"/>
          <p:nvPr/>
        </p:nvSpPr>
        <p:spPr>
          <a:xfrm>
            <a:off x="2826086" y="1293697"/>
            <a:ext cx="57184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" panose="020D0604000000000000" pitchFamily="50" charset="-127"/>
                <a:ea typeface="나눔고딕" panose="020D0604000000000000" pitchFamily="50" charset="-127"/>
              </a:rPr>
              <a:t>르그아웃</a:t>
            </a:r>
          </a:p>
        </p:txBody>
      </p:sp>
      <p:pic>
        <p:nvPicPr>
          <p:cNvPr id="64" name="Picture 4" descr="로그 아웃 아이콘">
            <a:extLst>
              <a:ext uri="{FF2B5EF4-FFF2-40B4-BE49-F238E27FC236}">
                <a16:creationId xmlns:a16="http://schemas.microsoft.com/office/drawing/2014/main" id="{EB035F98-375A-0BDF-5D55-EEC123B8DC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9631" y="1283929"/>
            <a:ext cx="217049" cy="217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5" name="TextBox 64">
            <a:extLst>
              <a:ext uri="{FF2B5EF4-FFF2-40B4-BE49-F238E27FC236}">
                <a16:creationId xmlns:a16="http://schemas.microsoft.com/office/drawing/2014/main" id="{E131C306-2078-E409-D4EC-B8DE584AEB45}"/>
              </a:ext>
            </a:extLst>
          </p:cNvPr>
          <p:cNvSpPr txBox="1"/>
          <p:nvPr/>
        </p:nvSpPr>
        <p:spPr>
          <a:xfrm>
            <a:off x="1343128" y="1807796"/>
            <a:ext cx="17351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하늘편지</a:t>
            </a:r>
            <a:endParaRPr lang="en-US" altLang="ko-KR" sz="1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C360A17-18BE-ACFE-9C5F-69E8D715E4EF}"/>
              </a:ext>
            </a:extLst>
          </p:cNvPr>
          <p:cNvSpPr txBox="1"/>
          <p:nvPr/>
        </p:nvSpPr>
        <p:spPr>
          <a:xfrm>
            <a:off x="794294" y="2194931"/>
            <a:ext cx="297118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000" b="1" dirty="0"/>
              <a:t>닿지 못한 마음이 하늘에 닿는 곳</a:t>
            </a:r>
            <a:r>
              <a:rPr lang="en-US" altLang="ko-KR" sz="1000" b="1" dirty="0"/>
              <a:t>"</a:t>
            </a:r>
            <a:r>
              <a:rPr lang="ko-KR" altLang="en-US" sz="1000" dirty="0"/>
              <a:t>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차마 다 전하지 못한 말들이 구름을 타고 그리운 이에게 전해집니다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당신의 진심을 담아 따뜻한 안부를 띄워주세요</a:t>
            </a:r>
          </a:p>
        </p:txBody>
      </p:sp>
      <p:grpSp>
        <p:nvGrpSpPr>
          <p:cNvPr id="73" name="그룹 72">
            <a:extLst>
              <a:ext uri="{FF2B5EF4-FFF2-40B4-BE49-F238E27FC236}">
                <a16:creationId xmlns:a16="http://schemas.microsoft.com/office/drawing/2014/main" id="{9538D9F7-1D5D-78E4-0530-8A6601737356}"/>
              </a:ext>
            </a:extLst>
          </p:cNvPr>
          <p:cNvGrpSpPr/>
          <p:nvPr/>
        </p:nvGrpSpPr>
        <p:grpSpPr>
          <a:xfrm>
            <a:off x="794294" y="3420168"/>
            <a:ext cx="2971189" cy="252385"/>
            <a:chOff x="794294" y="2846233"/>
            <a:chExt cx="2971189" cy="252385"/>
          </a:xfrm>
        </p:grpSpPr>
        <p:cxnSp>
          <p:nvCxnSpPr>
            <p:cNvPr id="68" name="Line 1">
              <a:extLst>
                <a:ext uri="{FF2B5EF4-FFF2-40B4-BE49-F238E27FC236}">
                  <a16:creationId xmlns:a16="http://schemas.microsoft.com/office/drawing/2014/main" id="{E5E13F8A-E17C-7512-0475-B4E721A2692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94294" y="3078550"/>
              <a:ext cx="107560" cy="0"/>
            </a:xfrm>
            <a:prstGeom prst="lin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Line 2">
              <a:extLst>
                <a:ext uri="{FF2B5EF4-FFF2-40B4-BE49-F238E27FC236}">
                  <a16:creationId xmlns:a16="http://schemas.microsoft.com/office/drawing/2014/main" id="{6447D723-1380-B502-B572-C1929C352A65}"/>
                </a:ext>
              </a:extLst>
            </p:cNvPr>
            <p:cNvCxnSpPr>
              <a:cxnSpLocks/>
            </p:cNvCxnSpPr>
            <p:nvPr/>
          </p:nvCxnSpPr>
          <p:spPr>
            <a:xfrm>
              <a:off x="1971141" y="3092654"/>
              <a:ext cx="1794342" cy="5964"/>
            </a:xfrm>
            <a:prstGeom prst="lin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Tab Selected">
              <a:extLst>
                <a:ext uri="{FF2B5EF4-FFF2-40B4-BE49-F238E27FC236}">
                  <a16:creationId xmlns:a16="http://schemas.microsoft.com/office/drawing/2014/main" id="{D8B881AF-0B60-10FA-EEB3-3055D59F6252}"/>
                </a:ext>
              </a:extLst>
            </p:cNvPr>
            <p:cNvSpPr>
              <a:spLocks/>
            </p:cNvSpPr>
            <p:nvPr/>
          </p:nvSpPr>
          <p:spPr bwMode="auto">
            <a:xfrm>
              <a:off x="881188" y="2846233"/>
              <a:ext cx="1059962" cy="240299"/>
            </a:xfrm>
            <a:custGeom>
              <a:avLst/>
              <a:gdLst>
                <a:gd name="T0" fmla="*/ 0 w 2218"/>
                <a:gd name="T1" fmla="*/ 670 h 670"/>
                <a:gd name="T2" fmla="*/ 0 w 2218"/>
                <a:gd name="T3" fmla="*/ 0 h 670"/>
                <a:gd name="T4" fmla="*/ 2218 w 2218"/>
                <a:gd name="T5" fmla="*/ 0 h 670"/>
                <a:gd name="T6" fmla="*/ 2218 w 2218"/>
                <a:gd name="T7" fmla="*/ 670 h 6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218" h="670">
                  <a:moveTo>
                    <a:pt x="0" y="670"/>
                  </a:moveTo>
                  <a:lnTo>
                    <a:pt x="0" y="0"/>
                  </a:lnTo>
                  <a:lnTo>
                    <a:pt x="2218" y="0"/>
                  </a:lnTo>
                  <a:lnTo>
                    <a:pt x="2218" y="670"/>
                  </a:lnTo>
                </a:path>
              </a:pathLst>
            </a:custGeom>
            <a:solidFill>
              <a:schemeClr val="bg1"/>
            </a:solidFill>
            <a:ln w="6350" cap="sq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90000"/>
                </a:lnSpc>
                <a:defRPr/>
              </a:pPr>
              <a:r>
                <a:rPr lang="ko-KR" altLang="en-US" sz="1000" b="1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Segoe UI" panose="020B0502040204020203" pitchFamily="34" charset="0"/>
                </a:rPr>
                <a:t>전체</a:t>
              </a:r>
              <a:endParaRPr lang="en-US" altLang="ko-KR" sz="1000" b="1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Segoe UI" panose="020B0502040204020203" pitchFamily="34" charset="0"/>
              </a:endParaRPr>
            </a:p>
          </p:txBody>
        </p:sp>
        <p:sp>
          <p:nvSpPr>
            <p:cNvPr id="71" name="Tab">
              <a:extLst>
                <a:ext uri="{FF2B5EF4-FFF2-40B4-BE49-F238E27FC236}">
                  <a16:creationId xmlns:a16="http://schemas.microsoft.com/office/drawing/2014/main" id="{1CD2BEDF-D1FE-51B6-CAAD-960371373C9B}"/>
                </a:ext>
              </a:extLst>
            </p:cNvPr>
            <p:cNvSpPr/>
            <p:nvPr/>
          </p:nvSpPr>
          <p:spPr>
            <a:xfrm>
              <a:off x="1941149" y="2852276"/>
              <a:ext cx="1427963" cy="24029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90000"/>
                </a:lnSpc>
                <a:defRPr/>
              </a:pPr>
              <a:r>
                <a:rPr lang="ko-KR" altLang="en-US" sz="10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Segoe UI" panose="020B0502040204020203" pitchFamily="34" charset="0"/>
                </a:rPr>
                <a:t>내가 쓴 하늘편지</a:t>
              </a:r>
              <a:endParaRPr lang="en-US" sz="100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Segoe UI" panose="020B0502040204020203" pitchFamily="34" charset="0"/>
              </a:endParaRPr>
            </a:p>
          </p:txBody>
        </p:sp>
      </p:grpSp>
      <p:sp>
        <p:nvSpPr>
          <p:cNvPr id="74" name="TextBox 73">
            <a:extLst>
              <a:ext uri="{FF2B5EF4-FFF2-40B4-BE49-F238E27FC236}">
                <a16:creationId xmlns:a16="http://schemas.microsoft.com/office/drawing/2014/main" id="{49A8A058-48A9-36B4-9E9B-8518594D320B}"/>
              </a:ext>
            </a:extLst>
          </p:cNvPr>
          <p:cNvSpPr txBox="1"/>
          <p:nvPr/>
        </p:nvSpPr>
        <p:spPr>
          <a:xfrm>
            <a:off x="691830" y="3136611"/>
            <a:ext cx="143867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하늘편지 수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en-US" altLang="ko-KR" sz="9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" panose="020D0604000000000000" pitchFamily="50" charset="-127"/>
                <a:ea typeface="나눔고딕" panose="020D0604000000000000" pitchFamily="50" charset="-127"/>
              </a:rPr>
              <a:t>545</a:t>
            </a:r>
            <a:endParaRPr lang="ko-KR" altLang="en-US" sz="9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2BA35C83-1D96-FA97-EEA6-3C85DA510788}"/>
              </a:ext>
            </a:extLst>
          </p:cNvPr>
          <p:cNvSpPr/>
          <p:nvPr/>
        </p:nvSpPr>
        <p:spPr>
          <a:xfrm>
            <a:off x="1941150" y="3147497"/>
            <a:ext cx="1214523" cy="21544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6" name="모서리가 둥근 직사각형 63">
            <a:extLst>
              <a:ext uri="{FF2B5EF4-FFF2-40B4-BE49-F238E27FC236}">
                <a16:creationId xmlns:a16="http://schemas.microsoft.com/office/drawing/2014/main" id="{96F2C7C4-F8CF-651C-33DA-CCB28A359483}"/>
              </a:ext>
            </a:extLst>
          </p:cNvPr>
          <p:cNvSpPr/>
          <p:nvPr/>
        </p:nvSpPr>
        <p:spPr bwMode="auto">
          <a:xfrm>
            <a:off x="3204313" y="3147498"/>
            <a:ext cx="561170" cy="203902"/>
          </a:xfrm>
          <a:prstGeom prst="roundRect">
            <a:avLst/>
          </a:prstGeom>
          <a:solidFill>
            <a:schemeClr val="tx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000" b="1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검색</a:t>
            </a:r>
          </a:p>
        </p:txBody>
      </p:sp>
      <p:sp>
        <p:nvSpPr>
          <p:cNvPr id="77" name="모서리가 둥근 직사각형 63">
            <a:extLst>
              <a:ext uri="{FF2B5EF4-FFF2-40B4-BE49-F238E27FC236}">
                <a16:creationId xmlns:a16="http://schemas.microsoft.com/office/drawing/2014/main" id="{A427F5FB-5C12-BEF1-D832-BD867A8BE8A3}"/>
              </a:ext>
            </a:extLst>
          </p:cNvPr>
          <p:cNvSpPr/>
          <p:nvPr/>
        </p:nvSpPr>
        <p:spPr bwMode="auto">
          <a:xfrm>
            <a:off x="2526349" y="2759430"/>
            <a:ext cx="1239654" cy="27391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900" b="1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하늘편지 쓰기</a:t>
            </a:r>
          </a:p>
        </p:txBody>
      </p:sp>
      <p:cxnSp>
        <p:nvCxnSpPr>
          <p:cNvPr id="78" name="직선 연결선 77">
            <a:extLst>
              <a:ext uri="{FF2B5EF4-FFF2-40B4-BE49-F238E27FC236}">
                <a16:creationId xmlns:a16="http://schemas.microsoft.com/office/drawing/2014/main" id="{A0B8336A-C223-B108-1282-7E2B622EC4F3}"/>
              </a:ext>
            </a:extLst>
          </p:cNvPr>
          <p:cNvCxnSpPr>
            <a:cxnSpLocks/>
          </p:cNvCxnSpPr>
          <p:nvPr/>
        </p:nvCxnSpPr>
        <p:spPr>
          <a:xfrm>
            <a:off x="786230" y="3777715"/>
            <a:ext cx="2970288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직선 연결선 79">
            <a:extLst>
              <a:ext uri="{FF2B5EF4-FFF2-40B4-BE49-F238E27FC236}">
                <a16:creationId xmlns:a16="http://schemas.microsoft.com/office/drawing/2014/main" id="{A02837AF-4238-D9B5-F466-BC3D4302B084}"/>
              </a:ext>
            </a:extLst>
          </p:cNvPr>
          <p:cNvCxnSpPr>
            <a:cxnSpLocks/>
          </p:cNvCxnSpPr>
          <p:nvPr/>
        </p:nvCxnSpPr>
        <p:spPr>
          <a:xfrm>
            <a:off x="794294" y="4260858"/>
            <a:ext cx="2970288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TextBox 80">
            <a:extLst>
              <a:ext uri="{FF2B5EF4-FFF2-40B4-BE49-F238E27FC236}">
                <a16:creationId xmlns:a16="http://schemas.microsoft.com/office/drawing/2014/main" id="{3FCA2204-3877-BD5E-71D5-73146CDCE12D}"/>
              </a:ext>
            </a:extLst>
          </p:cNvPr>
          <p:cNvSpPr txBox="1"/>
          <p:nvPr/>
        </p:nvSpPr>
        <p:spPr>
          <a:xfrm>
            <a:off x="786230" y="3777715"/>
            <a:ext cx="61291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888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9283655B-CD96-7D24-A9CA-C427AEC26C00}"/>
              </a:ext>
            </a:extLst>
          </p:cNvPr>
          <p:cNvSpPr txBox="1"/>
          <p:nvPr/>
        </p:nvSpPr>
        <p:spPr>
          <a:xfrm>
            <a:off x="1343128" y="3777715"/>
            <a:ext cx="36447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딸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A8AC279-80F3-8883-9899-593D0E78307C}"/>
              </a:ext>
            </a:extLst>
          </p:cNvPr>
          <p:cNvSpPr txBox="1"/>
          <p:nvPr/>
        </p:nvSpPr>
        <p:spPr>
          <a:xfrm>
            <a:off x="2886941" y="3777715"/>
            <a:ext cx="924702" cy="230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2026-03-11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84" name="Picture 8" descr="자물쇠 아이콘 일러스트 | Canva">
            <a:extLst>
              <a:ext uri="{FF2B5EF4-FFF2-40B4-BE49-F238E27FC236}">
                <a16:creationId xmlns:a16="http://schemas.microsoft.com/office/drawing/2014/main" id="{C038DE59-B2B2-D802-EA45-AF519D8C7F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9144" y="4024370"/>
            <a:ext cx="139869" cy="1928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5" name="직선 연결선 84">
            <a:extLst>
              <a:ext uri="{FF2B5EF4-FFF2-40B4-BE49-F238E27FC236}">
                <a16:creationId xmlns:a16="http://schemas.microsoft.com/office/drawing/2014/main" id="{49CCB639-1A9A-68AB-3677-EABF6490559C}"/>
              </a:ext>
            </a:extLst>
          </p:cNvPr>
          <p:cNvCxnSpPr>
            <a:cxnSpLocks/>
          </p:cNvCxnSpPr>
          <p:nvPr/>
        </p:nvCxnSpPr>
        <p:spPr>
          <a:xfrm>
            <a:off x="804107" y="4760075"/>
            <a:ext cx="2970288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직선 연결선 85">
            <a:extLst>
              <a:ext uri="{FF2B5EF4-FFF2-40B4-BE49-F238E27FC236}">
                <a16:creationId xmlns:a16="http://schemas.microsoft.com/office/drawing/2014/main" id="{871C8BA2-7846-B348-1A06-1CD383B92D24}"/>
              </a:ext>
            </a:extLst>
          </p:cNvPr>
          <p:cNvCxnSpPr>
            <a:cxnSpLocks/>
          </p:cNvCxnSpPr>
          <p:nvPr/>
        </p:nvCxnSpPr>
        <p:spPr>
          <a:xfrm>
            <a:off x="812171" y="5243218"/>
            <a:ext cx="2970288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TextBox 86">
            <a:extLst>
              <a:ext uri="{FF2B5EF4-FFF2-40B4-BE49-F238E27FC236}">
                <a16:creationId xmlns:a16="http://schemas.microsoft.com/office/drawing/2014/main" id="{9C1D5115-EB73-1F25-B3DB-0B4BE0B842B7}"/>
              </a:ext>
            </a:extLst>
          </p:cNvPr>
          <p:cNvSpPr txBox="1"/>
          <p:nvPr/>
        </p:nvSpPr>
        <p:spPr>
          <a:xfrm>
            <a:off x="804107" y="4760075"/>
            <a:ext cx="61291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886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502C82A2-02C3-47E9-C1AB-54BB110E497C}"/>
              </a:ext>
            </a:extLst>
          </p:cNvPr>
          <p:cNvSpPr txBox="1"/>
          <p:nvPr/>
        </p:nvSpPr>
        <p:spPr>
          <a:xfrm>
            <a:off x="1361005" y="4760075"/>
            <a:ext cx="36447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딸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3682DBD8-AA55-67D9-8479-D85862085E4D}"/>
              </a:ext>
            </a:extLst>
          </p:cNvPr>
          <p:cNvSpPr txBox="1"/>
          <p:nvPr/>
        </p:nvSpPr>
        <p:spPr>
          <a:xfrm>
            <a:off x="2904818" y="4760075"/>
            <a:ext cx="924702" cy="230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2026-03-11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6B4B3AF6-3B87-496B-06CA-421F14727A91}"/>
              </a:ext>
            </a:extLst>
          </p:cNvPr>
          <p:cNvSpPr txBox="1"/>
          <p:nvPr/>
        </p:nvSpPr>
        <p:spPr>
          <a:xfrm>
            <a:off x="804107" y="4260855"/>
            <a:ext cx="61291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887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E37DA490-5E96-7E03-543A-3564A8F50E35}"/>
              </a:ext>
            </a:extLst>
          </p:cNvPr>
          <p:cNvSpPr txBox="1"/>
          <p:nvPr/>
        </p:nvSpPr>
        <p:spPr>
          <a:xfrm>
            <a:off x="1361005" y="4260855"/>
            <a:ext cx="36447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딸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09235EBF-26FD-0985-55DF-96122CB7DB7A}"/>
              </a:ext>
            </a:extLst>
          </p:cNvPr>
          <p:cNvSpPr txBox="1"/>
          <p:nvPr/>
        </p:nvSpPr>
        <p:spPr>
          <a:xfrm>
            <a:off x="2904818" y="4260855"/>
            <a:ext cx="924702" cy="230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2026-03-11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7852C9B8-190A-538A-540B-8D335D92E35D}"/>
              </a:ext>
            </a:extLst>
          </p:cNvPr>
          <p:cNvSpPr txBox="1"/>
          <p:nvPr/>
        </p:nvSpPr>
        <p:spPr>
          <a:xfrm>
            <a:off x="1294042" y="4500943"/>
            <a:ext cx="253547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어머니 하늘나라에서는 어떻게 지내시고 </a:t>
            </a:r>
            <a:r>
              <a:rPr lang="ko-KR" altLang="en-US" sz="8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계신지요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…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012571EF-7DAE-80A4-7718-26775EA858E3}"/>
              </a:ext>
            </a:extLst>
          </p:cNvPr>
          <p:cNvSpPr txBox="1"/>
          <p:nvPr/>
        </p:nvSpPr>
        <p:spPr>
          <a:xfrm>
            <a:off x="1348479" y="5044864"/>
            <a:ext cx="253547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어머니 하늘나라에서는 어떻게 지내시고 </a:t>
            </a:r>
            <a:r>
              <a:rPr lang="ko-KR" altLang="en-US" sz="8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계신지요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…</a:t>
            </a:r>
          </a:p>
        </p:txBody>
      </p:sp>
      <p:cxnSp>
        <p:nvCxnSpPr>
          <p:cNvPr id="98" name="직선 연결선 97">
            <a:extLst>
              <a:ext uri="{FF2B5EF4-FFF2-40B4-BE49-F238E27FC236}">
                <a16:creationId xmlns:a16="http://schemas.microsoft.com/office/drawing/2014/main" id="{EDA88E82-A83A-4A9F-D5F3-126635AE8DE0}"/>
              </a:ext>
            </a:extLst>
          </p:cNvPr>
          <p:cNvCxnSpPr>
            <a:cxnSpLocks/>
          </p:cNvCxnSpPr>
          <p:nvPr/>
        </p:nvCxnSpPr>
        <p:spPr>
          <a:xfrm>
            <a:off x="804107" y="5842113"/>
            <a:ext cx="2970288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TextBox 98">
            <a:extLst>
              <a:ext uri="{FF2B5EF4-FFF2-40B4-BE49-F238E27FC236}">
                <a16:creationId xmlns:a16="http://schemas.microsoft.com/office/drawing/2014/main" id="{AA987426-C5AA-492A-60DF-497EEF7838D9}"/>
              </a:ext>
            </a:extLst>
          </p:cNvPr>
          <p:cNvSpPr txBox="1"/>
          <p:nvPr/>
        </p:nvSpPr>
        <p:spPr>
          <a:xfrm>
            <a:off x="796043" y="5358970"/>
            <a:ext cx="61291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885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35D489D4-6C88-F4D7-5FE2-2B0CBBE310EB}"/>
              </a:ext>
            </a:extLst>
          </p:cNvPr>
          <p:cNvSpPr txBox="1"/>
          <p:nvPr/>
        </p:nvSpPr>
        <p:spPr>
          <a:xfrm>
            <a:off x="1352941" y="5358970"/>
            <a:ext cx="36447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딸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F9DEEC8C-2210-212B-2CA7-E5198045ED84}"/>
              </a:ext>
            </a:extLst>
          </p:cNvPr>
          <p:cNvSpPr txBox="1"/>
          <p:nvPr/>
        </p:nvSpPr>
        <p:spPr>
          <a:xfrm>
            <a:off x="2896754" y="5358970"/>
            <a:ext cx="924702" cy="230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2026-03-11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102" name="Picture 8" descr="자물쇠 아이콘 일러스트 | Canva">
            <a:extLst>
              <a:ext uri="{FF2B5EF4-FFF2-40B4-BE49-F238E27FC236}">
                <a16:creationId xmlns:a16="http://schemas.microsoft.com/office/drawing/2014/main" id="{A0F8ECBB-9C8F-F424-0139-645F734A7A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8957" y="5605625"/>
            <a:ext cx="139869" cy="1928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3" name="직선 연결선 102">
            <a:extLst>
              <a:ext uri="{FF2B5EF4-FFF2-40B4-BE49-F238E27FC236}">
                <a16:creationId xmlns:a16="http://schemas.microsoft.com/office/drawing/2014/main" id="{0ACFAE6E-0297-B166-FABA-24E68B0604D8}"/>
              </a:ext>
            </a:extLst>
          </p:cNvPr>
          <p:cNvCxnSpPr>
            <a:cxnSpLocks/>
          </p:cNvCxnSpPr>
          <p:nvPr/>
        </p:nvCxnSpPr>
        <p:spPr>
          <a:xfrm>
            <a:off x="5316850" y="1776840"/>
            <a:ext cx="2970288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TextBox 103">
            <a:extLst>
              <a:ext uri="{FF2B5EF4-FFF2-40B4-BE49-F238E27FC236}">
                <a16:creationId xmlns:a16="http://schemas.microsoft.com/office/drawing/2014/main" id="{3785F5FA-20C7-7DF7-FDA4-99C42849291E}"/>
              </a:ext>
            </a:extLst>
          </p:cNvPr>
          <p:cNvSpPr txBox="1"/>
          <p:nvPr/>
        </p:nvSpPr>
        <p:spPr>
          <a:xfrm>
            <a:off x="5308786" y="1293697"/>
            <a:ext cx="61291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885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67610AF2-4E05-898C-6D4F-1C2C33DBE911}"/>
              </a:ext>
            </a:extLst>
          </p:cNvPr>
          <p:cNvSpPr txBox="1"/>
          <p:nvPr/>
        </p:nvSpPr>
        <p:spPr>
          <a:xfrm>
            <a:off x="5865684" y="1293697"/>
            <a:ext cx="36447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딸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29F14724-802D-7085-5D64-679DBEDB4210}"/>
              </a:ext>
            </a:extLst>
          </p:cNvPr>
          <p:cNvSpPr txBox="1"/>
          <p:nvPr/>
        </p:nvSpPr>
        <p:spPr>
          <a:xfrm>
            <a:off x="7409497" y="1293697"/>
            <a:ext cx="924702" cy="230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2026-03-11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379BFD6A-A21F-0633-51A5-83232D38A488}"/>
              </a:ext>
            </a:extLst>
          </p:cNvPr>
          <p:cNvSpPr txBox="1"/>
          <p:nvPr/>
        </p:nvSpPr>
        <p:spPr>
          <a:xfrm>
            <a:off x="5865684" y="1542961"/>
            <a:ext cx="253547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어머니 하늘나라에서는 어떻게 지내시고 </a:t>
            </a:r>
            <a:r>
              <a:rPr lang="ko-KR" altLang="en-US" sz="8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계신지요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…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4E6B8302-1B2C-3DEC-E822-AF063209DC5B}"/>
              </a:ext>
            </a:extLst>
          </p:cNvPr>
          <p:cNvSpPr txBox="1"/>
          <p:nvPr/>
        </p:nvSpPr>
        <p:spPr>
          <a:xfrm>
            <a:off x="6644220" y="1875263"/>
            <a:ext cx="9784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…</a:t>
            </a:r>
            <a:endParaRPr lang="ko-KR" altLang="en-US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0" name="모서리가 둥근 직사각형 63">
            <a:extLst>
              <a:ext uri="{FF2B5EF4-FFF2-40B4-BE49-F238E27FC236}">
                <a16:creationId xmlns:a16="http://schemas.microsoft.com/office/drawing/2014/main" id="{09B64494-D188-B415-60EA-3D070E303409}"/>
              </a:ext>
            </a:extLst>
          </p:cNvPr>
          <p:cNvSpPr/>
          <p:nvPr/>
        </p:nvSpPr>
        <p:spPr bwMode="auto">
          <a:xfrm>
            <a:off x="5308786" y="2300330"/>
            <a:ext cx="2978352" cy="312422"/>
          </a:xfrm>
          <a:prstGeom prst="roundRect">
            <a:avLst/>
          </a:prstGeom>
          <a:solidFill>
            <a:schemeClr val="tx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000" b="1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더보기</a:t>
            </a:r>
            <a:endParaRPr kumimoji="1" lang="ko-KR" altLang="en-US" sz="1000" b="1" dirty="0">
              <a:ln w="0" cmpd="sng">
                <a:solidFill>
                  <a:schemeClr val="tx2">
                    <a:satMod val="155000"/>
                    <a:alpha val="0"/>
                  </a:schemeClr>
                </a:solidFill>
                <a:prstDash val="solid"/>
                <a:round/>
              </a:ln>
              <a:solidFill>
                <a:schemeClr val="bg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11" name="Oval 109">
            <a:extLst>
              <a:ext uri="{FF2B5EF4-FFF2-40B4-BE49-F238E27FC236}">
                <a16:creationId xmlns:a16="http://schemas.microsoft.com/office/drawing/2014/main" id="{9829FB6E-0488-86C5-5AA2-608C5C71EF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88981" y="2695021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1</a:t>
            </a:r>
          </a:p>
        </p:txBody>
      </p:sp>
      <p:sp>
        <p:nvSpPr>
          <p:cNvPr id="112" name="Oval 109">
            <a:extLst>
              <a:ext uri="{FF2B5EF4-FFF2-40B4-BE49-F238E27FC236}">
                <a16:creationId xmlns:a16="http://schemas.microsoft.com/office/drawing/2014/main" id="{08F4612A-48DE-34C0-A454-99698C3DEF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07" y="2976937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2</a:t>
            </a:r>
          </a:p>
        </p:txBody>
      </p:sp>
      <p:sp>
        <p:nvSpPr>
          <p:cNvPr id="113" name="Oval 109">
            <a:extLst>
              <a:ext uri="{FF2B5EF4-FFF2-40B4-BE49-F238E27FC236}">
                <a16:creationId xmlns:a16="http://schemas.microsoft.com/office/drawing/2014/main" id="{5F574169-19A2-0C93-70BA-F458808DD1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1540" y="3005708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3</a:t>
            </a:r>
          </a:p>
        </p:txBody>
      </p:sp>
      <p:sp>
        <p:nvSpPr>
          <p:cNvPr id="114" name="Oval 109">
            <a:extLst>
              <a:ext uri="{FF2B5EF4-FFF2-40B4-BE49-F238E27FC236}">
                <a16:creationId xmlns:a16="http://schemas.microsoft.com/office/drawing/2014/main" id="{9BB21E1D-BDA7-20B2-9A66-902C3182D5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0960" y="3396794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4</a:t>
            </a:r>
          </a:p>
        </p:txBody>
      </p:sp>
      <p:sp>
        <p:nvSpPr>
          <p:cNvPr id="115" name="Oval 109">
            <a:extLst>
              <a:ext uri="{FF2B5EF4-FFF2-40B4-BE49-F238E27FC236}">
                <a16:creationId xmlns:a16="http://schemas.microsoft.com/office/drawing/2014/main" id="{34D61DCD-DCBE-A0B0-9BA6-657BBB1494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7642" y="3997026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5</a:t>
            </a:r>
          </a:p>
        </p:txBody>
      </p:sp>
      <p:sp>
        <p:nvSpPr>
          <p:cNvPr id="116" name="Oval 109">
            <a:extLst>
              <a:ext uri="{FF2B5EF4-FFF2-40B4-BE49-F238E27FC236}">
                <a16:creationId xmlns:a16="http://schemas.microsoft.com/office/drawing/2014/main" id="{092E4FBA-11B8-FF80-443A-76A72DF5CC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44221" y="4483651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6</a:t>
            </a:r>
          </a:p>
        </p:txBody>
      </p:sp>
      <p:sp>
        <p:nvSpPr>
          <p:cNvPr id="117" name="Oval 109">
            <a:extLst>
              <a:ext uri="{FF2B5EF4-FFF2-40B4-BE49-F238E27FC236}">
                <a16:creationId xmlns:a16="http://schemas.microsoft.com/office/drawing/2014/main" id="{E1977DA2-2D9F-1989-5C4F-FD8A69838A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4907" y="4652846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7</a:t>
            </a:r>
          </a:p>
        </p:txBody>
      </p:sp>
      <p:sp>
        <p:nvSpPr>
          <p:cNvPr id="118" name="Oval 109">
            <a:extLst>
              <a:ext uri="{FF2B5EF4-FFF2-40B4-BE49-F238E27FC236}">
                <a16:creationId xmlns:a16="http://schemas.microsoft.com/office/drawing/2014/main" id="{EEBED36B-1142-9832-D7F4-B4FC2CF30C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16850" y="2213930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8</a:t>
            </a:r>
          </a:p>
        </p:txBody>
      </p:sp>
      <p:sp>
        <p:nvSpPr>
          <p:cNvPr id="119" name="직사각형 118">
            <a:extLst>
              <a:ext uri="{FF2B5EF4-FFF2-40B4-BE49-F238E27FC236}">
                <a16:creationId xmlns:a16="http://schemas.microsoft.com/office/drawing/2014/main" id="{51806FCD-A1B3-D692-0E50-62169D6BDB43}"/>
              </a:ext>
            </a:extLst>
          </p:cNvPr>
          <p:cNvSpPr/>
          <p:nvPr/>
        </p:nvSpPr>
        <p:spPr>
          <a:xfrm>
            <a:off x="5187452" y="3429000"/>
            <a:ext cx="3168137" cy="264669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Footer</a:t>
            </a:r>
            <a:endParaRPr lang="ko-KR" altLang="en-US" sz="10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89598925"/>
      </p:ext>
    </p:extLst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B01755-6732-F04C-371B-0F2AD601FF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53A1F8B8-6493-18CE-3BC1-18D944DB2158}"/>
              </a:ext>
            </a:extLst>
          </p:cNvPr>
          <p:cNvGraphicFramePr>
            <a:graphicFrameLocks noGrp="1"/>
          </p:cNvGraphicFramePr>
          <p:nvPr/>
        </p:nvGraphicFramePr>
        <p:xfrm>
          <a:off x="9182101" y="947377"/>
          <a:ext cx="2795588" cy="1847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1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내가 쓴 하늘편지 개수 노출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684046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편지 개수가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10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개를 초과하지 않아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더보기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버튼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미노출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723838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3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172599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4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290794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5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922450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6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784800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7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0538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8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199337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9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450365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D761D7E2-D5C5-ACA8-1ACD-85D3C878EDCB}"/>
              </a:ext>
            </a:extLst>
          </p:cNvPr>
          <p:cNvSpPr/>
          <p:nvPr/>
        </p:nvSpPr>
        <p:spPr>
          <a:xfrm>
            <a:off x="959895" y="375614"/>
            <a:ext cx="1566454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</a:pP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메인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사이버추모관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하늘편지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5CF1CE7-4F80-3D5C-C56B-704AA0327750}"/>
              </a:ext>
            </a:extLst>
          </p:cNvPr>
          <p:cNvSpPr txBox="1"/>
          <p:nvPr/>
        </p:nvSpPr>
        <p:spPr>
          <a:xfrm>
            <a:off x="6003996" y="123825"/>
            <a:ext cx="17303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HN_Memorial_Letterlist_001</a:t>
            </a:r>
            <a:endParaRPr lang="ko-KR" altLang="en-US" sz="800" dirty="0"/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38CE4835-6744-80C2-FEA8-CBE54CDDD439}"/>
              </a:ext>
            </a:extLst>
          </p:cNvPr>
          <p:cNvCxnSpPr>
            <a:cxnSpLocks/>
          </p:cNvCxnSpPr>
          <p:nvPr/>
        </p:nvCxnSpPr>
        <p:spPr>
          <a:xfrm>
            <a:off x="655957" y="1658468"/>
            <a:ext cx="3109526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E15FC80B-7DE8-7E52-86BE-6A05C52F1D82}"/>
              </a:ext>
            </a:extLst>
          </p:cNvPr>
          <p:cNvSpPr txBox="1"/>
          <p:nvPr/>
        </p:nvSpPr>
        <p:spPr>
          <a:xfrm>
            <a:off x="1793778" y="1181491"/>
            <a:ext cx="83388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하늘누리</a:t>
            </a:r>
            <a:endParaRPr lang="en-US" altLang="ko-KR" sz="11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en-US" altLang="ko-KR" sz="11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CI</a:t>
            </a:r>
            <a:endParaRPr lang="ko-KR" altLang="en-US" sz="11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32" name="그림 31" descr="블랙, 어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28ACFD5-FEAA-6CA4-4B56-8016319E6027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2985" y="1191723"/>
            <a:ext cx="383533" cy="383533"/>
          </a:xfrm>
          <a:prstGeom prst="rect">
            <a:avLst/>
          </a:prstGeom>
        </p:spPr>
      </p:pic>
      <p:sp>
        <p:nvSpPr>
          <p:cNvPr id="63" name="TextBox 62">
            <a:extLst>
              <a:ext uri="{FF2B5EF4-FFF2-40B4-BE49-F238E27FC236}">
                <a16:creationId xmlns:a16="http://schemas.microsoft.com/office/drawing/2014/main" id="{452F7CD8-9F1D-482C-4FB1-25F0BADD53FE}"/>
              </a:ext>
            </a:extLst>
          </p:cNvPr>
          <p:cNvSpPr txBox="1"/>
          <p:nvPr/>
        </p:nvSpPr>
        <p:spPr>
          <a:xfrm>
            <a:off x="2826086" y="1293697"/>
            <a:ext cx="57184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" panose="020D0604000000000000" pitchFamily="50" charset="-127"/>
                <a:ea typeface="나눔고딕" panose="020D0604000000000000" pitchFamily="50" charset="-127"/>
              </a:rPr>
              <a:t>르그아웃</a:t>
            </a:r>
          </a:p>
        </p:txBody>
      </p:sp>
      <p:pic>
        <p:nvPicPr>
          <p:cNvPr id="64" name="Picture 4" descr="로그 아웃 아이콘">
            <a:extLst>
              <a:ext uri="{FF2B5EF4-FFF2-40B4-BE49-F238E27FC236}">
                <a16:creationId xmlns:a16="http://schemas.microsoft.com/office/drawing/2014/main" id="{4E6FA1C3-C301-9F84-44F9-E3C998D5B3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9631" y="1283929"/>
            <a:ext cx="217049" cy="217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5" name="TextBox 64">
            <a:extLst>
              <a:ext uri="{FF2B5EF4-FFF2-40B4-BE49-F238E27FC236}">
                <a16:creationId xmlns:a16="http://schemas.microsoft.com/office/drawing/2014/main" id="{1AC4E86E-97C5-7F08-5693-ABF45C50B61D}"/>
              </a:ext>
            </a:extLst>
          </p:cNvPr>
          <p:cNvSpPr txBox="1"/>
          <p:nvPr/>
        </p:nvSpPr>
        <p:spPr>
          <a:xfrm>
            <a:off x="1343128" y="1807796"/>
            <a:ext cx="17351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하늘편지</a:t>
            </a:r>
            <a:endParaRPr lang="en-US" altLang="ko-KR" sz="1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9675D540-3000-717E-5DCE-03252D4F6002}"/>
              </a:ext>
            </a:extLst>
          </p:cNvPr>
          <p:cNvSpPr txBox="1"/>
          <p:nvPr/>
        </p:nvSpPr>
        <p:spPr>
          <a:xfrm>
            <a:off x="794294" y="2194931"/>
            <a:ext cx="297118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000" b="1" dirty="0"/>
              <a:t>닿지 못한 마음이 하늘에 닿는 곳</a:t>
            </a:r>
            <a:r>
              <a:rPr lang="en-US" altLang="ko-KR" sz="1000" b="1" dirty="0"/>
              <a:t>"</a:t>
            </a:r>
            <a:r>
              <a:rPr lang="ko-KR" altLang="en-US" sz="1000" dirty="0"/>
              <a:t>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차마 다 전하지 못한 말들이 구름을 타고 그리운 이에게 전해집니다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당신의 진심을 담아 따뜻한 안부를 띄워주세요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C897863A-F688-A0CD-506D-3E46857C2DC5}"/>
              </a:ext>
            </a:extLst>
          </p:cNvPr>
          <p:cNvSpPr txBox="1"/>
          <p:nvPr/>
        </p:nvSpPr>
        <p:spPr>
          <a:xfrm>
            <a:off x="691830" y="3136611"/>
            <a:ext cx="143867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하늘편지 수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en-US" altLang="ko-KR" sz="9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" panose="020D0604000000000000" pitchFamily="50" charset="-127"/>
                <a:ea typeface="나눔고딕" panose="020D0604000000000000" pitchFamily="50" charset="-127"/>
              </a:rPr>
              <a:t>5</a:t>
            </a:r>
            <a:endParaRPr lang="ko-KR" altLang="en-US" sz="9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B61EEC77-2B52-221F-EB18-C2B02E67118A}"/>
              </a:ext>
            </a:extLst>
          </p:cNvPr>
          <p:cNvSpPr/>
          <p:nvPr/>
        </p:nvSpPr>
        <p:spPr>
          <a:xfrm>
            <a:off x="1941150" y="3147497"/>
            <a:ext cx="1214523" cy="21544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6" name="모서리가 둥근 직사각형 63">
            <a:extLst>
              <a:ext uri="{FF2B5EF4-FFF2-40B4-BE49-F238E27FC236}">
                <a16:creationId xmlns:a16="http://schemas.microsoft.com/office/drawing/2014/main" id="{DB0F5BFF-4296-1D34-95A7-9760D9E17B5A}"/>
              </a:ext>
            </a:extLst>
          </p:cNvPr>
          <p:cNvSpPr/>
          <p:nvPr/>
        </p:nvSpPr>
        <p:spPr bwMode="auto">
          <a:xfrm>
            <a:off x="3204313" y="3147498"/>
            <a:ext cx="561170" cy="203902"/>
          </a:xfrm>
          <a:prstGeom prst="roundRect">
            <a:avLst/>
          </a:prstGeom>
          <a:solidFill>
            <a:schemeClr val="tx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000" b="1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검색</a:t>
            </a:r>
          </a:p>
        </p:txBody>
      </p:sp>
      <p:sp>
        <p:nvSpPr>
          <p:cNvPr id="77" name="모서리가 둥근 직사각형 63">
            <a:extLst>
              <a:ext uri="{FF2B5EF4-FFF2-40B4-BE49-F238E27FC236}">
                <a16:creationId xmlns:a16="http://schemas.microsoft.com/office/drawing/2014/main" id="{40DCB79E-7E6C-F574-7D07-7B74CAF44C81}"/>
              </a:ext>
            </a:extLst>
          </p:cNvPr>
          <p:cNvSpPr/>
          <p:nvPr/>
        </p:nvSpPr>
        <p:spPr bwMode="auto">
          <a:xfrm>
            <a:off x="2526349" y="2759430"/>
            <a:ext cx="1239654" cy="27391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900" b="1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하늘편지 쓰기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F468E3BF-54DA-35E2-3962-A78C95E1B6E1}"/>
              </a:ext>
            </a:extLst>
          </p:cNvPr>
          <p:cNvGrpSpPr/>
          <p:nvPr/>
        </p:nvGrpSpPr>
        <p:grpSpPr>
          <a:xfrm>
            <a:off x="786230" y="3450178"/>
            <a:ext cx="2979253" cy="327537"/>
            <a:chOff x="786230" y="3450178"/>
            <a:chExt cx="2979253" cy="327537"/>
          </a:xfrm>
        </p:grpSpPr>
        <p:cxnSp>
          <p:nvCxnSpPr>
            <p:cNvPr id="68" name="Line 1">
              <a:extLst>
                <a:ext uri="{FF2B5EF4-FFF2-40B4-BE49-F238E27FC236}">
                  <a16:creationId xmlns:a16="http://schemas.microsoft.com/office/drawing/2014/main" id="{B55B64C4-961A-57EA-E6D6-9DFD7267ACE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94294" y="3682965"/>
              <a:ext cx="107560" cy="0"/>
            </a:xfrm>
            <a:prstGeom prst="lin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Line 2">
              <a:extLst>
                <a:ext uri="{FF2B5EF4-FFF2-40B4-BE49-F238E27FC236}">
                  <a16:creationId xmlns:a16="http://schemas.microsoft.com/office/drawing/2014/main" id="{0EDD09F3-3EA2-E440-0E23-B7555F0F220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31103" y="3672553"/>
              <a:ext cx="734380" cy="18865"/>
            </a:xfrm>
            <a:prstGeom prst="lin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Tab Selected">
              <a:extLst>
                <a:ext uri="{FF2B5EF4-FFF2-40B4-BE49-F238E27FC236}">
                  <a16:creationId xmlns:a16="http://schemas.microsoft.com/office/drawing/2014/main" id="{EC6A1376-4B85-4736-A833-125675B05A2F}"/>
                </a:ext>
              </a:extLst>
            </p:cNvPr>
            <p:cNvSpPr>
              <a:spLocks/>
            </p:cNvSpPr>
            <p:nvPr/>
          </p:nvSpPr>
          <p:spPr bwMode="auto">
            <a:xfrm>
              <a:off x="1971141" y="3450178"/>
              <a:ext cx="1059962" cy="240299"/>
            </a:xfrm>
            <a:custGeom>
              <a:avLst/>
              <a:gdLst>
                <a:gd name="T0" fmla="*/ 0 w 2218"/>
                <a:gd name="T1" fmla="*/ 670 h 670"/>
                <a:gd name="T2" fmla="*/ 0 w 2218"/>
                <a:gd name="T3" fmla="*/ 0 h 670"/>
                <a:gd name="T4" fmla="*/ 2218 w 2218"/>
                <a:gd name="T5" fmla="*/ 0 h 670"/>
                <a:gd name="T6" fmla="*/ 2218 w 2218"/>
                <a:gd name="T7" fmla="*/ 670 h 6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218" h="670">
                  <a:moveTo>
                    <a:pt x="0" y="670"/>
                  </a:moveTo>
                  <a:lnTo>
                    <a:pt x="0" y="0"/>
                  </a:lnTo>
                  <a:lnTo>
                    <a:pt x="2218" y="0"/>
                  </a:lnTo>
                  <a:lnTo>
                    <a:pt x="2218" y="670"/>
                  </a:lnTo>
                </a:path>
              </a:pathLst>
            </a:custGeom>
            <a:solidFill>
              <a:schemeClr val="bg1"/>
            </a:solidFill>
            <a:ln w="6350" cap="sq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90000"/>
                </a:lnSpc>
                <a:defRPr/>
              </a:pPr>
              <a:r>
                <a:rPr lang="ko-KR" altLang="en-US" sz="1000" b="1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Segoe UI" panose="020B0502040204020203" pitchFamily="34" charset="0"/>
                </a:rPr>
                <a:t>내가 쓴 하늘 편지</a:t>
              </a:r>
              <a:endParaRPr lang="en-US" altLang="ko-KR" sz="1000" b="1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Segoe UI" panose="020B0502040204020203" pitchFamily="34" charset="0"/>
              </a:endParaRPr>
            </a:p>
          </p:txBody>
        </p:sp>
        <p:sp>
          <p:nvSpPr>
            <p:cNvPr id="71" name="Tab">
              <a:extLst>
                <a:ext uri="{FF2B5EF4-FFF2-40B4-BE49-F238E27FC236}">
                  <a16:creationId xmlns:a16="http://schemas.microsoft.com/office/drawing/2014/main" id="{D5B0677C-2926-3C07-F02E-D5A711239E8F}"/>
                </a:ext>
              </a:extLst>
            </p:cNvPr>
            <p:cNvSpPr/>
            <p:nvPr/>
          </p:nvSpPr>
          <p:spPr>
            <a:xfrm>
              <a:off x="924427" y="3453550"/>
              <a:ext cx="1046714" cy="24029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90000"/>
                </a:lnSpc>
                <a:defRPr/>
              </a:pPr>
              <a:r>
                <a:rPr lang="ko-KR" altLang="en-US" sz="1000">
                  <a:solidFill>
                    <a:prstClr val="black">
                      <a:lumMod val="75000"/>
                      <a:lumOff val="25000"/>
                    </a:prst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Segoe UI" panose="020B0502040204020203" pitchFamily="34" charset="0"/>
                </a:rPr>
                <a:t>전체</a:t>
              </a:r>
              <a:endParaRPr lang="en-US" sz="100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Segoe UI" panose="020B0502040204020203" pitchFamily="34" charset="0"/>
              </a:endParaRPr>
            </a:p>
          </p:txBody>
        </p:sp>
        <p:cxnSp>
          <p:nvCxnSpPr>
            <p:cNvPr id="78" name="직선 연결선 77">
              <a:extLst>
                <a:ext uri="{FF2B5EF4-FFF2-40B4-BE49-F238E27FC236}">
                  <a16:creationId xmlns:a16="http://schemas.microsoft.com/office/drawing/2014/main" id="{065D0C2C-8720-D447-8B1A-61FDC04BFD0A}"/>
                </a:ext>
              </a:extLst>
            </p:cNvPr>
            <p:cNvCxnSpPr>
              <a:cxnSpLocks/>
            </p:cNvCxnSpPr>
            <p:nvPr/>
          </p:nvCxnSpPr>
          <p:spPr>
            <a:xfrm>
              <a:off x="786230" y="3777715"/>
              <a:ext cx="2970288" cy="0"/>
            </a:xfrm>
            <a:prstGeom prst="line">
              <a:avLst/>
            </a:prstGeom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80" name="직선 연결선 79">
            <a:extLst>
              <a:ext uri="{FF2B5EF4-FFF2-40B4-BE49-F238E27FC236}">
                <a16:creationId xmlns:a16="http://schemas.microsoft.com/office/drawing/2014/main" id="{693D74CB-2E8B-B1E0-8635-69CDEB437739}"/>
              </a:ext>
            </a:extLst>
          </p:cNvPr>
          <p:cNvCxnSpPr>
            <a:cxnSpLocks/>
          </p:cNvCxnSpPr>
          <p:nvPr/>
        </p:nvCxnSpPr>
        <p:spPr>
          <a:xfrm>
            <a:off x="794294" y="4260858"/>
            <a:ext cx="2970288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TextBox 80">
            <a:extLst>
              <a:ext uri="{FF2B5EF4-FFF2-40B4-BE49-F238E27FC236}">
                <a16:creationId xmlns:a16="http://schemas.microsoft.com/office/drawing/2014/main" id="{8552B919-9863-9F3C-E57D-016342242B62}"/>
              </a:ext>
            </a:extLst>
          </p:cNvPr>
          <p:cNvSpPr txBox="1"/>
          <p:nvPr/>
        </p:nvSpPr>
        <p:spPr>
          <a:xfrm>
            <a:off x="786230" y="3777715"/>
            <a:ext cx="61291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5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2D4F6FA8-C920-3BAE-ADDA-AF082D9081FD}"/>
              </a:ext>
            </a:extLst>
          </p:cNvPr>
          <p:cNvSpPr txBox="1"/>
          <p:nvPr/>
        </p:nvSpPr>
        <p:spPr>
          <a:xfrm>
            <a:off x="1343128" y="3777715"/>
            <a:ext cx="36447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딸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D6FD63E2-A800-9CB2-AA91-1E150539505D}"/>
              </a:ext>
            </a:extLst>
          </p:cNvPr>
          <p:cNvSpPr txBox="1"/>
          <p:nvPr/>
        </p:nvSpPr>
        <p:spPr>
          <a:xfrm>
            <a:off x="2886941" y="3777715"/>
            <a:ext cx="924702" cy="230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2026-03-11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85" name="직선 연결선 84">
            <a:extLst>
              <a:ext uri="{FF2B5EF4-FFF2-40B4-BE49-F238E27FC236}">
                <a16:creationId xmlns:a16="http://schemas.microsoft.com/office/drawing/2014/main" id="{71B33514-3017-E24F-02A1-2851D9D2E7C4}"/>
              </a:ext>
            </a:extLst>
          </p:cNvPr>
          <p:cNvCxnSpPr>
            <a:cxnSpLocks/>
          </p:cNvCxnSpPr>
          <p:nvPr/>
        </p:nvCxnSpPr>
        <p:spPr>
          <a:xfrm>
            <a:off x="804107" y="4760075"/>
            <a:ext cx="2970288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직선 연결선 85">
            <a:extLst>
              <a:ext uri="{FF2B5EF4-FFF2-40B4-BE49-F238E27FC236}">
                <a16:creationId xmlns:a16="http://schemas.microsoft.com/office/drawing/2014/main" id="{B84F2CA2-4BC9-471F-B0AA-7D1DE219F848}"/>
              </a:ext>
            </a:extLst>
          </p:cNvPr>
          <p:cNvCxnSpPr>
            <a:cxnSpLocks/>
          </p:cNvCxnSpPr>
          <p:nvPr/>
        </p:nvCxnSpPr>
        <p:spPr>
          <a:xfrm>
            <a:off x="812171" y="5243218"/>
            <a:ext cx="2970288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TextBox 86">
            <a:extLst>
              <a:ext uri="{FF2B5EF4-FFF2-40B4-BE49-F238E27FC236}">
                <a16:creationId xmlns:a16="http://schemas.microsoft.com/office/drawing/2014/main" id="{241BC7DA-B14C-C757-8EC3-8E9B549865D1}"/>
              </a:ext>
            </a:extLst>
          </p:cNvPr>
          <p:cNvSpPr txBox="1"/>
          <p:nvPr/>
        </p:nvSpPr>
        <p:spPr>
          <a:xfrm>
            <a:off x="804107" y="4760075"/>
            <a:ext cx="61291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A059EE81-2A14-1DFC-1005-BED74C378948}"/>
              </a:ext>
            </a:extLst>
          </p:cNvPr>
          <p:cNvSpPr txBox="1"/>
          <p:nvPr/>
        </p:nvSpPr>
        <p:spPr>
          <a:xfrm>
            <a:off x="1361005" y="4760075"/>
            <a:ext cx="36447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딸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6335A56D-0365-6A42-FC8C-0AF465A8CD09}"/>
              </a:ext>
            </a:extLst>
          </p:cNvPr>
          <p:cNvSpPr txBox="1"/>
          <p:nvPr/>
        </p:nvSpPr>
        <p:spPr>
          <a:xfrm>
            <a:off x="2904818" y="4760075"/>
            <a:ext cx="924702" cy="230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2026-03-11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E7FA6ECE-A4EE-5D8A-16D1-9E2AD2B56B60}"/>
              </a:ext>
            </a:extLst>
          </p:cNvPr>
          <p:cNvSpPr txBox="1"/>
          <p:nvPr/>
        </p:nvSpPr>
        <p:spPr>
          <a:xfrm>
            <a:off x="804107" y="4260855"/>
            <a:ext cx="61291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6F8DB0C9-12A4-82FD-778C-3441B27F04AC}"/>
              </a:ext>
            </a:extLst>
          </p:cNvPr>
          <p:cNvSpPr txBox="1"/>
          <p:nvPr/>
        </p:nvSpPr>
        <p:spPr>
          <a:xfrm>
            <a:off x="1361005" y="4260855"/>
            <a:ext cx="36447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딸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C53ADB86-A707-1F80-6BAD-4315D5421A9B}"/>
              </a:ext>
            </a:extLst>
          </p:cNvPr>
          <p:cNvSpPr txBox="1"/>
          <p:nvPr/>
        </p:nvSpPr>
        <p:spPr>
          <a:xfrm>
            <a:off x="2904818" y="4260855"/>
            <a:ext cx="924702" cy="230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2026-03-11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6A825398-12F7-A75F-5C2E-22107E929D2D}"/>
              </a:ext>
            </a:extLst>
          </p:cNvPr>
          <p:cNvSpPr txBox="1"/>
          <p:nvPr/>
        </p:nvSpPr>
        <p:spPr>
          <a:xfrm>
            <a:off x="1294042" y="4500943"/>
            <a:ext cx="253547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어머니 하늘나라에서는 어떻게 지내시고 </a:t>
            </a:r>
            <a:r>
              <a:rPr lang="ko-KR" altLang="en-US" sz="8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계신지요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…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2C0E97E9-4467-274D-C0E4-A0F8DFBF7C96}"/>
              </a:ext>
            </a:extLst>
          </p:cNvPr>
          <p:cNvSpPr txBox="1"/>
          <p:nvPr/>
        </p:nvSpPr>
        <p:spPr>
          <a:xfrm>
            <a:off x="1348479" y="5044864"/>
            <a:ext cx="253547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어머니 하늘나라에서는 어떻게 지내시고 </a:t>
            </a:r>
            <a:r>
              <a:rPr lang="ko-KR" altLang="en-US" sz="8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계신지요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…</a:t>
            </a:r>
          </a:p>
        </p:txBody>
      </p:sp>
      <p:cxnSp>
        <p:nvCxnSpPr>
          <p:cNvPr id="98" name="직선 연결선 97">
            <a:extLst>
              <a:ext uri="{FF2B5EF4-FFF2-40B4-BE49-F238E27FC236}">
                <a16:creationId xmlns:a16="http://schemas.microsoft.com/office/drawing/2014/main" id="{C793BC28-2841-E322-0937-88695CC90D33}"/>
              </a:ext>
            </a:extLst>
          </p:cNvPr>
          <p:cNvCxnSpPr>
            <a:cxnSpLocks/>
          </p:cNvCxnSpPr>
          <p:nvPr/>
        </p:nvCxnSpPr>
        <p:spPr>
          <a:xfrm>
            <a:off x="804107" y="5842113"/>
            <a:ext cx="2970288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TextBox 98">
            <a:extLst>
              <a:ext uri="{FF2B5EF4-FFF2-40B4-BE49-F238E27FC236}">
                <a16:creationId xmlns:a16="http://schemas.microsoft.com/office/drawing/2014/main" id="{D4A9A0D7-5102-FAD4-33BF-3FD345707738}"/>
              </a:ext>
            </a:extLst>
          </p:cNvPr>
          <p:cNvSpPr txBox="1"/>
          <p:nvPr/>
        </p:nvSpPr>
        <p:spPr>
          <a:xfrm>
            <a:off x="796043" y="5358970"/>
            <a:ext cx="61291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BD7ADC0D-911F-86AD-B155-ADA5BC0E479D}"/>
              </a:ext>
            </a:extLst>
          </p:cNvPr>
          <p:cNvSpPr txBox="1"/>
          <p:nvPr/>
        </p:nvSpPr>
        <p:spPr>
          <a:xfrm>
            <a:off x="1352941" y="5358970"/>
            <a:ext cx="36447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딸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1521605E-559E-E721-0613-939283EBE02B}"/>
              </a:ext>
            </a:extLst>
          </p:cNvPr>
          <p:cNvSpPr txBox="1"/>
          <p:nvPr/>
        </p:nvSpPr>
        <p:spPr>
          <a:xfrm>
            <a:off x="2896754" y="5358970"/>
            <a:ext cx="924702" cy="230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2026-03-11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103" name="직선 연결선 102">
            <a:extLst>
              <a:ext uri="{FF2B5EF4-FFF2-40B4-BE49-F238E27FC236}">
                <a16:creationId xmlns:a16="http://schemas.microsoft.com/office/drawing/2014/main" id="{6044EFA3-23E8-3EB6-C923-88BE61F66ADA}"/>
              </a:ext>
            </a:extLst>
          </p:cNvPr>
          <p:cNvCxnSpPr>
            <a:cxnSpLocks/>
          </p:cNvCxnSpPr>
          <p:nvPr/>
        </p:nvCxnSpPr>
        <p:spPr>
          <a:xfrm>
            <a:off x="5316850" y="1776840"/>
            <a:ext cx="2970288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TextBox 103">
            <a:extLst>
              <a:ext uri="{FF2B5EF4-FFF2-40B4-BE49-F238E27FC236}">
                <a16:creationId xmlns:a16="http://schemas.microsoft.com/office/drawing/2014/main" id="{F53ADCD4-BA6B-194A-BA71-BC4640AE85F2}"/>
              </a:ext>
            </a:extLst>
          </p:cNvPr>
          <p:cNvSpPr txBox="1"/>
          <p:nvPr/>
        </p:nvSpPr>
        <p:spPr>
          <a:xfrm>
            <a:off x="5308786" y="1293697"/>
            <a:ext cx="61291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8FF70A59-A65F-0346-BE4E-17423B23CC25}"/>
              </a:ext>
            </a:extLst>
          </p:cNvPr>
          <p:cNvSpPr txBox="1"/>
          <p:nvPr/>
        </p:nvSpPr>
        <p:spPr>
          <a:xfrm>
            <a:off x="5865684" y="1293697"/>
            <a:ext cx="36447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딸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05A46E93-EF51-3133-5FB3-AB1CE5B69E09}"/>
              </a:ext>
            </a:extLst>
          </p:cNvPr>
          <p:cNvSpPr txBox="1"/>
          <p:nvPr/>
        </p:nvSpPr>
        <p:spPr>
          <a:xfrm>
            <a:off x="7409497" y="1293697"/>
            <a:ext cx="924702" cy="230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2026-03-11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774D98B0-D8CF-9187-9594-747F905043FF}"/>
              </a:ext>
            </a:extLst>
          </p:cNvPr>
          <p:cNvSpPr txBox="1"/>
          <p:nvPr/>
        </p:nvSpPr>
        <p:spPr>
          <a:xfrm>
            <a:off x="5865684" y="1542961"/>
            <a:ext cx="253547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어머니 하늘나라에서는 어떻게 지내시고 </a:t>
            </a:r>
            <a:r>
              <a:rPr lang="ko-KR" altLang="en-US" sz="8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계신지요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…</a:t>
            </a:r>
          </a:p>
        </p:txBody>
      </p:sp>
      <p:sp>
        <p:nvSpPr>
          <p:cNvPr id="111" name="Oval 109">
            <a:extLst>
              <a:ext uri="{FF2B5EF4-FFF2-40B4-BE49-F238E27FC236}">
                <a16:creationId xmlns:a16="http://schemas.microsoft.com/office/drawing/2014/main" id="{80E5DDFF-103E-3448-3177-81D6782AB9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830" y="2971683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7997DC-0BEE-DF9C-FF6A-F5A6C5DD91A4}"/>
              </a:ext>
            </a:extLst>
          </p:cNvPr>
          <p:cNvSpPr txBox="1"/>
          <p:nvPr/>
        </p:nvSpPr>
        <p:spPr>
          <a:xfrm>
            <a:off x="1279276" y="4022628"/>
            <a:ext cx="253547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어머니 하늘나라에서는 어떻게 지내시고 </a:t>
            </a:r>
            <a:r>
              <a:rPr lang="ko-KR" altLang="en-US" sz="8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계신지요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…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A288A36-14CF-8884-C38B-F67A48594B6E}"/>
              </a:ext>
            </a:extLst>
          </p:cNvPr>
          <p:cNvSpPr txBox="1"/>
          <p:nvPr/>
        </p:nvSpPr>
        <p:spPr>
          <a:xfrm>
            <a:off x="1330621" y="5626669"/>
            <a:ext cx="253547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어머니 하늘나라에서는 어떻게 지내시고 </a:t>
            </a:r>
            <a:r>
              <a:rPr lang="ko-KR" altLang="en-US" sz="8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계신지요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…</a:t>
            </a:r>
          </a:p>
        </p:txBody>
      </p:sp>
      <p:sp>
        <p:nvSpPr>
          <p:cNvPr id="10" name="Oval 109">
            <a:extLst>
              <a:ext uri="{FF2B5EF4-FFF2-40B4-BE49-F238E27FC236}">
                <a16:creationId xmlns:a16="http://schemas.microsoft.com/office/drawing/2014/main" id="{298994F3-097A-E43D-4AAF-2415A04130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2686" y="1903550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2</a:t>
            </a:r>
            <a:endParaRPr lang="en-US" altLang="ko-KR" sz="800" b="1" dirty="0">
              <a:solidFill>
                <a:schemeClr val="bg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22A3575-4488-98F1-5A82-92D42E894B1F}"/>
              </a:ext>
            </a:extLst>
          </p:cNvPr>
          <p:cNvSpPr/>
          <p:nvPr/>
        </p:nvSpPr>
        <p:spPr>
          <a:xfrm>
            <a:off x="5217925" y="2662418"/>
            <a:ext cx="3168137" cy="264669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Footer</a:t>
            </a:r>
            <a:endParaRPr lang="ko-KR" altLang="en-US" sz="10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09926108"/>
      </p:ext>
    </p:extLst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C20CB1-1096-580C-DE7E-8B790CD4DB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A1D23F46-B730-0336-2DEC-F66AD5C698B2}"/>
              </a:ext>
            </a:extLst>
          </p:cNvPr>
          <p:cNvGraphicFramePr>
            <a:graphicFrameLocks noGrp="1"/>
          </p:cNvGraphicFramePr>
          <p:nvPr/>
        </p:nvGraphicFramePr>
        <p:xfrm>
          <a:off x="9182101" y="947377"/>
          <a:ext cx="2795588" cy="1969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1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내가 쓴 하늘편지의 상세 화면으로 하단에 목록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삭제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수정 버튼 노출됨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684046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선택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하늘 편지 쓰기 화면으로 이동</a:t>
                      </a: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723838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3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하늘편지 쓰기에서 입력한 작성자 노출</a:t>
                      </a: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172599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4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선택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목록화면으로 이동</a:t>
                      </a: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290794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5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선택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Alert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팝업 노출 후 확인 선택 시 삭제 처리됨</a:t>
                      </a: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922450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6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선택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수정 화면으로 이동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784800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7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0538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8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199337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9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450365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0DD9434E-6E25-920A-D1FA-56575D34D025}"/>
              </a:ext>
            </a:extLst>
          </p:cNvPr>
          <p:cNvSpPr/>
          <p:nvPr/>
        </p:nvSpPr>
        <p:spPr>
          <a:xfrm>
            <a:off x="959895" y="375614"/>
            <a:ext cx="2323072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</a:pP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메인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사이버추모관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하늘편지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하늘편지 상세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4F2C660-D0A4-AF99-9BF4-36028C1768F0}"/>
              </a:ext>
            </a:extLst>
          </p:cNvPr>
          <p:cNvSpPr txBox="1"/>
          <p:nvPr/>
        </p:nvSpPr>
        <p:spPr>
          <a:xfrm>
            <a:off x="6003996" y="123825"/>
            <a:ext cx="17303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HN_Memorial_Letterview_001</a:t>
            </a:r>
            <a:endParaRPr lang="ko-KR" altLang="en-US" sz="800" dirty="0"/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9E4187E3-7093-79C1-3922-858AEB0A84F8}"/>
              </a:ext>
            </a:extLst>
          </p:cNvPr>
          <p:cNvCxnSpPr>
            <a:cxnSpLocks/>
          </p:cNvCxnSpPr>
          <p:nvPr/>
        </p:nvCxnSpPr>
        <p:spPr>
          <a:xfrm>
            <a:off x="655957" y="1658468"/>
            <a:ext cx="3109526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4690610D-80E1-36A5-42DC-FD20A1C2B0B7}"/>
              </a:ext>
            </a:extLst>
          </p:cNvPr>
          <p:cNvSpPr txBox="1"/>
          <p:nvPr/>
        </p:nvSpPr>
        <p:spPr>
          <a:xfrm>
            <a:off x="1793778" y="1181491"/>
            <a:ext cx="83388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하늘누리</a:t>
            </a:r>
            <a:endParaRPr lang="en-US" altLang="ko-KR" sz="11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en-US" altLang="ko-KR" sz="11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CI</a:t>
            </a:r>
            <a:endParaRPr lang="ko-KR" altLang="en-US" sz="11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12" name="그림 11" descr="블랙, 어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28BA1D6-A946-0142-F8D7-FFC0F8728A7E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2985" y="1191723"/>
            <a:ext cx="383533" cy="383533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050053A7-D8A6-C562-1F40-416493D508D4}"/>
              </a:ext>
            </a:extLst>
          </p:cNvPr>
          <p:cNvSpPr txBox="1"/>
          <p:nvPr/>
        </p:nvSpPr>
        <p:spPr>
          <a:xfrm>
            <a:off x="2826086" y="1293697"/>
            <a:ext cx="57184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" panose="020D0604000000000000" pitchFamily="50" charset="-127"/>
                <a:ea typeface="나눔고딕" panose="020D0604000000000000" pitchFamily="50" charset="-127"/>
              </a:rPr>
              <a:t>르그아웃</a:t>
            </a:r>
          </a:p>
        </p:txBody>
      </p:sp>
      <p:pic>
        <p:nvPicPr>
          <p:cNvPr id="21" name="Picture 4" descr="로그 아웃 아이콘">
            <a:extLst>
              <a:ext uri="{FF2B5EF4-FFF2-40B4-BE49-F238E27FC236}">
                <a16:creationId xmlns:a16="http://schemas.microsoft.com/office/drawing/2014/main" id="{8F24BCD5-3CD0-B857-70D0-CA6A0BA0E7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9631" y="1283929"/>
            <a:ext cx="217049" cy="217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45CAB1E0-F84A-60F1-C863-15AC59363252}"/>
              </a:ext>
            </a:extLst>
          </p:cNvPr>
          <p:cNvSpPr txBox="1"/>
          <p:nvPr/>
        </p:nvSpPr>
        <p:spPr>
          <a:xfrm>
            <a:off x="1343128" y="1807796"/>
            <a:ext cx="17351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하늘편지</a:t>
            </a:r>
            <a:endParaRPr lang="en-US" altLang="ko-KR" sz="1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3C92536-6652-F000-E712-3A0F27399B1F}"/>
              </a:ext>
            </a:extLst>
          </p:cNvPr>
          <p:cNvSpPr txBox="1"/>
          <p:nvPr/>
        </p:nvSpPr>
        <p:spPr>
          <a:xfrm>
            <a:off x="794294" y="2194931"/>
            <a:ext cx="297118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000" b="1" dirty="0"/>
              <a:t>닿지 못한 마음이 하늘에 닿는 곳</a:t>
            </a:r>
            <a:r>
              <a:rPr lang="en-US" altLang="ko-KR" sz="1000" b="1" dirty="0"/>
              <a:t>"</a:t>
            </a:r>
            <a:r>
              <a:rPr lang="ko-KR" altLang="en-US" sz="1000" dirty="0"/>
              <a:t>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차마 다 전하지 못한 말들이 구름을 타고 그리운 이에게 전해집니다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당신의 진심을 담아 따뜻한 안부를 띄워주세요</a:t>
            </a:r>
          </a:p>
        </p:txBody>
      </p:sp>
      <p:sp>
        <p:nvSpPr>
          <p:cNvPr id="24" name="모서리가 둥근 직사각형 63">
            <a:extLst>
              <a:ext uri="{FF2B5EF4-FFF2-40B4-BE49-F238E27FC236}">
                <a16:creationId xmlns:a16="http://schemas.microsoft.com/office/drawing/2014/main" id="{281B7BC5-A093-F13E-4ECC-0E3D282D78D1}"/>
              </a:ext>
            </a:extLst>
          </p:cNvPr>
          <p:cNvSpPr/>
          <p:nvPr/>
        </p:nvSpPr>
        <p:spPr bwMode="auto">
          <a:xfrm>
            <a:off x="2526349" y="2759430"/>
            <a:ext cx="1239654" cy="27391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900" b="1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하늘편지 쓰기</a:t>
            </a:r>
          </a:p>
        </p:txBody>
      </p: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F7CB83B7-C613-8FD2-B95A-33BA42794FFC}"/>
              </a:ext>
            </a:extLst>
          </p:cNvPr>
          <p:cNvCxnSpPr>
            <a:cxnSpLocks/>
          </p:cNvCxnSpPr>
          <p:nvPr/>
        </p:nvCxnSpPr>
        <p:spPr>
          <a:xfrm>
            <a:off x="746269" y="3280099"/>
            <a:ext cx="3019214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AC9AF12B-D343-A3CB-F6BC-C8AB952CA581}"/>
              </a:ext>
            </a:extLst>
          </p:cNvPr>
          <p:cNvSpPr txBox="1"/>
          <p:nvPr/>
        </p:nvSpPr>
        <p:spPr>
          <a:xfrm>
            <a:off x="746269" y="3385674"/>
            <a:ext cx="297118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어머니 하늘에서 어떻게 지내고 계신지요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저는 </a:t>
            </a:r>
            <a:r>
              <a:rPr lang="ko-KR" altLang="en-US" sz="8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잘지내고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있어요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어머니 하늘에서 어떻게 지내고 계신지요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저는 </a:t>
            </a:r>
            <a:r>
              <a:rPr lang="ko-KR" altLang="en-US" sz="8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잘지내고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있어요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endParaRPr lang="en-US" altLang="ko-KR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어머니 하늘에서 어떻게 지내고 계신지요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저는 </a:t>
            </a:r>
            <a:r>
              <a:rPr lang="ko-KR" altLang="en-US" sz="8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잘지내고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있어요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어머니 하늘에서 어떻게 지내고 계신지요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저는 </a:t>
            </a:r>
            <a:r>
              <a:rPr lang="ko-KR" altLang="en-US" sz="8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잘지내고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있어요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어머니 하늘에서 어떻게 지내고 계신지요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저는 </a:t>
            </a:r>
            <a:r>
              <a:rPr lang="ko-KR" altLang="en-US" sz="8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잘지내고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있어요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어머니 하늘에서 어떻게 지내고 계신지요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저는 </a:t>
            </a:r>
            <a:r>
              <a:rPr lang="ko-KR" altLang="en-US" sz="8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잘지내고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있어요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</p:txBody>
      </p: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7E5566B9-64C1-E29E-0684-BF1048D3840A}"/>
              </a:ext>
            </a:extLst>
          </p:cNvPr>
          <p:cNvCxnSpPr>
            <a:cxnSpLocks/>
          </p:cNvCxnSpPr>
          <p:nvPr/>
        </p:nvCxnSpPr>
        <p:spPr>
          <a:xfrm>
            <a:off x="746269" y="4934518"/>
            <a:ext cx="3019214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C7FDCA89-3647-2E5E-F335-E23972FB84A3}"/>
              </a:ext>
            </a:extLst>
          </p:cNvPr>
          <p:cNvSpPr txBox="1"/>
          <p:nvPr/>
        </p:nvSpPr>
        <p:spPr>
          <a:xfrm>
            <a:off x="1154352" y="4571777"/>
            <a:ext cx="258489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8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작성자</a:t>
            </a:r>
            <a:r>
              <a:rPr lang="ko-KR" altLang="en-US" sz="8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8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8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아들  </a:t>
            </a:r>
            <a:r>
              <a:rPr lang="ko-KR" altLang="en-US" sz="8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작성일</a:t>
            </a:r>
            <a:r>
              <a:rPr lang="ko-KR" altLang="en-US" sz="8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8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2026-03-11</a:t>
            </a:r>
            <a:endParaRPr lang="ko-KR" altLang="en-US" sz="8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7" name="모서리가 둥근 직사각형 63">
            <a:extLst>
              <a:ext uri="{FF2B5EF4-FFF2-40B4-BE49-F238E27FC236}">
                <a16:creationId xmlns:a16="http://schemas.microsoft.com/office/drawing/2014/main" id="{F5F6315A-2B9A-A2BF-9D43-AD181B714D04}"/>
              </a:ext>
            </a:extLst>
          </p:cNvPr>
          <p:cNvSpPr/>
          <p:nvPr/>
        </p:nvSpPr>
        <p:spPr bwMode="auto">
          <a:xfrm>
            <a:off x="731539" y="5019217"/>
            <a:ext cx="988621" cy="312422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000" b="1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목록</a:t>
            </a:r>
          </a:p>
        </p:txBody>
      </p:sp>
      <p:sp>
        <p:nvSpPr>
          <p:cNvPr id="48" name="모서리가 둥근 직사각형 63">
            <a:extLst>
              <a:ext uri="{FF2B5EF4-FFF2-40B4-BE49-F238E27FC236}">
                <a16:creationId xmlns:a16="http://schemas.microsoft.com/office/drawing/2014/main" id="{073659E3-5882-AA7E-11B0-A11D8582FA70}"/>
              </a:ext>
            </a:extLst>
          </p:cNvPr>
          <p:cNvSpPr/>
          <p:nvPr/>
        </p:nvSpPr>
        <p:spPr bwMode="auto">
          <a:xfrm>
            <a:off x="1748134" y="5019217"/>
            <a:ext cx="992524" cy="312422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000" b="1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삭제</a:t>
            </a:r>
          </a:p>
        </p:txBody>
      </p:sp>
      <p:sp>
        <p:nvSpPr>
          <p:cNvPr id="49" name="모서리가 둥근 직사각형 63">
            <a:extLst>
              <a:ext uri="{FF2B5EF4-FFF2-40B4-BE49-F238E27FC236}">
                <a16:creationId xmlns:a16="http://schemas.microsoft.com/office/drawing/2014/main" id="{F17414C8-9A25-0CEA-8FB0-3E44400DBD2A}"/>
              </a:ext>
            </a:extLst>
          </p:cNvPr>
          <p:cNvSpPr/>
          <p:nvPr/>
        </p:nvSpPr>
        <p:spPr bwMode="auto">
          <a:xfrm>
            <a:off x="2768959" y="5019217"/>
            <a:ext cx="1005182" cy="312422"/>
          </a:xfrm>
          <a:prstGeom prst="roundRect">
            <a:avLst/>
          </a:prstGeom>
          <a:solidFill>
            <a:schemeClr val="tx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000" b="1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수정</a:t>
            </a:r>
          </a:p>
        </p:txBody>
      </p:sp>
      <p:sp>
        <p:nvSpPr>
          <p:cNvPr id="50" name="Oval 109">
            <a:extLst>
              <a:ext uri="{FF2B5EF4-FFF2-40B4-BE49-F238E27FC236}">
                <a16:creationId xmlns:a16="http://schemas.microsoft.com/office/drawing/2014/main" id="{71EA5CB4-E876-0CA4-849A-5F6021E1BF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0397" y="2731255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2</a:t>
            </a:r>
          </a:p>
        </p:txBody>
      </p:sp>
      <p:sp>
        <p:nvSpPr>
          <p:cNvPr id="51" name="Oval 109">
            <a:extLst>
              <a:ext uri="{FF2B5EF4-FFF2-40B4-BE49-F238E27FC236}">
                <a16:creationId xmlns:a16="http://schemas.microsoft.com/office/drawing/2014/main" id="{87F3A26E-DD62-0245-85EE-CF24BA8CEE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5139" y="3188553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1</a:t>
            </a:r>
          </a:p>
        </p:txBody>
      </p:sp>
      <p:sp>
        <p:nvSpPr>
          <p:cNvPr id="52" name="Oval 109">
            <a:extLst>
              <a:ext uri="{FF2B5EF4-FFF2-40B4-BE49-F238E27FC236}">
                <a16:creationId xmlns:a16="http://schemas.microsoft.com/office/drawing/2014/main" id="{E0F098BF-279D-A760-FE90-169CCB17B3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48631" y="4485377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3</a:t>
            </a:r>
          </a:p>
        </p:txBody>
      </p:sp>
      <p:sp>
        <p:nvSpPr>
          <p:cNvPr id="53" name="Oval 109">
            <a:extLst>
              <a:ext uri="{FF2B5EF4-FFF2-40B4-BE49-F238E27FC236}">
                <a16:creationId xmlns:a16="http://schemas.microsoft.com/office/drawing/2014/main" id="{EBCC1B14-1CCB-E4EB-B11B-4EE1AE8A53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316" y="4846417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4</a:t>
            </a:r>
          </a:p>
        </p:txBody>
      </p:sp>
      <p:sp>
        <p:nvSpPr>
          <p:cNvPr id="54" name="Oval 109">
            <a:extLst>
              <a:ext uri="{FF2B5EF4-FFF2-40B4-BE49-F238E27FC236}">
                <a16:creationId xmlns:a16="http://schemas.microsoft.com/office/drawing/2014/main" id="{5A5F55EB-0005-5B10-2E6E-50A826BE4A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4565" y="4890173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5</a:t>
            </a:r>
          </a:p>
        </p:txBody>
      </p:sp>
      <p:sp>
        <p:nvSpPr>
          <p:cNvPr id="55" name="Oval 109">
            <a:extLst>
              <a:ext uri="{FF2B5EF4-FFF2-40B4-BE49-F238E27FC236}">
                <a16:creationId xmlns:a16="http://schemas.microsoft.com/office/drawing/2014/main" id="{3B0C3479-F95C-1BBD-D213-05E85F6863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0280" y="4869889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6</a:t>
            </a: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CDEF39DA-2CF4-7681-A941-32519ACDD84A}"/>
              </a:ext>
            </a:extLst>
          </p:cNvPr>
          <p:cNvSpPr/>
          <p:nvPr/>
        </p:nvSpPr>
        <p:spPr>
          <a:xfrm>
            <a:off x="664486" y="5909524"/>
            <a:ext cx="3168137" cy="264669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Footer</a:t>
            </a:r>
            <a:endParaRPr lang="ko-KR" altLang="en-US" sz="10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46361240"/>
      </p:ext>
    </p:extLst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CC3E46-7AB5-CF11-0A0F-124B52E0F0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7E0B97A4-3FB4-C4B8-56B5-9BB0A4009AF1}"/>
              </a:ext>
            </a:extLst>
          </p:cNvPr>
          <p:cNvGraphicFramePr>
            <a:graphicFrameLocks noGrp="1"/>
          </p:cNvGraphicFramePr>
          <p:nvPr/>
        </p:nvGraphicFramePr>
        <p:xfrm>
          <a:off x="9182101" y="947377"/>
          <a:ext cx="2795588" cy="1847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1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선택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삭제하지 않고 팝업 닫힘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684046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선택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해당 글 삭제 처리</a:t>
                      </a: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723838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3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172599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4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290794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5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922450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6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784800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7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0538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8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199337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9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450365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E69E10A4-46B0-071D-7022-D63408FB54AA}"/>
              </a:ext>
            </a:extLst>
          </p:cNvPr>
          <p:cNvSpPr/>
          <p:nvPr/>
        </p:nvSpPr>
        <p:spPr>
          <a:xfrm>
            <a:off x="959895" y="375614"/>
            <a:ext cx="2581156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</a:pP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메인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사이버추모관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하늘편지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상세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(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삭제 </a:t>
            </a:r>
            <a:r>
              <a:rPr kumimoji="1" lang="ko-KR" altLang="en-US" sz="800" dirty="0" err="1">
                <a:latin typeface="나눔고딕" pitchFamily="50" charset="-127"/>
                <a:ea typeface="나눔고딕" pitchFamily="50" charset="-127"/>
              </a:rPr>
              <a:t>알럿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 팝업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)</a:t>
            </a:r>
            <a:endParaRPr kumimoji="1" lang="ko-KR" altLang="en-US" sz="800" dirty="0"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A1C7370-2F4F-8B3B-8147-4C6F11306D47}"/>
              </a:ext>
            </a:extLst>
          </p:cNvPr>
          <p:cNvSpPr txBox="1"/>
          <p:nvPr/>
        </p:nvSpPr>
        <p:spPr>
          <a:xfrm>
            <a:off x="6003996" y="123825"/>
            <a:ext cx="17303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HN_Memorial_Letterview_001</a:t>
            </a:r>
            <a:endParaRPr lang="ko-KR" altLang="en-US" sz="800" dirty="0"/>
          </a:p>
        </p:txBody>
      </p: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3A28391B-2F1F-89DC-F431-F1FE65771E33}"/>
              </a:ext>
            </a:extLst>
          </p:cNvPr>
          <p:cNvCxnSpPr>
            <a:cxnSpLocks/>
          </p:cNvCxnSpPr>
          <p:nvPr/>
        </p:nvCxnSpPr>
        <p:spPr>
          <a:xfrm>
            <a:off x="655957" y="1658468"/>
            <a:ext cx="3109526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92B87094-D5FD-5422-A0B0-0C34DE6471D7}"/>
              </a:ext>
            </a:extLst>
          </p:cNvPr>
          <p:cNvSpPr txBox="1"/>
          <p:nvPr/>
        </p:nvSpPr>
        <p:spPr>
          <a:xfrm>
            <a:off x="1793778" y="1181491"/>
            <a:ext cx="83388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하늘누리</a:t>
            </a:r>
            <a:endParaRPr lang="en-US" altLang="ko-KR" sz="11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en-US" altLang="ko-KR" sz="11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CI</a:t>
            </a:r>
            <a:endParaRPr lang="ko-KR" altLang="en-US" sz="11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39" name="그림 38" descr="블랙, 어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1362312-D221-499A-6235-C61E6C96432F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2985" y="1191723"/>
            <a:ext cx="383533" cy="383533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602C0A63-6AE7-2150-D0F5-9CF186F9A609}"/>
              </a:ext>
            </a:extLst>
          </p:cNvPr>
          <p:cNvSpPr txBox="1"/>
          <p:nvPr/>
        </p:nvSpPr>
        <p:spPr>
          <a:xfrm>
            <a:off x="2826086" y="1293697"/>
            <a:ext cx="57184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" panose="020D0604000000000000" pitchFamily="50" charset="-127"/>
                <a:ea typeface="나눔고딕" panose="020D0604000000000000" pitchFamily="50" charset="-127"/>
              </a:rPr>
              <a:t>르그아웃</a:t>
            </a:r>
          </a:p>
        </p:txBody>
      </p:sp>
      <p:pic>
        <p:nvPicPr>
          <p:cNvPr id="44" name="Picture 4" descr="로그 아웃 아이콘">
            <a:extLst>
              <a:ext uri="{FF2B5EF4-FFF2-40B4-BE49-F238E27FC236}">
                <a16:creationId xmlns:a16="http://schemas.microsoft.com/office/drawing/2014/main" id="{B83DB5D7-D55A-E2E1-1180-6A04AF0D6B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9631" y="1283929"/>
            <a:ext cx="217049" cy="217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9CB78994-0E2E-86FC-2FF6-2ABBD009A8E4}"/>
              </a:ext>
            </a:extLst>
          </p:cNvPr>
          <p:cNvSpPr txBox="1"/>
          <p:nvPr/>
        </p:nvSpPr>
        <p:spPr>
          <a:xfrm>
            <a:off x="1343128" y="1807796"/>
            <a:ext cx="17351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하늘편지</a:t>
            </a:r>
            <a:endParaRPr lang="en-US" altLang="ko-KR" sz="1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DBEA950-979B-CC6F-358F-0E482E9FF0AF}"/>
              </a:ext>
            </a:extLst>
          </p:cNvPr>
          <p:cNvSpPr txBox="1"/>
          <p:nvPr/>
        </p:nvSpPr>
        <p:spPr>
          <a:xfrm>
            <a:off x="794294" y="2194931"/>
            <a:ext cx="297118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000" b="1" dirty="0"/>
              <a:t>닿지 못한 마음이 하늘에 닿는 곳</a:t>
            </a:r>
            <a:r>
              <a:rPr lang="en-US" altLang="ko-KR" sz="1000" b="1" dirty="0"/>
              <a:t>"</a:t>
            </a:r>
            <a:r>
              <a:rPr lang="ko-KR" altLang="en-US" sz="1000" dirty="0"/>
              <a:t>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차마 다 전하지 못한 말들이 구름을 타고 그리운 이에게 전해집니다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당신의 진심을 담아 따뜻한 안부를 띄워주세요</a:t>
            </a:r>
          </a:p>
        </p:txBody>
      </p:sp>
      <p:sp>
        <p:nvSpPr>
          <p:cNvPr id="47" name="모서리가 둥근 직사각형 63">
            <a:extLst>
              <a:ext uri="{FF2B5EF4-FFF2-40B4-BE49-F238E27FC236}">
                <a16:creationId xmlns:a16="http://schemas.microsoft.com/office/drawing/2014/main" id="{F8CD60E7-1A2D-D455-97BA-B97251B7A90F}"/>
              </a:ext>
            </a:extLst>
          </p:cNvPr>
          <p:cNvSpPr/>
          <p:nvPr/>
        </p:nvSpPr>
        <p:spPr bwMode="auto">
          <a:xfrm>
            <a:off x="2526349" y="2759430"/>
            <a:ext cx="1239654" cy="27391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900" b="1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하늘편지 쓰기</a:t>
            </a:r>
          </a:p>
        </p:txBody>
      </p: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0FF0A968-06CA-820B-36A5-DF6AE3296FD1}"/>
              </a:ext>
            </a:extLst>
          </p:cNvPr>
          <p:cNvCxnSpPr>
            <a:cxnSpLocks/>
          </p:cNvCxnSpPr>
          <p:nvPr/>
        </p:nvCxnSpPr>
        <p:spPr>
          <a:xfrm>
            <a:off x="746269" y="3280099"/>
            <a:ext cx="3019214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300002BE-4CDB-7EE7-B4C5-1DBEEDCDEBAB}"/>
              </a:ext>
            </a:extLst>
          </p:cNvPr>
          <p:cNvSpPr txBox="1"/>
          <p:nvPr/>
        </p:nvSpPr>
        <p:spPr>
          <a:xfrm>
            <a:off x="746269" y="3385674"/>
            <a:ext cx="297118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어머니 하늘에서 어떻게 지내고 계신지요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저는 </a:t>
            </a:r>
            <a:r>
              <a:rPr lang="ko-KR" altLang="en-US" sz="8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잘지내고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있어요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어머니 하늘에서 어떻게 지내고 계신지요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저는 </a:t>
            </a:r>
            <a:r>
              <a:rPr lang="ko-KR" altLang="en-US" sz="8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잘지내고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있어요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endParaRPr lang="en-US" altLang="ko-KR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어머니 하늘에서 어떻게 지내고 계신지요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저는 </a:t>
            </a:r>
            <a:r>
              <a:rPr lang="ko-KR" altLang="en-US" sz="8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잘지내고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있어요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어머니 하늘에서 어떻게 지내고 계신지요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저는 </a:t>
            </a:r>
            <a:r>
              <a:rPr lang="ko-KR" altLang="en-US" sz="8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잘지내고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있어요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어머니 하늘에서 어떻게 지내고 계신지요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저는 </a:t>
            </a:r>
            <a:r>
              <a:rPr lang="ko-KR" altLang="en-US" sz="8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잘지내고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있어요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어머니 하늘에서 어떻게 지내고 계신지요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저는 </a:t>
            </a:r>
            <a:r>
              <a:rPr lang="ko-KR" altLang="en-US" sz="8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잘지내고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있어요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</p:txBody>
      </p:sp>
      <p:cxnSp>
        <p:nvCxnSpPr>
          <p:cNvPr id="50" name="직선 연결선 49">
            <a:extLst>
              <a:ext uri="{FF2B5EF4-FFF2-40B4-BE49-F238E27FC236}">
                <a16:creationId xmlns:a16="http://schemas.microsoft.com/office/drawing/2014/main" id="{56E82F0E-C61E-F9AB-1FA5-F2127216BEC4}"/>
              </a:ext>
            </a:extLst>
          </p:cNvPr>
          <p:cNvCxnSpPr>
            <a:cxnSpLocks/>
          </p:cNvCxnSpPr>
          <p:nvPr/>
        </p:nvCxnSpPr>
        <p:spPr>
          <a:xfrm>
            <a:off x="746269" y="4934518"/>
            <a:ext cx="3019214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23D6118D-4B78-5655-88CE-CBC4C414AFA9}"/>
              </a:ext>
            </a:extLst>
          </p:cNvPr>
          <p:cNvSpPr txBox="1"/>
          <p:nvPr/>
        </p:nvSpPr>
        <p:spPr>
          <a:xfrm>
            <a:off x="1154352" y="4571777"/>
            <a:ext cx="258489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8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작성자</a:t>
            </a:r>
            <a:r>
              <a:rPr lang="ko-KR" altLang="en-US" sz="8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8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8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아들  </a:t>
            </a:r>
            <a:r>
              <a:rPr lang="ko-KR" altLang="en-US" sz="8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작성일</a:t>
            </a:r>
            <a:r>
              <a:rPr lang="ko-KR" altLang="en-US" sz="8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8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2026-03-11</a:t>
            </a:r>
            <a:endParaRPr lang="ko-KR" altLang="en-US" sz="8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2" name="모서리가 둥근 직사각형 63">
            <a:extLst>
              <a:ext uri="{FF2B5EF4-FFF2-40B4-BE49-F238E27FC236}">
                <a16:creationId xmlns:a16="http://schemas.microsoft.com/office/drawing/2014/main" id="{4D9822C4-F196-0F5B-151A-AF42D071453F}"/>
              </a:ext>
            </a:extLst>
          </p:cNvPr>
          <p:cNvSpPr/>
          <p:nvPr/>
        </p:nvSpPr>
        <p:spPr bwMode="auto">
          <a:xfrm>
            <a:off x="731539" y="5019217"/>
            <a:ext cx="988621" cy="312422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000" b="1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목록</a:t>
            </a:r>
          </a:p>
        </p:txBody>
      </p:sp>
      <p:sp>
        <p:nvSpPr>
          <p:cNvPr id="53" name="모서리가 둥근 직사각형 63">
            <a:extLst>
              <a:ext uri="{FF2B5EF4-FFF2-40B4-BE49-F238E27FC236}">
                <a16:creationId xmlns:a16="http://schemas.microsoft.com/office/drawing/2014/main" id="{0660D4BF-D01F-56A8-33A0-94801521CEBA}"/>
              </a:ext>
            </a:extLst>
          </p:cNvPr>
          <p:cNvSpPr/>
          <p:nvPr/>
        </p:nvSpPr>
        <p:spPr bwMode="auto">
          <a:xfrm>
            <a:off x="1748134" y="5019217"/>
            <a:ext cx="992524" cy="312422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000" b="1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삭제</a:t>
            </a:r>
          </a:p>
        </p:txBody>
      </p:sp>
      <p:sp>
        <p:nvSpPr>
          <p:cNvPr id="54" name="모서리가 둥근 직사각형 63">
            <a:extLst>
              <a:ext uri="{FF2B5EF4-FFF2-40B4-BE49-F238E27FC236}">
                <a16:creationId xmlns:a16="http://schemas.microsoft.com/office/drawing/2014/main" id="{46C1769C-C062-0E17-DAA3-6103123535CB}"/>
              </a:ext>
            </a:extLst>
          </p:cNvPr>
          <p:cNvSpPr/>
          <p:nvPr/>
        </p:nvSpPr>
        <p:spPr bwMode="auto">
          <a:xfrm>
            <a:off x="2768959" y="5019217"/>
            <a:ext cx="1005182" cy="312422"/>
          </a:xfrm>
          <a:prstGeom prst="roundRect">
            <a:avLst/>
          </a:prstGeom>
          <a:solidFill>
            <a:schemeClr val="tx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000" b="1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수정</a:t>
            </a: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BB4C1A0C-6C8F-FEC7-6805-CF8C48EE51A9}"/>
              </a:ext>
            </a:extLst>
          </p:cNvPr>
          <p:cNvSpPr/>
          <p:nvPr/>
        </p:nvSpPr>
        <p:spPr>
          <a:xfrm>
            <a:off x="664486" y="5909524"/>
            <a:ext cx="3168137" cy="264669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Footer</a:t>
            </a:r>
            <a:endParaRPr lang="ko-KR" altLang="en-US" sz="10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331BB320-81F3-79C9-4CBB-4A934C4955C1}"/>
              </a:ext>
            </a:extLst>
          </p:cNvPr>
          <p:cNvSpPr/>
          <p:nvPr/>
        </p:nvSpPr>
        <p:spPr>
          <a:xfrm>
            <a:off x="686713" y="1102659"/>
            <a:ext cx="3145909" cy="5071525"/>
          </a:xfrm>
          <a:prstGeom prst="rect">
            <a:avLst/>
          </a:prstGeom>
          <a:solidFill>
            <a:schemeClr val="bg1">
              <a:lumMod val="95000"/>
              <a:alpha val="61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pSp>
        <p:nvGrpSpPr>
          <p:cNvPr id="74" name="그룹 73">
            <a:extLst>
              <a:ext uri="{FF2B5EF4-FFF2-40B4-BE49-F238E27FC236}">
                <a16:creationId xmlns:a16="http://schemas.microsoft.com/office/drawing/2014/main" id="{E7F52ADC-8DE3-E66C-BB41-69E917BDA3BA}"/>
              </a:ext>
            </a:extLst>
          </p:cNvPr>
          <p:cNvGrpSpPr/>
          <p:nvPr/>
        </p:nvGrpSpPr>
        <p:grpSpPr>
          <a:xfrm>
            <a:off x="1084760" y="2708893"/>
            <a:ext cx="2323082" cy="2080355"/>
            <a:chOff x="1084760" y="2708893"/>
            <a:chExt cx="2323082" cy="2080355"/>
          </a:xfrm>
        </p:grpSpPr>
        <p:grpSp>
          <p:nvGrpSpPr>
            <p:cNvPr id="63" name="그룹 62">
              <a:extLst>
                <a:ext uri="{FF2B5EF4-FFF2-40B4-BE49-F238E27FC236}">
                  <a16:creationId xmlns:a16="http://schemas.microsoft.com/office/drawing/2014/main" id="{E7E79A38-2533-7646-F36B-EBBC3BA898B3}"/>
                </a:ext>
              </a:extLst>
            </p:cNvPr>
            <p:cNvGrpSpPr/>
            <p:nvPr/>
          </p:nvGrpSpPr>
          <p:grpSpPr>
            <a:xfrm>
              <a:off x="1084760" y="2708893"/>
              <a:ext cx="2323082" cy="2080355"/>
              <a:chOff x="8731624" y="3719540"/>
              <a:chExt cx="2323082" cy="2080355"/>
            </a:xfrm>
          </p:grpSpPr>
          <p:sp>
            <p:nvSpPr>
              <p:cNvPr id="64" name="모서리가 둥근 직사각형 52">
                <a:extLst>
                  <a:ext uri="{FF2B5EF4-FFF2-40B4-BE49-F238E27FC236}">
                    <a16:creationId xmlns:a16="http://schemas.microsoft.com/office/drawing/2014/main" id="{158C98A2-DCAC-9576-3F10-E443EB39EF1C}"/>
                  </a:ext>
                </a:extLst>
              </p:cNvPr>
              <p:cNvSpPr/>
              <p:nvPr/>
            </p:nvSpPr>
            <p:spPr>
              <a:xfrm>
                <a:off x="8731624" y="3719540"/>
                <a:ext cx="2323082" cy="2080355"/>
              </a:xfrm>
              <a:prstGeom prst="roundRect">
                <a:avLst>
                  <a:gd name="adj" fmla="val 3334"/>
                </a:avLst>
              </a:prstGeom>
              <a:solidFill>
                <a:schemeClr val="bg1"/>
              </a:solidFill>
              <a:ln w="9525">
                <a:solidFill>
                  <a:schemeClr val="tx1">
                    <a:lumMod val="50000"/>
                    <a:lumOff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cxnSp>
            <p:nvCxnSpPr>
              <p:cNvPr id="65" name="직선 연결선 64">
                <a:extLst>
                  <a:ext uri="{FF2B5EF4-FFF2-40B4-BE49-F238E27FC236}">
                    <a16:creationId xmlns:a16="http://schemas.microsoft.com/office/drawing/2014/main" id="{C9E529C7-4A4F-FB95-510C-958FD9AA723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731624" y="4006723"/>
                <a:ext cx="2323082" cy="17455"/>
              </a:xfrm>
              <a:prstGeom prst="line">
                <a:avLst/>
              </a:prstGeom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F7E5EB25-ED12-C901-7817-3D9DDCA9DDC8}"/>
                  </a:ext>
                </a:extLst>
              </p:cNvPr>
              <p:cNvSpPr txBox="1"/>
              <p:nvPr/>
            </p:nvSpPr>
            <p:spPr>
              <a:xfrm>
                <a:off x="8737978" y="3756443"/>
                <a:ext cx="1212980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9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나의 정보수정</a:t>
                </a:r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114A8D5A-B839-5DF6-0281-FC34F8585727}"/>
                  </a:ext>
                </a:extLst>
              </p:cNvPr>
              <p:cNvSpPr txBox="1"/>
              <p:nvPr/>
            </p:nvSpPr>
            <p:spPr>
              <a:xfrm>
                <a:off x="10749703" y="3737849"/>
                <a:ext cx="276788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1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X</a:t>
                </a:r>
                <a:endParaRPr lang="ko-KR" altLang="en-US" sz="1100" b="1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68" name="직사각형 67">
                <a:extLst>
                  <a:ext uri="{FF2B5EF4-FFF2-40B4-BE49-F238E27FC236}">
                    <a16:creationId xmlns:a16="http://schemas.microsoft.com/office/drawing/2014/main" id="{B041798B-701A-A8AB-E777-0EEBAE2BDC4F}"/>
                  </a:ext>
                </a:extLst>
              </p:cNvPr>
              <p:cNvSpPr/>
              <p:nvPr/>
            </p:nvSpPr>
            <p:spPr>
              <a:xfrm>
                <a:off x="8845063" y="4294664"/>
                <a:ext cx="2082913" cy="721827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629FC1A2-D443-B129-3BD4-08E09F7ADB08}"/>
                  </a:ext>
                </a:extLst>
              </p:cNvPr>
              <p:cNvSpPr txBox="1"/>
              <p:nvPr/>
            </p:nvSpPr>
            <p:spPr>
              <a:xfrm>
                <a:off x="8845064" y="4561723"/>
                <a:ext cx="2140256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9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정상적으로 나의정보가 수정되었습니다</a:t>
                </a:r>
                <a:r>
                  <a:rPr lang="en-US" altLang="ko-KR" sz="9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.</a:t>
                </a:r>
                <a:endParaRPr lang="ko-KR" altLang="en-US" sz="900" b="1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p:grpSp>
        <p:sp>
          <p:nvSpPr>
            <p:cNvPr id="72" name="모서리가 둥근 직사각형 86">
              <a:extLst>
                <a:ext uri="{FF2B5EF4-FFF2-40B4-BE49-F238E27FC236}">
                  <a16:creationId xmlns:a16="http://schemas.microsoft.com/office/drawing/2014/main" id="{CFF02EF1-8C7F-174C-F079-DC3737EA2777}"/>
                </a:ext>
              </a:extLst>
            </p:cNvPr>
            <p:cNvSpPr/>
            <p:nvPr/>
          </p:nvSpPr>
          <p:spPr bwMode="auto">
            <a:xfrm>
              <a:off x="1572504" y="4383704"/>
              <a:ext cx="588963" cy="200025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ko-KR" altLang="en-US" sz="800" dirty="0">
                  <a:ln w="0" cmpd="sng">
                    <a:solidFill>
                      <a:schemeClr val="tx2">
                        <a:satMod val="155000"/>
                        <a:alpha val="0"/>
                      </a:schemeClr>
                    </a:solidFill>
                    <a:prstDash val="solid"/>
                    <a:round/>
                  </a:ln>
                  <a:solidFill>
                    <a:schemeClr val="tx1"/>
                  </a:solidFill>
                  <a:latin typeface="나눔고딕" pitchFamily="50" charset="-127"/>
                  <a:ea typeface="나눔고딕" pitchFamily="50" charset="-127"/>
                </a:rPr>
                <a:t>취소</a:t>
              </a:r>
            </a:p>
          </p:txBody>
        </p:sp>
        <p:sp>
          <p:nvSpPr>
            <p:cNvPr id="73" name="모서리가 둥근 직사각형 86">
              <a:extLst>
                <a:ext uri="{FF2B5EF4-FFF2-40B4-BE49-F238E27FC236}">
                  <a16:creationId xmlns:a16="http://schemas.microsoft.com/office/drawing/2014/main" id="{FA1F35B2-6427-C230-2E1E-503F64BB9230}"/>
                </a:ext>
              </a:extLst>
            </p:cNvPr>
            <p:cNvSpPr/>
            <p:nvPr/>
          </p:nvSpPr>
          <p:spPr bwMode="auto">
            <a:xfrm>
              <a:off x="2207100" y="4380361"/>
              <a:ext cx="588963" cy="200025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ko-KR" altLang="en-US" sz="800" dirty="0">
                  <a:ln w="0" cmpd="sng">
                    <a:solidFill>
                      <a:schemeClr val="tx2">
                        <a:satMod val="155000"/>
                        <a:alpha val="0"/>
                      </a:schemeClr>
                    </a:solidFill>
                    <a:prstDash val="solid"/>
                    <a:round/>
                  </a:ln>
                  <a:solidFill>
                    <a:schemeClr val="tx1"/>
                  </a:solidFill>
                  <a:latin typeface="나눔고딕" pitchFamily="50" charset="-127"/>
                  <a:ea typeface="나눔고딕" pitchFamily="50" charset="-127"/>
                </a:rPr>
                <a:t>확인</a:t>
              </a:r>
            </a:p>
          </p:txBody>
        </p:sp>
      </p:grpSp>
      <p:sp>
        <p:nvSpPr>
          <p:cNvPr id="71" name="Oval 109">
            <a:extLst>
              <a:ext uri="{FF2B5EF4-FFF2-40B4-BE49-F238E27FC236}">
                <a16:creationId xmlns:a16="http://schemas.microsoft.com/office/drawing/2014/main" id="{2F02802B-7093-6EEF-D12D-DE30F38963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86104" y="4166981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1</a:t>
            </a:r>
          </a:p>
        </p:txBody>
      </p:sp>
      <p:sp>
        <p:nvSpPr>
          <p:cNvPr id="75" name="Oval 109">
            <a:extLst>
              <a:ext uri="{FF2B5EF4-FFF2-40B4-BE49-F238E27FC236}">
                <a16:creationId xmlns:a16="http://schemas.microsoft.com/office/drawing/2014/main" id="{E687E2A9-4938-1C26-763D-88CE88DA0C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31863" y="4174738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111479949"/>
      </p:ext>
    </p:extLst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D88F16-0CBF-4EC1-9688-28FF2FD1CD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CA3891F5-4F9A-E2AC-8D89-A47D6BD1D85A}"/>
              </a:ext>
            </a:extLst>
          </p:cNvPr>
          <p:cNvGraphicFramePr>
            <a:graphicFrameLocks noGrp="1"/>
          </p:cNvGraphicFramePr>
          <p:nvPr/>
        </p:nvGraphicFramePr>
        <p:xfrm>
          <a:off x="9182101" y="947377"/>
          <a:ext cx="2795588" cy="24567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1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비밀글로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셋팅할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경우에는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비빌글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체크박스 체크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684046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작성자는 자신이 쓰고 싶은 이름 작성</a:t>
                      </a: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723838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3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내용은 한글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600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자 이내로 작성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. 600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자가 초과되면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Alert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메시지 노출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“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하늘 편지는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600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자 이내로 작성해야 합니다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.”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172599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4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선택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작성된 내용을 저장하지 않고 목록화면으로 이동</a:t>
                      </a: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290794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5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선택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유효성 체크 후 작성내용 저장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작성자와 내용 중 입력하지 않은 항목이 있는 경우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en-US" altLang="ko-KR" sz="800" b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Alet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메시지 노출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“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입력 내용을 확인해 주시기 바랍니다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.”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922450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6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784800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7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0538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8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199337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9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450365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0027FE5D-45E8-7486-B770-5709972B5C66}"/>
              </a:ext>
            </a:extLst>
          </p:cNvPr>
          <p:cNvSpPr/>
          <p:nvPr/>
        </p:nvSpPr>
        <p:spPr>
          <a:xfrm>
            <a:off x="959895" y="375614"/>
            <a:ext cx="2286203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</a:pP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메인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사이버추모관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하늘편지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하늘편지 쓰기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99E610E-18E0-5EFE-6C03-B166FFB3EC7A}"/>
              </a:ext>
            </a:extLst>
          </p:cNvPr>
          <p:cNvSpPr txBox="1"/>
          <p:nvPr/>
        </p:nvSpPr>
        <p:spPr>
          <a:xfrm>
            <a:off x="6003996" y="123825"/>
            <a:ext cx="17303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HN_Memorial_Letterregi_001</a:t>
            </a:r>
            <a:endParaRPr lang="ko-KR" altLang="en-US" sz="800" dirty="0"/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7E06554C-5B01-5E9E-4D9C-00816F649F83}"/>
              </a:ext>
            </a:extLst>
          </p:cNvPr>
          <p:cNvCxnSpPr>
            <a:cxnSpLocks/>
          </p:cNvCxnSpPr>
          <p:nvPr/>
        </p:nvCxnSpPr>
        <p:spPr>
          <a:xfrm>
            <a:off x="655957" y="1658468"/>
            <a:ext cx="3109526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2FC1A9B6-1AA9-164F-3875-FC8F35581578}"/>
              </a:ext>
            </a:extLst>
          </p:cNvPr>
          <p:cNvSpPr txBox="1"/>
          <p:nvPr/>
        </p:nvSpPr>
        <p:spPr>
          <a:xfrm>
            <a:off x="1793778" y="1181491"/>
            <a:ext cx="83388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하늘누리</a:t>
            </a:r>
            <a:endParaRPr lang="en-US" altLang="ko-KR" sz="11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en-US" altLang="ko-KR" sz="11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CI</a:t>
            </a:r>
            <a:endParaRPr lang="ko-KR" altLang="en-US" sz="11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19" name="그림 18" descr="블랙, 어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AFB3227-7561-F0BF-FB25-68F557656EBB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2985" y="1191723"/>
            <a:ext cx="383533" cy="383533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78EB455F-DA8F-9444-E91F-2E664683E888}"/>
              </a:ext>
            </a:extLst>
          </p:cNvPr>
          <p:cNvSpPr txBox="1"/>
          <p:nvPr/>
        </p:nvSpPr>
        <p:spPr>
          <a:xfrm>
            <a:off x="2826086" y="1293697"/>
            <a:ext cx="57184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" panose="020D0604000000000000" pitchFamily="50" charset="-127"/>
                <a:ea typeface="나눔고딕" panose="020D0604000000000000" pitchFamily="50" charset="-127"/>
              </a:rPr>
              <a:t>르그아웃</a:t>
            </a:r>
          </a:p>
        </p:txBody>
      </p:sp>
      <p:pic>
        <p:nvPicPr>
          <p:cNvPr id="27" name="Picture 4" descr="로그 아웃 아이콘">
            <a:extLst>
              <a:ext uri="{FF2B5EF4-FFF2-40B4-BE49-F238E27FC236}">
                <a16:creationId xmlns:a16="http://schemas.microsoft.com/office/drawing/2014/main" id="{E84F07FB-7C46-F8AA-1EC5-7C788EDF76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9631" y="1283929"/>
            <a:ext cx="217049" cy="217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2007E79C-7E62-88B8-B7B4-35290B01055F}"/>
              </a:ext>
            </a:extLst>
          </p:cNvPr>
          <p:cNvSpPr txBox="1"/>
          <p:nvPr/>
        </p:nvSpPr>
        <p:spPr>
          <a:xfrm>
            <a:off x="1343128" y="1807796"/>
            <a:ext cx="17351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하늘편지</a:t>
            </a:r>
            <a:endParaRPr lang="en-US" altLang="ko-KR" sz="1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D50BF9F-A2D1-D5EC-473E-BC4E006B832C}"/>
              </a:ext>
            </a:extLst>
          </p:cNvPr>
          <p:cNvSpPr txBox="1"/>
          <p:nvPr/>
        </p:nvSpPr>
        <p:spPr>
          <a:xfrm>
            <a:off x="794294" y="2194931"/>
            <a:ext cx="297118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000" b="1" dirty="0"/>
              <a:t>닿지 못한 마음이 하늘에 닿는 곳</a:t>
            </a:r>
            <a:r>
              <a:rPr lang="en-US" altLang="ko-KR" sz="1000" b="1" dirty="0"/>
              <a:t>"</a:t>
            </a:r>
            <a:r>
              <a:rPr lang="ko-KR" altLang="en-US" sz="1000" dirty="0"/>
              <a:t>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차마 다 전하지 못한 말들이 구름을 타고 그리운 이에게 전해집니다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당신의 진심을 담아 따뜻한 안부를 띄워주세요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0A8974B-10B4-4450-1D90-3852FC085E00}"/>
              </a:ext>
            </a:extLst>
          </p:cNvPr>
          <p:cNvSpPr txBox="1"/>
          <p:nvPr/>
        </p:nvSpPr>
        <p:spPr>
          <a:xfrm>
            <a:off x="794294" y="3036740"/>
            <a:ext cx="8142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>
                <a:latin typeface="나눔고딕" panose="020D0604000000000000" pitchFamily="50" charset="-127"/>
                <a:ea typeface="나눔고딕" panose="020D0604000000000000" pitchFamily="50" charset="-127"/>
              </a:rPr>
              <a:t>비밀글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AFB0A48-C3F2-7F5C-ABD9-EBB51FA85A5F}"/>
              </a:ext>
            </a:extLst>
          </p:cNvPr>
          <p:cNvSpPr txBox="1"/>
          <p:nvPr/>
        </p:nvSpPr>
        <p:spPr>
          <a:xfrm>
            <a:off x="794294" y="3457047"/>
            <a:ext cx="8142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작성자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*</a:t>
            </a:r>
            <a:endParaRPr lang="ko-KR" altLang="en-US" sz="10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45E9B0AF-179E-7479-5D99-5522A4C37238}"/>
              </a:ext>
            </a:extLst>
          </p:cNvPr>
          <p:cNvCxnSpPr>
            <a:cxnSpLocks/>
          </p:cNvCxnSpPr>
          <p:nvPr/>
        </p:nvCxnSpPr>
        <p:spPr>
          <a:xfrm>
            <a:off x="1482110" y="3644900"/>
            <a:ext cx="2010120" cy="23523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DB70F51C-FC82-9867-4535-E970BCE0FB6C}"/>
              </a:ext>
            </a:extLst>
          </p:cNvPr>
          <p:cNvSpPr txBox="1"/>
          <p:nvPr/>
        </p:nvSpPr>
        <p:spPr>
          <a:xfrm>
            <a:off x="1553950" y="3437591"/>
            <a:ext cx="138035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작성자를 입력하세요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D65216F4-D589-0060-C961-2470C527149D}"/>
              </a:ext>
            </a:extLst>
          </p:cNvPr>
          <p:cNvSpPr/>
          <p:nvPr/>
        </p:nvSpPr>
        <p:spPr bwMode="auto">
          <a:xfrm>
            <a:off x="1499326" y="3104431"/>
            <a:ext cx="109248" cy="110837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>
              <a:ln w="0" cmpd="sng">
                <a:solidFill>
                  <a:schemeClr val="tx2">
                    <a:satMod val="155000"/>
                    <a:alpha val="0"/>
                  </a:schemeClr>
                </a:solidFill>
                <a:prstDash val="solid"/>
                <a:round/>
              </a:ln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1BCF821-9FC1-2C7B-0381-ADDEE4E74088}"/>
              </a:ext>
            </a:extLst>
          </p:cNvPr>
          <p:cNvSpPr txBox="1"/>
          <p:nvPr/>
        </p:nvSpPr>
        <p:spPr>
          <a:xfrm>
            <a:off x="794294" y="3877354"/>
            <a:ext cx="56489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내용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*</a:t>
            </a:r>
            <a:endParaRPr lang="ko-KR" altLang="en-US" sz="10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974751D2-0B19-82A1-E5C5-84694175E1A9}"/>
              </a:ext>
            </a:extLst>
          </p:cNvPr>
          <p:cNvSpPr/>
          <p:nvPr/>
        </p:nvSpPr>
        <p:spPr>
          <a:xfrm>
            <a:off x="880769" y="4185610"/>
            <a:ext cx="2728193" cy="113165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845F240-2858-6A70-18EE-2DD8BF644A56}"/>
              </a:ext>
            </a:extLst>
          </p:cNvPr>
          <p:cNvSpPr txBox="1"/>
          <p:nvPr/>
        </p:nvSpPr>
        <p:spPr>
          <a:xfrm>
            <a:off x="880769" y="5333471"/>
            <a:ext cx="221974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* 600</a:t>
            </a:r>
            <a:r>
              <a:rPr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자 이내로 작성하실 수 있습니다</a:t>
            </a:r>
            <a:r>
              <a:rPr lang="en-US" altLang="ko-KR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9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1" name="모서리가 둥근 직사각형 63">
            <a:extLst>
              <a:ext uri="{FF2B5EF4-FFF2-40B4-BE49-F238E27FC236}">
                <a16:creationId xmlns:a16="http://schemas.microsoft.com/office/drawing/2014/main" id="{541A649E-C764-ECA0-D2C2-E2E4C1A0E641}"/>
              </a:ext>
            </a:extLst>
          </p:cNvPr>
          <p:cNvSpPr/>
          <p:nvPr/>
        </p:nvSpPr>
        <p:spPr bwMode="auto">
          <a:xfrm>
            <a:off x="890068" y="5632436"/>
            <a:ext cx="1308932" cy="312422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000" b="1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목록</a:t>
            </a:r>
          </a:p>
        </p:txBody>
      </p:sp>
      <p:sp>
        <p:nvSpPr>
          <p:cNvPr id="52" name="모서리가 둥근 직사각형 63">
            <a:extLst>
              <a:ext uri="{FF2B5EF4-FFF2-40B4-BE49-F238E27FC236}">
                <a16:creationId xmlns:a16="http://schemas.microsoft.com/office/drawing/2014/main" id="{60D4E3F2-0DF3-DA92-FBA7-5958966F901B}"/>
              </a:ext>
            </a:extLst>
          </p:cNvPr>
          <p:cNvSpPr/>
          <p:nvPr/>
        </p:nvSpPr>
        <p:spPr bwMode="auto">
          <a:xfrm>
            <a:off x="2279888" y="5643398"/>
            <a:ext cx="1308932" cy="312422"/>
          </a:xfrm>
          <a:prstGeom prst="roundRect">
            <a:avLst/>
          </a:prstGeom>
          <a:solidFill>
            <a:schemeClr val="tx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000" b="1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작성완료</a:t>
            </a:r>
          </a:p>
        </p:txBody>
      </p:sp>
      <p:sp>
        <p:nvSpPr>
          <p:cNvPr id="53" name="Oval 109">
            <a:extLst>
              <a:ext uri="{FF2B5EF4-FFF2-40B4-BE49-F238E27FC236}">
                <a16:creationId xmlns:a16="http://schemas.microsoft.com/office/drawing/2014/main" id="{C03B0F93-C489-5060-0EF5-411752DA3C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43128" y="3010358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1</a:t>
            </a:r>
          </a:p>
        </p:txBody>
      </p:sp>
      <p:sp>
        <p:nvSpPr>
          <p:cNvPr id="54" name="Oval 109">
            <a:extLst>
              <a:ext uri="{FF2B5EF4-FFF2-40B4-BE49-F238E27FC236}">
                <a16:creationId xmlns:a16="http://schemas.microsoft.com/office/drawing/2014/main" id="{A553049B-3587-C650-B5BC-B263F21BC4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43128" y="3379809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2</a:t>
            </a:r>
          </a:p>
        </p:txBody>
      </p:sp>
      <p:sp>
        <p:nvSpPr>
          <p:cNvPr id="55" name="Oval 109">
            <a:extLst>
              <a:ext uri="{FF2B5EF4-FFF2-40B4-BE49-F238E27FC236}">
                <a16:creationId xmlns:a16="http://schemas.microsoft.com/office/drawing/2014/main" id="{26504B1C-9D5A-21D5-F6EE-9B62B9E33A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3668" y="4117477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A22904B-8A85-3110-A4BD-530F49682B69}"/>
              </a:ext>
            </a:extLst>
          </p:cNvPr>
          <p:cNvSpPr txBox="1"/>
          <p:nvPr/>
        </p:nvSpPr>
        <p:spPr>
          <a:xfrm>
            <a:off x="890068" y="4236896"/>
            <a:ext cx="138035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내용을 입력하세요</a:t>
            </a:r>
          </a:p>
        </p:txBody>
      </p:sp>
      <p:sp>
        <p:nvSpPr>
          <p:cNvPr id="57" name="Oval 109">
            <a:extLst>
              <a:ext uri="{FF2B5EF4-FFF2-40B4-BE49-F238E27FC236}">
                <a16:creationId xmlns:a16="http://schemas.microsoft.com/office/drawing/2014/main" id="{46202A7D-1236-133D-91AA-7D5E35281F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3668" y="5506283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4</a:t>
            </a:r>
          </a:p>
        </p:txBody>
      </p:sp>
      <p:sp>
        <p:nvSpPr>
          <p:cNvPr id="58" name="Oval 109">
            <a:extLst>
              <a:ext uri="{FF2B5EF4-FFF2-40B4-BE49-F238E27FC236}">
                <a16:creationId xmlns:a16="http://schemas.microsoft.com/office/drawing/2014/main" id="{0A21C703-654D-2B8B-7AD8-EEC525984A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44128" y="5517451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5</a:t>
            </a: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536177C0-39FA-B319-F07B-4232FD72F392}"/>
              </a:ext>
            </a:extLst>
          </p:cNvPr>
          <p:cNvSpPr/>
          <p:nvPr/>
        </p:nvSpPr>
        <p:spPr>
          <a:xfrm>
            <a:off x="664486" y="6045712"/>
            <a:ext cx="3168137" cy="264669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Footer</a:t>
            </a:r>
            <a:endParaRPr lang="ko-KR" altLang="en-US" sz="10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00491082"/>
      </p:ext>
    </p:extLst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85616E-5D58-9E34-6439-B963285117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FA79EF29-CC12-79D3-D32C-2AD081B2B029}"/>
              </a:ext>
            </a:extLst>
          </p:cNvPr>
          <p:cNvGraphicFramePr>
            <a:graphicFrameLocks noGrp="1"/>
          </p:cNvGraphicFramePr>
          <p:nvPr/>
        </p:nvGraphicFramePr>
        <p:xfrm>
          <a:off x="9182101" y="947377"/>
          <a:ext cx="2795588" cy="20911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1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선택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수정내용을 저장하지 않고 목록화면으로 이동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684046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선택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유효성 체크 후 수정내용 저장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작성자와 내용 중 입력하지 않은 항목이 있는 경우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en-US" altLang="ko-KR" sz="800" b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Alet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메시지 노출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“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입력 내용을 확인해 주시기 바랍니다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.”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723838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3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172599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4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290794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5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922450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6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784800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7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0538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8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199337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9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450365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139D6B03-2DEC-5A40-0197-9EB983CEAE3F}"/>
              </a:ext>
            </a:extLst>
          </p:cNvPr>
          <p:cNvSpPr/>
          <p:nvPr/>
        </p:nvSpPr>
        <p:spPr>
          <a:xfrm>
            <a:off x="959895" y="375614"/>
            <a:ext cx="1872629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</a:pP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메인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사이버추모관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하늘편지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수정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B69FF20-C873-3916-3C91-FDD2D58BD624}"/>
              </a:ext>
            </a:extLst>
          </p:cNvPr>
          <p:cNvSpPr txBox="1"/>
          <p:nvPr/>
        </p:nvSpPr>
        <p:spPr>
          <a:xfrm>
            <a:off x="6003996" y="123825"/>
            <a:ext cx="17303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HN_Memorial_Lettermodi_001</a:t>
            </a:r>
            <a:endParaRPr lang="ko-KR" altLang="en-US" sz="800" dirty="0"/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0D8C0F55-71CA-AD5D-CE76-EE53F85D9451}"/>
              </a:ext>
            </a:extLst>
          </p:cNvPr>
          <p:cNvCxnSpPr>
            <a:cxnSpLocks/>
          </p:cNvCxnSpPr>
          <p:nvPr/>
        </p:nvCxnSpPr>
        <p:spPr>
          <a:xfrm>
            <a:off x="655957" y="1658468"/>
            <a:ext cx="3109526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81279C61-5E35-D770-5761-2CB25C618C6D}"/>
              </a:ext>
            </a:extLst>
          </p:cNvPr>
          <p:cNvSpPr txBox="1"/>
          <p:nvPr/>
        </p:nvSpPr>
        <p:spPr>
          <a:xfrm>
            <a:off x="1793778" y="1181491"/>
            <a:ext cx="83388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하늘누리</a:t>
            </a:r>
            <a:endParaRPr lang="en-US" altLang="ko-KR" sz="11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en-US" altLang="ko-KR" sz="11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CI</a:t>
            </a:r>
            <a:endParaRPr lang="ko-KR" altLang="en-US" sz="11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27" name="그림 26" descr="블랙, 어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2709A58-92EE-7139-FA6C-76508212AB84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2985" y="1191723"/>
            <a:ext cx="383533" cy="383533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30759A7C-828B-927F-4589-4E5028EF9CF3}"/>
              </a:ext>
            </a:extLst>
          </p:cNvPr>
          <p:cNvSpPr txBox="1"/>
          <p:nvPr/>
        </p:nvSpPr>
        <p:spPr>
          <a:xfrm>
            <a:off x="2826086" y="1293697"/>
            <a:ext cx="57184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" panose="020D0604000000000000" pitchFamily="50" charset="-127"/>
                <a:ea typeface="나눔고딕" panose="020D0604000000000000" pitchFamily="50" charset="-127"/>
              </a:rPr>
              <a:t>르그아웃</a:t>
            </a:r>
          </a:p>
        </p:txBody>
      </p:sp>
      <p:pic>
        <p:nvPicPr>
          <p:cNvPr id="36" name="Picture 4" descr="로그 아웃 아이콘">
            <a:extLst>
              <a:ext uri="{FF2B5EF4-FFF2-40B4-BE49-F238E27FC236}">
                <a16:creationId xmlns:a16="http://schemas.microsoft.com/office/drawing/2014/main" id="{770E92DE-7919-3CA1-40AC-B08086425C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9631" y="1283929"/>
            <a:ext cx="217049" cy="217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783A220C-AC79-AE31-8E51-43812B6FF440}"/>
              </a:ext>
            </a:extLst>
          </p:cNvPr>
          <p:cNvSpPr txBox="1"/>
          <p:nvPr/>
        </p:nvSpPr>
        <p:spPr>
          <a:xfrm>
            <a:off x="1343128" y="1807796"/>
            <a:ext cx="17351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하늘편지</a:t>
            </a:r>
            <a:endParaRPr lang="en-US" altLang="ko-KR" sz="1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FD126D0-9A01-E295-C9AB-64ED3554BBF1}"/>
              </a:ext>
            </a:extLst>
          </p:cNvPr>
          <p:cNvSpPr txBox="1"/>
          <p:nvPr/>
        </p:nvSpPr>
        <p:spPr>
          <a:xfrm>
            <a:off x="794294" y="2194931"/>
            <a:ext cx="297118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000" b="1" dirty="0"/>
              <a:t>닿지 못한 마음이 하늘에 닿는 곳</a:t>
            </a:r>
            <a:r>
              <a:rPr lang="en-US" altLang="ko-KR" sz="1000" b="1" dirty="0"/>
              <a:t>"</a:t>
            </a:r>
            <a:r>
              <a:rPr lang="ko-KR" altLang="en-US" sz="1000" dirty="0"/>
              <a:t>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차마 다 전하지 못한 말들이 구름을 타고 그리운 이에게 전해집니다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당신의 진심을 담아 따뜻한 안부를 띄워주세요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BD3C9B9-3314-BADC-DFCF-B8363A0127B9}"/>
              </a:ext>
            </a:extLst>
          </p:cNvPr>
          <p:cNvSpPr txBox="1"/>
          <p:nvPr/>
        </p:nvSpPr>
        <p:spPr>
          <a:xfrm>
            <a:off x="794294" y="3036740"/>
            <a:ext cx="8142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>
                <a:latin typeface="나눔고딕" panose="020D0604000000000000" pitchFamily="50" charset="-127"/>
                <a:ea typeface="나눔고딕" panose="020D0604000000000000" pitchFamily="50" charset="-127"/>
              </a:rPr>
              <a:t>비밀글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C5D0B87-62B9-E30D-6D38-0A217A31480D}"/>
              </a:ext>
            </a:extLst>
          </p:cNvPr>
          <p:cNvSpPr txBox="1"/>
          <p:nvPr/>
        </p:nvSpPr>
        <p:spPr>
          <a:xfrm>
            <a:off x="794294" y="3457047"/>
            <a:ext cx="8142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작성자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*</a:t>
            </a:r>
            <a:endParaRPr lang="ko-KR" altLang="en-US" sz="10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97CD36C1-0F8A-B53B-5F06-FB9E439FF727}"/>
              </a:ext>
            </a:extLst>
          </p:cNvPr>
          <p:cNvCxnSpPr>
            <a:cxnSpLocks/>
          </p:cNvCxnSpPr>
          <p:nvPr/>
        </p:nvCxnSpPr>
        <p:spPr>
          <a:xfrm>
            <a:off x="1482110" y="3644900"/>
            <a:ext cx="2010120" cy="23523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C926F627-2823-C633-31C5-0634AEDA22B3}"/>
              </a:ext>
            </a:extLst>
          </p:cNvPr>
          <p:cNvSpPr txBox="1"/>
          <p:nvPr/>
        </p:nvSpPr>
        <p:spPr>
          <a:xfrm>
            <a:off x="1476127" y="3437591"/>
            <a:ext cx="138035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>
                <a:latin typeface="나눔고딕" panose="020D0604000000000000" pitchFamily="50" charset="-127"/>
                <a:ea typeface="나눔고딕" panose="020D0604000000000000" pitchFamily="50" charset="-127"/>
              </a:rPr>
              <a:t>아들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9F115F6D-633B-61FE-FF38-5F847313B691}"/>
              </a:ext>
            </a:extLst>
          </p:cNvPr>
          <p:cNvSpPr/>
          <p:nvPr/>
        </p:nvSpPr>
        <p:spPr bwMode="auto">
          <a:xfrm>
            <a:off x="1499326" y="3104431"/>
            <a:ext cx="109248" cy="110837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>
              <a:ln w="0" cmpd="sng">
                <a:solidFill>
                  <a:schemeClr val="tx2">
                    <a:satMod val="155000"/>
                    <a:alpha val="0"/>
                  </a:schemeClr>
                </a:solidFill>
                <a:prstDash val="solid"/>
                <a:round/>
              </a:ln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1C88D47-D418-5093-70B0-8C4350975F38}"/>
              </a:ext>
            </a:extLst>
          </p:cNvPr>
          <p:cNvSpPr txBox="1"/>
          <p:nvPr/>
        </p:nvSpPr>
        <p:spPr>
          <a:xfrm>
            <a:off x="794294" y="3877354"/>
            <a:ext cx="56489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내용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*</a:t>
            </a:r>
            <a:endParaRPr lang="ko-KR" altLang="en-US" sz="10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B73FCAA8-5B7D-4CA6-C0EA-EE96C0253152}"/>
              </a:ext>
            </a:extLst>
          </p:cNvPr>
          <p:cNvSpPr/>
          <p:nvPr/>
        </p:nvSpPr>
        <p:spPr>
          <a:xfrm>
            <a:off x="880769" y="4185610"/>
            <a:ext cx="2728193" cy="113165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2FE5303-EC47-266C-E465-627927D2591D}"/>
              </a:ext>
            </a:extLst>
          </p:cNvPr>
          <p:cNvSpPr txBox="1"/>
          <p:nvPr/>
        </p:nvSpPr>
        <p:spPr>
          <a:xfrm>
            <a:off x="880769" y="5333471"/>
            <a:ext cx="221974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* 600</a:t>
            </a:r>
            <a:r>
              <a:rPr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자 이내로 작성하실 수 있습니다</a:t>
            </a:r>
            <a:r>
              <a:rPr lang="en-US" altLang="ko-KR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9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7" name="모서리가 둥근 직사각형 63">
            <a:extLst>
              <a:ext uri="{FF2B5EF4-FFF2-40B4-BE49-F238E27FC236}">
                <a16:creationId xmlns:a16="http://schemas.microsoft.com/office/drawing/2014/main" id="{DB2A1C5E-FD75-1379-E12C-EE0A1E3DD601}"/>
              </a:ext>
            </a:extLst>
          </p:cNvPr>
          <p:cNvSpPr/>
          <p:nvPr/>
        </p:nvSpPr>
        <p:spPr bwMode="auto">
          <a:xfrm>
            <a:off x="890068" y="5632436"/>
            <a:ext cx="1308932" cy="312422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000" b="1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취소</a:t>
            </a:r>
          </a:p>
        </p:txBody>
      </p:sp>
      <p:sp>
        <p:nvSpPr>
          <p:cNvPr id="48" name="모서리가 둥근 직사각형 63">
            <a:extLst>
              <a:ext uri="{FF2B5EF4-FFF2-40B4-BE49-F238E27FC236}">
                <a16:creationId xmlns:a16="http://schemas.microsoft.com/office/drawing/2014/main" id="{EDCBB0D7-1611-4A94-B6C5-4FF3B0B5A72D}"/>
              </a:ext>
            </a:extLst>
          </p:cNvPr>
          <p:cNvSpPr/>
          <p:nvPr/>
        </p:nvSpPr>
        <p:spPr bwMode="auto">
          <a:xfrm>
            <a:off x="2279888" y="5643398"/>
            <a:ext cx="1308932" cy="312422"/>
          </a:xfrm>
          <a:prstGeom prst="roundRect">
            <a:avLst/>
          </a:prstGeom>
          <a:solidFill>
            <a:schemeClr val="tx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000" b="1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수정</a:t>
            </a:r>
          </a:p>
        </p:txBody>
      </p:sp>
      <p:sp>
        <p:nvSpPr>
          <p:cNvPr id="49" name="Oval 109">
            <a:extLst>
              <a:ext uri="{FF2B5EF4-FFF2-40B4-BE49-F238E27FC236}">
                <a16:creationId xmlns:a16="http://schemas.microsoft.com/office/drawing/2014/main" id="{333CB206-589A-F4EA-F8C8-A26BD5D9C2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3495" y="5527406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1</a:t>
            </a:r>
          </a:p>
        </p:txBody>
      </p:sp>
      <p:sp>
        <p:nvSpPr>
          <p:cNvPr id="50" name="Oval 109">
            <a:extLst>
              <a:ext uri="{FF2B5EF4-FFF2-40B4-BE49-F238E27FC236}">
                <a16:creationId xmlns:a16="http://schemas.microsoft.com/office/drawing/2014/main" id="{898423FB-D53A-F0DB-D43B-6B1E8442D1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9000" y="5546036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2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4804AE0-A4C2-5826-5F21-48CE24871DC8}"/>
              </a:ext>
            </a:extLst>
          </p:cNvPr>
          <p:cNvSpPr txBox="1"/>
          <p:nvPr/>
        </p:nvSpPr>
        <p:spPr>
          <a:xfrm>
            <a:off x="890068" y="4236896"/>
            <a:ext cx="26021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어머니 하늘에서 잘 지내고 </a:t>
            </a:r>
            <a:r>
              <a:rPr lang="ko-KR" altLang="en-US" sz="9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계신지요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여기는 엄청 추워졌어요</a:t>
            </a: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A17D11E2-792E-7B12-B9EA-85FFA3636F34}"/>
              </a:ext>
            </a:extLst>
          </p:cNvPr>
          <p:cNvSpPr/>
          <p:nvPr/>
        </p:nvSpPr>
        <p:spPr>
          <a:xfrm>
            <a:off x="664486" y="6045712"/>
            <a:ext cx="3168137" cy="264669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Footer</a:t>
            </a:r>
            <a:endParaRPr lang="ko-KR" altLang="en-US" sz="10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93057726"/>
      </p:ext>
    </p:extLst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A798F9-7504-C93D-3A2E-776A03A1AD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65E354E-E154-F3F3-D4C9-659B141D9E6B}"/>
              </a:ext>
            </a:extLst>
          </p:cNvPr>
          <p:cNvSpPr txBox="1"/>
          <p:nvPr/>
        </p:nvSpPr>
        <p:spPr>
          <a:xfrm>
            <a:off x="1047750" y="2476500"/>
            <a:ext cx="2390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나눔고딕" pitchFamily="2" charset="-127"/>
                <a:ea typeface="나눔고딕" pitchFamily="2" charset="-127"/>
              </a:rPr>
              <a:t>07. </a:t>
            </a:r>
            <a:r>
              <a:rPr lang="ko-KR" altLang="en-US" b="1" dirty="0">
                <a:latin typeface="나눔고딕" pitchFamily="2" charset="-127"/>
                <a:ea typeface="나눔고딕" pitchFamily="2" charset="-127"/>
              </a:rPr>
              <a:t>고객센터</a:t>
            </a:r>
          </a:p>
        </p:txBody>
      </p:sp>
    </p:spTree>
    <p:extLst>
      <p:ext uri="{BB962C8B-B14F-4D97-AF65-F5344CB8AC3E}">
        <p14:creationId xmlns:p14="http://schemas.microsoft.com/office/powerpoint/2010/main" val="3140871974"/>
      </p:ext>
    </p:extLst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07AA2B-3E33-C453-3B36-779F3D7232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02F7F40B-B928-93C7-CFD9-76C0E6931129}"/>
              </a:ext>
            </a:extLst>
          </p:cNvPr>
          <p:cNvGraphicFramePr>
            <a:graphicFrameLocks noGrp="1"/>
          </p:cNvGraphicFramePr>
          <p:nvPr/>
        </p:nvGraphicFramePr>
        <p:xfrm>
          <a:off x="9182101" y="947377"/>
          <a:ext cx="2795588" cy="2334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1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키워드를 입력하고 검색 버튼 선택하면 해당 키워드에 맞는 검색화면 노출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검색은 제목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/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내용 모두 검색하는 전체검색으로 함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684046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제목 행을 선택하면 공지사항의 상세화면으로 이동</a:t>
                      </a: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723838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3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첨부파일이 있는 경우에는 첨부파일 아이콘 노출</a:t>
                      </a: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172599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4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목록갯수는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최초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10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개가 노출됨</a:t>
                      </a: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290794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5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더보기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버튼을 선택하면 추가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10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개가 목록하단에 노출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더보기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버튼은 목록이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10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개 이하일 때는 노출되지 않음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. 10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개 초과시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더보기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버튼 노출됨</a:t>
                      </a: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922450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6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784800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7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0538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8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199337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9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450365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D61EE60A-3103-4477-13A1-D3EDA19EC7F7}"/>
              </a:ext>
            </a:extLst>
          </p:cNvPr>
          <p:cNvSpPr/>
          <p:nvPr/>
        </p:nvSpPr>
        <p:spPr>
          <a:xfrm>
            <a:off x="959895" y="375614"/>
            <a:ext cx="1374094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</a:pP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메인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고객센터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공지사항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BA95C9F-98B3-D8E4-CB71-09DBB3F73915}"/>
              </a:ext>
            </a:extLst>
          </p:cNvPr>
          <p:cNvSpPr txBox="1"/>
          <p:nvPr/>
        </p:nvSpPr>
        <p:spPr>
          <a:xfrm>
            <a:off x="6003996" y="123825"/>
            <a:ext cx="17303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HN_Customer_Noticelist_001</a:t>
            </a:r>
            <a:endParaRPr lang="ko-KR" altLang="en-US" sz="800" dirty="0"/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685379E6-C786-DE2B-B782-3ED6E6A26C9D}"/>
              </a:ext>
            </a:extLst>
          </p:cNvPr>
          <p:cNvCxnSpPr>
            <a:cxnSpLocks/>
          </p:cNvCxnSpPr>
          <p:nvPr/>
        </p:nvCxnSpPr>
        <p:spPr>
          <a:xfrm>
            <a:off x="655957" y="1658468"/>
            <a:ext cx="3109526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3457388A-D9DF-876E-3C1F-335295080923}"/>
              </a:ext>
            </a:extLst>
          </p:cNvPr>
          <p:cNvSpPr txBox="1"/>
          <p:nvPr/>
        </p:nvSpPr>
        <p:spPr>
          <a:xfrm>
            <a:off x="1793778" y="1181491"/>
            <a:ext cx="83388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하늘누리</a:t>
            </a:r>
            <a:endParaRPr lang="en-US" altLang="ko-KR" sz="11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en-US" altLang="ko-KR" sz="11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CI</a:t>
            </a:r>
            <a:endParaRPr lang="ko-KR" altLang="en-US" sz="11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23" name="그림 22" descr="블랙, 어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526397C-5DC5-4C9C-77FC-332E60E125EF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2985" y="1191723"/>
            <a:ext cx="383533" cy="383533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254776E7-77F4-B90D-CF25-1D2250B0B363}"/>
              </a:ext>
            </a:extLst>
          </p:cNvPr>
          <p:cNvSpPr txBox="1"/>
          <p:nvPr/>
        </p:nvSpPr>
        <p:spPr>
          <a:xfrm>
            <a:off x="2826086" y="1293697"/>
            <a:ext cx="57184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" panose="020D0604000000000000" pitchFamily="50" charset="-127"/>
                <a:ea typeface="나눔고딕" panose="020D0604000000000000" pitchFamily="50" charset="-127"/>
              </a:rPr>
              <a:t>르그아웃</a:t>
            </a:r>
          </a:p>
        </p:txBody>
      </p:sp>
      <p:pic>
        <p:nvPicPr>
          <p:cNvPr id="32" name="Picture 4" descr="로그 아웃 아이콘">
            <a:extLst>
              <a:ext uri="{FF2B5EF4-FFF2-40B4-BE49-F238E27FC236}">
                <a16:creationId xmlns:a16="http://schemas.microsoft.com/office/drawing/2014/main" id="{7ACFA099-55CD-F1D6-1B2B-F98AD75D28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9631" y="1283929"/>
            <a:ext cx="217049" cy="217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57A487BC-F557-B0E0-5978-398099EE51CC}"/>
              </a:ext>
            </a:extLst>
          </p:cNvPr>
          <p:cNvSpPr txBox="1"/>
          <p:nvPr/>
        </p:nvSpPr>
        <p:spPr>
          <a:xfrm>
            <a:off x="1343128" y="1807796"/>
            <a:ext cx="17351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공지사항</a:t>
            </a:r>
            <a:endParaRPr lang="en-US" altLang="ko-KR" sz="1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328294C-538F-E980-EF03-088956175355}"/>
              </a:ext>
            </a:extLst>
          </p:cNvPr>
          <p:cNvSpPr txBox="1"/>
          <p:nvPr/>
        </p:nvSpPr>
        <p:spPr>
          <a:xfrm>
            <a:off x="794294" y="2194931"/>
            <a:ext cx="2971189" cy="815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000" b="1" dirty="0"/>
              <a:t>"</a:t>
            </a:r>
            <a:r>
              <a:rPr lang="ko-KR" altLang="en-US" sz="1000" b="1" dirty="0"/>
              <a:t>하늘누리의 새로운 소식과 정성 어린 안내를 전합니다</a:t>
            </a:r>
            <a:r>
              <a:rPr lang="en-US" altLang="ko-KR" sz="1000" b="1" dirty="0"/>
              <a:t>." </a:t>
            </a:r>
          </a:p>
          <a:p>
            <a:pPr algn="ctr"/>
            <a:r>
              <a:rPr lang="ko-KR" altLang="en-US" sz="900" dirty="0"/>
              <a:t>유족분들의 소중한 걸음이 헛되지 않도록</a:t>
            </a:r>
            <a:r>
              <a:rPr lang="en-US" altLang="ko-KR" sz="900" dirty="0"/>
              <a:t>, </a:t>
            </a:r>
            <a:r>
              <a:rPr lang="ko-KR" altLang="en-US" sz="900" dirty="0"/>
              <a:t>공원의 운영 일정과 주요 안내 사항을 가장 정직하고 세심하게 전달해 드리겠습니다</a:t>
            </a:r>
            <a:r>
              <a:rPr lang="en-US" altLang="ko-KR" sz="900" dirty="0"/>
              <a:t>.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37FC84ED-3206-C54D-689F-9DFC06E7CD10}"/>
              </a:ext>
            </a:extLst>
          </p:cNvPr>
          <p:cNvSpPr/>
          <p:nvPr/>
        </p:nvSpPr>
        <p:spPr>
          <a:xfrm>
            <a:off x="1941150" y="3147497"/>
            <a:ext cx="1214523" cy="21544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0" name="모서리가 둥근 직사각형 63">
            <a:extLst>
              <a:ext uri="{FF2B5EF4-FFF2-40B4-BE49-F238E27FC236}">
                <a16:creationId xmlns:a16="http://schemas.microsoft.com/office/drawing/2014/main" id="{08837A23-07E5-CD83-D660-6E3D251D23B4}"/>
              </a:ext>
            </a:extLst>
          </p:cNvPr>
          <p:cNvSpPr/>
          <p:nvPr/>
        </p:nvSpPr>
        <p:spPr bwMode="auto">
          <a:xfrm>
            <a:off x="3204313" y="3147498"/>
            <a:ext cx="561170" cy="203902"/>
          </a:xfrm>
          <a:prstGeom prst="roundRect">
            <a:avLst/>
          </a:prstGeom>
          <a:solidFill>
            <a:schemeClr val="tx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000" b="1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검색</a:t>
            </a:r>
          </a:p>
        </p:txBody>
      </p: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E8DE80B8-DA73-1CB6-A82D-469CA98D7582}"/>
              </a:ext>
            </a:extLst>
          </p:cNvPr>
          <p:cNvCxnSpPr>
            <a:cxnSpLocks/>
          </p:cNvCxnSpPr>
          <p:nvPr/>
        </p:nvCxnSpPr>
        <p:spPr>
          <a:xfrm>
            <a:off x="751192" y="3524797"/>
            <a:ext cx="301429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직선 연결선 42">
            <a:extLst>
              <a:ext uri="{FF2B5EF4-FFF2-40B4-BE49-F238E27FC236}">
                <a16:creationId xmlns:a16="http://schemas.microsoft.com/office/drawing/2014/main" id="{4F7A32A3-5746-F989-488C-B93F8A8DC531}"/>
              </a:ext>
            </a:extLst>
          </p:cNvPr>
          <p:cNvCxnSpPr>
            <a:cxnSpLocks/>
          </p:cNvCxnSpPr>
          <p:nvPr/>
        </p:nvCxnSpPr>
        <p:spPr>
          <a:xfrm>
            <a:off x="794294" y="4171607"/>
            <a:ext cx="2962224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CDDE0118-1900-6D0D-71C9-DF4DF3797556}"/>
              </a:ext>
            </a:extLst>
          </p:cNvPr>
          <p:cNvSpPr txBox="1"/>
          <p:nvPr/>
        </p:nvSpPr>
        <p:spPr>
          <a:xfrm>
            <a:off x="794294" y="3589708"/>
            <a:ext cx="61291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888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5D4A192-777E-F5D4-FE2B-1487CFB719C7}"/>
              </a:ext>
            </a:extLst>
          </p:cNvPr>
          <p:cNvSpPr txBox="1"/>
          <p:nvPr/>
        </p:nvSpPr>
        <p:spPr>
          <a:xfrm>
            <a:off x="1286016" y="3602020"/>
            <a:ext cx="924702" cy="230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2026-03-11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AEE4D09-A3C0-0AFC-EE42-DCD34809E6CE}"/>
              </a:ext>
            </a:extLst>
          </p:cNvPr>
          <p:cNvSpPr txBox="1"/>
          <p:nvPr/>
        </p:nvSpPr>
        <p:spPr>
          <a:xfrm>
            <a:off x="1231563" y="3844184"/>
            <a:ext cx="1996562" cy="25615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하늘누리에서　알려드립니다．　</a:t>
            </a:r>
          </a:p>
        </p:txBody>
      </p:sp>
      <p:pic>
        <p:nvPicPr>
          <p:cNvPr id="60" name="Picture 6" descr="첨부 파일 - 무료 파일 및 폴더개 아이콘">
            <a:extLst>
              <a:ext uri="{FF2B5EF4-FFF2-40B4-BE49-F238E27FC236}">
                <a16:creationId xmlns:a16="http://schemas.microsoft.com/office/drawing/2014/main" id="{E8131573-0C94-1D28-A021-39C3F5E129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0948" y="3737577"/>
            <a:ext cx="256162" cy="2561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2" name="직선 연결선 61">
            <a:extLst>
              <a:ext uri="{FF2B5EF4-FFF2-40B4-BE49-F238E27FC236}">
                <a16:creationId xmlns:a16="http://schemas.microsoft.com/office/drawing/2014/main" id="{AE79A7B4-A131-A5D8-4D18-342172178814}"/>
              </a:ext>
            </a:extLst>
          </p:cNvPr>
          <p:cNvCxnSpPr>
            <a:cxnSpLocks/>
          </p:cNvCxnSpPr>
          <p:nvPr/>
        </p:nvCxnSpPr>
        <p:spPr>
          <a:xfrm>
            <a:off x="794294" y="4839891"/>
            <a:ext cx="2962224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4" name="TextBox 1023">
            <a:extLst>
              <a:ext uri="{FF2B5EF4-FFF2-40B4-BE49-F238E27FC236}">
                <a16:creationId xmlns:a16="http://schemas.microsoft.com/office/drawing/2014/main" id="{6E7EC4C1-3DDE-67D6-7370-31A5D8006B1D}"/>
              </a:ext>
            </a:extLst>
          </p:cNvPr>
          <p:cNvSpPr txBox="1"/>
          <p:nvPr/>
        </p:nvSpPr>
        <p:spPr>
          <a:xfrm>
            <a:off x="794294" y="4257992"/>
            <a:ext cx="61291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887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25" name="TextBox 1024">
            <a:extLst>
              <a:ext uri="{FF2B5EF4-FFF2-40B4-BE49-F238E27FC236}">
                <a16:creationId xmlns:a16="http://schemas.microsoft.com/office/drawing/2014/main" id="{01151B33-94FD-7323-F69B-A1EEA43B7A9C}"/>
              </a:ext>
            </a:extLst>
          </p:cNvPr>
          <p:cNvSpPr txBox="1"/>
          <p:nvPr/>
        </p:nvSpPr>
        <p:spPr>
          <a:xfrm>
            <a:off x="1286016" y="4270304"/>
            <a:ext cx="924702" cy="230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2026-03-11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26" name="TextBox 1025">
            <a:extLst>
              <a:ext uri="{FF2B5EF4-FFF2-40B4-BE49-F238E27FC236}">
                <a16:creationId xmlns:a16="http://schemas.microsoft.com/office/drawing/2014/main" id="{F849A7FC-951F-7531-C42F-703D3BD4B877}"/>
              </a:ext>
            </a:extLst>
          </p:cNvPr>
          <p:cNvSpPr txBox="1"/>
          <p:nvPr/>
        </p:nvSpPr>
        <p:spPr>
          <a:xfrm>
            <a:off x="1231563" y="4512468"/>
            <a:ext cx="1996562" cy="25615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하늘누리에서　알려드립니다．　</a:t>
            </a:r>
          </a:p>
        </p:txBody>
      </p:sp>
      <p:pic>
        <p:nvPicPr>
          <p:cNvPr id="1027" name="Picture 6" descr="첨부 파일 - 무료 파일 및 폴더개 아이콘">
            <a:extLst>
              <a:ext uri="{FF2B5EF4-FFF2-40B4-BE49-F238E27FC236}">
                <a16:creationId xmlns:a16="http://schemas.microsoft.com/office/drawing/2014/main" id="{73712AAB-8744-C616-9B1A-7D42CDFFC8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0948" y="4405861"/>
            <a:ext cx="256162" cy="2561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28" name="직선 연결선 1027">
            <a:extLst>
              <a:ext uri="{FF2B5EF4-FFF2-40B4-BE49-F238E27FC236}">
                <a16:creationId xmlns:a16="http://schemas.microsoft.com/office/drawing/2014/main" id="{C80374CA-AF3A-45EC-0B79-84582C63D994}"/>
              </a:ext>
            </a:extLst>
          </p:cNvPr>
          <p:cNvCxnSpPr>
            <a:cxnSpLocks/>
          </p:cNvCxnSpPr>
          <p:nvPr/>
        </p:nvCxnSpPr>
        <p:spPr>
          <a:xfrm>
            <a:off x="856915" y="5738321"/>
            <a:ext cx="2962224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9" name="TextBox 1028">
            <a:extLst>
              <a:ext uri="{FF2B5EF4-FFF2-40B4-BE49-F238E27FC236}">
                <a16:creationId xmlns:a16="http://schemas.microsoft.com/office/drawing/2014/main" id="{4DB3789D-5452-023B-6B92-BD72FF881D86}"/>
              </a:ext>
            </a:extLst>
          </p:cNvPr>
          <p:cNvSpPr txBox="1"/>
          <p:nvPr/>
        </p:nvSpPr>
        <p:spPr>
          <a:xfrm>
            <a:off x="856915" y="5156422"/>
            <a:ext cx="61291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887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31" name="TextBox 1030">
            <a:extLst>
              <a:ext uri="{FF2B5EF4-FFF2-40B4-BE49-F238E27FC236}">
                <a16:creationId xmlns:a16="http://schemas.microsoft.com/office/drawing/2014/main" id="{5F1F0A73-91B6-4CF7-D3BF-B4F0AE176345}"/>
              </a:ext>
            </a:extLst>
          </p:cNvPr>
          <p:cNvSpPr txBox="1"/>
          <p:nvPr/>
        </p:nvSpPr>
        <p:spPr>
          <a:xfrm>
            <a:off x="1348637" y="5168734"/>
            <a:ext cx="924702" cy="230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2026-03-11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32" name="TextBox 1031">
            <a:extLst>
              <a:ext uri="{FF2B5EF4-FFF2-40B4-BE49-F238E27FC236}">
                <a16:creationId xmlns:a16="http://schemas.microsoft.com/office/drawing/2014/main" id="{FC45E0DE-252D-5B58-9FE3-306F638375B3}"/>
              </a:ext>
            </a:extLst>
          </p:cNvPr>
          <p:cNvSpPr txBox="1"/>
          <p:nvPr/>
        </p:nvSpPr>
        <p:spPr>
          <a:xfrm>
            <a:off x="1294184" y="5410898"/>
            <a:ext cx="1996562" cy="25615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하늘누리에서　알려드립니다．　</a:t>
            </a:r>
          </a:p>
        </p:txBody>
      </p:sp>
      <p:pic>
        <p:nvPicPr>
          <p:cNvPr id="1033" name="Picture 6" descr="첨부 파일 - 무료 파일 및 폴더개 아이콘">
            <a:extLst>
              <a:ext uri="{FF2B5EF4-FFF2-40B4-BE49-F238E27FC236}">
                <a16:creationId xmlns:a16="http://schemas.microsoft.com/office/drawing/2014/main" id="{C6254D87-5884-612C-78F7-C9C017C82F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3569" y="5304291"/>
            <a:ext cx="256162" cy="2561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4" name="TextBox 1033">
            <a:extLst>
              <a:ext uri="{FF2B5EF4-FFF2-40B4-BE49-F238E27FC236}">
                <a16:creationId xmlns:a16="http://schemas.microsoft.com/office/drawing/2014/main" id="{14901490-CCDA-8AA6-9AA5-2B5C22772452}"/>
              </a:ext>
            </a:extLst>
          </p:cNvPr>
          <p:cNvSpPr txBox="1"/>
          <p:nvPr/>
        </p:nvSpPr>
        <p:spPr>
          <a:xfrm>
            <a:off x="1702341" y="4883283"/>
            <a:ext cx="10517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…</a:t>
            </a:r>
            <a:endParaRPr lang="ko-KR" altLang="en-US" sz="1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35" name="모서리가 둥근 직사각형 63">
            <a:extLst>
              <a:ext uri="{FF2B5EF4-FFF2-40B4-BE49-F238E27FC236}">
                <a16:creationId xmlns:a16="http://schemas.microsoft.com/office/drawing/2014/main" id="{E4B50B8B-D6F8-5BB7-37F1-CAE4F52A97F2}"/>
              </a:ext>
            </a:extLst>
          </p:cNvPr>
          <p:cNvSpPr/>
          <p:nvPr/>
        </p:nvSpPr>
        <p:spPr bwMode="auto">
          <a:xfrm>
            <a:off x="685142" y="5793819"/>
            <a:ext cx="3143774" cy="312422"/>
          </a:xfrm>
          <a:prstGeom prst="roundRect">
            <a:avLst/>
          </a:prstGeom>
          <a:solidFill>
            <a:schemeClr val="tx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000" b="1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더보기</a:t>
            </a:r>
            <a:endParaRPr kumimoji="1" lang="ko-KR" altLang="en-US" sz="1000" b="1" dirty="0">
              <a:ln w="0" cmpd="sng">
                <a:solidFill>
                  <a:schemeClr val="tx2">
                    <a:satMod val="155000"/>
                    <a:alpha val="0"/>
                  </a:schemeClr>
                </a:solidFill>
                <a:prstDash val="solid"/>
                <a:round/>
              </a:ln>
              <a:solidFill>
                <a:schemeClr val="bg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036" name="직사각형 1035">
            <a:extLst>
              <a:ext uri="{FF2B5EF4-FFF2-40B4-BE49-F238E27FC236}">
                <a16:creationId xmlns:a16="http://schemas.microsoft.com/office/drawing/2014/main" id="{DFE75926-3B6F-68D0-631D-315263429B75}"/>
              </a:ext>
            </a:extLst>
          </p:cNvPr>
          <p:cNvSpPr/>
          <p:nvPr/>
        </p:nvSpPr>
        <p:spPr>
          <a:xfrm>
            <a:off x="673956" y="6189355"/>
            <a:ext cx="3168137" cy="264669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Footer</a:t>
            </a:r>
            <a:endParaRPr lang="ko-KR" altLang="en-US" sz="10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05615627"/>
      </p:ext>
    </p:extLst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88100E-68E3-E603-13E1-44E2E446E4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9FE77639-586A-F59D-C0F0-F17C1187D1CA}"/>
              </a:ext>
            </a:extLst>
          </p:cNvPr>
          <p:cNvGraphicFramePr>
            <a:graphicFrameLocks noGrp="1"/>
          </p:cNvGraphicFramePr>
          <p:nvPr/>
        </p:nvGraphicFramePr>
        <p:xfrm>
          <a:off x="9182101" y="947377"/>
          <a:ext cx="2795588" cy="1847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1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검색결과 내용이 있는 경우 화면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684046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검색결과 내용이 없는 경우 화면</a:t>
                      </a: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723838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3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172599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4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290794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5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922450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6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784800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7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0538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8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199337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9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450365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6E52DCAE-0A1D-7B98-46AE-2EE637001FA2}"/>
              </a:ext>
            </a:extLst>
          </p:cNvPr>
          <p:cNvSpPr/>
          <p:nvPr/>
        </p:nvSpPr>
        <p:spPr>
          <a:xfrm>
            <a:off x="959895" y="375614"/>
            <a:ext cx="2053767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</a:pP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메인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고객센터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공지사항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(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검색결과 화면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)</a:t>
            </a:r>
            <a:endParaRPr kumimoji="1" lang="ko-KR" altLang="en-US" sz="800" dirty="0"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88BDBD6-308C-5949-A27C-90A94FBFBFA8}"/>
              </a:ext>
            </a:extLst>
          </p:cNvPr>
          <p:cNvSpPr txBox="1"/>
          <p:nvPr/>
        </p:nvSpPr>
        <p:spPr>
          <a:xfrm>
            <a:off x="6003996" y="123825"/>
            <a:ext cx="17303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HN_Customer_Noticelist_001</a:t>
            </a:r>
            <a:endParaRPr lang="ko-KR" altLang="en-US" sz="800" dirty="0"/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43D0A6DC-E0FF-A32C-D460-1760E15777BB}"/>
              </a:ext>
            </a:extLst>
          </p:cNvPr>
          <p:cNvCxnSpPr>
            <a:cxnSpLocks/>
          </p:cNvCxnSpPr>
          <p:nvPr/>
        </p:nvCxnSpPr>
        <p:spPr>
          <a:xfrm>
            <a:off x="655957" y="1658468"/>
            <a:ext cx="3109526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FE78B53C-083E-6A6E-97B3-CDEF4B7BB355}"/>
              </a:ext>
            </a:extLst>
          </p:cNvPr>
          <p:cNvSpPr txBox="1"/>
          <p:nvPr/>
        </p:nvSpPr>
        <p:spPr>
          <a:xfrm>
            <a:off x="1793778" y="1181491"/>
            <a:ext cx="83388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하늘누리</a:t>
            </a:r>
            <a:endParaRPr lang="en-US" altLang="ko-KR" sz="11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en-US" altLang="ko-KR" sz="11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CI</a:t>
            </a:r>
            <a:endParaRPr lang="ko-KR" altLang="en-US" sz="11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24" name="그림 23" descr="블랙, 어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7110DE7-8E65-EE90-4553-38D9ADCF57A6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2985" y="1191723"/>
            <a:ext cx="383533" cy="383533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F740AF56-683B-E33A-8A1F-60C447C914C6}"/>
              </a:ext>
            </a:extLst>
          </p:cNvPr>
          <p:cNvSpPr txBox="1"/>
          <p:nvPr/>
        </p:nvSpPr>
        <p:spPr>
          <a:xfrm>
            <a:off x="2826086" y="1293697"/>
            <a:ext cx="57184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" panose="020D0604000000000000" pitchFamily="50" charset="-127"/>
                <a:ea typeface="나눔고딕" panose="020D0604000000000000" pitchFamily="50" charset="-127"/>
              </a:rPr>
              <a:t>르그아웃</a:t>
            </a:r>
          </a:p>
        </p:txBody>
      </p:sp>
      <p:pic>
        <p:nvPicPr>
          <p:cNvPr id="27" name="Picture 4" descr="로그 아웃 아이콘">
            <a:extLst>
              <a:ext uri="{FF2B5EF4-FFF2-40B4-BE49-F238E27FC236}">
                <a16:creationId xmlns:a16="http://schemas.microsoft.com/office/drawing/2014/main" id="{434B0F00-C460-62F0-090B-0AAD882298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9631" y="1283929"/>
            <a:ext cx="217049" cy="217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7012D4B6-E0F9-42B7-CBBC-29E038EDBE31}"/>
              </a:ext>
            </a:extLst>
          </p:cNvPr>
          <p:cNvSpPr txBox="1"/>
          <p:nvPr/>
        </p:nvSpPr>
        <p:spPr>
          <a:xfrm>
            <a:off x="1343128" y="1807796"/>
            <a:ext cx="17351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공지사항</a:t>
            </a:r>
            <a:endParaRPr lang="en-US" altLang="ko-KR" sz="1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F2250A2-0786-2736-1855-2E0A65894861}"/>
              </a:ext>
            </a:extLst>
          </p:cNvPr>
          <p:cNvSpPr txBox="1"/>
          <p:nvPr/>
        </p:nvSpPr>
        <p:spPr>
          <a:xfrm>
            <a:off x="794294" y="2194931"/>
            <a:ext cx="2971189" cy="815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000" b="1" dirty="0"/>
              <a:t>"</a:t>
            </a:r>
            <a:r>
              <a:rPr lang="ko-KR" altLang="en-US" sz="1000" b="1" dirty="0"/>
              <a:t>하늘누리의 새로운 소식과 정성 어린 안내를 전합니다</a:t>
            </a:r>
            <a:r>
              <a:rPr lang="en-US" altLang="ko-KR" sz="1000" b="1" dirty="0"/>
              <a:t>." </a:t>
            </a:r>
          </a:p>
          <a:p>
            <a:pPr algn="ctr"/>
            <a:r>
              <a:rPr lang="ko-KR" altLang="en-US" sz="900" dirty="0"/>
              <a:t>유족분들의 소중한 걸음이 헛되지 않도록</a:t>
            </a:r>
            <a:r>
              <a:rPr lang="en-US" altLang="ko-KR" sz="900" dirty="0"/>
              <a:t>, </a:t>
            </a:r>
            <a:r>
              <a:rPr lang="ko-KR" altLang="en-US" sz="900" dirty="0"/>
              <a:t>공원의 운영 일정과 주요 안내 사항을 가장 정직하고 세심하게 전달해 드리겠습니다</a:t>
            </a:r>
            <a:r>
              <a:rPr lang="en-US" altLang="ko-KR" sz="900" dirty="0"/>
              <a:t>.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DD7B8E10-AB54-D6F7-7220-C436C65EA7B6}"/>
              </a:ext>
            </a:extLst>
          </p:cNvPr>
          <p:cNvSpPr/>
          <p:nvPr/>
        </p:nvSpPr>
        <p:spPr>
          <a:xfrm>
            <a:off x="1941150" y="3147497"/>
            <a:ext cx="1214523" cy="21544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6" name="모서리가 둥근 직사각형 63">
            <a:extLst>
              <a:ext uri="{FF2B5EF4-FFF2-40B4-BE49-F238E27FC236}">
                <a16:creationId xmlns:a16="http://schemas.microsoft.com/office/drawing/2014/main" id="{0ECCA101-268B-057B-65FE-4A145D38383B}"/>
              </a:ext>
            </a:extLst>
          </p:cNvPr>
          <p:cNvSpPr/>
          <p:nvPr/>
        </p:nvSpPr>
        <p:spPr bwMode="auto">
          <a:xfrm>
            <a:off x="3204313" y="3147498"/>
            <a:ext cx="561170" cy="203902"/>
          </a:xfrm>
          <a:prstGeom prst="roundRect">
            <a:avLst/>
          </a:prstGeom>
          <a:solidFill>
            <a:schemeClr val="tx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000" b="1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검색</a:t>
            </a:r>
          </a:p>
        </p:txBody>
      </p:sp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C4F68B14-52F4-69EF-E0F4-6B93696FE6E5}"/>
              </a:ext>
            </a:extLst>
          </p:cNvPr>
          <p:cNvCxnSpPr>
            <a:cxnSpLocks/>
          </p:cNvCxnSpPr>
          <p:nvPr/>
        </p:nvCxnSpPr>
        <p:spPr>
          <a:xfrm>
            <a:off x="751192" y="3524797"/>
            <a:ext cx="301429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B6940C73-6FAB-84D3-615D-B4D8ECC7B308}"/>
              </a:ext>
            </a:extLst>
          </p:cNvPr>
          <p:cNvCxnSpPr>
            <a:cxnSpLocks/>
          </p:cNvCxnSpPr>
          <p:nvPr/>
        </p:nvCxnSpPr>
        <p:spPr>
          <a:xfrm>
            <a:off x="794294" y="4171607"/>
            <a:ext cx="2962224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1DBF764E-098F-E95F-93C0-A941D1A28423}"/>
              </a:ext>
            </a:extLst>
          </p:cNvPr>
          <p:cNvSpPr txBox="1"/>
          <p:nvPr/>
        </p:nvSpPr>
        <p:spPr>
          <a:xfrm>
            <a:off x="794294" y="3589708"/>
            <a:ext cx="61291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888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1566033-867B-271E-86F9-EA06AF576AE0}"/>
              </a:ext>
            </a:extLst>
          </p:cNvPr>
          <p:cNvSpPr txBox="1"/>
          <p:nvPr/>
        </p:nvSpPr>
        <p:spPr>
          <a:xfrm>
            <a:off x="1286016" y="3602020"/>
            <a:ext cx="924702" cy="230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2026-03-11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9CC2BD6-45FE-060C-A6EF-ACEFDDD8A06E}"/>
              </a:ext>
            </a:extLst>
          </p:cNvPr>
          <p:cNvSpPr txBox="1"/>
          <p:nvPr/>
        </p:nvSpPr>
        <p:spPr>
          <a:xfrm>
            <a:off x="1231563" y="3844184"/>
            <a:ext cx="1996562" cy="25615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하늘누리에서　알려드립니다．　</a:t>
            </a:r>
          </a:p>
        </p:txBody>
      </p:sp>
      <p:pic>
        <p:nvPicPr>
          <p:cNvPr id="43" name="Picture 6" descr="첨부 파일 - 무료 파일 및 폴더개 아이콘">
            <a:extLst>
              <a:ext uri="{FF2B5EF4-FFF2-40B4-BE49-F238E27FC236}">
                <a16:creationId xmlns:a16="http://schemas.microsoft.com/office/drawing/2014/main" id="{913298DF-7B1B-A2F1-09B2-01DAB9952C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0948" y="3737577"/>
            <a:ext cx="256162" cy="2561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B511F2F1-CA87-71CF-7BA1-8323CD567578}"/>
              </a:ext>
            </a:extLst>
          </p:cNvPr>
          <p:cNvCxnSpPr>
            <a:cxnSpLocks/>
          </p:cNvCxnSpPr>
          <p:nvPr/>
        </p:nvCxnSpPr>
        <p:spPr>
          <a:xfrm>
            <a:off x="813813" y="4575637"/>
            <a:ext cx="301429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2FB5BC7D-C58E-8D3B-5F71-675EA7F0B65A}"/>
              </a:ext>
            </a:extLst>
          </p:cNvPr>
          <p:cNvCxnSpPr>
            <a:cxnSpLocks/>
          </p:cNvCxnSpPr>
          <p:nvPr/>
        </p:nvCxnSpPr>
        <p:spPr>
          <a:xfrm>
            <a:off x="856915" y="5222447"/>
            <a:ext cx="2962224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A299B962-F477-B2E8-1688-0C2D915AEDED}"/>
              </a:ext>
            </a:extLst>
          </p:cNvPr>
          <p:cNvSpPr txBox="1"/>
          <p:nvPr/>
        </p:nvSpPr>
        <p:spPr>
          <a:xfrm>
            <a:off x="1343128" y="4755608"/>
            <a:ext cx="1996562" cy="25615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검색결과가 없습니다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1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1" name="Oval 109">
            <a:extLst>
              <a:ext uri="{FF2B5EF4-FFF2-40B4-BE49-F238E27FC236}">
                <a16:creationId xmlns:a16="http://schemas.microsoft.com/office/drawing/2014/main" id="{F2399B53-463B-ABB2-F57D-BBAE0A0662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115" y="3323338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1</a:t>
            </a:r>
          </a:p>
        </p:txBody>
      </p:sp>
      <p:sp>
        <p:nvSpPr>
          <p:cNvPr id="52" name="Oval 109">
            <a:extLst>
              <a:ext uri="{FF2B5EF4-FFF2-40B4-BE49-F238E27FC236}">
                <a16:creationId xmlns:a16="http://schemas.microsoft.com/office/drawing/2014/main" id="{A29F708A-512A-A335-AF72-59E809F6AD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115" y="4443164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2</a:t>
            </a: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A2E86559-898F-6670-9924-FCE129ADE8EB}"/>
              </a:ext>
            </a:extLst>
          </p:cNvPr>
          <p:cNvSpPr/>
          <p:nvPr/>
        </p:nvSpPr>
        <p:spPr>
          <a:xfrm>
            <a:off x="655957" y="5927707"/>
            <a:ext cx="3168137" cy="264669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Footer</a:t>
            </a:r>
            <a:endParaRPr lang="ko-KR" altLang="en-US" sz="10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20274404"/>
      </p:ext>
    </p:extLst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8DBEA5-6FFB-9B74-203B-221318002C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0793E348-A47B-89E4-4929-DA0C6035B4F7}"/>
              </a:ext>
            </a:extLst>
          </p:cNvPr>
          <p:cNvGraphicFramePr>
            <a:graphicFrameLocks noGrp="1"/>
          </p:cNvGraphicFramePr>
          <p:nvPr/>
        </p:nvGraphicFramePr>
        <p:xfrm>
          <a:off x="9182101" y="947377"/>
          <a:ext cx="2795588" cy="1969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1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제목영역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684046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내용영역</a:t>
                      </a: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723838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3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첨부파일 영역으로 첨부파일을 등록한 경우에만 노출됨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첨부파일명 또는 다운로드 아이콘 선택 시 다운로드</a:t>
                      </a: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172599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4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목록 선택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목록화면으로 이동</a:t>
                      </a: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290794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5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922450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6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784800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7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0538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8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199337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9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450365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CCF10C58-4333-4744-7EAF-E1203B99707E}"/>
              </a:ext>
            </a:extLst>
          </p:cNvPr>
          <p:cNvSpPr/>
          <p:nvPr/>
        </p:nvSpPr>
        <p:spPr>
          <a:xfrm>
            <a:off x="959895" y="375614"/>
            <a:ext cx="1680268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</a:pP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메인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고객센터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공지사항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상세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09E528A-5388-BF7C-0583-011C0BF9B2E2}"/>
              </a:ext>
            </a:extLst>
          </p:cNvPr>
          <p:cNvSpPr txBox="1"/>
          <p:nvPr/>
        </p:nvSpPr>
        <p:spPr>
          <a:xfrm>
            <a:off x="6003996" y="123825"/>
            <a:ext cx="17303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HN_Customer_Noticeview_001</a:t>
            </a:r>
            <a:endParaRPr lang="ko-KR" altLang="en-US" sz="800" dirty="0"/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4523CFD5-6DB8-C1A4-62DA-3DACE9BC2132}"/>
              </a:ext>
            </a:extLst>
          </p:cNvPr>
          <p:cNvCxnSpPr>
            <a:cxnSpLocks/>
          </p:cNvCxnSpPr>
          <p:nvPr/>
        </p:nvCxnSpPr>
        <p:spPr>
          <a:xfrm>
            <a:off x="655957" y="1658468"/>
            <a:ext cx="3109526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AC8FF7CE-6943-B085-95AD-6D4B3BA1857A}"/>
              </a:ext>
            </a:extLst>
          </p:cNvPr>
          <p:cNvSpPr txBox="1"/>
          <p:nvPr/>
        </p:nvSpPr>
        <p:spPr>
          <a:xfrm>
            <a:off x="1793778" y="1181491"/>
            <a:ext cx="83388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하늘누리</a:t>
            </a:r>
            <a:endParaRPr lang="en-US" altLang="ko-KR" sz="11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en-US" altLang="ko-KR" sz="11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CI</a:t>
            </a:r>
            <a:endParaRPr lang="ko-KR" altLang="en-US" sz="11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17" name="그림 16" descr="블랙, 어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9D41F0C-A916-4744-5FD8-CEEEB3239BA7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2985" y="1191723"/>
            <a:ext cx="383533" cy="383533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F425D337-E9C6-2C11-7B18-1FAE8ED1C103}"/>
              </a:ext>
            </a:extLst>
          </p:cNvPr>
          <p:cNvSpPr txBox="1"/>
          <p:nvPr/>
        </p:nvSpPr>
        <p:spPr>
          <a:xfrm>
            <a:off x="2826086" y="1293697"/>
            <a:ext cx="57184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" panose="020D0604000000000000" pitchFamily="50" charset="-127"/>
                <a:ea typeface="나눔고딕" panose="020D0604000000000000" pitchFamily="50" charset="-127"/>
              </a:rPr>
              <a:t>르그아웃</a:t>
            </a:r>
          </a:p>
        </p:txBody>
      </p:sp>
      <p:pic>
        <p:nvPicPr>
          <p:cNvPr id="22" name="Picture 4" descr="로그 아웃 아이콘">
            <a:extLst>
              <a:ext uri="{FF2B5EF4-FFF2-40B4-BE49-F238E27FC236}">
                <a16:creationId xmlns:a16="http://schemas.microsoft.com/office/drawing/2014/main" id="{2015B41A-8FF4-F583-633E-F3C40F03F4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9631" y="1283929"/>
            <a:ext cx="217049" cy="217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2AFCA7BA-125F-0049-9746-A36303DC2AAC}"/>
              </a:ext>
            </a:extLst>
          </p:cNvPr>
          <p:cNvSpPr txBox="1"/>
          <p:nvPr/>
        </p:nvSpPr>
        <p:spPr>
          <a:xfrm>
            <a:off x="1343128" y="1807796"/>
            <a:ext cx="17351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공지사항</a:t>
            </a:r>
            <a:endParaRPr lang="en-US" altLang="ko-KR" sz="1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1168845-F1D7-1904-A780-F0CAB26B9884}"/>
              </a:ext>
            </a:extLst>
          </p:cNvPr>
          <p:cNvSpPr txBox="1"/>
          <p:nvPr/>
        </p:nvSpPr>
        <p:spPr>
          <a:xfrm>
            <a:off x="794294" y="2194931"/>
            <a:ext cx="2971189" cy="815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000" b="1" dirty="0"/>
              <a:t>"</a:t>
            </a:r>
            <a:r>
              <a:rPr lang="ko-KR" altLang="en-US" sz="1000" b="1" dirty="0"/>
              <a:t>하늘누리의 새로운 소식과 정성 어린 안내를 전합니다</a:t>
            </a:r>
            <a:r>
              <a:rPr lang="en-US" altLang="ko-KR" sz="1000" b="1" dirty="0"/>
              <a:t>." </a:t>
            </a:r>
          </a:p>
          <a:p>
            <a:pPr algn="ctr"/>
            <a:r>
              <a:rPr lang="ko-KR" altLang="en-US" sz="900" dirty="0"/>
              <a:t>유족분들의 소중한 걸음이 헛되지 않도록</a:t>
            </a:r>
            <a:r>
              <a:rPr lang="en-US" altLang="ko-KR" sz="900" dirty="0"/>
              <a:t>, </a:t>
            </a:r>
            <a:r>
              <a:rPr lang="ko-KR" altLang="en-US" sz="900" dirty="0"/>
              <a:t>공원의 운영 일정과 주요 안내 사항을 가장 정직하고 세심하게 전달해 드리겠습니다</a:t>
            </a:r>
            <a:r>
              <a:rPr lang="en-US" altLang="ko-KR" sz="900" dirty="0"/>
              <a:t>.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04726928-14AC-4444-D035-858097B81290}"/>
              </a:ext>
            </a:extLst>
          </p:cNvPr>
          <p:cNvCxnSpPr>
            <a:cxnSpLocks/>
          </p:cNvCxnSpPr>
          <p:nvPr/>
        </p:nvCxnSpPr>
        <p:spPr>
          <a:xfrm>
            <a:off x="763797" y="3138088"/>
            <a:ext cx="2903531" cy="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EF083ED6-165A-4A3B-9F55-FE4421737ECA}"/>
              </a:ext>
            </a:extLst>
          </p:cNvPr>
          <p:cNvCxnSpPr>
            <a:cxnSpLocks/>
          </p:cNvCxnSpPr>
          <p:nvPr/>
        </p:nvCxnSpPr>
        <p:spPr>
          <a:xfrm>
            <a:off x="763797" y="3660146"/>
            <a:ext cx="2917657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BAF166FC-92FD-6F76-1633-24270996841F}"/>
              </a:ext>
            </a:extLst>
          </p:cNvPr>
          <p:cNvSpPr txBox="1"/>
          <p:nvPr/>
        </p:nvSpPr>
        <p:spPr>
          <a:xfrm>
            <a:off x="794294" y="3407517"/>
            <a:ext cx="1833367" cy="21603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하늘누리에서　알려드립니다．　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BCEE3B8-C409-A4DB-2EB4-35756A8D0BD8}"/>
              </a:ext>
            </a:extLst>
          </p:cNvPr>
          <p:cNvSpPr txBox="1"/>
          <p:nvPr/>
        </p:nvSpPr>
        <p:spPr>
          <a:xfrm>
            <a:off x="2916125" y="3162105"/>
            <a:ext cx="924702" cy="230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2026-03-11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6A0AA156-BF76-77B6-1ED4-20345D312094}"/>
              </a:ext>
            </a:extLst>
          </p:cNvPr>
          <p:cNvCxnSpPr>
            <a:cxnSpLocks/>
          </p:cNvCxnSpPr>
          <p:nvPr/>
        </p:nvCxnSpPr>
        <p:spPr>
          <a:xfrm>
            <a:off x="794294" y="5099833"/>
            <a:ext cx="2903531" cy="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16C815D1-505F-155F-DC8A-824166644441}"/>
              </a:ext>
            </a:extLst>
          </p:cNvPr>
          <p:cNvSpPr txBox="1"/>
          <p:nvPr/>
        </p:nvSpPr>
        <p:spPr>
          <a:xfrm>
            <a:off x="763798" y="3720539"/>
            <a:ext cx="293402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하늘누리 추모공원이 완공되었습니다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유족분들의 소중한 걸음이 헛되지 않도록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공원의 운영 일정과 주요 안내 사항을 가장 정직하고 세심하게 전달해 드리겠습니다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하늘누리 추모공원이 완공되었습니다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유족분들의 소중한 걸음이 헛되지 않도록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공원의 운영 일정과 주요 안내 사항을 가장 정직하고 세심하게 전달해 드리겠습니다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A1D57D61-C4D5-6975-A577-E96124975C1A}"/>
              </a:ext>
            </a:extLst>
          </p:cNvPr>
          <p:cNvCxnSpPr>
            <a:cxnSpLocks/>
          </p:cNvCxnSpPr>
          <p:nvPr/>
        </p:nvCxnSpPr>
        <p:spPr>
          <a:xfrm>
            <a:off x="794294" y="4794746"/>
            <a:ext cx="2903531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83038995-7109-9DD9-2F38-B7AD2D3B6189}"/>
              </a:ext>
            </a:extLst>
          </p:cNvPr>
          <p:cNvSpPr txBox="1"/>
          <p:nvPr/>
        </p:nvSpPr>
        <p:spPr>
          <a:xfrm>
            <a:off x="1387017" y="4842345"/>
            <a:ext cx="173752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u="sng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하늘누리 추모공원 안내문</a:t>
            </a:r>
            <a:r>
              <a:rPr lang="en-US" altLang="ko-KR" sz="800" u="sng" dirty="0">
                <a:latin typeface="나눔고딕" panose="020D0604000000000000" pitchFamily="50" charset="-127"/>
                <a:ea typeface="나눔고딕" panose="020D0604000000000000" pitchFamily="50" charset="-127"/>
              </a:rPr>
              <a:t>.pdf</a:t>
            </a:r>
            <a:endParaRPr lang="ko-KR" altLang="en-US" sz="800" u="sng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50" name="Picture 2" descr="다운로드 - 무료 화살개 아이콘">
            <a:extLst>
              <a:ext uri="{FF2B5EF4-FFF2-40B4-BE49-F238E27FC236}">
                <a16:creationId xmlns:a16="http://schemas.microsoft.com/office/drawing/2014/main" id="{517CDA8A-3B77-6287-985B-024B31930D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2033" y="4823930"/>
            <a:ext cx="230832" cy="2308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AB21C047-4609-78D5-68A6-0926B11D011C}"/>
              </a:ext>
            </a:extLst>
          </p:cNvPr>
          <p:cNvSpPr txBox="1"/>
          <p:nvPr/>
        </p:nvSpPr>
        <p:spPr>
          <a:xfrm>
            <a:off x="763797" y="4831874"/>
            <a:ext cx="66196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첨부파일</a:t>
            </a:r>
          </a:p>
        </p:txBody>
      </p:sp>
      <p:sp>
        <p:nvSpPr>
          <p:cNvPr id="52" name="모서리가 둥근 직사각형 63">
            <a:extLst>
              <a:ext uri="{FF2B5EF4-FFF2-40B4-BE49-F238E27FC236}">
                <a16:creationId xmlns:a16="http://schemas.microsoft.com/office/drawing/2014/main" id="{7FDFD013-5A32-CC4D-D086-28DA911D80A5}"/>
              </a:ext>
            </a:extLst>
          </p:cNvPr>
          <p:cNvSpPr/>
          <p:nvPr/>
        </p:nvSpPr>
        <p:spPr bwMode="auto">
          <a:xfrm>
            <a:off x="955067" y="5211581"/>
            <a:ext cx="2511301" cy="312422"/>
          </a:xfrm>
          <a:prstGeom prst="roundRect">
            <a:avLst/>
          </a:prstGeom>
          <a:solidFill>
            <a:schemeClr val="tx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000" b="1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목록</a:t>
            </a: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3B7AFAB7-A61F-390E-A6BB-DD2337EB7AA2}"/>
              </a:ext>
            </a:extLst>
          </p:cNvPr>
          <p:cNvSpPr/>
          <p:nvPr/>
        </p:nvSpPr>
        <p:spPr>
          <a:xfrm>
            <a:off x="655957" y="5927707"/>
            <a:ext cx="3168137" cy="264669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Footer</a:t>
            </a:r>
            <a:endParaRPr lang="ko-KR" altLang="en-US" sz="10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4" name="Oval 109">
            <a:extLst>
              <a:ext uri="{FF2B5EF4-FFF2-40B4-BE49-F238E27FC236}">
                <a16:creationId xmlns:a16="http://schemas.microsoft.com/office/drawing/2014/main" id="{F8D65892-6E4F-9FE1-C03D-F5F822C457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3884" y="3337826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1</a:t>
            </a:r>
          </a:p>
        </p:txBody>
      </p:sp>
      <p:sp>
        <p:nvSpPr>
          <p:cNvPr id="55" name="Oval 109">
            <a:extLst>
              <a:ext uri="{FF2B5EF4-FFF2-40B4-BE49-F238E27FC236}">
                <a16:creationId xmlns:a16="http://schemas.microsoft.com/office/drawing/2014/main" id="{579A1490-9264-C415-EEF4-B52EABB678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6037" y="4063851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2</a:t>
            </a:r>
          </a:p>
        </p:txBody>
      </p:sp>
      <p:sp>
        <p:nvSpPr>
          <p:cNvPr id="57" name="Oval 109">
            <a:extLst>
              <a:ext uri="{FF2B5EF4-FFF2-40B4-BE49-F238E27FC236}">
                <a16:creationId xmlns:a16="http://schemas.microsoft.com/office/drawing/2014/main" id="{0133D367-3333-9A73-09AB-BE5B7F1F59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8667" y="5174453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316762963"/>
      </p:ext>
    </p:extLst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C45C9C-0CBE-C58C-9C25-73DE9E0D56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B5B2C6E6-F618-17E7-61B5-028986274EA4}"/>
              </a:ext>
            </a:extLst>
          </p:cNvPr>
          <p:cNvGraphicFramePr>
            <a:graphicFrameLocks noGrp="1"/>
          </p:cNvGraphicFramePr>
          <p:nvPr/>
        </p:nvGraphicFramePr>
        <p:xfrm>
          <a:off x="9182101" y="947377"/>
          <a:ext cx="2795588" cy="2334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1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자주 묻는 질문은 아코디언 형태로 구성되며 별도의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DB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에서 관리하지 않고 구성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684046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질문영역이나 화살표를 선택하면 답변이 아코디언 형태로 노출됨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다시 한번 질문 영역이나 화살표 선택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답뎐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영역 닫힘</a:t>
                      </a: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723838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3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다른 질문을 선택하면 열려 있는 답변영역 닫힘</a:t>
                      </a: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172599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4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290794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5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922450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6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784800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7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0538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8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199337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9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450365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1731D48E-77CB-D680-3885-8E5771404551}"/>
              </a:ext>
            </a:extLst>
          </p:cNvPr>
          <p:cNvSpPr/>
          <p:nvPr/>
        </p:nvSpPr>
        <p:spPr>
          <a:xfrm>
            <a:off x="959895" y="375614"/>
            <a:ext cx="1624163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</a:pP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메인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고객센터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자주 묻는 질문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A4CEA62-DBB7-0BFE-E216-69379BC460CD}"/>
              </a:ext>
            </a:extLst>
          </p:cNvPr>
          <p:cNvSpPr txBox="1"/>
          <p:nvPr/>
        </p:nvSpPr>
        <p:spPr>
          <a:xfrm>
            <a:off x="6003996" y="123825"/>
            <a:ext cx="17303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HN_Customer_Faq_001</a:t>
            </a:r>
            <a:endParaRPr lang="ko-KR" altLang="en-US" sz="800" dirty="0"/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2194CC3A-AD38-B84D-63D8-72242DC5978F}"/>
              </a:ext>
            </a:extLst>
          </p:cNvPr>
          <p:cNvCxnSpPr>
            <a:cxnSpLocks/>
          </p:cNvCxnSpPr>
          <p:nvPr/>
        </p:nvCxnSpPr>
        <p:spPr>
          <a:xfrm>
            <a:off x="655957" y="1658468"/>
            <a:ext cx="3109526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EC53E23B-0912-DE2D-E35C-74F3A996BEE7}"/>
              </a:ext>
            </a:extLst>
          </p:cNvPr>
          <p:cNvSpPr txBox="1"/>
          <p:nvPr/>
        </p:nvSpPr>
        <p:spPr>
          <a:xfrm>
            <a:off x="1793778" y="1181491"/>
            <a:ext cx="83388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하늘누리</a:t>
            </a:r>
            <a:endParaRPr lang="en-US" altLang="ko-KR" sz="11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en-US" altLang="ko-KR" sz="11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CI</a:t>
            </a:r>
            <a:endParaRPr lang="ko-KR" altLang="en-US" sz="11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23" name="그림 22" descr="블랙, 어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3DAAA0D-7570-4507-C143-1BFC82DFC2E8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2985" y="1191723"/>
            <a:ext cx="383533" cy="383533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7799413C-8407-0F7C-230B-1F4737649217}"/>
              </a:ext>
            </a:extLst>
          </p:cNvPr>
          <p:cNvSpPr txBox="1"/>
          <p:nvPr/>
        </p:nvSpPr>
        <p:spPr>
          <a:xfrm>
            <a:off x="2826086" y="1293697"/>
            <a:ext cx="57184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" panose="020D0604000000000000" pitchFamily="50" charset="-127"/>
                <a:ea typeface="나눔고딕" panose="020D0604000000000000" pitchFamily="50" charset="-127"/>
              </a:rPr>
              <a:t>르그아웃</a:t>
            </a:r>
          </a:p>
        </p:txBody>
      </p:sp>
      <p:pic>
        <p:nvPicPr>
          <p:cNvPr id="32" name="Picture 4" descr="로그 아웃 아이콘">
            <a:extLst>
              <a:ext uri="{FF2B5EF4-FFF2-40B4-BE49-F238E27FC236}">
                <a16:creationId xmlns:a16="http://schemas.microsoft.com/office/drawing/2014/main" id="{4D1D3483-0FEE-03C2-9A5E-E71CE0F725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9631" y="1283929"/>
            <a:ext cx="217049" cy="217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21286309-58FD-1AAB-1978-B1B417F97572}"/>
              </a:ext>
            </a:extLst>
          </p:cNvPr>
          <p:cNvSpPr txBox="1"/>
          <p:nvPr/>
        </p:nvSpPr>
        <p:spPr>
          <a:xfrm>
            <a:off x="1343128" y="1807796"/>
            <a:ext cx="17351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자주 묻는 질문</a:t>
            </a:r>
            <a:endParaRPr lang="en-US" altLang="ko-KR" sz="1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D862EDE-0C4F-BC75-5238-7D6BF3F6AC90}"/>
              </a:ext>
            </a:extLst>
          </p:cNvPr>
          <p:cNvSpPr txBox="1"/>
          <p:nvPr/>
        </p:nvSpPr>
        <p:spPr>
          <a:xfrm>
            <a:off x="794294" y="2194931"/>
            <a:ext cx="2971189" cy="815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000" b="1" dirty="0"/>
              <a:t>"</a:t>
            </a:r>
            <a:r>
              <a:rPr lang="ko-KR" altLang="en-US" sz="1000" b="1" dirty="0"/>
              <a:t>낯설고 어려운 마음을 보듬는 하늘누리의 작은 길잡이</a:t>
            </a:r>
            <a:r>
              <a:rPr lang="en-US" altLang="ko-KR" sz="1000" b="1" dirty="0"/>
              <a:t>“</a:t>
            </a:r>
          </a:p>
          <a:p>
            <a:pPr algn="ctr"/>
            <a:r>
              <a:rPr lang="ko-KR" altLang="en-US" sz="900" dirty="0"/>
              <a:t>유족분들께서 가장 자주 궁금해하시는 내용들을 세세하게 모았습니다</a:t>
            </a:r>
            <a:r>
              <a:rPr lang="en-US" altLang="ko-KR" sz="900" dirty="0"/>
              <a:t>. </a:t>
            </a:r>
            <a:r>
              <a:rPr lang="ko-KR" altLang="en-US" sz="900" dirty="0"/>
              <a:t>궁금하신 점을 차근차근 확인해 보세요</a:t>
            </a:r>
            <a:r>
              <a:rPr lang="en-US" altLang="ko-KR" sz="900" dirty="0"/>
              <a:t>.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47" name="직선 연결선 46">
            <a:extLst>
              <a:ext uri="{FF2B5EF4-FFF2-40B4-BE49-F238E27FC236}">
                <a16:creationId xmlns:a16="http://schemas.microsoft.com/office/drawing/2014/main" id="{63AEFD4A-64E0-EA4D-A0C3-73EE3D81E9E2}"/>
              </a:ext>
            </a:extLst>
          </p:cNvPr>
          <p:cNvCxnSpPr>
            <a:cxnSpLocks/>
          </p:cNvCxnSpPr>
          <p:nvPr/>
        </p:nvCxnSpPr>
        <p:spPr>
          <a:xfrm>
            <a:off x="794294" y="3145414"/>
            <a:ext cx="296222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5EA1C679-7EF4-A2D5-CAF5-9A572C2A0CE5}"/>
              </a:ext>
            </a:extLst>
          </p:cNvPr>
          <p:cNvSpPr/>
          <p:nvPr/>
        </p:nvSpPr>
        <p:spPr>
          <a:xfrm>
            <a:off x="794294" y="3502700"/>
            <a:ext cx="2971189" cy="1040116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00490E0-10B8-91CD-A501-4325EA557F75}"/>
              </a:ext>
            </a:extLst>
          </p:cNvPr>
          <p:cNvSpPr txBox="1"/>
          <p:nvPr/>
        </p:nvSpPr>
        <p:spPr>
          <a:xfrm>
            <a:off x="1011709" y="3178235"/>
            <a:ext cx="2668326" cy="25517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하늘누리 추모공원의 운영시간은 어떻게 되나요</a:t>
            </a:r>
            <a:r>
              <a:rPr lang="en-US" altLang="ko-KR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?</a:t>
            </a:r>
            <a:r>
              <a:rPr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　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729EB9D-63DB-44BC-3F45-175A458EAB01}"/>
              </a:ext>
            </a:extLst>
          </p:cNvPr>
          <p:cNvSpPr txBox="1"/>
          <p:nvPr/>
        </p:nvSpPr>
        <p:spPr>
          <a:xfrm>
            <a:off x="1096918" y="3559694"/>
            <a:ext cx="250529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하늘누리 추모공원 운영시간</a:t>
            </a:r>
            <a:endParaRPr lang="en-US" altLang="ko-KR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endParaRPr lang="en-US" altLang="ko-KR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연중무휴</a:t>
            </a:r>
            <a:endParaRPr lang="en-US" altLang="ko-KR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오전 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08:00 ~ 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오후 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18:00</a:t>
            </a:r>
          </a:p>
          <a:p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하늘누리 추모공원은 </a:t>
            </a:r>
            <a:r>
              <a:rPr lang="en-US" altLang="ko-KR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"</a:t>
            </a:r>
            <a:r>
              <a:rPr lang="ko-KR" altLang="en-US" sz="800" b="1" dirty="0">
                <a:solidFill>
                  <a:srgbClr val="2324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고인께서는 편안히 영면하실 수 있는 성스러운 안식처가</a:t>
            </a:r>
            <a:r>
              <a:rPr lang="en-US" altLang="ko-KR" sz="800" b="1" dirty="0">
                <a:solidFill>
                  <a:srgbClr val="2324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”</a:t>
            </a:r>
            <a:r>
              <a:rPr lang="ko-KR" altLang="en-US" sz="800" b="1" dirty="0">
                <a:solidFill>
                  <a:srgbClr val="2324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800" dirty="0">
                <a:solidFill>
                  <a:srgbClr val="2324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되겠습니다</a:t>
            </a:r>
            <a:r>
              <a:rPr lang="en-US" altLang="ko-KR" sz="800" dirty="0">
                <a:solidFill>
                  <a:srgbClr val="2324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en-US" altLang="ko-KR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53" name="직선 연결선 52">
            <a:extLst>
              <a:ext uri="{FF2B5EF4-FFF2-40B4-BE49-F238E27FC236}">
                <a16:creationId xmlns:a16="http://schemas.microsoft.com/office/drawing/2014/main" id="{1F39997D-623C-51EF-003D-FAA9354EC93E}"/>
              </a:ext>
            </a:extLst>
          </p:cNvPr>
          <p:cNvCxnSpPr>
            <a:cxnSpLocks/>
          </p:cNvCxnSpPr>
          <p:nvPr/>
        </p:nvCxnSpPr>
        <p:spPr>
          <a:xfrm>
            <a:off x="795680" y="3448599"/>
            <a:ext cx="2960838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8" name="Picture 4" descr="위쪽 화살표 아이콘 Basic Black Outline | Freepik">
            <a:extLst>
              <a:ext uri="{FF2B5EF4-FFF2-40B4-BE49-F238E27FC236}">
                <a16:creationId xmlns:a16="http://schemas.microsoft.com/office/drawing/2014/main" id="{1AAFB9A5-68D8-C5F1-3E99-A0794BC8A5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8949" y="3211905"/>
            <a:ext cx="172801" cy="172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9" name="Picture 2" descr="아래쪽 화살표 - 무료 화살개 아이콘">
            <a:extLst>
              <a:ext uri="{FF2B5EF4-FFF2-40B4-BE49-F238E27FC236}">
                <a16:creationId xmlns:a16="http://schemas.microsoft.com/office/drawing/2014/main" id="{2A381ADD-2C24-1FF7-E601-D9AB0F45A1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2682" y="4623236"/>
            <a:ext cx="172801" cy="172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7E34D8C0-C336-70C7-DD66-8A87EECA3A8B}"/>
              </a:ext>
            </a:extLst>
          </p:cNvPr>
          <p:cNvCxnSpPr>
            <a:cxnSpLocks/>
          </p:cNvCxnSpPr>
          <p:nvPr/>
        </p:nvCxnSpPr>
        <p:spPr>
          <a:xfrm>
            <a:off x="790912" y="4554309"/>
            <a:ext cx="2960838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직선 연결선 60">
            <a:extLst>
              <a:ext uri="{FF2B5EF4-FFF2-40B4-BE49-F238E27FC236}">
                <a16:creationId xmlns:a16="http://schemas.microsoft.com/office/drawing/2014/main" id="{5E1D1903-D2AF-9A60-8101-C463A29AF3C2}"/>
              </a:ext>
            </a:extLst>
          </p:cNvPr>
          <p:cNvCxnSpPr>
            <a:cxnSpLocks/>
          </p:cNvCxnSpPr>
          <p:nvPr/>
        </p:nvCxnSpPr>
        <p:spPr>
          <a:xfrm>
            <a:off x="790912" y="4820376"/>
            <a:ext cx="2960838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0CE6DC2C-DB66-1D93-C997-6F9E293C2BE4}"/>
              </a:ext>
            </a:extLst>
          </p:cNvPr>
          <p:cNvSpPr txBox="1"/>
          <p:nvPr/>
        </p:nvSpPr>
        <p:spPr>
          <a:xfrm>
            <a:off x="945725" y="4559906"/>
            <a:ext cx="2668326" cy="25517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하늘누리 추모공원의 운영시간은 어떻게 되나요</a:t>
            </a:r>
            <a:r>
              <a:rPr lang="en-US" altLang="ko-KR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?</a:t>
            </a:r>
            <a:r>
              <a:rPr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　</a:t>
            </a:r>
          </a:p>
        </p:txBody>
      </p:sp>
      <p:pic>
        <p:nvPicPr>
          <p:cNvPr id="3072" name="Picture 2" descr="아래쪽 화살표 - 무료 화살개 아이콘">
            <a:extLst>
              <a:ext uri="{FF2B5EF4-FFF2-40B4-BE49-F238E27FC236}">
                <a16:creationId xmlns:a16="http://schemas.microsoft.com/office/drawing/2014/main" id="{862AFEB5-2180-6D32-B1FC-4C80DAF1E2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2682" y="4959031"/>
            <a:ext cx="172801" cy="172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073" name="직선 연결선 3072">
            <a:extLst>
              <a:ext uri="{FF2B5EF4-FFF2-40B4-BE49-F238E27FC236}">
                <a16:creationId xmlns:a16="http://schemas.microsoft.com/office/drawing/2014/main" id="{E9396A9C-92C7-5E3C-2209-67DB3FE3E8E6}"/>
              </a:ext>
            </a:extLst>
          </p:cNvPr>
          <p:cNvCxnSpPr>
            <a:cxnSpLocks/>
          </p:cNvCxnSpPr>
          <p:nvPr/>
        </p:nvCxnSpPr>
        <p:spPr>
          <a:xfrm>
            <a:off x="790912" y="5156171"/>
            <a:ext cx="2960838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75" name="TextBox 3074">
            <a:extLst>
              <a:ext uri="{FF2B5EF4-FFF2-40B4-BE49-F238E27FC236}">
                <a16:creationId xmlns:a16="http://schemas.microsoft.com/office/drawing/2014/main" id="{53DC195A-A084-81E5-91EC-8CACBDD38D7C}"/>
              </a:ext>
            </a:extLst>
          </p:cNvPr>
          <p:cNvSpPr txBox="1"/>
          <p:nvPr/>
        </p:nvSpPr>
        <p:spPr>
          <a:xfrm>
            <a:off x="945725" y="4895701"/>
            <a:ext cx="2668326" cy="25517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하늘누리 추모공원의 운영시간은 어떻게 되나요</a:t>
            </a:r>
            <a:r>
              <a:rPr lang="en-US" altLang="ko-KR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?</a:t>
            </a:r>
            <a:r>
              <a:rPr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　</a:t>
            </a:r>
          </a:p>
        </p:txBody>
      </p:sp>
      <p:pic>
        <p:nvPicPr>
          <p:cNvPr id="3077" name="Picture 2" descr="아래쪽 화살표 - 무료 화살개 아이콘">
            <a:extLst>
              <a:ext uri="{FF2B5EF4-FFF2-40B4-BE49-F238E27FC236}">
                <a16:creationId xmlns:a16="http://schemas.microsoft.com/office/drawing/2014/main" id="{64C513A4-74BE-3540-715A-F9D2CB8F02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1265" y="5277537"/>
            <a:ext cx="172801" cy="172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078" name="직선 연결선 3077">
            <a:extLst>
              <a:ext uri="{FF2B5EF4-FFF2-40B4-BE49-F238E27FC236}">
                <a16:creationId xmlns:a16="http://schemas.microsoft.com/office/drawing/2014/main" id="{6A3E68D7-55C1-5F94-4DA2-7DB7C8D14361}"/>
              </a:ext>
            </a:extLst>
          </p:cNvPr>
          <p:cNvCxnSpPr>
            <a:cxnSpLocks/>
          </p:cNvCxnSpPr>
          <p:nvPr/>
        </p:nvCxnSpPr>
        <p:spPr>
          <a:xfrm>
            <a:off x="799495" y="5474677"/>
            <a:ext cx="2960838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79" name="TextBox 3078">
            <a:extLst>
              <a:ext uri="{FF2B5EF4-FFF2-40B4-BE49-F238E27FC236}">
                <a16:creationId xmlns:a16="http://schemas.microsoft.com/office/drawing/2014/main" id="{55FE5F73-BBD0-5CA0-4FF1-D230479C527D}"/>
              </a:ext>
            </a:extLst>
          </p:cNvPr>
          <p:cNvSpPr txBox="1"/>
          <p:nvPr/>
        </p:nvSpPr>
        <p:spPr>
          <a:xfrm>
            <a:off x="954308" y="5214207"/>
            <a:ext cx="2668326" cy="25517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하늘누리 추모공원의 운영시간은 어떻게 되나요</a:t>
            </a:r>
            <a:r>
              <a:rPr lang="en-US" altLang="ko-KR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?</a:t>
            </a:r>
            <a:r>
              <a:rPr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　</a:t>
            </a:r>
          </a:p>
        </p:txBody>
      </p:sp>
      <p:sp>
        <p:nvSpPr>
          <p:cNvPr id="3080" name="TextBox 3079">
            <a:extLst>
              <a:ext uri="{FF2B5EF4-FFF2-40B4-BE49-F238E27FC236}">
                <a16:creationId xmlns:a16="http://schemas.microsoft.com/office/drawing/2014/main" id="{66856236-67F3-E974-952B-7DDBC48EC4EE}"/>
              </a:ext>
            </a:extLst>
          </p:cNvPr>
          <p:cNvSpPr txBox="1"/>
          <p:nvPr/>
        </p:nvSpPr>
        <p:spPr>
          <a:xfrm>
            <a:off x="724259" y="3133128"/>
            <a:ext cx="3009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Q</a:t>
            </a:r>
            <a:endParaRPr lang="ko-KR" altLang="en-US" sz="14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081" name="TextBox 3080">
            <a:extLst>
              <a:ext uri="{FF2B5EF4-FFF2-40B4-BE49-F238E27FC236}">
                <a16:creationId xmlns:a16="http://schemas.microsoft.com/office/drawing/2014/main" id="{CB4673A9-2A01-6776-FB1C-F4DC532673E3}"/>
              </a:ext>
            </a:extLst>
          </p:cNvPr>
          <p:cNvSpPr txBox="1"/>
          <p:nvPr/>
        </p:nvSpPr>
        <p:spPr>
          <a:xfrm>
            <a:off x="724259" y="3898373"/>
            <a:ext cx="3009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A</a:t>
            </a:r>
            <a:endParaRPr lang="ko-KR" altLang="en-US" sz="14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082" name="TextBox 3081">
            <a:extLst>
              <a:ext uri="{FF2B5EF4-FFF2-40B4-BE49-F238E27FC236}">
                <a16:creationId xmlns:a16="http://schemas.microsoft.com/office/drawing/2014/main" id="{3B987863-B52E-D51A-95C4-B3CF9C300B79}"/>
              </a:ext>
            </a:extLst>
          </p:cNvPr>
          <p:cNvSpPr txBox="1"/>
          <p:nvPr/>
        </p:nvSpPr>
        <p:spPr>
          <a:xfrm>
            <a:off x="724259" y="4553544"/>
            <a:ext cx="3009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Q</a:t>
            </a:r>
            <a:endParaRPr lang="ko-KR" altLang="en-US" sz="14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083" name="TextBox 3082">
            <a:extLst>
              <a:ext uri="{FF2B5EF4-FFF2-40B4-BE49-F238E27FC236}">
                <a16:creationId xmlns:a16="http://schemas.microsoft.com/office/drawing/2014/main" id="{A7587136-5A82-9116-7386-5C17A01B6436}"/>
              </a:ext>
            </a:extLst>
          </p:cNvPr>
          <p:cNvSpPr txBox="1"/>
          <p:nvPr/>
        </p:nvSpPr>
        <p:spPr>
          <a:xfrm>
            <a:off x="717847" y="4836224"/>
            <a:ext cx="3009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Q</a:t>
            </a:r>
            <a:endParaRPr lang="ko-KR" altLang="en-US" sz="14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084" name="TextBox 3083">
            <a:extLst>
              <a:ext uri="{FF2B5EF4-FFF2-40B4-BE49-F238E27FC236}">
                <a16:creationId xmlns:a16="http://schemas.microsoft.com/office/drawing/2014/main" id="{430010B6-396C-18B8-43DA-FB4619DC3689}"/>
              </a:ext>
            </a:extLst>
          </p:cNvPr>
          <p:cNvSpPr txBox="1"/>
          <p:nvPr/>
        </p:nvSpPr>
        <p:spPr>
          <a:xfrm>
            <a:off x="666137" y="5199532"/>
            <a:ext cx="3009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Q</a:t>
            </a:r>
            <a:endParaRPr lang="ko-KR" altLang="en-US" sz="14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3085" name="직선 연결선 3084">
            <a:extLst>
              <a:ext uri="{FF2B5EF4-FFF2-40B4-BE49-F238E27FC236}">
                <a16:creationId xmlns:a16="http://schemas.microsoft.com/office/drawing/2014/main" id="{183D499F-D26D-D03D-D33B-ABABCAD978EB}"/>
              </a:ext>
            </a:extLst>
          </p:cNvPr>
          <p:cNvCxnSpPr>
            <a:cxnSpLocks/>
          </p:cNvCxnSpPr>
          <p:nvPr/>
        </p:nvCxnSpPr>
        <p:spPr>
          <a:xfrm>
            <a:off x="790912" y="5653766"/>
            <a:ext cx="298315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87" name="TextBox 3086">
            <a:extLst>
              <a:ext uri="{FF2B5EF4-FFF2-40B4-BE49-F238E27FC236}">
                <a16:creationId xmlns:a16="http://schemas.microsoft.com/office/drawing/2014/main" id="{01D717B6-AE55-089C-B6AA-81E89D5AD341}"/>
              </a:ext>
            </a:extLst>
          </p:cNvPr>
          <p:cNvSpPr txBox="1"/>
          <p:nvPr/>
        </p:nvSpPr>
        <p:spPr>
          <a:xfrm>
            <a:off x="1753998" y="5435828"/>
            <a:ext cx="10517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…</a:t>
            </a:r>
            <a:endParaRPr lang="ko-KR" altLang="en-US" sz="1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088" name="직사각형 3087">
            <a:extLst>
              <a:ext uri="{FF2B5EF4-FFF2-40B4-BE49-F238E27FC236}">
                <a16:creationId xmlns:a16="http://schemas.microsoft.com/office/drawing/2014/main" id="{91E6EECB-FF62-D2D9-EEEF-352958DA2574}"/>
              </a:ext>
            </a:extLst>
          </p:cNvPr>
          <p:cNvSpPr/>
          <p:nvPr/>
        </p:nvSpPr>
        <p:spPr>
          <a:xfrm>
            <a:off x="655957" y="5927707"/>
            <a:ext cx="3168137" cy="264669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Footer</a:t>
            </a:r>
            <a:endParaRPr lang="ko-KR" altLang="en-US" sz="10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089" name="Oval 109">
            <a:extLst>
              <a:ext uri="{FF2B5EF4-FFF2-40B4-BE49-F238E27FC236}">
                <a16:creationId xmlns:a16="http://schemas.microsoft.com/office/drawing/2014/main" id="{BD64ECE7-88D4-4DE6-7E5C-A16AB342DB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544" y="3140948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1</a:t>
            </a:r>
          </a:p>
        </p:txBody>
      </p:sp>
      <p:sp>
        <p:nvSpPr>
          <p:cNvPr id="3090" name="Oval 109">
            <a:extLst>
              <a:ext uri="{FF2B5EF4-FFF2-40B4-BE49-F238E27FC236}">
                <a16:creationId xmlns:a16="http://schemas.microsoft.com/office/drawing/2014/main" id="{2EA97D0B-FC78-E058-A0D0-461052FF64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9822" y="3140948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2</a:t>
            </a:r>
          </a:p>
        </p:txBody>
      </p:sp>
      <p:sp>
        <p:nvSpPr>
          <p:cNvPr id="3091" name="Oval 109">
            <a:extLst>
              <a:ext uri="{FF2B5EF4-FFF2-40B4-BE49-F238E27FC236}">
                <a16:creationId xmlns:a16="http://schemas.microsoft.com/office/drawing/2014/main" id="{D057AD84-EE86-E1BD-30AF-D4A77949C1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9822" y="4578742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273207349"/>
      </p:ext>
    </p:extLst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4CFE48-2FA3-CDE3-8289-A6A00D6DA5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A1A578B6-F2E3-8033-5E63-B841FE7AE364}"/>
              </a:ext>
            </a:extLst>
          </p:cNvPr>
          <p:cNvGraphicFramePr>
            <a:graphicFrameLocks noGrp="1"/>
          </p:cNvGraphicFramePr>
          <p:nvPr/>
        </p:nvGraphicFramePr>
        <p:xfrm>
          <a:off x="9182101" y="947377"/>
          <a:ext cx="2795588" cy="257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1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1:1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상담은 로그인 메뉴로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1:1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상담 선택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로그인 여부 체크 후 로그인 전 상태에서는 로그인 화면으로 이동하고 로그인 후 상태에서는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1:1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상담 화면으로 이동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684046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나의 상담 보기 선택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해당 회원이 상담 등록 및 답변등록 목록 화면으로 이동</a:t>
                      </a: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723838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3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작성자와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e-mail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은 회원정보에서 호출하여 노출</a:t>
                      </a: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172599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4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취소 버튼 선택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입력한 문의 내역을 저장하지 않고 메인 화면으로 이동</a:t>
                      </a: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290794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5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작성완료 선택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유효성 체크 후 문의내용 저장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제목 또는 문의내용을 입력하지 않은 경우에는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Alert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메시지 노출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“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입력항목을 확인해주시기 바랍니다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.”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922450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6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784800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7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0538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8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199337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9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450365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6399DAC3-885D-DB24-4297-CE4BC89D94F5}"/>
              </a:ext>
            </a:extLst>
          </p:cNvPr>
          <p:cNvSpPr/>
          <p:nvPr/>
        </p:nvSpPr>
        <p:spPr>
          <a:xfrm>
            <a:off x="959895" y="375614"/>
            <a:ext cx="1366080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</a:pP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메인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고객센터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1:1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상담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8A50815-C46D-752E-F33E-6E6048ED1821}"/>
              </a:ext>
            </a:extLst>
          </p:cNvPr>
          <p:cNvSpPr txBox="1"/>
          <p:nvPr/>
        </p:nvSpPr>
        <p:spPr>
          <a:xfrm>
            <a:off x="6003996" y="123825"/>
            <a:ext cx="17303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HN_Customer_Councelregi_001</a:t>
            </a:r>
            <a:endParaRPr lang="ko-KR" altLang="en-US" sz="800" dirty="0"/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D33299A0-E1C4-F7BD-59CE-4E038BA09838}"/>
              </a:ext>
            </a:extLst>
          </p:cNvPr>
          <p:cNvCxnSpPr>
            <a:cxnSpLocks/>
          </p:cNvCxnSpPr>
          <p:nvPr/>
        </p:nvCxnSpPr>
        <p:spPr>
          <a:xfrm>
            <a:off x="655957" y="1658468"/>
            <a:ext cx="3109526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DB165590-F084-96D5-4AE9-3D0E6183D633}"/>
              </a:ext>
            </a:extLst>
          </p:cNvPr>
          <p:cNvSpPr txBox="1"/>
          <p:nvPr/>
        </p:nvSpPr>
        <p:spPr>
          <a:xfrm>
            <a:off x="1793778" y="1181491"/>
            <a:ext cx="83388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하늘누리</a:t>
            </a:r>
            <a:endParaRPr lang="en-US" altLang="ko-KR" sz="11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en-US" altLang="ko-KR" sz="11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CI</a:t>
            </a:r>
            <a:endParaRPr lang="ko-KR" altLang="en-US" sz="11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11" name="그림 10" descr="블랙, 어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55F2D8E-F6DA-E91E-F0E7-A91E55877292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2985" y="1191723"/>
            <a:ext cx="383533" cy="38353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A4BA73A-5F19-4C75-3E53-8DE272949EBF}"/>
              </a:ext>
            </a:extLst>
          </p:cNvPr>
          <p:cNvSpPr txBox="1"/>
          <p:nvPr/>
        </p:nvSpPr>
        <p:spPr>
          <a:xfrm>
            <a:off x="2826086" y="1293697"/>
            <a:ext cx="57184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" panose="020D0604000000000000" pitchFamily="50" charset="-127"/>
                <a:ea typeface="나눔고딕" panose="020D0604000000000000" pitchFamily="50" charset="-127"/>
              </a:rPr>
              <a:t>르그아웃</a:t>
            </a:r>
          </a:p>
        </p:txBody>
      </p:sp>
      <p:pic>
        <p:nvPicPr>
          <p:cNvPr id="16" name="Picture 4" descr="로그 아웃 아이콘">
            <a:extLst>
              <a:ext uri="{FF2B5EF4-FFF2-40B4-BE49-F238E27FC236}">
                <a16:creationId xmlns:a16="http://schemas.microsoft.com/office/drawing/2014/main" id="{C2692185-0E7F-DB31-4974-16FDE27D34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9631" y="1283929"/>
            <a:ext cx="217049" cy="217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50919357-EC31-8857-B81E-D1939AAF80A5}"/>
              </a:ext>
            </a:extLst>
          </p:cNvPr>
          <p:cNvSpPr txBox="1"/>
          <p:nvPr/>
        </p:nvSpPr>
        <p:spPr>
          <a:xfrm>
            <a:off x="1343128" y="1807796"/>
            <a:ext cx="17351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1:1 </a:t>
            </a:r>
            <a:r>
              <a:rPr lang="ko-KR" altLang="en-US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상담</a:t>
            </a:r>
            <a:endParaRPr lang="en-US" altLang="ko-KR" sz="1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7E3D21B-1225-546E-DABE-826A6FEAAE05}"/>
              </a:ext>
            </a:extLst>
          </p:cNvPr>
          <p:cNvSpPr txBox="1"/>
          <p:nvPr/>
        </p:nvSpPr>
        <p:spPr>
          <a:xfrm>
            <a:off x="794294" y="2194931"/>
            <a:ext cx="2971189" cy="66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000" b="1" dirty="0"/>
              <a:t>"</a:t>
            </a:r>
            <a:r>
              <a:rPr lang="ko-KR" altLang="en-US" sz="1000" b="1" dirty="0"/>
              <a:t>마음을 다해 듣고</a:t>
            </a:r>
            <a:r>
              <a:rPr lang="en-US" altLang="ko-KR" sz="1000" b="1" dirty="0"/>
              <a:t>, </a:t>
            </a:r>
            <a:r>
              <a:rPr lang="ko-KR" altLang="en-US" sz="1000" b="1" dirty="0"/>
              <a:t>정성을 다해 답하겠습니다</a:t>
            </a:r>
            <a:r>
              <a:rPr lang="en-US" altLang="ko-KR" sz="1000" b="1" dirty="0"/>
              <a:t>." </a:t>
            </a:r>
          </a:p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말로 다 전하기 어려운 유족분들의 고민과 궁금증을 귀 기울여 듣겠습니다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하늘누리가 가족의 마음으로 함께 고민하고 답변해 드립니다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0" name="모서리가 둥근 직사각형 63">
            <a:extLst>
              <a:ext uri="{FF2B5EF4-FFF2-40B4-BE49-F238E27FC236}">
                <a16:creationId xmlns:a16="http://schemas.microsoft.com/office/drawing/2014/main" id="{32A8E739-942F-266E-BD1D-A8A499B22B9F}"/>
              </a:ext>
            </a:extLst>
          </p:cNvPr>
          <p:cNvSpPr/>
          <p:nvPr/>
        </p:nvSpPr>
        <p:spPr bwMode="auto">
          <a:xfrm>
            <a:off x="832769" y="2950898"/>
            <a:ext cx="961009" cy="26895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900" b="1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나의 상담 보기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E8103CA-5320-5E16-C3F4-6AC41DC4FD30}"/>
              </a:ext>
            </a:extLst>
          </p:cNvPr>
          <p:cNvSpPr txBox="1"/>
          <p:nvPr/>
        </p:nvSpPr>
        <p:spPr>
          <a:xfrm>
            <a:off x="775264" y="3647674"/>
            <a:ext cx="8142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E-Mail</a:t>
            </a:r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endParaRPr lang="ko-KR" altLang="en-US" sz="10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E9FE6E27-82BF-A3D7-FA41-C7D69777B04B}"/>
              </a:ext>
            </a:extLst>
          </p:cNvPr>
          <p:cNvCxnSpPr>
            <a:cxnSpLocks/>
          </p:cNvCxnSpPr>
          <p:nvPr/>
        </p:nvCxnSpPr>
        <p:spPr>
          <a:xfrm flipV="1">
            <a:off x="1599270" y="3824012"/>
            <a:ext cx="1800000" cy="11515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51EACFD7-007F-27A7-29A2-CC2CA7E6DC57}"/>
              </a:ext>
            </a:extLst>
          </p:cNvPr>
          <p:cNvSpPr txBox="1"/>
          <p:nvPr/>
        </p:nvSpPr>
        <p:spPr>
          <a:xfrm>
            <a:off x="1703364" y="3625312"/>
            <a:ext cx="121331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gildong@abc.co.kr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4568F7D-A706-75AB-AC09-F8FCD75D81AA}"/>
              </a:ext>
            </a:extLst>
          </p:cNvPr>
          <p:cNvSpPr txBox="1"/>
          <p:nvPr/>
        </p:nvSpPr>
        <p:spPr>
          <a:xfrm>
            <a:off x="774523" y="3333558"/>
            <a:ext cx="8142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작성자 </a:t>
            </a:r>
            <a:endParaRPr lang="ko-KR" altLang="en-US" sz="10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FA437916-53CB-920C-F494-C26E1A85F393}"/>
              </a:ext>
            </a:extLst>
          </p:cNvPr>
          <p:cNvCxnSpPr>
            <a:cxnSpLocks/>
          </p:cNvCxnSpPr>
          <p:nvPr/>
        </p:nvCxnSpPr>
        <p:spPr>
          <a:xfrm flipV="1">
            <a:off x="1598529" y="3509896"/>
            <a:ext cx="1800000" cy="11515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BF08C16E-C83B-D741-D59D-5057E203DB27}"/>
              </a:ext>
            </a:extLst>
          </p:cNvPr>
          <p:cNvSpPr txBox="1"/>
          <p:nvPr/>
        </p:nvSpPr>
        <p:spPr>
          <a:xfrm>
            <a:off x="1670369" y="3314101"/>
            <a:ext cx="6556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홍길동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76FB7B1-0FBB-666A-02DD-B5C33F5C85A8}"/>
              </a:ext>
            </a:extLst>
          </p:cNvPr>
          <p:cNvSpPr txBox="1"/>
          <p:nvPr/>
        </p:nvSpPr>
        <p:spPr>
          <a:xfrm>
            <a:off x="774523" y="3955979"/>
            <a:ext cx="8142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제목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*</a:t>
            </a:r>
            <a:r>
              <a:rPr lang="ko-KR" altLang="en-US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</p:txBody>
      </p:sp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id="{AECF33B2-F1E0-8BB9-43B0-D0459AC58D5B}"/>
              </a:ext>
            </a:extLst>
          </p:cNvPr>
          <p:cNvCxnSpPr>
            <a:cxnSpLocks/>
          </p:cNvCxnSpPr>
          <p:nvPr/>
        </p:nvCxnSpPr>
        <p:spPr>
          <a:xfrm>
            <a:off x="1545383" y="4167355"/>
            <a:ext cx="2160000" cy="11665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5F28B130-40EC-06F7-3E86-D4612F1E2BDE}"/>
              </a:ext>
            </a:extLst>
          </p:cNvPr>
          <p:cNvSpPr txBox="1"/>
          <p:nvPr/>
        </p:nvSpPr>
        <p:spPr>
          <a:xfrm>
            <a:off x="1582817" y="3936523"/>
            <a:ext cx="119341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제목을 입력하세요</a:t>
            </a:r>
            <a:endParaRPr lang="ko-KR" altLang="en-US" sz="90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C11B554-789D-A450-481D-65A7727DD8C7}"/>
              </a:ext>
            </a:extLst>
          </p:cNvPr>
          <p:cNvSpPr txBox="1"/>
          <p:nvPr/>
        </p:nvSpPr>
        <p:spPr>
          <a:xfrm>
            <a:off x="774523" y="4255620"/>
            <a:ext cx="100264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문의내용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*</a:t>
            </a:r>
            <a:endParaRPr lang="ko-KR" altLang="en-US" sz="10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B291F741-CAE6-332A-295E-3BE6C8BB0A4A}"/>
              </a:ext>
            </a:extLst>
          </p:cNvPr>
          <p:cNvSpPr/>
          <p:nvPr/>
        </p:nvSpPr>
        <p:spPr>
          <a:xfrm>
            <a:off x="774524" y="4544852"/>
            <a:ext cx="2930860" cy="113165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766563E-5957-CE57-C099-EC3B80A5C43A}"/>
              </a:ext>
            </a:extLst>
          </p:cNvPr>
          <p:cNvSpPr txBox="1"/>
          <p:nvPr/>
        </p:nvSpPr>
        <p:spPr>
          <a:xfrm>
            <a:off x="791739" y="4593756"/>
            <a:ext cx="138035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내용을 입력하세요</a:t>
            </a:r>
          </a:p>
        </p:txBody>
      </p:sp>
      <p:sp>
        <p:nvSpPr>
          <p:cNvPr id="52" name="모서리가 둥근 직사각형 63">
            <a:extLst>
              <a:ext uri="{FF2B5EF4-FFF2-40B4-BE49-F238E27FC236}">
                <a16:creationId xmlns:a16="http://schemas.microsoft.com/office/drawing/2014/main" id="{E28C437A-F64A-4CFC-3257-27A525F8BD3F}"/>
              </a:ext>
            </a:extLst>
          </p:cNvPr>
          <p:cNvSpPr/>
          <p:nvPr/>
        </p:nvSpPr>
        <p:spPr bwMode="auto">
          <a:xfrm>
            <a:off x="813435" y="5734190"/>
            <a:ext cx="1397572" cy="312422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000" b="1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취소</a:t>
            </a:r>
          </a:p>
        </p:txBody>
      </p:sp>
      <p:sp>
        <p:nvSpPr>
          <p:cNvPr id="53" name="모서리가 둥근 직사각형 63">
            <a:extLst>
              <a:ext uri="{FF2B5EF4-FFF2-40B4-BE49-F238E27FC236}">
                <a16:creationId xmlns:a16="http://schemas.microsoft.com/office/drawing/2014/main" id="{781C8578-1F57-8777-C8AB-C9D7CD4D3D49}"/>
              </a:ext>
            </a:extLst>
          </p:cNvPr>
          <p:cNvSpPr/>
          <p:nvPr/>
        </p:nvSpPr>
        <p:spPr bwMode="auto">
          <a:xfrm>
            <a:off x="2287063" y="5734190"/>
            <a:ext cx="1379408" cy="312422"/>
          </a:xfrm>
          <a:prstGeom prst="roundRect">
            <a:avLst/>
          </a:prstGeom>
          <a:solidFill>
            <a:schemeClr val="tx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000" b="1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작성완료</a:t>
            </a: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0F415D13-D1EC-E6B4-0732-7C87BAE6539B}"/>
              </a:ext>
            </a:extLst>
          </p:cNvPr>
          <p:cNvSpPr/>
          <p:nvPr/>
        </p:nvSpPr>
        <p:spPr>
          <a:xfrm>
            <a:off x="655957" y="6170900"/>
            <a:ext cx="3168137" cy="264669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Footer</a:t>
            </a:r>
            <a:endParaRPr lang="ko-KR" altLang="en-US" sz="10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5" name="Oval 109">
            <a:extLst>
              <a:ext uri="{FF2B5EF4-FFF2-40B4-BE49-F238E27FC236}">
                <a16:creationId xmlns:a16="http://schemas.microsoft.com/office/drawing/2014/main" id="{F7AA95A8-024D-2209-0328-D01E16F7D5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44576" y="1688978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1</a:t>
            </a:r>
          </a:p>
        </p:txBody>
      </p:sp>
      <p:sp>
        <p:nvSpPr>
          <p:cNvPr id="56" name="Oval 109">
            <a:extLst>
              <a:ext uri="{FF2B5EF4-FFF2-40B4-BE49-F238E27FC236}">
                <a16:creationId xmlns:a16="http://schemas.microsoft.com/office/drawing/2014/main" id="{674C1431-BADA-A1C2-8C44-3EC9CDF9BF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6369" y="2801426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2</a:t>
            </a:r>
          </a:p>
        </p:txBody>
      </p:sp>
      <p:sp>
        <p:nvSpPr>
          <p:cNvPr id="57" name="Oval 109">
            <a:extLst>
              <a:ext uri="{FF2B5EF4-FFF2-40B4-BE49-F238E27FC236}">
                <a16:creationId xmlns:a16="http://schemas.microsoft.com/office/drawing/2014/main" id="{291669DE-EA34-2C88-8E24-D853E72632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6369" y="3520131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3</a:t>
            </a:r>
          </a:p>
        </p:txBody>
      </p:sp>
      <p:sp>
        <p:nvSpPr>
          <p:cNvPr id="58" name="Oval 109">
            <a:extLst>
              <a:ext uri="{FF2B5EF4-FFF2-40B4-BE49-F238E27FC236}">
                <a16:creationId xmlns:a16="http://schemas.microsoft.com/office/drawing/2014/main" id="{36B66D76-A653-21D6-3317-D484EE08AC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525" y="5598411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4</a:t>
            </a:r>
          </a:p>
        </p:txBody>
      </p:sp>
      <p:sp>
        <p:nvSpPr>
          <p:cNvPr id="59" name="Oval 109">
            <a:extLst>
              <a:ext uri="{FF2B5EF4-FFF2-40B4-BE49-F238E27FC236}">
                <a16:creationId xmlns:a16="http://schemas.microsoft.com/office/drawing/2014/main" id="{D460680B-8620-A9C5-411F-FE48D616F8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7063" y="5609902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4205370109"/>
      </p:ext>
    </p:extLst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3023BC-6268-CEC0-9DFD-EEDAC87897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62711C30-73C0-C579-472E-5391E2D4D02E}"/>
              </a:ext>
            </a:extLst>
          </p:cNvPr>
          <p:cNvGraphicFramePr>
            <a:graphicFrameLocks noGrp="1"/>
          </p:cNvGraphicFramePr>
          <p:nvPr/>
        </p:nvGraphicFramePr>
        <p:xfrm>
          <a:off x="9182101" y="947377"/>
          <a:ext cx="2795588" cy="294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1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나의 상담은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1:!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문의 내용을 확인 할 수 있는 화면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684046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1:1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상담으로 이동할 수 있는 버튼</a:t>
                      </a: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723838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3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키워드를 입력하고 검색 버튼 선택하면 해당 키워드에 맞는 검색화면 노출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검색은 제목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/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내용 모두 검색하는 전체검색으로 함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172599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4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답변 완료된 문의는 하단에 댓글형태로 노출되고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상태값이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답변완료로 노출 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행을 선택 시 상세화면에서 문의 내용과 답변 내용이 동시에 노출됨</a:t>
                      </a: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290794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5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미답변 상태의 문의 목록은 댓글이 달려있지 않고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상태값이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미답변으로 노출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행을 선택 시 상세화면에서 문의한 내용만 노출됨 </a:t>
                      </a: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922450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6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더보기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버튼을 선택하면 추가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10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개가 목록하단에 노출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더보기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버튼은 목록이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10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개 이하일 때는 노출되지 않음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. 10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개 초과시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더보기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버튼 노출됨</a:t>
                      </a: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784800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7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0538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8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199337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9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450365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AD52D5ED-8808-A2BC-DDE2-B23A539FDD42}"/>
              </a:ext>
            </a:extLst>
          </p:cNvPr>
          <p:cNvSpPr/>
          <p:nvPr/>
        </p:nvSpPr>
        <p:spPr>
          <a:xfrm>
            <a:off x="959895" y="375614"/>
            <a:ext cx="1374094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</a:pP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메인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고객센터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나의상담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0FF79C4-6006-6BC6-5E32-0B0AAA99C836}"/>
              </a:ext>
            </a:extLst>
          </p:cNvPr>
          <p:cNvSpPr txBox="1"/>
          <p:nvPr/>
        </p:nvSpPr>
        <p:spPr>
          <a:xfrm>
            <a:off x="6003996" y="123825"/>
            <a:ext cx="17303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HN_Memorial_Letterlist_001</a:t>
            </a:r>
            <a:endParaRPr lang="ko-KR" altLang="en-US" sz="800" dirty="0"/>
          </a:p>
        </p:txBody>
      </p: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8BAA89DD-7A49-9173-21DC-5AA2EDF9A385}"/>
              </a:ext>
            </a:extLst>
          </p:cNvPr>
          <p:cNvCxnSpPr>
            <a:cxnSpLocks/>
          </p:cNvCxnSpPr>
          <p:nvPr/>
        </p:nvCxnSpPr>
        <p:spPr>
          <a:xfrm>
            <a:off x="655957" y="1658468"/>
            <a:ext cx="3109526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32BBC2A3-7BC8-77BC-BF10-D2860FE2E289}"/>
              </a:ext>
            </a:extLst>
          </p:cNvPr>
          <p:cNvSpPr txBox="1"/>
          <p:nvPr/>
        </p:nvSpPr>
        <p:spPr>
          <a:xfrm>
            <a:off x="1793778" y="1181491"/>
            <a:ext cx="83388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하늘누리</a:t>
            </a:r>
            <a:endParaRPr lang="en-US" altLang="ko-KR" sz="11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en-US" altLang="ko-KR" sz="11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CI</a:t>
            </a:r>
            <a:endParaRPr lang="ko-KR" altLang="en-US" sz="11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36" name="그림 35" descr="블랙, 어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EF21400-453E-E968-8F44-EB9518B6E555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2985" y="1191723"/>
            <a:ext cx="383533" cy="383533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CED42A1F-5736-3DFE-3174-878702E96E64}"/>
              </a:ext>
            </a:extLst>
          </p:cNvPr>
          <p:cNvSpPr txBox="1"/>
          <p:nvPr/>
        </p:nvSpPr>
        <p:spPr>
          <a:xfrm>
            <a:off x="2826086" y="1293697"/>
            <a:ext cx="57184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" panose="020D0604000000000000" pitchFamily="50" charset="-127"/>
                <a:ea typeface="나눔고딕" panose="020D0604000000000000" pitchFamily="50" charset="-127"/>
              </a:rPr>
              <a:t>르그아웃</a:t>
            </a:r>
          </a:p>
        </p:txBody>
      </p:sp>
      <p:pic>
        <p:nvPicPr>
          <p:cNvPr id="39" name="Picture 4" descr="로그 아웃 아이콘">
            <a:extLst>
              <a:ext uri="{FF2B5EF4-FFF2-40B4-BE49-F238E27FC236}">
                <a16:creationId xmlns:a16="http://schemas.microsoft.com/office/drawing/2014/main" id="{E262E059-E8D2-92AD-A4AD-D8ACE6FFB2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9631" y="1283929"/>
            <a:ext cx="217049" cy="217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C1033F7F-CF62-5040-7126-F6F7555A1719}"/>
              </a:ext>
            </a:extLst>
          </p:cNvPr>
          <p:cNvSpPr txBox="1"/>
          <p:nvPr/>
        </p:nvSpPr>
        <p:spPr>
          <a:xfrm>
            <a:off x="1343128" y="1807796"/>
            <a:ext cx="17351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1:1 </a:t>
            </a:r>
            <a:r>
              <a:rPr lang="ko-KR" altLang="en-US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상담</a:t>
            </a:r>
            <a:endParaRPr lang="en-US" altLang="ko-KR" sz="1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48762A2-889F-BB5B-B9BB-AF632DF524E3}"/>
              </a:ext>
            </a:extLst>
          </p:cNvPr>
          <p:cNvSpPr txBox="1"/>
          <p:nvPr/>
        </p:nvSpPr>
        <p:spPr>
          <a:xfrm>
            <a:off x="794294" y="2194931"/>
            <a:ext cx="2971189" cy="66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000" b="1" dirty="0"/>
              <a:t>"</a:t>
            </a:r>
            <a:r>
              <a:rPr lang="ko-KR" altLang="en-US" sz="1000" b="1" dirty="0"/>
              <a:t>마음을 다해 듣고</a:t>
            </a:r>
            <a:r>
              <a:rPr lang="en-US" altLang="ko-KR" sz="1000" b="1" dirty="0"/>
              <a:t>, </a:t>
            </a:r>
            <a:r>
              <a:rPr lang="ko-KR" altLang="en-US" sz="1000" b="1" dirty="0"/>
              <a:t>정성을 다해 답하겠습니다</a:t>
            </a:r>
            <a:r>
              <a:rPr lang="en-US" altLang="ko-KR" sz="1000" b="1" dirty="0"/>
              <a:t>." </a:t>
            </a:r>
          </a:p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말로 다 전하기 어려운 유족분들의 고민과 궁금증을 귀 기울여 듣겠습니다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하늘누리가 가족의 마음으로 함께 고민하고 답변해 드립니다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3" name="모서리가 둥근 직사각형 63">
            <a:extLst>
              <a:ext uri="{FF2B5EF4-FFF2-40B4-BE49-F238E27FC236}">
                <a16:creationId xmlns:a16="http://schemas.microsoft.com/office/drawing/2014/main" id="{D90E7F8A-4841-C441-D346-C1C1124FFA61}"/>
              </a:ext>
            </a:extLst>
          </p:cNvPr>
          <p:cNvSpPr/>
          <p:nvPr/>
        </p:nvSpPr>
        <p:spPr bwMode="auto">
          <a:xfrm>
            <a:off x="832769" y="2950898"/>
            <a:ext cx="961009" cy="26895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900" b="1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1:1 </a:t>
            </a:r>
            <a:r>
              <a:rPr kumimoji="1" lang="ko-KR" altLang="en-US" sz="900" b="1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상담 가기</a:t>
            </a:r>
          </a:p>
        </p:txBody>
      </p:sp>
      <p:sp>
        <p:nvSpPr>
          <p:cNvPr id="44" name="Oval 109">
            <a:extLst>
              <a:ext uri="{FF2B5EF4-FFF2-40B4-BE49-F238E27FC236}">
                <a16:creationId xmlns:a16="http://schemas.microsoft.com/office/drawing/2014/main" id="{2B1EA848-77A7-E349-97D7-09768DEB72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44576" y="1688978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1</a:t>
            </a:r>
          </a:p>
        </p:txBody>
      </p:sp>
      <p:sp>
        <p:nvSpPr>
          <p:cNvPr id="45" name="Oval 109">
            <a:extLst>
              <a:ext uri="{FF2B5EF4-FFF2-40B4-BE49-F238E27FC236}">
                <a16:creationId xmlns:a16="http://schemas.microsoft.com/office/drawing/2014/main" id="{C8B816AE-2380-7CE4-95B1-5D047C23AE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6369" y="2801426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2</a:t>
            </a: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59548276-6350-7600-86F9-4D49853525C0}"/>
              </a:ext>
            </a:extLst>
          </p:cNvPr>
          <p:cNvSpPr/>
          <p:nvPr/>
        </p:nvSpPr>
        <p:spPr>
          <a:xfrm>
            <a:off x="1941150" y="3342050"/>
            <a:ext cx="1214523" cy="21544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4" name="모서리가 둥근 직사각형 63">
            <a:extLst>
              <a:ext uri="{FF2B5EF4-FFF2-40B4-BE49-F238E27FC236}">
                <a16:creationId xmlns:a16="http://schemas.microsoft.com/office/drawing/2014/main" id="{E7B03905-9C46-F85D-D52D-0E8D38DBECCA}"/>
              </a:ext>
            </a:extLst>
          </p:cNvPr>
          <p:cNvSpPr/>
          <p:nvPr/>
        </p:nvSpPr>
        <p:spPr bwMode="auto">
          <a:xfrm>
            <a:off x="3204313" y="3342051"/>
            <a:ext cx="561170" cy="203902"/>
          </a:xfrm>
          <a:prstGeom prst="roundRect">
            <a:avLst/>
          </a:prstGeom>
          <a:solidFill>
            <a:schemeClr val="tx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000" b="1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검색</a:t>
            </a:r>
          </a:p>
        </p:txBody>
      </p:sp>
      <p:cxnSp>
        <p:nvCxnSpPr>
          <p:cNvPr id="55" name="직선 연결선 54">
            <a:extLst>
              <a:ext uri="{FF2B5EF4-FFF2-40B4-BE49-F238E27FC236}">
                <a16:creationId xmlns:a16="http://schemas.microsoft.com/office/drawing/2014/main" id="{E89B55AF-067E-CEE5-B3F1-3AB0AC90B9AA}"/>
              </a:ext>
            </a:extLst>
          </p:cNvPr>
          <p:cNvCxnSpPr>
            <a:cxnSpLocks/>
          </p:cNvCxnSpPr>
          <p:nvPr/>
        </p:nvCxnSpPr>
        <p:spPr>
          <a:xfrm>
            <a:off x="775308" y="3690168"/>
            <a:ext cx="298121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C7A6D0DA-0AC7-D4A9-9586-641DE02F3E7F}"/>
              </a:ext>
            </a:extLst>
          </p:cNvPr>
          <p:cNvSpPr txBox="1"/>
          <p:nvPr/>
        </p:nvSpPr>
        <p:spPr>
          <a:xfrm>
            <a:off x="775308" y="3750466"/>
            <a:ext cx="61291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888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57EF37F-9CB4-8FE1-4AF4-B933C92A7C13}"/>
              </a:ext>
            </a:extLst>
          </p:cNvPr>
          <p:cNvSpPr txBox="1"/>
          <p:nvPr/>
        </p:nvSpPr>
        <p:spPr>
          <a:xfrm>
            <a:off x="1268625" y="3748366"/>
            <a:ext cx="92470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2026-03-11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44EE042-4262-35FE-147A-983D2B387FA1}"/>
              </a:ext>
            </a:extLst>
          </p:cNvPr>
          <p:cNvSpPr txBox="1"/>
          <p:nvPr/>
        </p:nvSpPr>
        <p:spPr>
          <a:xfrm>
            <a:off x="2086060" y="3748366"/>
            <a:ext cx="92470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gildong</a:t>
            </a:r>
            <a:endParaRPr lang="ko-KR" altLang="en-US" sz="8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186E3C6-B458-FFE2-A0F1-1369F22B7D59}"/>
              </a:ext>
            </a:extLst>
          </p:cNvPr>
          <p:cNvSpPr txBox="1"/>
          <p:nvPr/>
        </p:nvSpPr>
        <p:spPr>
          <a:xfrm>
            <a:off x="655957" y="3963810"/>
            <a:ext cx="2548356" cy="2980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하늘누리에 고인을 모실려면 어떻게 하면 되나요</a:t>
            </a:r>
            <a:r>
              <a:rPr lang="en-US" altLang="ko-KR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?</a:t>
            </a:r>
          </a:p>
        </p:txBody>
      </p:sp>
      <p:sp>
        <p:nvSpPr>
          <p:cNvPr id="1024" name="TextBox 1023">
            <a:extLst>
              <a:ext uri="{FF2B5EF4-FFF2-40B4-BE49-F238E27FC236}">
                <a16:creationId xmlns:a16="http://schemas.microsoft.com/office/drawing/2014/main" id="{09C4BE2F-D708-2022-9496-5B0BE205FE36}"/>
              </a:ext>
            </a:extLst>
          </p:cNvPr>
          <p:cNvSpPr txBox="1"/>
          <p:nvPr/>
        </p:nvSpPr>
        <p:spPr>
          <a:xfrm>
            <a:off x="3115408" y="3831135"/>
            <a:ext cx="74108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b="1">
                <a:latin typeface="나눔고딕" panose="020D0604000000000000" pitchFamily="50" charset="-127"/>
                <a:ea typeface="나눔고딕" panose="020D0604000000000000" pitchFamily="50" charset="-127"/>
              </a:rPr>
              <a:t>답변완료</a:t>
            </a:r>
            <a:endParaRPr lang="ko-KR" altLang="en-US" sz="9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1026" name="직선 연결선 1025">
            <a:extLst>
              <a:ext uri="{FF2B5EF4-FFF2-40B4-BE49-F238E27FC236}">
                <a16:creationId xmlns:a16="http://schemas.microsoft.com/office/drawing/2014/main" id="{2FB23315-1725-F4BE-DE9E-B74BDCDCACB7}"/>
              </a:ext>
            </a:extLst>
          </p:cNvPr>
          <p:cNvCxnSpPr>
            <a:cxnSpLocks/>
          </p:cNvCxnSpPr>
          <p:nvPr/>
        </p:nvCxnSpPr>
        <p:spPr>
          <a:xfrm>
            <a:off x="790912" y="4270953"/>
            <a:ext cx="2960838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7" name="직선 연결선 1026">
            <a:extLst>
              <a:ext uri="{FF2B5EF4-FFF2-40B4-BE49-F238E27FC236}">
                <a16:creationId xmlns:a16="http://schemas.microsoft.com/office/drawing/2014/main" id="{F15A125F-D5C6-507E-5990-F7845C899720}"/>
              </a:ext>
            </a:extLst>
          </p:cNvPr>
          <p:cNvCxnSpPr>
            <a:cxnSpLocks/>
          </p:cNvCxnSpPr>
          <p:nvPr/>
        </p:nvCxnSpPr>
        <p:spPr>
          <a:xfrm>
            <a:off x="775308" y="4773548"/>
            <a:ext cx="2960838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1" name="TextBox 1030">
            <a:extLst>
              <a:ext uri="{FF2B5EF4-FFF2-40B4-BE49-F238E27FC236}">
                <a16:creationId xmlns:a16="http://schemas.microsoft.com/office/drawing/2014/main" id="{83A26B1F-44C3-A9BE-3B4B-00D3B4875B39}"/>
              </a:ext>
            </a:extLst>
          </p:cNvPr>
          <p:cNvSpPr txBox="1"/>
          <p:nvPr/>
        </p:nvSpPr>
        <p:spPr>
          <a:xfrm>
            <a:off x="1268625" y="4316249"/>
            <a:ext cx="92470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2026-03-11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37" name="TextBox 1036">
            <a:extLst>
              <a:ext uri="{FF2B5EF4-FFF2-40B4-BE49-F238E27FC236}">
                <a16:creationId xmlns:a16="http://schemas.microsoft.com/office/drawing/2014/main" id="{E0CD341B-E0C9-6D02-9957-7E60F1952DD2}"/>
              </a:ext>
            </a:extLst>
          </p:cNvPr>
          <p:cNvSpPr txBox="1"/>
          <p:nvPr/>
        </p:nvSpPr>
        <p:spPr>
          <a:xfrm>
            <a:off x="2179704" y="4298388"/>
            <a:ext cx="92470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관리자</a:t>
            </a:r>
          </a:p>
        </p:txBody>
      </p:sp>
      <p:sp>
        <p:nvSpPr>
          <p:cNvPr id="1038" name="TextBox 1037">
            <a:extLst>
              <a:ext uri="{FF2B5EF4-FFF2-40B4-BE49-F238E27FC236}">
                <a16:creationId xmlns:a16="http://schemas.microsoft.com/office/drawing/2014/main" id="{097AF77B-BBF7-A7D4-95A5-784FFA4F6257}"/>
              </a:ext>
            </a:extLst>
          </p:cNvPr>
          <p:cNvSpPr txBox="1"/>
          <p:nvPr/>
        </p:nvSpPr>
        <p:spPr>
          <a:xfrm>
            <a:off x="824234" y="4209439"/>
            <a:ext cx="6444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┕</a:t>
            </a:r>
          </a:p>
        </p:txBody>
      </p:sp>
      <p:sp>
        <p:nvSpPr>
          <p:cNvPr id="1039" name="TextBox 1038">
            <a:extLst>
              <a:ext uri="{FF2B5EF4-FFF2-40B4-BE49-F238E27FC236}">
                <a16:creationId xmlns:a16="http://schemas.microsoft.com/office/drawing/2014/main" id="{03F39D4B-9BE9-44EA-7B5D-4F6544B5E2D4}"/>
              </a:ext>
            </a:extLst>
          </p:cNvPr>
          <p:cNvSpPr txBox="1"/>
          <p:nvPr/>
        </p:nvSpPr>
        <p:spPr>
          <a:xfrm>
            <a:off x="746369" y="4506733"/>
            <a:ext cx="1408857" cy="21544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ko-KR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[Re} </a:t>
            </a:r>
            <a:r>
              <a:rPr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답변 드립니다</a:t>
            </a:r>
          </a:p>
        </p:txBody>
      </p:sp>
      <p:sp>
        <p:nvSpPr>
          <p:cNvPr id="1040" name="TextBox 1039">
            <a:extLst>
              <a:ext uri="{FF2B5EF4-FFF2-40B4-BE49-F238E27FC236}">
                <a16:creationId xmlns:a16="http://schemas.microsoft.com/office/drawing/2014/main" id="{7DD17F97-1475-C970-B2F6-1E13AC26F902}"/>
              </a:ext>
            </a:extLst>
          </p:cNvPr>
          <p:cNvSpPr txBox="1"/>
          <p:nvPr/>
        </p:nvSpPr>
        <p:spPr>
          <a:xfrm>
            <a:off x="759704" y="4797936"/>
            <a:ext cx="61291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888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41" name="TextBox 1040">
            <a:extLst>
              <a:ext uri="{FF2B5EF4-FFF2-40B4-BE49-F238E27FC236}">
                <a16:creationId xmlns:a16="http://schemas.microsoft.com/office/drawing/2014/main" id="{080A1ECE-4F7B-E05A-7B85-BF2A16988315}"/>
              </a:ext>
            </a:extLst>
          </p:cNvPr>
          <p:cNvSpPr txBox="1"/>
          <p:nvPr/>
        </p:nvSpPr>
        <p:spPr>
          <a:xfrm>
            <a:off x="1253021" y="4795836"/>
            <a:ext cx="92470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2026-03-11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42" name="TextBox 1041">
            <a:extLst>
              <a:ext uri="{FF2B5EF4-FFF2-40B4-BE49-F238E27FC236}">
                <a16:creationId xmlns:a16="http://schemas.microsoft.com/office/drawing/2014/main" id="{9BDFA1C2-4C12-EAF2-EE66-36CA1BFF10B6}"/>
              </a:ext>
            </a:extLst>
          </p:cNvPr>
          <p:cNvSpPr txBox="1"/>
          <p:nvPr/>
        </p:nvSpPr>
        <p:spPr>
          <a:xfrm>
            <a:off x="2070456" y="4795836"/>
            <a:ext cx="92470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gildong</a:t>
            </a:r>
            <a:endParaRPr lang="ko-KR" altLang="en-US" sz="8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43" name="TextBox 1042">
            <a:extLst>
              <a:ext uri="{FF2B5EF4-FFF2-40B4-BE49-F238E27FC236}">
                <a16:creationId xmlns:a16="http://schemas.microsoft.com/office/drawing/2014/main" id="{AD86775F-F6EA-D1BA-332E-A90B7B9B7DB5}"/>
              </a:ext>
            </a:extLst>
          </p:cNvPr>
          <p:cNvSpPr txBox="1"/>
          <p:nvPr/>
        </p:nvSpPr>
        <p:spPr>
          <a:xfrm>
            <a:off x="640353" y="5011280"/>
            <a:ext cx="2548356" cy="2980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하늘누리에 고인을 모실려면 어떻게 하면 되나요</a:t>
            </a:r>
            <a:r>
              <a:rPr lang="en-US" altLang="ko-KR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?</a:t>
            </a:r>
          </a:p>
        </p:txBody>
      </p:sp>
      <p:sp>
        <p:nvSpPr>
          <p:cNvPr id="1044" name="TextBox 1043">
            <a:extLst>
              <a:ext uri="{FF2B5EF4-FFF2-40B4-BE49-F238E27FC236}">
                <a16:creationId xmlns:a16="http://schemas.microsoft.com/office/drawing/2014/main" id="{3FBA2F11-F8D6-CC6E-9D0B-05AE227E058B}"/>
              </a:ext>
            </a:extLst>
          </p:cNvPr>
          <p:cNvSpPr txBox="1"/>
          <p:nvPr/>
        </p:nvSpPr>
        <p:spPr>
          <a:xfrm>
            <a:off x="3099804" y="4878605"/>
            <a:ext cx="74108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미답변</a:t>
            </a:r>
          </a:p>
        </p:txBody>
      </p:sp>
      <p:cxnSp>
        <p:nvCxnSpPr>
          <p:cNvPr id="1045" name="직선 연결선 1044">
            <a:extLst>
              <a:ext uri="{FF2B5EF4-FFF2-40B4-BE49-F238E27FC236}">
                <a16:creationId xmlns:a16="http://schemas.microsoft.com/office/drawing/2014/main" id="{E28BEE27-B45E-EFB2-80F3-759CDFB099FC}"/>
              </a:ext>
            </a:extLst>
          </p:cNvPr>
          <p:cNvCxnSpPr>
            <a:cxnSpLocks/>
          </p:cNvCxnSpPr>
          <p:nvPr/>
        </p:nvCxnSpPr>
        <p:spPr>
          <a:xfrm>
            <a:off x="775308" y="5318423"/>
            <a:ext cx="2960838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6" name="TextBox 1045">
            <a:extLst>
              <a:ext uri="{FF2B5EF4-FFF2-40B4-BE49-F238E27FC236}">
                <a16:creationId xmlns:a16="http://schemas.microsoft.com/office/drawing/2014/main" id="{23EEE7EC-761C-6BCC-6C0D-8A2226C9D5EE}"/>
              </a:ext>
            </a:extLst>
          </p:cNvPr>
          <p:cNvSpPr txBox="1"/>
          <p:nvPr/>
        </p:nvSpPr>
        <p:spPr>
          <a:xfrm>
            <a:off x="775308" y="5414646"/>
            <a:ext cx="61291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888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47" name="TextBox 1046">
            <a:extLst>
              <a:ext uri="{FF2B5EF4-FFF2-40B4-BE49-F238E27FC236}">
                <a16:creationId xmlns:a16="http://schemas.microsoft.com/office/drawing/2014/main" id="{61AA2FB6-5C7D-2DAA-EB47-626FB1860313}"/>
              </a:ext>
            </a:extLst>
          </p:cNvPr>
          <p:cNvSpPr txBox="1"/>
          <p:nvPr/>
        </p:nvSpPr>
        <p:spPr>
          <a:xfrm>
            <a:off x="1268625" y="5412546"/>
            <a:ext cx="92470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2026-03-11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48" name="TextBox 1047">
            <a:extLst>
              <a:ext uri="{FF2B5EF4-FFF2-40B4-BE49-F238E27FC236}">
                <a16:creationId xmlns:a16="http://schemas.microsoft.com/office/drawing/2014/main" id="{D35303DD-95B7-C246-515B-AE3926527C1E}"/>
              </a:ext>
            </a:extLst>
          </p:cNvPr>
          <p:cNvSpPr txBox="1"/>
          <p:nvPr/>
        </p:nvSpPr>
        <p:spPr>
          <a:xfrm>
            <a:off x="2086060" y="5412546"/>
            <a:ext cx="92470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gildong</a:t>
            </a:r>
            <a:endParaRPr lang="ko-KR" altLang="en-US" sz="8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49" name="TextBox 1048">
            <a:extLst>
              <a:ext uri="{FF2B5EF4-FFF2-40B4-BE49-F238E27FC236}">
                <a16:creationId xmlns:a16="http://schemas.microsoft.com/office/drawing/2014/main" id="{5B9BEF26-BD59-5FBD-E600-1788BF0891CD}"/>
              </a:ext>
            </a:extLst>
          </p:cNvPr>
          <p:cNvSpPr txBox="1"/>
          <p:nvPr/>
        </p:nvSpPr>
        <p:spPr>
          <a:xfrm>
            <a:off x="655957" y="5627990"/>
            <a:ext cx="2548356" cy="2980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하늘누리에 고인을 모실려면 어떻게 하면 되나요</a:t>
            </a:r>
            <a:r>
              <a:rPr lang="en-US" altLang="ko-KR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?</a:t>
            </a:r>
          </a:p>
        </p:txBody>
      </p:sp>
      <p:sp>
        <p:nvSpPr>
          <p:cNvPr id="1050" name="TextBox 1049">
            <a:extLst>
              <a:ext uri="{FF2B5EF4-FFF2-40B4-BE49-F238E27FC236}">
                <a16:creationId xmlns:a16="http://schemas.microsoft.com/office/drawing/2014/main" id="{0132A0BD-7D19-3E2A-12C4-993AE5970AE0}"/>
              </a:ext>
            </a:extLst>
          </p:cNvPr>
          <p:cNvSpPr txBox="1"/>
          <p:nvPr/>
        </p:nvSpPr>
        <p:spPr>
          <a:xfrm>
            <a:off x="3115408" y="5495315"/>
            <a:ext cx="74108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미답변</a:t>
            </a:r>
          </a:p>
        </p:txBody>
      </p:sp>
      <p:cxnSp>
        <p:nvCxnSpPr>
          <p:cNvPr id="1051" name="직선 연결선 1050">
            <a:extLst>
              <a:ext uri="{FF2B5EF4-FFF2-40B4-BE49-F238E27FC236}">
                <a16:creationId xmlns:a16="http://schemas.microsoft.com/office/drawing/2014/main" id="{604DA2F1-693E-10CC-D426-8989AD77AECE}"/>
              </a:ext>
            </a:extLst>
          </p:cNvPr>
          <p:cNvCxnSpPr>
            <a:cxnSpLocks/>
          </p:cNvCxnSpPr>
          <p:nvPr/>
        </p:nvCxnSpPr>
        <p:spPr>
          <a:xfrm>
            <a:off x="790912" y="5935133"/>
            <a:ext cx="2960838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2" name="TextBox 1051">
            <a:extLst>
              <a:ext uri="{FF2B5EF4-FFF2-40B4-BE49-F238E27FC236}">
                <a16:creationId xmlns:a16="http://schemas.microsoft.com/office/drawing/2014/main" id="{4EF79890-D7F1-1B6A-81E3-C1987AEFB330}"/>
              </a:ext>
            </a:extLst>
          </p:cNvPr>
          <p:cNvSpPr txBox="1"/>
          <p:nvPr/>
        </p:nvSpPr>
        <p:spPr>
          <a:xfrm>
            <a:off x="5265851" y="1193823"/>
            <a:ext cx="61291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888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53" name="TextBox 1052">
            <a:extLst>
              <a:ext uri="{FF2B5EF4-FFF2-40B4-BE49-F238E27FC236}">
                <a16:creationId xmlns:a16="http://schemas.microsoft.com/office/drawing/2014/main" id="{4C70B011-A061-4CB6-D84D-753588BB5545}"/>
              </a:ext>
            </a:extLst>
          </p:cNvPr>
          <p:cNvSpPr txBox="1"/>
          <p:nvPr/>
        </p:nvSpPr>
        <p:spPr>
          <a:xfrm>
            <a:off x="5759168" y="1191723"/>
            <a:ext cx="92470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2026-03-11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54" name="TextBox 1053">
            <a:extLst>
              <a:ext uri="{FF2B5EF4-FFF2-40B4-BE49-F238E27FC236}">
                <a16:creationId xmlns:a16="http://schemas.microsoft.com/office/drawing/2014/main" id="{ABAE1F84-4FBE-257E-FF72-DCA14E458C7C}"/>
              </a:ext>
            </a:extLst>
          </p:cNvPr>
          <p:cNvSpPr txBox="1"/>
          <p:nvPr/>
        </p:nvSpPr>
        <p:spPr>
          <a:xfrm>
            <a:off x="6576603" y="1191723"/>
            <a:ext cx="92470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gildong</a:t>
            </a:r>
            <a:endParaRPr lang="ko-KR" altLang="en-US" sz="8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55" name="TextBox 1054">
            <a:extLst>
              <a:ext uri="{FF2B5EF4-FFF2-40B4-BE49-F238E27FC236}">
                <a16:creationId xmlns:a16="http://schemas.microsoft.com/office/drawing/2014/main" id="{D178E0F3-21EB-8B88-7BAE-F00AED5FEE0D}"/>
              </a:ext>
            </a:extLst>
          </p:cNvPr>
          <p:cNvSpPr txBox="1"/>
          <p:nvPr/>
        </p:nvSpPr>
        <p:spPr>
          <a:xfrm>
            <a:off x="5146500" y="1407167"/>
            <a:ext cx="2548356" cy="2980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하늘누리에 고인을 모실려면 어떻게 하면 되나요</a:t>
            </a:r>
            <a:r>
              <a:rPr lang="en-US" altLang="ko-KR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?</a:t>
            </a:r>
          </a:p>
        </p:txBody>
      </p:sp>
      <p:sp>
        <p:nvSpPr>
          <p:cNvPr id="1056" name="TextBox 1055">
            <a:extLst>
              <a:ext uri="{FF2B5EF4-FFF2-40B4-BE49-F238E27FC236}">
                <a16:creationId xmlns:a16="http://schemas.microsoft.com/office/drawing/2014/main" id="{FB86DE58-93AF-A0D2-EE4F-451075D254EF}"/>
              </a:ext>
            </a:extLst>
          </p:cNvPr>
          <p:cNvSpPr txBox="1"/>
          <p:nvPr/>
        </p:nvSpPr>
        <p:spPr>
          <a:xfrm>
            <a:off x="7605951" y="1274492"/>
            <a:ext cx="74108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미답변</a:t>
            </a:r>
          </a:p>
        </p:txBody>
      </p:sp>
      <p:cxnSp>
        <p:nvCxnSpPr>
          <p:cNvPr id="1057" name="직선 연결선 1056">
            <a:extLst>
              <a:ext uri="{FF2B5EF4-FFF2-40B4-BE49-F238E27FC236}">
                <a16:creationId xmlns:a16="http://schemas.microsoft.com/office/drawing/2014/main" id="{7B93405E-EA26-ABF0-6FF8-878587171CA7}"/>
              </a:ext>
            </a:extLst>
          </p:cNvPr>
          <p:cNvCxnSpPr>
            <a:cxnSpLocks/>
          </p:cNvCxnSpPr>
          <p:nvPr/>
        </p:nvCxnSpPr>
        <p:spPr>
          <a:xfrm>
            <a:off x="5281455" y="1714310"/>
            <a:ext cx="2960838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8" name="모서리가 둥근 직사각형 63">
            <a:extLst>
              <a:ext uri="{FF2B5EF4-FFF2-40B4-BE49-F238E27FC236}">
                <a16:creationId xmlns:a16="http://schemas.microsoft.com/office/drawing/2014/main" id="{0120EC14-6417-0B61-CAE4-7B86A7D71130}"/>
              </a:ext>
            </a:extLst>
          </p:cNvPr>
          <p:cNvSpPr/>
          <p:nvPr/>
        </p:nvSpPr>
        <p:spPr bwMode="auto">
          <a:xfrm>
            <a:off x="5281456" y="1993066"/>
            <a:ext cx="2960838" cy="312422"/>
          </a:xfrm>
          <a:prstGeom prst="roundRect">
            <a:avLst/>
          </a:prstGeom>
          <a:solidFill>
            <a:schemeClr val="tx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000" b="1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더보기</a:t>
            </a:r>
            <a:endParaRPr kumimoji="1" lang="ko-KR" altLang="en-US" sz="1000" b="1" dirty="0">
              <a:ln w="0" cmpd="sng">
                <a:solidFill>
                  <a:schemeClr val="tx2">
                    <a:satMod val="155000"/>
                    <a:alpha val="0"/>
                  </a:schemeClr>
                </a:solidFill>
                <a:prstDash val="solid"/>
                <a:round/>
              </a:ln>
              <a:solidFill>
                <a:schemeClr val="bg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059" name="TextBox 1058">
            <a:extLst>
              <a:ext uri="{FF2B5EF4-FFF2-40B4-BE49-F238E27FC236}">
                <a16:creationId xmlns:a16="http://schemas.microsoft.com/office/drawing/2014/main" id="{C42C790D-8C5F-5274-A190-C25F5EE87DE8}"/>
              </a:ext>
            </a:extLst>
          </p:cNvPr>
          <p:cNvSpPr txBox="1"/>
          <p:nvPr/>
        </p:nvSpPr>
        <p:spPr>
          <a:xfrm>
            <a:off x="6461285" y="1643490"/>
            <a:ext cx="6174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......</a:t>
            </a:r>
            <a:endParaRPr lang="ko-KR" altLang="en-US" sz="16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60" name="Oval 109">
            <a:extLst>
              <a:ext uri="{FF2B5EF4-FFF2-40B4-BE49-F238E27FC236}">
                <a16:creationId xmlns:a16="http://schemas.microsoft.com/office/drawing/2014/main" id="{786CB46A-0F9C-7A31-371D-987CE46E4A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12009" y="3160736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3</a:t>
            </a:r>
          </a:p>
        </p:txBody>
      </p:sp>
      <p:sp>
        <p:nvSpPr>
          <p:cNvPr id="1061" name="Oval 109">
            <a:extLst>
              <a:ext uri="{FF2B5EF4-FFF2-40B4-BE49-F238E27FC236}">
                <a16:creationId xmlns:a16="http://schemas.microsoft.com/office/drawing/2014/main" id="{571F2C70-79BD-0EFB-75EC-C4520CAC8D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3569" y="3935111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4</a:t>
            </a:r>
          </a:p>
        </p:txBody>
      </p:sp>
      <p:sp>
        <p:nvSpPr>
          <p:cNvPr id="1062" name="Oval 109">
            <a:extLst>
              <a:ext uri="{FF2B5EF4-FFF2-40B4-BE49-F238E27FC236}">
                <a16:creationId xmlns:a16="http://schemas.microsoft.com/office/drawing/2014/main" id="{8678D50A-F210-973C-5353-DA001BB1DE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7296" y="4439305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4</a:t>
            </a:r>
          </a:p>
        </p:txBody>
      </p:sp>
      <p:sp>
        <p:nvSpPr>
          <p:cNvPr id="1063" name="Oval 109">
            <a:extLst>
              <a:ext uri="{FF2B5EF4-FFF2-40B4-BE49-F238E27FC236}">
                <a16:creationId xmlns:a16="http://schemas.microsoft.com/office/drawing/2014/main" id="{592D8387-12EC-DF22-ADF9-447D709B48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7296" y="4994021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5</a:t>
            </a:r>
          </a:p>
        </p:txBody>
      </p:sp>
      <p:sp>
        <p:nvSpPr>
          <p:cNvPr id="1064" name="Oval 109">
            <a:extLst>
              <a:ext uri="{FF2B5EF4-FFF2-40B4-BE49-F238E27FC236}">
                <a16:creationId xmlns:a16="http://schemas.microsoft.com/office/drawing/2014/main" id="{5EC232C1-817A-40B3-332C-F890EAF27D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98762" y="1880681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6</a:t>
            </a:r>
          </a:p>
        </p:txBody>
      </p:sp>
      <p:sp>
        <p:nvSpPr>
          <p:cNvPr id="1065" name="직사각형 1064">
            <a:extLst>
              <a:ext uri="{FF2B5EF4-FFF2-40B4-BE49-F238E27FC236}">
                <a16:creationId xmlns:a16="http://schemas.microsoft.com/office/drawing/2014/main" id="{AE9B1014-831E-8D56-E187-C6D62BA8C222}"/>
              </a:ext>
            </a:extLst>
          </p:cNvPr>
          <p:cNvSpPr/>
          <p:nvPr/>
        </p:nvSpPr>
        <p:spPr>
          <a:xfrm>
            <a:off x="5185934" y="2623157"/>
            <a:ext cx="3168137" cy="264669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Footer</a:t>
            </a:r>
            <a:endParaRPr lang="ko-KR" altLang="en-US" sz="10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3584518"/>
      </p:ext>
    </p:extLst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A25F8F-96E3-B5B0-E48D-355FC12879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C09FADF9-6FFB-6C22-7F51-C6B61CCC0C76}"/>
              </a:ext>
            </a:extLst>
          </p:cNvPr>
          <p:cNvGraphicFramePr>
            <a:graphicFrameLocks noGrp="1"/>
          </p:cNvGraphicFramePr>
          <p:nvPr/>
        </p:nvGraphicFramePr>
        <p:xfrm>
          <a:off x="9182101" y="947377"/>
          <a:ext cx="2795588" cy="22130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1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아직 답변을 하지 않은 문의의 상세화면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미답변 상태에서는 수정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삭제 가능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684046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선택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목록화면으로 이동</a:t>
                      </a: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723838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3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선택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Alert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노출되어 확인 선택 시 삭제 처리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Alert “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삭제하시면 되돌릴 수 없습니다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.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정말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삭제하시겠습니까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?”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172599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4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선택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문의글을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수정할 수 있는 수정화면으로 이동</a:t>
                      </a: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290794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5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922450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6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784800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7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0538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8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199337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9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450365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EF4F2AB6-836C-CEBC-B55E-8FC840E8A7A7}"/>
              </a:ext>
            </a:extLst>
          </p:cNvPr>
          <p:cNvSpPr/>
          <p:nvPr/>
        </p:nvSpPr>
        <p:spPr>
          <a:xfrm>
            <a:off x="959895" y="375614"/>
            <a:ext cx="1680268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</a:pP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메인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고객센터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나의상담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상세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C6C0011-147E-7F18-92BF-0B2889A25265}"/>
              </a:ext>
            </a:extLst>
          </p:cNvPr>
          <p:cNvSpPr txBox="1"/>
          <p:nvPr/>
        </p:nvSpPr>
        <p:spPr>
          <a:xfrm>
            <a:off x="6003996" y="123825"/>
            <a:ext cx="17303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HN_Customer_Councelview_001</a:t>
            </a:r>
            <a:endParaRPr lang="ko-KR" altLang="en-US" sz="800" dirty="0"/>
          </a:p>
        </p:txBody>
      </p: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DFAF2BE2-044E-E18B-07B8-0E7C2380DDE6}"/>
              </a:ext>
            </a:extLst>
          </p:cNvPr>
          <p:cNvCxnSpPr>
            <a:cxnSpLocks/>
          </p:cNvCxnSpPr>
          <p:nvPr/>
        </p:nvCxnSpPr>
        <p:spPr>
          <a:xfrm>
            <a:off x="655957" y="1658468"/>
            <a:ext cx="3109526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46179BF9-CAE5-D52A-B83A-B68F9DFB6C32}"/>
              </a:ext>
            </a:extLst>
          </p:cNvPr>
          <p:cNvSpPr txBox="1"/>
          <p:nvPr/>
        </p:nvSpPr>
        <p:spPr>
          <a:xfrm>
            <a:off x="1793778" y="1181491"/>
            <a:ext cx="83388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하늘누리</a:t>
            </a:r>
            <a:endParaRPr lang="en-US" altLang="ko-KR" sz="11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en-US" altLang="ko-KR" sz="11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CI</a:t>
            </a:r>
            <a:endParaRPr lang="ko-KR" altLang="en-US" sz="11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22" name="그림 21" descr="블랙, 어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80E5A2B-2688-D269-DA5C-2CB55213F191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2985" y="1191723"/>
            <a:ext cx="383533" cy="383533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01687BEF-F9F4-A2A7-57E9-4358F53AAF6E}"/>
              </a:ext>
            </a:extLst>
          </p:cNvPr>
          <p:cNvSpPr txBox="1"/>
          <p:nvPr/>
        </p:nvSpPr>
        <p:spPr>
          <a:xfrm>
            <a:off x="2826086" y="1293697"/>
            <a:ext cx="57184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" panose="020D0604000000000000" pitchFamily="50" charset="-127"/>
                <a:ea typeface="나눔고딕" panose="020D0604000000000000" pitchFamily="50" charset="-127"/>
              </a:rPr>
              <a:t>르그아웃</a:t>
            </a:r>
          </a:p>
        </p:txBody>
      </p:sp>
      <p:pic>
        <p:nvPicPr>
          <p:cNvPr id="27" name="Picture 4" descr="로그 아웃 아이콘">
            <a:extLst>
              <a:ext uri="{FF2B5EF4-FFF2-40B4-BE49-F238E27FC236}">
                <a16:creationId xmlns:a16="http://schemas.microsoft.com/office/drawing/2014/main" id="{39AA68FD-8918-BC52-840C-269CADA0DA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9631" y="1283929"/>
            <a:ext cx="217049" cy="217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F2BA360A-4DE2-2A2D-C487-13DF120DC2BE}"/>
              </a:ext>
            </a:extLst>
          </p:cNvPr>
          <p:cNvSpPr txBox="1"/>
          <p:nvPr/>
        </p:nvSpPr>
        <p:spPr>
          <a:xfrm>
            <a:off x="1343128" y="1807796"/>
            <a:ext cx="17351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1:1 </a:t>
            </a:r>
            <a:r>
              <a:rPr lang="ko-KR" altLang="en-US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상담</a:t>
            </a:r>
            <a:endParaRPr lang="en-US" altLang="ko-KR" sz="1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7CE1422-82AD-8A3D-4A0A-BE707C20057A}"/>
              </a:ext>
            </a:extLst>
          </p:cNvPr>
          <p:cNvSpPr txBox="1"/>
          <p:nvPr/>
        </p:nvSpPr>
        <p:spPr>
          <a:xfrm>
            <a:off x="794294" y="2194931"/>
            <a:ext cx="2971189" cy="66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000" b="1" dirty="0"/>
              <a:t>"</a:t>
            </a:r>
            <a:r>
              <a:rPr lang="ko-KR" altLang="en-US" sz="1000" b="1" dirty="0"/>
              <a:t>마음을 다해 듣고</a:t>
            </a:r>
            <a:r>
              <a:rPr lang="en-US" altLang="ko-KR" sz="1000" b="1" dirty="0"/>
              <a:t>, </a:t>
            </a:r>
            <a:r>
              <a:rPr lang="ko-KR" altLang="en-US" sz="1000" b="1" dirty="0"/>
              <a:t>정성을 다해 답하겠습니다</a:t>
            </a:r>
            <a:r>
              <a:rPr lang="en-US" altLang="ko-KR" sz="1000" b="1" dirty="0"/>
              <a:t>." </a:t>
            </a:r>
          </a:p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말로 다 전하기 어려운 유족분들의 고민과 궁금증을 귀 기울여 듣겠습니다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하늘누리가 가족의 마음으로 함께 고민하고 답변해 드립니다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8" name="Oval 109">
            <a:extLst>
              <a:ext uri="{FF2B5EF4-FFF2-40B4-BE49-F238E27FC236}">
                <a16:creationId xmlns:a16="http://schemas.microsoft.com/office/drawing/2014/main" id="{97064F6A-6471-5C3F-F6E3-A0C59CEB14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44576" y="1688978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1</a:t>
            </a:r>
          </a:p>
        </p:txBody>
      </p:sp>
      <p:sp>
        <p:nvSpPr>
          <p:cNvPr id="40" name="Oval 109">
            <a:extLst>
              <a:ext uri="{FF2B5EF4-FFF2-40B4-BE49-F238E27FC236}">
                <a16:creationId xmlns:a16="http://schemas.microsoft.com/office/drawing/2014/main" id="{9DED2E56-B495-B818-7622-286B4230A2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9969" y="4545435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2</a:t>
            </a:r>
          </a:p>
        </p:txBody>
      </p: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7D9F35AF-44B9-D7AE-4DFB-88B392DEEEF0}"/>
              </a:ext>
            </a:extLst>
          </p:cNvPr>
          <p:cNvCxnSpPr>
            <a:cxnSpLocks/>
          </p:cNvCxnSpPr>
          <p:nvPr/>
        </p:nvCxnSpPr>
        <p:spPr>
          <a:xfrm>
            <a:off x="794294" y="3006790"/>
            <a:ext cx="2971189" cy="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FA5B3FAC-376B-EDA0-EADF-FA49F99F46A6}"/>
              </a:ext>
            </a:extLst>
          </p:cNvPr>
          <p:cNvSpPr txBox="1"/>
          <p:nvPr/>
        </p:nvSpPr>
        <p:spPr>
          <a:xfrm>
            <a:off x="746369" y="3075534"/>
            <a:ext cx="92470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2026-03-11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B6D07BC-5886-90F0-F1A7-9E02D2F1C002}"/>
              </a:ext>
            </a:extLst>
          </p:cNvPr>
          <p:cNvSpPr txBox="1"/>
          <p:nvPr/>
        </p:nvSpPr>
        <p:spPr>
          <a:xfrm>
            <a:off x="1456141" y="3068206"/>
            <a:ext cx="92470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gildong</a:t>
            </a:r>
            <a:endParaRPr lang="ko-KR" altLang="en-US" sz="8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DB17476-8B79-FB3D-D1E9-D5BB881239E3}"/>
              </a:ext>
            </a:extLst>
          </p:cNvPr>
          <p:cNvSpPr txBox="1"/>
          <p:nvPr/>
        </p:nvSpPr>
        <p:spPr>
          <a:xfrm>
            <a:off x="2770956" y="3062961"/>
            <a:ext cx="120405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gildong@abc.co.kr</a:t>
            </a:r>
            <a:endParaRPr lang="ko-KR" altLang="en-US" sz="8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9673E95-2CE7-99ED-054A-348390D6F9B6}"/>
              </a:ext>
            </a:extLst>
          </p:cNvPr>
          <p:cNvSpPr txBox="1"/>
          <p:nvPr/>
        </p:nvSpPr>
        <p:spPr>
          <a:xfrm>
            <a:off x="2086670" y="3075807"/>
            <a:ext cx="66833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미답변</a:t>
            </a:r>
          </a:p>
        </p:txBody>
      </p: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FA313273-C433-C50B-57C3-F533B0AA5963}"/>
              </a:ext>
            </a:extLst>
          </p:cNvPr>
          <p:cNvCxnSpPr>
            <a:cxnSpLocks/>
          </p:cNvCxnSpPr>
          <p:nvPr/>
        </p:nvCxnSpPr>
        <p:spPr>
          <a:xfrm>
            <a:off x="749671" y="3599573"/>
            <a:ext cx="3015812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74EA87F0-101D-51DF-B9C7-9244F7172533}"/>
              </a:ext>
            </a:extLst>
          </p:cNvPr>
          <p:cNvSpPr txBox="1"/>
          <p:nvPr/>
        </p:nvSpPr>
        <p:spPr>
          <a:xfrm>
            <a:off x="794294" y="3298307"/>
            <a:ext cx="2971189" cy="21544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하늘누리에 고인을 모실려면 어떻게 하면 되나요</a:t>
            </a:r>
            <a:r>
              <a:rPr lang="en-US" altLang="ko-KR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?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BDDCA41-61F8-39B9-D778-6BD86B1D932D}"/>
              </a:ext>
            </a:extLst>
          </p:cNvPr>
          <p:cNvSpPr txBox="1"/>
          <p:nvPr/>
        </p:nvSpPr>
        <p:spPr>
          <a:xfrm>
            <a:off x="795173" y="3682156"/>
            <a:ext cx="29613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하늘누리에 저희 어머님을 모시려하고 있습니다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어떤 절차를 거쳐야 모실 수 있는지 자세히 설명 </a:t>
            </a:r>
            <a:r>
              <a:rPr lang="ko-KR" altLang="en-US" sz="9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부탁드려요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53" name="직선 연결선 52">
            <a:extLst>
              <a:ext uri="{FF2B5EF4-FFF2-40B4-BE49-F238E27FC236}">
                <a16:creationId xmlns:a16="http://schemas.microsoft.com/office/drawing/2014/main" id="{22812958-2765-747B-47C9-1103D332E33F}"/>
              </a:ext>
            </a:extLst>
          </p:cNvPr>
          <p:cNvCxnSpPr>
            <a:cxnSpLocks/>
          </p:cNvCxnSpPr>
          <p:nvPr/>
        </p:nvCxnSpPr>
        <p:spPr>
          <a:xfrm>
            <a:off x="800576" y="4593452"/>
            <a:ext cx="2964907" cy="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모서리가 둥근 직사각형 63">
            <a:extLst>
              <a:ext uri="{FF2B5EF4-FFF2-40B4-BE49-F238E27FC236}">
                <a16:creationId xmlns:a16="http://schemas.microsoft.com/office/drawing/2014/main" id="{659B66D6-C52F-4BE2-F20C-23C2523F1CA7}"/>
              </a:ext>
            </a:extLst>
          </p:cNvPr>
          <p:cNvSpPr/>
          <p:nvPr/>
        </p:nvSpPr>
        <p:spPr bwMode="auto">
          <a:xfrm>
            <a:off x="731539" y="4717658"/>
            <a:ext cx="988621" cy="312422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000" b="1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목록</a:t>
            </a:r>
          </a:p>
        </p:txBody>
      </p:sp>
      <p:sp>
        <p:nvSpPr>
          <p:cNvPr id="58" name="모서리가 둥근 직사각형 63">
            <a:extLst>
              <a:ext uri="{FF2B5EF4-FFF2-40B4-BE49-F238E27FC236}">
                <a16:creationId xmlns:a16="http://schemas.microsoft.com/office/drawing/2014/main" id="{0E470281-0BD6-D78D-7C8A-0730E07E0852}"/>
              </a:ext>
            </a:extLst>
          </p:cNvPr>
          <p:cNvSpPr/>
          <p:nvPr/>
        </p:nvSpPr>
        <p:spPr bwMode="auto">
          <a:xfrm>
            <a:off x="1748134" y="4717658"/>
            <a:ext cx="992524" cy="312422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000" b="1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삭제</a:t>
            </a:r>
          </a:p>
        </p:txBody>
      </p:sp>
      <p:sp>
        <p:nvSpPr>
          <p:cNvPr id="59" name="모서리가 둥근 직사각형 63">
            <a:extLst>
              <a:ext uri="{FF2B5EF4-FFF2-40B4-BE49-F238E27FC236}">
                <a16:creationId xmlns:a16="http://schemas.microsoft.com/office/drawing/2014/main" id="{28CA5D76-FCE0-9851-1A36-EF960D33DC45}"/>
              </a:ext>
            </a:extLst>
          </p:cNvPr>
          <p:cNvSpPr/>
          <p:nvPr/>
        </p:nvSpPr>
        <p:spPr bwMode="auto">
          <a:xfrm>
            <a:off x="2768959" y="4717658"/>
            <a:ext cx="1005182" cy="312422"/>
          </a:xfrm>
          <a:prstGeom prst="roundRect">
            <a:avLst/>
          </a:prstGeom>
          <a:solidFill>
            <a:schemeClr val="tx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000" b="1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수정</a:t>
            </a: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F0546DF3-3086-A4BE-6B03-1AA2D49145A6}"/>
              </a:ext>
            </a:extLst>
          </p:cNvPr>
          <p:cNvSpPr/>
          <p:nvPr/>
        </p:nvSpPr>
        <p:spPr>
          <a:xfrm>
            <a:off x="655957" y="5888796"/>
            <a:ext cx="3168137" cy="264669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Footer</a:t>
            </a:r>
            <a:endParaRPr lang="ko-KR" altLang="en-US" sz="10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1" name="Oval 109">
            <a:extLst>
              <a:ext uri="{FF2B5EF4-FFF2-40B4-BE49-F238E27FC236}">
                <a16:creationId xmlns:a16="http://schemas.microsoft.com/office/drawing/2014/main" id="{9984FE90-1158-0D4C-DA5D-318160B2ED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1773" y="4545435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3</a:t>
            </a:r>
          </a:p>
        </p:txBody>
      </p:sp>
      <p:sp>
        <p:nvSpPr>
          <p:cNvPr id="62" name="Oval 109">
            <a:extLst>
              <a:ext uri="{FF2B5EF4-FFF2-40B4-BE49-F238E27FC236}">
                <a16:creationId xmlns:a16="http://schemas.microsoft.com/office/drawing/2014/main" id="{441B40FB-0FA6-C32C-0B71-EFA751C7BD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5895" y="4545435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203191631"/>
      </p:ext>
    </p:extLst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1B08CA-4093-40A1-0975-EF5A283C93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6C5C05C3-5E1A-B497-44C6-B42192A3DF87}"/>
              </a:ext>
            </a:extLst>
          </p:cNvPr>
          <p:cNvGraphicFramePr>
            <a:graphicFrameLocks noGrp="1"/>
          </p:cNvGraphicFramePr>
          <p:nvPr/>
        </p:nvGraphicFramePr>
        <p:xfrm>
          <a:off x="9182101" y="947377"/>
          <a:ext cx="2795588" cy="1969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1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상태값이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답변완료 상태의 문의 글 상세화면으로 답변완료시에는 수정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삭제가 불가함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684046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첨부파일 명 또는 아이콘 선택 시 해당 파일 다운로드</a:t>
                      </a: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723838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3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목록 선택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목록 화면으로 이동</a:t>
                      </a: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172599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4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290794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5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922450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6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784800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7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0538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8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199337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9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450365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D3A11BB8-2D3B-E9BE-200D-6D61E9453483}"/>
              </a:ext>
            </a:extLst>
          </p:cNvPr>
          <p:cNvSpPr/>
          <p:nvPr/>
        </p:nvSpPr>
        <p:spPr>
          <a:xfrm>
            <a:off x="959895" y="375614"/>
            <a:ext cx="1680268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</a:pP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메인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고객센터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나의상담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상세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E27BC39-A395-8EA2-B15E-D6B05FA26E95}"/>
              </a:ext>
            </a:extLst>
          </p:cNvPr>
          <p:cNvSpPr txBox="1"/>
          <p:nvPr/>
        </p:nvSpPr>
        <p:spPr>
          <a:xfrm>
            <a:off x="6003996" y="123825"/>
            <a:ext cx="17303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HN_Customer_Councelview_001</a:t>
            </a:r>
            <a:endParaRPr lang="ko-KR" altLang="en-US" sz="800" dirty="0"/>
          </a:p>
        </p:txBody>
      </p:sp>
      <p:cxnSp>
        <p:nvCxnSpPr>
          <p:cNvPr id="43" name="직선 연결선 42">
            <a:extLst>
              <a:ext uri="{FF2B5EF4-FFF2-40B4-BE49-F238E27FC236}">
                <a16:creationId xmlns:a16="http://schemas.microsoft.com/office/drawing/2014/main" id="{660E17C4-1953-484C-CBE8-28A046717DEA}"/>
              </a:ext>
            </a:extLst>
          </p:cNvPr>
          <p:cNvCxnSpPr>
            <a:cxnSpLocks/>
          </p:cNvCxnSpPr>
          <p:nvPr/>
        </p:nvCxnSpPr>
        <p:spPr>
          <a:xfrm>
            <a:off x="655957" y="1658468"/>
            <a:ext cx="3109526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01EEC43E-2574-E337-3462-3F9ECB1AC90A}"/>
              </a:ext>
            </a:extLst>
          </p:cNvPr>
          <p:cNvSpPr txBox="1"/>
          <p:nvPr/>
        </p:nvSpPr>
        <p:spPr>
          <a:xfrm>
            <a:off x="1793778" y="1181491"/>
            <a:ext cx="83388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하늘누리</a:t>
            </a:r>
            <a:endParaRPr lang="en-US" altLang="ko-KR" sz="11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en-US" altLang="ko-KR" sz="11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CI</a:t>
            </a:r>
            <a:endParaRPr lang="ko-KR" altLang="en-US" sz="11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46" name="그림 45" descr="블랙, 어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E48CD6B-35AA-6E2C-DCF0-DCAB5B9F3448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2985" y="1191723"/>
            <a:ext cx="383533" cy="383533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A464CF38-9BA6-182F-820E-374F5D194EBA}"/>
              </a:ext>
            </a:extLst>
          </p:cNvPr>
          <p:cNvSpPr txBox="1"/>
          <p:nvPr/>
        </p:nvSpPr>
        <p:spPr>
          <a:xfrm>
            <a:off x="2826086" y="1293697"/>
            <a:ext cx="57184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" panose="020D0604000000000000" pitchFamily="50" charset="-127"/>
                <a:ea typeface="나눔고딕" panose="020D0604000000000000" pitchFamily="50" charset="-127"/>
              </a:rPr>
              <a:t>르그아웃</a:t>
            </a:r>
          </a:p>
        </p:txBody>
      </p:sp>
      <p:pic>
        <p:nvPicPr>
          <p:cNvPr id="48" name="Picture 4" descr="로그 아웃 아이콘">
            <a:extLst>
              <a:ext uri="{FF2B5EF4-FFF2-40B4-BE49-F238E27FC236}">
                <a16:creationId xmlns:a16="http://schemas.microsoft.com/office/drawing/2014/main" id="{BC16A39B-330B-5109-9ABE-21CE804C41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9631" y="1283929"/>
            <a:ext cx="217049" cy="217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8B164F2A-C196-BF90-B423-8EE869201D60}"/>
              </a:ext>
            </a:extLst>
          </p:cNvPr>
          <p:cNvSpPr txBox="1"/>
          <p:nvPr/>
        </p:nvSpPr>
        <p:spPr>
          <a:xfrm>
            <a:off x="1343128" y="1807796"/>
            <a:ext cx="17351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1:1 </a:t>
            </a:r>
            <a:r>
              <a:rPr lang="ko-KR" altLang="en-US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상담</a:t>
            </a:r>
            <a:endParaRPr lang="en-US" altLang="ko-KR" sz="1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D9EE99C-8057-AB37-7024-976461511393}"/>
              </a:ext>
            </a:extLst>
          </p:cNvPr>
          <p:cNvSpPr txBox="1"/>
          <p:nvPr/>
        </p:nvSpPr>
        <p:spPr>
          <a:xfrm>
            <a:off x="794294" y="2194931"/>
            <a:ext cx="2971189" cy="66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000" b="1" dirty="0"/>
              <a:t>"</a:t>
            </a:r>
            <a:r>
              <a:rPr lang="ko-KR" altLang="en-US" sz="1000" b="1" dirty="0"/>
              <a:t>마음을 다해 듣고</a:t>
            </a:r>
            <a:r>
              <a:rPr lang="en-US" altLang="ko-KR" sz="1000" b="1" dirty="0"/>
              <a:t>, </a:t>
            </a:r>
            <a:r>
              <a:rPr lang="ko-KR" altLang="en-US" sz="1000" b="1" dirty="0"/>
              <a:t>정성을 다해 답하겠습니다</a:t>
            </a:r>
            <a:r>
              <a:rPr lang="en-US" altLang="ko-KR" sz="1000" b="1" dirty="0"/>
              <a:t>." </a:t>
            </a:r>
          </a:p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말로 다 전하기 어려운 유족분들의 고민과 궁금증을 귀 기울여 듣겠습니다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하늘누리가 가족의 마음으로 함께 고민하고 답변해 드립니다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1" name="Oval 109">
            <a:extLst>
              <a:ext uri="{FF2B5EF4-FFF2-40B4-BE49-F238E27FC236}">
                <a16:creationId xmlns:a16="http://schemas.microsoft.com/office/drawing/2014/main" id="{6AB63A72-ECC1-6BCE-3FCF-0D45ECB284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44576" y="1688978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1</a:t>
            </a:r>
          </a:p>
        </p:txBody>
      </p:sp>
      <p:cxnSp>
        <p:nvCxnSpPr>
          <p:cNvPr id="52" name="직선 연결선 51">
            <a:extLst>
              <a:ext uri="{FF2B5EF4-FFF2-40B4-BE49-F238E27FC236}">
                <a16:creationId xmlns:a16="http://schemas.microsoft.com/office/drawing/2014/main" id="{4B485773-CB2C-788D-B635-A0D5617AB2CC}"/>
              </a:ext>
            </a:extLst>
          </p:cNvPr>
          <p:cNvCxnSpPr>
            <a:cxnSpLocks/>
          </p:cNvCxnSpPr>
          <p:nvPr/>
        </p:nvCxnSpPr>
        <p:spPr>
          <a:xfrm>
            <a:off x="794294" y="3006790"/>
            <a:ext cx="2971189" cy="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33830397-25C3-06F7-516E-1275F828BCDA}"/>
              </a:ext>
            </a:extLst>
          </p:cNvPr>
          <p:cNvSpPr txBox="1"/>
          <p:nvPr/>
        </p:nvSpPr>
        <p:spPr>
          <a:xfrm>
            <a:off x="746369" y="3075534"/>
            <a:ext cx="92470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2026-03-11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F1A2197-67EF-9C44-4ED4-E94441690515}"/>
              </a:ext>
            </a:extLst>
          </p:cNvPr>
          <p:cNvSpPr txBox="1"/>
          <p:nvPr/>
        </p:nvSpPr>
        <p:spPr>
          <a:xfrm>
            <a:off x="1456141" y="3068206"/>
            <a:ext cx="92470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gildong</a:t>
            </a:r>
            <a:endParaRPr lang="ko-KR" altLang="en-US" sz="8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5790829-00FA-06F8-F667-37517A161ACC}"/>
              </a:ext>
            </a:extLst>
          </p:cNvPr>
          <p:cNvSpPr txBox="1"/>
          <p:nvPr/>
        </p:nvSpPr>
        <p:spPr>
          <a:xfrm>
            <a:off x="2770956" y="3062961"/>
            <a:ext cx="120405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gildong@abc.co.kr</a:t>
            </a:r>
            <a:endParaRPr lang="ko-KR" altLang="en-US" sz="8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1CD0244-9B7C-C9F4-2774-1BCFE42285DF}"/>
              </a:ext>
            </a:extLst>
          </p:cNvPr>
          <p:cNvSpPr txBox="1"/>
          <p:nvPr/>
        </p:nvSpPr>
        <p:spPr>
          <a:xfrm>
            <a:off x="2086670" y="3075807"/>
            <a:ext cx="66833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미답변</a:t>
            </a:r>
          </a:p>
        </p:txBody>
      </p:sp>
      <p:cxnSp>
        <p:nvCxnSpPr>
          <p:cNvPr id="57" name="직선 연결선 56">
            <a:extLst>
              <a:ext uri="{FF2B5EF4-FFF2-40B4-BE49-F238E27FC236}">
                <a16:creationId xmlns:a16="http://schemas.microsoft.com/office/drawing/2014/main" id="{DE642253-F8F3-2AE4-66AE-42544B77F68A}"/>
              </a:ext>
            </a:extLst>
          </p:cNvPr>
          <p:cNvCxnSpPr>
            <a:cxnSpLocks/>
          </p:cNvCxnSpPr>
          <p:nvPr/>
        </p:nvCxnSpPr>
        <p:spPr>
          <a:xfrm>
            <a:off x="749671" y="3599573"/>
            <a:ext cx="3015812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D8694C65-B502-059D-82EA-AC34476E1CF1}"/>
              </a:ext>
            </a:extLst>
          </p:cNvPr>
          <p:cNvSpPr txBox="1"/>
          <p:nvPr/>
        </p:nvSpPr>
        <p:spPr>
          <a:xfrm>
            <a:off x="794294" y="3298307"/>
            <a:ext cx="2971189" cy="21544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하늘누리에 고인을 모실려면 어떻게 하면 되나요</a:t>
            </a:r>
            <a:r>
              <a:rPr lang="en-US" altLang="ko-KR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?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3156970-B158-5DDC-2DB6-1204AED0A847}"/>
              </a:ext>
            </a:extLst>
          </p:cNvPr>
          <p:cNvSpPr txBox="1"/>
          <p:nvPr/>
        </p:nvSpPr>
        <p:spPr>
          <a:xfrm>
            <a:off x="795173" y="3682156"/>
            <a:ext cx="29613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하늘누리에 저희 어머님을 모시려하고 있습니다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어떤 절차를 거쳐야 모실 수 있는지 자세히 설명 </a:t>
            </a:r>
            <a:r>
              <a:rPr lang="ko-KR" altLang="en-US" sz="9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부탁드려요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7C83938A-893E-4824-0232-A55AAC1FFD9F}"/>
              </a:ext>
            </a:extLst>
          </p:cNvPr>
          <p:cNvCxnSpPr>
            <a:cxnSpLocks/>
          </p:cNvCxnSpPr>
          <p:nvPr/>
        </p:nvCxnSpPr>
        <p:spPr>
          <a:xfrm>
            <a:off x="800576" y="4184887"/>
            <a:ext cx="2964907" cy="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37900F7E-EBA1-E719-A46B-8989554C6B30}"/>
              </a:ext>
            </a:extLst>
          </p:cNvPr>
          <p:cNvSpPr/>
          <p:nvPr/>
        </p:nvSpPr>
        <p:spPr>
          <a:xfrm>
            <a:off x="794295" y="4204343"/>
            <a:ext cx="2961346" cy="270263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답변</a:t>
            </a:r>
            <a:endParaRPr lang="ko-KR" altLang="en-US" sz="900" b="1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62" name="직선 연결선 61">
            <a:extLst>
              <a:ext uri="{FF2B5EF4-FFF2-40B4-BE49-F238E27FC236}">
                <a16:creationId xmlns:a16="http://schemas.microsoft.com/office/drawing/2014/main" id="{F5993E2F-5FAF-A514-DD65-FCB2EAC135B1}"/>
              </a:ext>
            </a:extLst>
          </p:cNvPr>
          <p:cNvCxnSpPr>
            <a:cxnSpLocks/>
          </p:cNvCxnSpPr>
          <p:nvPr/>
        </p:nvCxnSpPr>
        <p:spPr>
          <a:xfrm>
            <a:off x="746369" y="4899836"/>
            <a:ext cx="3015812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94EA3E49-3C0D-A40B-A66D-FE323496EEEC}"/>
              </a:ext>
            </a:extLst>
          </p:cNvPr>
          <p:cNvSpPr txBox="1"/>
          <p:nvPr/>
        </p:nvSpPr>
        <p:spPr>
          <a:xfrm>
            <a:off x="794294" y="4474606"/>
            <a:ext cx="92470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2026-03-11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81E97E0-94C7-D8B6-0138-B076BC785B4E}"/>
              </a:ext>
            </a:extLst>
          </p:cNvPr>
          <p:cNvSpPr txBox="1"/>
          <p:nvPr/>
        </p:nvSpPr>
        <p:spPr>
          <a:xfrm>
            <a:off x="1747261" y="4477006"/>
            <a:ext cx="92470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관리자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5B2939B9-BE04-05D2-AEAF-B7DB7512DBC3}"/>
              </a:ext>
            </a:extLst>
          </p:cNvPr>
          <p:cNvSpPr txBox="1"/>
          <p:nvPr/>
        </p:nvSpPr>
        <p:spPr>
          <a:xfrm>
            <a:off x="735075" y="4690050"/>
            <a:ext cx="2024371" cy="24118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안치절차에 대하여 </a:t>
            </a:r>
            <a:r>
              <a:rPr lang="ko-KR" altLang="en-US" sz="9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답변드립니다</a:t>
            </a:r>
            <a:r>
              <a:rPr lang="en-US" altLang="ko-KR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</p:txBody>
      </p:sp>
      <p:cxnSp>
        <p:nvCxnSpPr>
          <p:cNvPr id="66" name="직선 연결선 65">
            <a:extLst>
              <a:ext uri="{FF2B5EF4-FFF2-40B4-BE49-F238E27FC236}">
                <a16:creationId xmlns:a16="http://schemas.microsoft.com/office/drawing/2014/main" id="{F8D4D504-1676-762F-C036-3AB6FB06C4CD}"/>
              </a:ext>
            </a:extLst>
          </p:cNvPr>
          <p:cNvCxnSpPr>
            <a:cxnSpLocks/>
          </p:cNvCxnSpPr>
          <p:nvPr/>
        </p:nvCxnSpPr>
        <p:spPr>
          <a:xfrm>
            <a:off x="794294" y="5696160"/>
            <a:ext cx="2967887" cy="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F77FA77F-3C33-4EA1-F7CC-404F2F18BE66}"/>
              </a:ext>
            </a:extLst>
          </p:cNvPr>
          <p:cNvSpPr txBox="1"/>
          <p:nvPr/>
        </p:nvSpPr>
        <p:spPr>
          <a:xfrm>
            <a:off x="735075" y="4960313"/>
            <a:ext cx="30158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문의주신 안치절차에 대하여 자세한 내용은 첨부파일을 확인하시면 됩니다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첨부파일 확인하시고 기타 문의사항은 하늘누리의 다양한 문의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카카오톡 문의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전화상담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1:1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문의를 주시면 감사하겠습니다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19FAEC9-28F7-A3FD-4A00-D8F71BD87958}"/>
              </a:ext>
            </a:extLst>
          </p:cNvPr>
          <p:cNvSpPr txBox="1"/>
          <p:nvPr/>
        </p:nvSpPr>
        <p:spPr>
          <a:xfrm>
            <a:off x="759752" y="5789840"/>
            <a:ext cx="66196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첨부파일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A1082F5-8272-4EC2-E372-95D137C53228}"/>
              </a:ext>
            </a:extLst>
          </p:cNvPr>
          <p:cNvSpPr txBox="1"/>
          <p:nvPr/>
        </p:nvSpPr>
        <p:spPr>
          <a:xfrm>
            <a:off x="1454625" y="5789840"/>
            <a:ext cx="173752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u="sng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하늘누리 안치절차 안내</a:t>
            </a:r>
            <a:r>
              <a:rPr lang="en-US" altLang="ko-KR" sz="900" u="sng" dirty="0">
                <a:latin typeface="나눔고딕" panose="020D0604000000000000" pitchFamily="50" charset="-127"/>
                <a:ea typeface="나눔고딕" panose="020D0604000000000000" pitchFamily="50" charset="-127"/>
              </a:rPr>
              <a:t>.pdf</a:t>
            </a:r>
            <a:endParaRPr lang="ko-KR" altLang="en-US" sz="900" u="sng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71" name="Picture 2" descr="다운로드 - 무료 화살개 아이콘">
            <a:extLst>
              <a:ext uri="{FF2B5EF4-FFF2-40B4-BE49-F238E27FC236}">
                <a16:creationId xmlns:a16="http://schemas.microsoft.com/office/drawing/2014/main" id="{EDC8C69E-03AD-1697-B56B-0CF052D306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6353" y="5790881"/>
            <a:ext cx="230832" cy="2308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2" name="직선 연결선 71">
            <a:extLst>
              <a:ext uri="{FF2B5EF4-FFF2-40B4-BE49-F238E27FC236}">
                <a16:creationId xmlns:a16="http://schemas.microsoft.com/office/drawing/2014/main" id="{8E0D439A-289C-1C87-36CA-04A7A93CC484}"/>
              </a:ext>
            </a:extLst>
          </p:cNvPr>
          <p:cNvCxnSpPr>
            <a:cxnSpLocks/>
          </p:cNvCxnSpPr>
          <p:nvPr/>
        </p:nvCxnSpPr>
        <p:spPr>
          <a:xfrm>
            <a:off x="735075" y="6133905"/>
            <a:ext cx="2967887" cy="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모서리가 둥근 직사각형 63">
            <a:extLst>
              <a:ext uri="{FF2B5EF4-FFF2-40B4-BE49-F238E27FC236}">
                <a16:creationId xmlns:a16="http://schemas.microsoft.com/office/drawing/2014/main" id="{37230315-0568-560D-0A18-D7FA2169B746}"/>
              </a:ext>
            </a:extLst>
          </p:cNvPr>
          <p:cNvSpPr/>
          <p:nvPr/>
        </p:nvSpPr>
        <p:spPr bwMode="auto">
          <a:xfrm>
            <a:off x="5288342" y="1227278"/>
            <a:ext cx="2970441" cy="312422"/>
          </a:xfrm>
          <a:prstGeom prst="roundRect">
            <a:avLst/>
          </a:prstGeom>
          <a:solidFill>
            <a:schemeClr val="tx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000" b="1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목록</a:t>
            </a: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FDF9102B-7D15-0421-C7B0-60090B36A2F1}"/>
              </a:ext>
            </a:extLst>
          </p:cNvPr>
          <p:cNvSpPr/>
          <p:nvPr/>
        </p:nvSpPr>
        <p:spPr>
          <a:xfrm>
            <a:off x="5203679" y="1832293"/>
            <a:ext cx="3168137" cy="264669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Footer</a:t>
            </a:r>
            <a:endParaRPr lang="ko-KR" altLang="en-US" sz="10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5" name="Oval 109">
            <a:extLst>
              <a:ext uri="{FF2B5EF4-FFF2-40B4-BE49-F238E27FC236}">
                <a16:creationId xmlns:a16="http://schemas.microsoft.com/office/drawing/2014/main" id="{FF303144-0716-6FA2-21C8-D613202B09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43128" y="5615999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2</a:t>
            </a:r>
          </a:p>
        </p:txBody>
      </p:sp>
      <p:sp>
        <p:nvSpPr>
          <p:cNvPr id="76" name="Oval 109">
            <a:extLst>
              <a:ext uri="{FF2B5EF4-FFF2-40B4-BE49-F238E27FC236}">
                <a16:creationId xmlns:a16="http://schemas.microsoft.com/office/drawing/2014/main" id="{66EE61A9-3783-8AAB-CE79-47F8B81733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26287" y="1181491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999146778"/>
      </p:ext>
    </p:extLst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7B409B-8380-AD8D-3D3E-6F0C688C15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4A279ABC-39B6-E4A3-9AE0-F66A96FD517A}"/>
              </a:ext>
            </a:extLst>
          </p:cNvPr>
          <p:cNvGraphicFramePr>
            <a:graphicFrameLocks noGrp="1"/>
          </p:cNvGraphicFramePr>
          <p:nvPr/>
        </p:nvGraphicFramePr>
        <p:xfrm>
          <a:off x="9182101" y="947377"/>
          <a:ext cx="2795588" cy="23348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1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상태값이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미답변인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문의글에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대한 수정화면으로 문의한 내용을 수정할 수 있음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684046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취소 버튼 선택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수정한 내용을 저장하지 않고 목록화면으로 이동</a:t>
                      </a: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723838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3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수정 선택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유효성 체크 후 저장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제목 또는 문의내용을 입력하지 않은 경우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Alert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메시지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Alert “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입력항목을 다시한번 학인해주세요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.”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172599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4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290794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5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922450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6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784800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7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0538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8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199337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9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450365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1BF50EA8-01C9-8124-0854-92A35FD45DEE}"/>
              </a:ext>
            </a:extLst>
          </p:cNvPr>
          <p:cNvSpPr/>
          <p:nvPr/>
        </p:nvSpPr>
        <p:spPr>
          <a:xfrm>
            <a:off x="959895" y="375614"/>
            <a:ext cx="1680268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</a:pP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메인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고객센터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나의상담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수정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CA88D4B-3064-1D89-9194-0A9513BA4DAD}"/>
              </a:ext>
            </a:extLst>
          </p:cNvPr>
          <p:cNvSpPr txBox="1"/>
          <p:nvPr/>
        </p:nvSpPr>
        <p:spPr>
          <a:xfrm>
            <a:off x="6003996" y="123825"/>
            <a:ext cx="17303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HN_Memorial_Lettermodi_001</a:t>
            </a:r>
            <a:endParaRPr lang="ko-KR" altLang="en-US" sz="800" dirty="0"/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D7ED12EC-B4A1-B6E7-1AA8-8B8961815F34}"/>
              </a:ext>
            </a:extLst>
          </p:cNvPr>
          <p:cNvCxnSpPr>
            <a:cxnSpLocks/>
          </p:cNvCxnSpPr>
          <p:nvPr/>
        </p:nvCxnSpPr>
        <p:spPr>
          <a:xfrm>
            <a:off x="655957" y="1658468"/>
            <a:ext cx="3109526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26F0FC02-C213-B79C-1B81-4DCDD83E923E}"/>
              </a:ext>
            </a:extLst>
          </p:cNvPr>
          <p:cNvSpPr txBox="1"/>
          <p:nvPr/>
        </p:nvSpPr>
        <p:spPr>
          <a:xfrm>
            <a:off x="1793778" y="1181491"/>
            <a:ext cx="83388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하늘누리</a:t>
            </a:r>
            <a:endParaRPr lang="en-US" altLang="ko-KR" sz="11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en-US" altLang="ko-KR" sz="11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CI</a:t>
            </a:r>
            <a:endParaRPr lang="ko-KR" altLang="en-US" sz="11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36" name="그림 35" descr="블랙, 어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D49D21D-D2B8-242E-377F-CE84CB7F951E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2985" y="1191723"/>
            <a:ext cx="383533" cy="383533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01ADC12C-2A44-16BB-D778-CCD5E58EBB05}"/>
              </a:ext>
            </a:extLst>
          </p:cNvPr>
          <p:cNvSpPr txBox="1"/>
          <p:nvPr/>
        </p:nvSpPr>
        <p:spPr>
          <a:xfrm>
            <a:off x="2826086" y="1293697"/>
            <a:ext cx="57184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" panose="020D0604000000000000" pitchFamily="50" charset="-127"/>
                <a:ea typeface="나눔고딕" panose="020D0604000000000000" pitchFamily="50" charset="-127"/>
              </a:rPr>
              <a:t>르그아웃</a:t>
            </a:r>
          </a:p>
        </p:txBody>
      </p:sp>
      <p:pic>
        <p:nvPicPr>
          <p:cNvPr id="38" name="Picture 4" descr="로그 아웃 아이콘">
            <a:extLst>
              <a:ext uri="{FF2B5EF4-FFF2-40B4-BE49-F238E27FC236}">
                <a16:creationId xmlns:a16="http://schemas.microsoft.com/office/drawing/2014/main" id="{9E481E2D-B6C4-BAFC-3E99-6FDE86AA20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9631" y="1283929"/>
            <a:ext cx="217049" cy="217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56B0D00C-F898-88F8-9354-F3245DF7B458}"/>
              </a:ext>
            </a:extLst>
          </p:cNvPr>
          <p:cNvSpPr txBox="1"/>
          <p:nvPr/>
        </p:nvSpPr>
        <p:spPr>
          <a:xfrm>
            <a:off x="1343128" y="1807796"/>
            <a:ext cx="17351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1:1 </a:t>
            </a:r>
            <a:r>
              <a:rPr lang="ko-KR" altLang="en-US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상담</a:t>
            </a:r>
            <a:endParaRPr lang="en-US" altLang="ko-KR" sz="1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F92642F-DF44-8268-1794-747686577D41}"/>
              </a:ext>
            </a:extLst>
          </p:cNvPr>
          <p:cNvSpPr txBox="1"/>
          <p:nvPr/>
        </p:nvSpPr>
        <p:spPr>
          <a:xfrm>
            <a:off x="794294" y="2194931"/>
            <a:ext cx="2971189" cy="66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000" b="1" dirty="0"/>
              <a:t>"</a:t>
            </a:r>
            <a:r>
              <a:rPr lang="ko-KR" altLang="en-US" sz="1000" b="1" dirty="0"/>
              <a:t>마음을 다해 듣고</a:t>
            </a:r>
            <a:r>
              <a:rPr lang="en-US" altLang="ko-KR" sz="1000" b="1" dirty="0"/>
              <a:t>, </a:t>
            </a:r>
            <a:r>
              <a:rPr lang="ko-KR" altLang="en-US" sz="1000" b="1" dirty="0"/>
              <a:t>정성을 다해 답하겠습니다</a:t>
            </a:r>
            <a:r>
              <a:rPr lang="en-US" altLang="ko-KR" sz="1000" b="1" dirty="0"/>
              <a:t>." </a:t>
            </a:r>
          </a:p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말로 다 전하기 어려운 유족분들의 고민과 궁금증을 귀 기울여 듣겠습니다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하늘누리가 가족의 마음으로 함께 고민하고 답변해 드립니다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3" name="Oval 109">
            <a:extLst>
              <a:ext uri="{FF2B5EF4-FFF2-40B4-BE49-F238E27FC236}">
                <a16:creationId xmlns:a16="http://schemas.microsoft.com/office/drawing/2014/main" id="{AC6F0383-30AD-FD17-B054-31A1171664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44576" y="1688978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8EB5E06-0B84-B712-6EB8-36D16CAB849F}"/>
              </a:ext>
            </a:extLst>
          </p:cNvPr>
          <p:cNvSpPr txBox="1"/>
          <p:nvPr/>
        </p:nvSpPr>
        <p:spPr>
          <a:xfrm>
            <a:off x="775264" y="3316933"/>
            <a:ext cx="8142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E-Mail</a:t>
            </a:r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endParaRPr lang="ko-KR" altLang="en-US" sz="10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CE770D12-7007-11C1-42BC-57C03E81E565}"/>
              </a:ext>
            </a:extLst>
          </p:cNvPr>
          <p:cNvCxnSpPr>
            <a:cxnSpLocks/>
          </p:cNvCxnSpPr>
          <p:nvPr/>
        </p:nvCxnSpPr>
        <p:spPr>
          <a:xfrm flipV="1">
            <a:off x="1599270" y="3493271"/>
            <a:ext cx="1800000" cy="11515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EFB567A6-00A2-8DFE-7565-F38989A8FC53}"/>
              </a:ext>
            </a:extLst>
          </p:cNvPr>
          <p:cNvSpPr txBox="1"/>
          <p:nvPr/>
        </p:nvSpPr>
        <p:spPr>
          <a:xfrm>
            <a:off x="1703364" y="3294571"/>
            <a:ext cx="121331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gildong@abc.co.kr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6A31886-199A-A31E-1228-FEF983C12F3B}"/>
              </a:ext>
            </a:extLst>
          </p:cNvPr>
          <p:cNvSpPr txBox="1"/>
          <p:nvPr/>
        </p:nvSpPr>
        <p:spPr>
          <a:xfrm>
            <a:off x="774523" y="3002817"/>
            <a:ext cx="8142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작성자 </a:t>
            </a:r>
            <a:endParaRPr lang="ko-KR" altLang="en-US" sz="10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CDBB1CE8-7563-9AED-A190-DE383DF910FC}"/>
              </a:ext>
            </a:extLst>
          </p:cNvPr>
          <p:cNvCxnSpPr>
            <a:cxnSpLocks/>
          </p:cNvCxnSpPr>
          <p:nvPr/>
        </p:nvCxnSpPr>
        <p:spPr>
          <a:xfrm flipV="1">
            <a:off x="1598529" y="3179155"/>
            <a:ext cx="1800000" cy="11515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DD228925-E7B8-2F06-594B-BA26F0F19FC8}"/>
              </a:ext>
            </a:extLst>
          </p:cNvPr>
          <p:cNvSpPr txBox="1"/>
          <p:nvPr/>
        </p:nvSpPr>
        <p:spPr>
          <a:xfrm>
            <a:off x="1670369" y="2983360"/>
            <a:ext cx="6556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홍길동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0CBF49C-A36D-9AEE-5DFA-C7006ABFDE33}"/>
              </a:ext>
            </a:extLst>
          </p:cNvPr>
          <p:cNvSpPr txBox="1"/>
          <p:nvPr/>
        </p:nvSpPr>
        <p:spPr>
          <a:xfrm>
            <a:off x="774523" y="3625238"/>
            <a:ext cx="8142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제목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*</a:t>
            </a:r>
            <a:r>
              <a:rPr lang="ko-KR" altLang="en-US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</p:txBody>
      </p:sp>
      <p:cxnSp>
        <p:nvCxnSpPr>
          <p:cNvPr id="51" name="직선 연결선 50">
            <a:extLst>
              <a:ext uri="{FF2B5EF4-FFF2-40B4-BE49-F238E27FC236}">
                <a16:creationId xmlns:a16="http://schemas.microsoft.com/office/drawing/2014/main" id="{726339DD-5864-5E20-1F0C-5EAFB4663091}"/>
              </a:ext>
            </a:extLst>
          </p:cNvPr>
          <p:cNvCxnSpPr>
            <a:cxnSpLocks/>
          </p:cNvCxnSpPr>
          <p:nvPr/>
        </p:nvCxnSpPr>
        <p:spPr>
          <a:xfrm>
            <a:off x="1545383" y="3836614"/>
            <a:ext cx="2160000" cy="11665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CD2A82A4-F4C2-5152-89BC-CEA90723C54A}"/>
              </a:ext>
            </a:extLst>
          </p:cNvPr>
          <p:cNvSpPr txBox="1"/>
          <p:nvPr/>
        </p:nvSpPr>
        <p:spPr>
          <a:xfrm>
            <a:off x="1545383" y="3617447"/>
            <a:ext cx="119341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>
                <a:latin typeface="나눔고딕" panose="020D0604000000000000" pitchFamily="50" charset="-127"/>
                <a:ea typeface="나눔고딕" panose="020D0604000000000000" pitchFamily="50" charset="-127"/>
              </a:rPr>
              <a:t>문의드려요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D462BC2-9731-91D4-46A9-CD31432D4775}"/>
              </a:ext>
            </a:extLst>
          </p:cNvPr>
          <p:cNvSpPr txBox="1"/>
          <p:nvPr/>
        </p:nvSpPr>
        <p:spPr>
          <a:xfrm>
            <a:off x="774523" y="3924879"/>
            <a:ext cx="100264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문의내용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*</a:t>
            </a:r>
            <a:endParaRPr lang="ko-KR" altLang="en-US" sz="10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1498AA26-58DA-64AF-8C9D-7FCF66D3AE17}"/>
              </a:ext>
            </a:extLst>
          </p:cNvPr>
          <p:cNvSpPr/>
          <p:nvPr/>
        </p:nvSpPr>
        <p:spPr>
          <a:xfrm>
            <a:off x="774524" y="4214111"/>
            <a:ext cx="2930860" cy="113165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D0C0074-61FB-CECC-B39B-B03297AD76C0}"/>
              </a:ext>
            </a:extLst>
          </p:cNvPr>
          <p:cNvSpPr txBox="1"/>
          <p:nvPr/>
        </p:nvSpPr>
        <p:spPr>
          <a:xfrm>
            <a:off x="791738" y="4263015"/>
            <a:ext cx="260619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>
                <a:latin typeface="나눔고딕" panose="020D0604000000000000" pitchFamily="50" charset="-127"/>
                <a:ea typeface="나눔고딕" panose="020D0604000000000000" pitchFamily="50" charset="-127"/>
              </a:rPr>
              <a:t>안치절차에 대해야 설명해주세요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6" name="모서리가 둥근 직사각형 63">
            <a:extLst>
              <a:ext uri="{FF2B5EF4-FFF2-40B4-BE49-F238E27FC236}">
                <a16:creationId xmlns:a16="http://schemas.microsoft.com/office/drawing/2014/main" id="{EEF972F2-CC88-E950-4C7E-CB5727548883}"/>
              </a:ext>
            </a:extLst>
          </p:cNvPr>
          <p:cNvSpPr/>
          <p:nvPr/>
        </p:nvSpPr>
        <p:spPr bwMode="auto">
          <a:xfrm>
            <a:off x="813435" y="5403449"/>
            <a:ext cx="1397572" cy="312422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000" b="1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취소</a:t>
            </a:r>
          </a:p>
        </p:txBody>
      </p:sp>
      <p:sp>
        <p:nvSpPr>
          <p:cNvPr id="57" name="모서리가 둥근 직사각형 63">
            <a:extLst>
              <a:ext uri="{FF2B5EF4-FFF2-40B4-BE49-F238E27FC236}">
                <a16:creationId xmlns:a16="http://schemas.microsoft.com/office/drawing/2014/main" id="{89ED5DBE-359D-5A62-1B7F-D2DF51AE7BD0}"/>
              </a:ext>
            </a:extLst>
          </p:cNvPr>
          <p:cNvSpPr/>
          <p:nvPr/>
        </p:nvSpPr>
        <p:spPr bwMode="auto">
          <a:xfrm>
            <a:off x="2287063" y="5403449"/>
            <a:ext cx="1379408" cy="312422"/>
          </a:xfrm>
          <a:prstGeom prst="roundRect">
            <a:avLst/>
          </a:prstGeom>
          <a:solidFill>
            <a:schemeClr val="tx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000" b="1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수정</a:t>
            </a:r>
          </a:p>
        </p:txBody>
      </p:sp>
      <p:sp>
        <p:nvSpPr>
          <p:cNvPr id="59" name="Oval 109">
            <a:extLst>
              <a:ext uri="{FF2B5EF4-FFF2-40B4-BE49-F238E27FC236}">
                <a16:creationId xmlns:a16="http://schemas.microsoft.com/office/drawing/2014/main" id="{E3841EC8-2650-54F5-C5B5-79EE1D55C2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525" y="5267670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2</a:t>
            </a:r>
          </a:p>
        </p:txBody>
      </p:sp>
      <p:sp>
        <p:nvSpPr>
          <p:cNvPr id="60" name="Oval 109">
            <a:extLst>
              <a:ext uri="{FF2B5EF4-FFF2-40B4-BE49-F238E27FC236}">
                <a16:creationId xmlns:a16="http://schemas.microsoft.com/office/drawing/2014/main" id="{B82FAB7C-E211-1E7B-C34F-28659F5408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7063" y="5279161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3</a:t>
            </a: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EE01EB37-6301-CCE0-2F08-DC3599F5F9D0}"/>
              </a:ext>
            </a:extLst>
          </p:cNvPr>
          <p:cNvSpPr/>
          <p:nvPr/>
        </p:nvSpPr>
        <p:spPr>
          <a:xfrm>
            <a:off x="655957" y="5890058"/>
            <a:ext cx="3168137" cy="264669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Footer</a:t>
            </a:r>
            <a:endParaRPr lang="ko-KR" altLang="en-US" sz="10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82358071"/>
      </p:ext>
    </p:extLst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3B13D5-84F7-C01C-F07F-7B1D668B1F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12003958-E309-A9CD-115E-6346F5A0EBBF}"/>
              </a:ext>
            </a:extLst>
          </p:cNvPr>
          <p:cNvGraphicFramePr>
            <a:graphicFrameLocks noGrp="1"/>
          </p:cNvGraphicFramePr>
          <p:nvPr/>
        </p:nvGraphicFramePr>
        <p:xfrm>
          <a:off x="9182101" y="947377"/>
          <a:ext cx="2795588" cy="2334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1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키워드를 입력하고 검색 버튼 선택하면 해당 키워드에 맞는 검색화면 노출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검색은 제목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/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내용 모두 검색하는 전체검색으로 함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684046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제목 행을 선택하면 공지사항의 상세화면으로 이동</a:t>
                      </a: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723838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3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첨부파일이 있는 경우에는 첨부파일 아이콘 노출</a:t>
                      </a: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172599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4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목록갯수는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최초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10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개가 노출됨</a:t>
                      </a: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290794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5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더보기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버튼을 선택하면 추가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10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개가 목록하단에 노출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더보기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버튼은 목록이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10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개 이하일 때는 노출되지 않음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. 10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개 초과시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더보기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버튼 노출됨</a:t>
                      </a: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922450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6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784800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7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0538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8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199337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9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450365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00DF3EE5-12A7-FAA0-5D74-CE392E488234}"/>
              </a:ext>
            </a:extLst>
          </p:cNvPr>
          <p:cNvSpPr/>
          <p:nvPr/>
        </p:nvSpPr>
        <p:spPr>
          <a:xfrm>
            <a:off x="959895" y="375614"/>
            <a:ext cx="1277914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</a:pP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메인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고객센터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자료실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ECC71D2-151F-8998-C47E-A3825A02952A}"/>
              </a:ext>
            </a:extLst>
          </p:cNvPr>
          <p:cNvSpPr txBox="1"/>
          <p:nvPr/>
        </p:nvSpPr>
        <p:spPr>
          <a:xfrm>
            <a:off x="6003996" y="123825"/>
            <a:ext cx="17303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HN_Customer_Noticelist_001</a:t>
            </a:r>
            <a:endParaRPr lang="ko-KR" altLang="en-US" sz="800" dirty="0"/>
          </a:p>
        </p:txBody>
      </p: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AF423C8D-2FC2-F8F9-3D77-7C5419F75517}"/>
              </a:ext>
            </a:extLst>
          </p:cNvPr>
          <p:cNvCxnSpPr>
            <a:cxnSpLocks/>
          </p:cNvCxnSpPr>
          <p:nvPr/>
        </p:nvCxnSpPr>
        <p:spPr>
          <a:xfrm>
            <a:off x="655957" y="1658468"/>
            <a:ext cx="3109526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B111BE24-CB13-2789-6BB3-E94E652207FA}"/>
              </a:ext>
            </a:extLst>
          </p:cNvPr>
          <p:cNvSpPr txBox="1"/>
          <p:nvPr/>
        </p:nvSpPr>
        <p:spPr>
          <a:xfrm>
            <a:off x="1793778" y="1181491"/>
            <a:ext cx="83388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하늘누리</a:t>
            </a:r>
            <a:endParaRPr lang="en-US" altLang="ko-KR" sz="11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en-US" altLang="ko-KR" sz="11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CI</a:t>
            </a:r>
            <a:endParaRPr lang="ko-KR" altLang="en-US" sz="11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32" name="그림 31" descr="블랙, 어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9A8A19B-CA29-1840-C550-E84E62BB87B3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2985" y="1191723"/>
            <a:ext cx="383533" cy="383533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3822BE70-E3A8-343B-8A7A-C7EED0E9E528}"/>
              </a:ext>
            </a:extLst>
          </p:cNvPr>
          <p:cNvSpPr txBox="1"/>
          <p:nvPr/>
        </p:nvSpPr>
        <p:spPr>
          <a:xfrm>
            <a:off x="2826086" y="1293697"/>
            <a:ext cx="57184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" panose="020D0604000000000000" pitchFamily="50" charset="-127"/>
                <a:ea typeface="나눔고딕" panose="020D0604000000000000" pitchFamily="50" charset="-127"/>
              </a:rPr>
              <a:t>르그아웃</a:t>
            </a:r>
          </a:p>
        </p:txBody>
      </p:sp>
      <p:pic>
        <p:nvPicPr>
          <p:cNvPr id="37" name="Picture 4" descr="로그 아웃 아이콘">
            <a:extLst>
              <a:ext uri="{FF2B5EF4-FFF2-40B4-BE49-F238E27FC236}">
                <a16:creationId xmlns:a16="http://schemas.microsoft.com/office/drawing/2014/main" id="{95D6F60E-A6EF-1196-88C2-AAB73708E0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9631" y="1283929"/>
            <a:ext cx="217049" cy="217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60E0174D-7594-63DA-4D09-C9A5801600F5}"/>
              </a:ext>
            </a:extLst>
          </p:cNvPr>
          <p:cNvSpPr txBox="1"/>
          <p:nvPr/>
        </p:nvSpPr>
        <p:spPr>
          <a:xfrm>
            <a:off x="1343128" y="1807796"/>
            <a:ext cx="17351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자료실</a:t>
            </a:r>
            <a:endParaRPr lang="en-US" altLang="ko-KR" sz="1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F47395F-A0D7-6E5A-2463-23CEA6D92967}"/>
              </a:ext>
            </a:extLst>
          </p:cNvPr>
          <p:cNvSpPr txBox="1"/>
          <p:nvPr/>
        </p:nvSpPr>
        <p:spPr>
          <a:xfrm>
            <a:off x="794294" y="2194931"/>
            <a:ext cx="2971189" cy="66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000" b="1" dirty="0"/>
              <a:t>"</a:t>
            </a:r>
            <a:r>
              <a:rPr lang="ko-KR" altLang="en-US" sz="1000" b="1" dirty="0"/>
              <a:t>하늘누리 이용을 돕는 투명하고 정확한 기록들</a:t>
            </a:r>
            <a:r>
              <a:rPr lang="en-US" altLang="ko-KR" sz="1000" b="1" dirty="0"/>
              <a:t>“</a:t>
            </a:r>
          </a:p>
          <a:p>
            <a:pPr algn="ctr"/>
            <a:r>
              <a:rPr lang="ko-KR" altLang="en-US" sz="900" dirty="0"/>
              <a:t>이곳저곳 찾아보시는 번거로움을 덜어드리기 위해 관련 서식과 가이드북을 한곳에 정리했습니다</a:t>
            </a:r>
            <a:r>
              <a:rPr lang="en-US" altLang="ko-KR" sz="900" dirty="0"/>
              <a:t>. </a:t>
            </a:r>
            <a:r>
              <a:rPr lang="ko-KR" altLang="en-US" sz="900" dirty="0"/>
              <a:t>편안하게 내려 받아 확인해 보세요</a:t>
            </a:r>
            <a:r>
              <a:rPr lang="en-US" altLang="ko-KR" sz="900" dirty="0"/>
              <a:t>.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1" name="Oval 109">
            <a:extLst>
              <a:ext uri="{FF2B5EF4-FFF2-40B4-BE49-F238E27FC236}">
                <a16:creationId xmlns:a16="http://schemas.microsoft.com/office/drawing/2014/main" id="{F9AC989A-4B11-BE9C-C9AC-B9CC89DE4E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1108" y="2797925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1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EF1653C9-F12D-2759-DACC-AB39A68A1866}"/>
              </a:ext>
            </a:extLst>
          </p:cNvPr>
          <p:cNvSpPr/>
          <p:nvPr/>
        </p:nvSpPr>
        <p:spPr>
          <a:xfrm>
            <a:off x="1941150" y="3040491"/>
            <a:ext cx="1214523" cy="21544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3" name="모서리가 둥근 직사각형 63">
            <a:extLst>
              <a:ext uri="{FF2B5EF4-FFF2-40B4-BE49-F238E27FC236}">
                <a16:creationId xmlns:a16="http://schemas.microsoft.com/office/drawing/2014/main" id="{0B2DDEA8-6C93-C60A-0ECB-1378FAB96082}"/>
              </a:ext>
            </a:extLst>
          </p:cNvPr>
          <p:cNvSpPr/>
          <p:nvPr/>
        </p:nvSpPr>
        <p:spPr bwMode="auto">
          <a:xfrm>
            <a:off x="3204313" y="3040492"/>
            <a:ext cx="561170" cy="203902"/>
          </a:xfrm>
          <a:prstGeom prst="roundRect">
            <a:avLst/>
          </a:prstGeom>
          <a:solidFill>
            <a:schemeClr val="tx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000" b="1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검색</a:t>
            </a:r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59C9F6BE-816D-E660-450B-9F487F9C0ABA}"/>
              </a:ext>
            </a:extLst>
          </p:cNvPr>
          <p:cNvCxnSpPr>
            <a:cxnSpLocks/>
          </p:cNvCxnSpPr>
          <p:nvPr/>
        </p:nvCxnSpPr>
        <p:spPr>
          <a:xfrm>
            <a:off x="727865" y="3429000"/>
            <a:ext cx="302865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269DF24A-6BDB-1441-E011-27964E378FD4}"/>
              </a:ext>
            </a:extLst>
          </p:cNvPr>
          <p:cNvSpPr txBox="1"/>
          <p:nvPr/>
        </p:nvSpPr>
        <p:spPr>
          <a:xfrm>
            <a:off x="749012" y="3505841"/>
            <a:ext cx="61291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888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3BE807A-BF83-40F5-6A92-60645F6CD35A}"/>
              </a:ext>
            </a:extLst>
          </p:cNvPr>
          <p:cNvSpPr txBox="1"/>
          <p:nvPr/>
        </p:nvSpPr>
        <p:spPr>
          <a:xfrm>
            <a:off x="1133959" y="3501341"/>
            <a:ext cx="924702" cy="230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2026-03-11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4954B2D-6C7D-A402-5CCE-6DB4C9B1B32A}"/>
              </a:ext>
            </a:extLst>
          </p:cNvPr>
          <p:cNvSpPr txBox="1"/>
          <p:nvPr/>
        </p:nvSpPr>
        <p:spPr>
          <a:xfrm>
            <a:off x="1130114" y="3785313"/>
            <a:ext cx="2626404" cy="21603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하늘누리의 시설 운영 규정입니다</a:t>
            </a:r>
            <a:r>
              <a:rPr lang="en-US" altLang="ko-KR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9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62" name="Picture 6" descr="첨부 파일 - 무료 파일 및 폴더개 아이콘">
            <a:extLst>
              <a:ext uri="{FF2B5EF4-FFF2-40B4-BE49-F238E27FC236}">
                <a16:creationId xmlns:a16="http://schemas.microsoft.com/office/drawing/2014/main" id="{DF4E901D-AC3C-5026-D95C-71CD36CF31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6670" y="3600706"/>
            <a:ext cx="256162" cy="2561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24" name="직선 연결선 1023">
            <a:extLst>
              <a:ext uri="{FF2B5EF4-FFF2-40B4-BE49-F238E27FC236}">
                <a16:creationId xmlns:a16="http://schemas.microsoft.com/office/drawing/2014/main" id="{9F05DC8A-3F72-A010-46D2-8681B8873749}"/>
              </a:ext>
            </a:extLst>
          </p:cNvPr>
          <p:cNvCxnSpPr>
            <a:cxnSpLocks/>
          </p:cNvCxnSpPr>
          <p:nvPr/>
        </p:nvCxnSpPr>
        <p:spPr>
          <a:xfrm>
            <a:off x="727865" y="4114945"/>
            <a:ext cx="3028653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6" name="TextBox 1025">
            <a:extLst>
              <a:ext uri="{FF2B5EF4-FFF2-40B4-BE49-F238E27FC236}">
                <a16:creationId xmlns:a16="http://schemas.microsoft.com/office/drawing/2014/main" id="{7C711E09-E66E-6C99-45DF-832EB8272B86}"/>
              </a:ext>
            </a:extLst>
          </p:cNvPr>
          <p:cNvSpPr txBox="1"/>
          <p:nvPr/>
        </p:nvSpPr>
        <p:spPr>
          <a:xfrm>
            <a:off x="761417" y="4190457"/>
            <a:ext cx="61291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887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27" name="TextBox 1026">
            <a:extLst>
              <a:ext uri="{FF2B5EF4-FFF2-40B4-BE49-F238E27FC236}">
                <a16:creationId xmlns:a16="http://schemas.microsoft.com/office/drawing/2014/main" id="{6779DF42-C4B2-962B-BB08-8256F940278E}"/>
              </a:ext>
            </a:extLst>
          </p:cNvPr>
          <p:cNvSpPr txBox="1"/>
          <p:nvPr/>
        </p:nvSpPr>
        <p:spPr>
          <a:xfrm>
            <a:off x="1146364" y="4185957"/>
            <a:ext cx="924702" cy="230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2026-03-11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28" name="TextBox 1027">
            <a:extLst>
              <a:ext uri="{FF2B5EF4-FFF2-40B4-BE49-F238E27FC236}">
                <a16:creationId xmlns:a16="http://schemas.microsoft.com/office/drawing/2014/main" id="{6F41B1C8-EBC7-F722-A904-93A868E74DDA}"/>
              </a:ext>
            </a:extLst>
          </p:cNvPr>
          <p:cNvSpPr txBox="1"/>
          <p:nvPr/>
        </p:nvSpPr>
        <p:spPr>
          <a:xfrm>
            <a:off x="1142519" y="4469929"/>
            <a:ext cx="2626404" cy="21603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하늘누리의 시설 운영 규정입니다</a:t>
            </a:r>
            <a:r>
              <a:rPr lang="en-US" altLang="ko-KR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9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1029" name="Picture 6" descr="첨부 파일 - 무료 파일 및 폴더개 아이콘">
            <a:extLst>
              <a:ext uri="{FF2B5EF4-FFF2-40B4-BE49-F238E27FC236}">
                <a16:creationId xmlns:a16="http://schemas.microsoft.com/office/drawing/2014/main" id="{50A7D450-122F-6DD7-DF69-0332691A50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9075" y="4285322"/>
            <a:ext cx="256162" cy="2561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31" name="직선 연결선 1030">
            <a:extLst>
              <a:ext uri="{FF2B5EF4-FFF2-40B4-BE49-F238E27FC236}">
                <a16:creationId xmlns:a16="http://schemas.microsoft.com/office/drawing/2014/main" id="{75EC2334-C76F-5361-21F6-654B28986737}"/>
              </a:ext>
            </a:extLst>
          </p:cNvPr>
          <p:cNvCxnSpPr>
            <a:cxnSpLocks/>
          </p:cNvCxnSpPr>
          <p:nvPr/>
        </p:nvCxnSpPr>
        <p:spPr>
          <a:xfrm>
            <a:off x="740270" y="4799561"/>
            <a:ext cx="3028653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2" name="TextBox 1031">
            <a:extLst>
              <a:ext uri="{FF2B5EF4-FFF2-40B4-BE49-F238E27FC236}">
                <a16:creationId xmlns:a16="http://schemas.microsoft.com/office/drawing/2014/main" id="{84D2C7A5-BCD5-7F8C-2155-C3977D67BD9E}"/>
              </a:ext>
            </a:extLst>
          </p:cNvPr>
          <p:cNvSpPr txBox="1"/>
          <p:nvPr/>
        </p:nvSpPr>
        <p:spPr>
          <a:xfrm>
            <a:off x="765330" y="4859409"/>
            <a:ext cx="61291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886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33" name="TextBox 1032">
            <a:extLst>
              <a:ext uri="{FF2B5EF4-FFF2-40B4-BE49-F238E27FC236}">
                <a16:creationId xmlns:a16="http://schemas.microsoft.com/office/drawing/2014/main" id="{BA4BAC0C-5B98-D6EC-B6DD-C818B43A6286}"/>
              </a:ext>
            </a:extLst>
          </p:cNvPr>
          <p:cNvSpPr txBox="1"/>
          <p:nvPr/>
        </p:nvSpPr>
        <p:spPr>
          <a:xfrm>
            <a:off x="1150277" y="4854909"/>
            <a:ext cx="924702" cy="230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2026-03-11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34" name="TextBox 1033">
            <a:extLst>
              <a:ext uri="{FF2B5EF4-FFF2-40B4-BE49-F238E27FC236}">
                <a16:creationId xmlns:a16="http://schemas.microsoft.com/office/drawing/2014/main" id="{AE701062-7FD5-5FB8-995A-8B666EAC8883}"/>
              </a:ext>
            </a:extLst>
          </p:cNvPr>
          <p:cNvSpPr txBox="1"/>
          <p:nvPr/>
        </p:nvSpPr>
        <p:spPr>
          <a:xfrm>
            <a:off x="1146432" y="5138881"/>
            <a:ext cx="2626404" cy="21603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하늘누리의 시설 운영 규정입니다</a:t>
            </a:r>
            <a:r>
              <a:rPr lang="en-US" altLang="ko-KR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9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1035" name="Picture 6" descr="첨부 파일 - 무료 파일 및 폴더개 아이콘">
            <a:extLst>
              <a:ext uri="{FF2B5EF4-FFF2-40B4-BE49-F238E27FC236}">
                <a16:creationId xmlns:a16="http://schemas.microsoft.com/office/drawing/2014/main" id="{2848CBDB-F574-6BE0-BB97-DFEFF63936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2988" y="4954274"/>
            <a:ext cx="256162" cy="2561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36" name="직선 연결선 1035">
            <a:extLst>
              <a:ext uri="{FF2B5EF4-FFF2-40B4-BE49-F238E27FC236}">
                <a16:creationId xmlns:a16="http://schemas.microsoft.com/office/drawing/2014/main" id="{093FCAD9-1F01-861C-0254-65CF3027E831}"/>
              </a:ext>
            </a:extLst>
          </p:cNvPr>
          <p:cNvCxnSpPr>
            <a:cxnSpLocks/>
          </p:cNvCxnSpPr>
          <p:nvPr/>
        </p:nvCxnSpPr>
        <p:spPr>
          <a:xfrm>
            <a:off x="744183" y="5468513"/>
            <a:ext cx="3028653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7" name="TextBox 1036">
            <a:extLst>
              <a:ext uri="{FF2B5EF4-FFF2-40B4-BE49-F238E27FC236}">
                <a16:creationId xmlns:a16="http://schemas.microsoft.com/office/drawing/2014/main" id="{AB3E2F09-6F62-271D-6DE0-1CEF64B46EC3}"/>
              </a:ext>
            </a:extLst>
          </p:cNvPr>
          <p:cNvSpPr txBox="1"/>
          <p:nvPr/>
        </p:nvSpPr>
        <p:spPr>
          <a:xfrm>
            <a:off x="780872" y="5515245"/>
            <a:ext cx="61291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885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38" name="TextBox 1037">
            <a:extLst>
              <a:ext uri="{FF2B5EF4-FFF2-40B4-BE49-F238E27FC236}">
                <a16:creationId xmlns:a16="http://schemas.microsoft.com/office/drawing/2014/main" id="{4856CC66-29FE-0F3F-7231-C3A7F29D918B}"/>
              </a:ext>
            </a:extLst>
          </p:cNvPr>
          <p:cNvSpPr txBox="1"/>
          <p:nvPr/>
        </p:nvSpPr>
        <p:spPr>
          <a:xfrm>
            <a:off x="1165819" y="5510745"/>
            <a:ext cx="924702" cy="230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2026-03-11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39" name="TextBox 1038">
            <a:extLst>
              <a:ext uri="{FF2B5EF4-FFF2-40B4-BE49-F238E27FC236}">
                <a16:creationId xmlns:a16="http://schemas.microsoft.com/office/drawing/2014/main" id="{9B823AA0-577F-829D-4DAC-5B9660840029}"/>
              </a:ext>
            </a:extLst>
          </p:cNvPr>
          <p:cNvSpPr txBox="1"/>
          <p:nvPr/>
        </p:nvSpPr>
        <p:spPr>
          <a:xfrm>
            <a:off x="1161974" y="5794717"/>
            <a:ext cx="2626404" cy="21603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하늘누리의 시설 운영 규정입니다</a:t>
            </a:r>
            <a:r>
              <a:rPr lang="en-US" altLang="ko-KR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9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1040" name="Picture 6" descr="첨부 파일 - 무료 파일 및 폴더개 아이콘">
            <a:extLst>
              <a:ext uri="{FF2B5EF4-FFF2-40B4-BE49-F238E27FC236}">
                <a16:creationId xmlns:a16="http://schemas.microsoft.com/office/drawing/2014/main" id="{59490D75-0B85-56F3-E457-3931471C09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8530" y="5610110"/>
            <a:ext cx="256162" cy="2561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41" name="직선 연결선 1040">
            <a:extLst>
              <a:ext uri="{FF2B5EF4-FFF2-40B4-BE49-F238E27FC236}">
                <a16:creationId xmlns:a16="http://schemas.microsoft.com/office/drawing/2014/main" id="{563DF3A0-44E6-33BF-E553-B67AABA1DB63}"/>
              </a:ext>
            </a:extLst>
          </p:cNvPr>
          <p:cNvCxnSpPr>
            <a:cxnSpLocks/>
          </p:cNvCxnSpPr>
          <p:nvPr/>
        </p:nvCxnSpPr>
        <p:spPr>
          <a:xfrm>
            <a:off x="759725" y="6124349"/>
            <a:ext cx="3028653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2" name="TextBox 1041">
            <a:extLst>
              <a:ext uri="{FF2B5EF4-FFF2-40B4-BE49-F238E27FC236}">
                <a16:creationId xmlns:a16="http://schemas.microsoft.com/office/drawing/2014/main" id="{EFA86C06-8D90-919F-D1CF-A754442CC2B3}"/>
              </a:ext>
            </a:extLst>
          </p:cNvPr>
          <p:cNvSpPr txBox="1"/>
          <p:nvPr/>
        </p:nvSpPr>
        <p:spPr>
          <a:xfrm>
            <a:off x="5319043" y="1252674"/>
            <a:ext cx="61291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884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43" name="TextBox 1042">
            <a:extLst>
              <a:ext uri="{FF2B5EF4-FFF2-40B4-BE49-F238E27FC236}">
                <a16:creationId xmlns:a16="http://schemas.microsoft.com/office/drawing/2014/main" id="{F1E391CD-DF27-6873-E676-0D83640E6E1C}"/>
              </a:ext>
            </a:extLst>
          </p:cNvPr>
          <p:cNvSpPr txBox="1"/>
          <p:nvPr/>
        </p:nvSpPr>
        <p:spPr>
          <a:xfrm>
            <a:off x="5703990" y="1248174"/>
            <a:ext cx="924702" cy="230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2026-03-11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44" name="TextBox 1043">
            <a:extLst>
              <a:ext uri="{FF2B5EF4-FFF2-40B4-BE49-F238E27FC236}">
                <a16:creationId xmlns:a16="http://schemas.microsoft.com/office/drawing/2014/main" id="{0610B8E1-8B4A-480C-428F-EDA67A5A654A}"/>
              </a:ext>
            </a:extLst>
          </p:cNvPr>
          <p:cNvSpPr txBox="1"/>
          <p:nvPr/>
        </p:nvSpPr>
        <p:spPr>
          <a:xfrm>
            <a:off x="5700145" y="1532146"/>
            <a:ext cx="2626404" cy="21603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하늘누리의 시설 운영 규정입니다</a:t>
            </a:r>
            <a:r>
              <a:rPr lang="en-US" altLang="ko-KR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9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1045" name="Picture 6" descr="첨부 파일 - 무료 파일 및 폴더개 아이콘">
            <a:extLst>
              <a:ext uri="{FF2B5EF4-FFF2-40B4-BE49-F238E27FC236}">
                <a16:creationId xmlns:a16="http://schemas.microsoft.com/office/drawing/2014/main" id="{540BF65A-9DC6-897B-0C4A-7B95FCCF32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6701" y="1347539"/>
            <a:ext cx="256162" cy="2561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46" name="직선 연결선 1045">
            <a:extLst>
              <a:ext uri="{FF2B5EF4-FFF2-40B4-BE49-F238E27FC236}">
                <a16:creationId xmlns:a16="http://schemas.microsoft.com/office/drawing/2014/main" id="{5DDC32C6-339D-7E37-E38B-7827279DD322}"/>
              </a:ext>
            </a:extLst>
          </p:cNvPr>
          <p:cNvCxnSpPr>
            <a:cxnSpLocks/>
          </p:cNvCxnSpPr>
          <p:nvPr/>
        </p:nvCxnSpPr>
        <p:spPr>
          <a:xfrm>
            <a:off x="5297896" y="1861778"/>
            <a:ext cx="3028653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7" name="모서리가 둥근 직사각형 63">
            <a:extLst>
              <a:ext uri="{FF2B5EF4-FFF2-40B4-BE49-F238E27FC236}">
                <a16:creationId xmlns:a16="http://schemas.microsoft.com/office/drawing/2014/main" id="{7409C6AD-F275-CC77-85B0-3291D42F101F}"/>
              </a:ext>
            </a:extLst>
          </p:cNvPr>
          <p:cNvSpPr/>
          <p:nvPr/>
        </p:nvSpPr>
        <p:spPr bwMode="auto">
          <a:xfrm>
            <a:off x="5261488" y="2176681"/>
            <a:ext cx="3001376" cy="312422"/>
          </a:xfrm>
          <a:prstGeom prst="roundRect">
            <a:avLst/>
          </a:prstGeom>
          <a:solidFill>
            <a:schemeClr val="tx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000" b="1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더보기</a:t>
            </a:r>
            <a:endParaRPr kumimoji="1" lang="ko-KR" altLang="en-US" sz="1000" b="1" dirty="0">
              <a:ln w="0" cmpd="sng">
                <a:solidFill>
                  <a:schemeClr val="tx2">
                    <a:satMod val="155000"/>
                    <a:alpha val="0"/>
                  </a:schemeClr>
                </a:solidFill>
                <a:prstDash val="solid"/>
                <a:round/>
              </a:ln>
              <a:solidFill>
                <a:schemeClr val="bg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048" name="TextBox 1047">
            <a:extLst>
              <a:ext uri="{FF2B5EF4-FFF2-40B4-BE49-F238E27FC236}">
                <a16:creationId xmlns:a16="http://schemas.microsoft.com/office/drawing/2014/main" id="{DE571C4F-E70F-9BAF-A141-B9D08A2B28EE}"/>
              </a:ext>
            </a:extLst>
          </p:cNvPr>
          <p:cNvSpPr txBox="1"/>
          <p:nvPr/>
        </p:nvSpPr>
        <p:spPr>
          <a:xfrm>
            <a:off x="6448238" y="1787592"/>
            <a:ext cx="6174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......</a:t>
            </a:r>
            <a:endParaRPr lang="ko-KR" altLang="en-US" sz="16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49" name="직사각형 1048">
            <a:extLst>
              <a:ext uri="{FF2B5EF4-FFF2-40B4-BE49-F238E27FC236}">
                <a16:creationId xmlns:a16="http://schemas.microsoft.com/office/drawing/2014/main" id="{B99D3334-26D3-3159-98DC-22B6DD5E458D}"/>
              </a:ext>
            </a:extLst>
          </p:cNvPr>
          <p:cNvSpPr/>
          <p:nvPr/>
        </p:nvSpPr>
        <p:spPr>
          <a:xfrm>
            <a:off x="5172887" y="2991266"/>
            <a:ext cx="3168137" cy="264669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Footer</a:t>
            </a:r>
            <a:endParaRPr lang="ko-KR" altLang="en-US" sz="10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50" name="Oval 109">
            <a:extLst>
              <a:ext uri="{FF2B5EF4-FFF2-40B4-BE49-F238E27FC236}">
                <a16:creationId xmlns:a16="http://schemas.microsoft.com/office/drawing/2014/main" id="{9F83D863-385A-FCE8-3B1A-4CBC69F3A1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574" y="3761598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2</a:t>
            </a:r>
          </a:p>
        </p:txBody>
      </p:sp>
      <p:sp>
        <p:nvSpPr>
          <p:cNvPr id="1051" name="Oval 109">
            <a:extLst>
              <a:ext uri="{FF2B5EF4-FFF2-40B4-BE49-F238E27FC236}">
                <a16:creationId xmlns:a16="http://schemas.microsoft.com/office/drawing/2014/main" id="{9558AFC7-9F8D-0EB3-B09F-96050E8825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8362" y="3576682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3</a:t>
            </a:r>
          </a:p>
        </p:txBody>
      </p:sp>
      <p:sp>
        <p:nvSpPr>
          <p:cNvPr id="1052" name="Oval 109">
            <a:extLst>
              <a:ext uri="{FF2B5EF4-FFF2-40B4-BE49-F238E27FC236}">
                <a16:creationId xmlns:a16="http://schemas.microsoft.com/office/drawing/2014/main" id="{5E3C119E-DFC9-2DE3-33CD-D54D33888F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144" y="4802624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4</a:t>
            </a:r>
          </a:p>
        </p:txBody>
      </p:sp>
      <p:sp>
        <p:nvSpPr>
          <p:cNvPr id="1054" name="Oval 109">
            <a:extLst>
              <a:ext uri="{FF2B5EF4-FFF2-40B4-BE49-F238E27FC236}">
                <a16:creationId xmlns:a16="http://schemas.microsoft.com/office/drawing/2014/main" id="{B527CF5E-9F04-6AFD-A06C-CD9C8C2EA0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75088" y="2019439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600309616"/>
      </p:ext>
    </p:extLst>
  </p:cSld>
  <p:clrMapOvr>
    <a:masterClrMapping/>
  </p:clrMapOvr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009DFD-B086-7CDE-7AD8-4388408936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D0900730-2F08-83B1-6227-CA7BA88EFD23}"/>
              </a:ext>
            </a:extLst>
          </p:cNvPr>
          <p:cNvGraphicFramePr>
            <a:graphicFrameLocks noGrp="1"/>
          </p:cNvGraphicFramePr>
          <p:nvPr/>
        </p:nvGraphicFramePr>
        <p:xfrm>
          <a:off x="9182101" y="947377"/>
          <a:ext cx="2795588" cy="1847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1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첨부파일 명 또는 아이콘 선택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해당 파일 다운로드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684046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목록 선택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목록화면으로 이동</a:t>
                      </a: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723838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3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172599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4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290794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5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922450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6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784800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7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0538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8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199337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9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450365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11F80964-A371-BD62-8240-26F937F94D76}"/>
              </a:ext>
            </a:extLst>
          </p:cNvPr>
          <p:cNvSpPr/>
          <p:nvPr/>
        </p:nvSpPr>
        <p:spPr>
          <a:xfrm>
            <a:off x="959895" y="375614"/>
            <a:ext cx="1584088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</a:pP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메인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고객센터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자료실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상세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5C38574-1D59-AABC-646E-BED24FEAC827}"/>
              </a:ext>
            </a:extLst>
          </p:cNvPr>
          <p:cNvSpPr txBox="1"/>
          <p:nvPr/>
        </p:nvSpPr>
        <p:spPr>
          <a:xfrm>
            <a:off x="6003996" y="123825"/>
            <a:ext cx="17303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HN_Customer_Referenview_001</a:t>
            </a:r>
            <a:endParaRPr lang="ko-KR" altLang="en-US" sz="800" dirty="0"/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EC0C2E73-E56F-AAC5-C086-7A6EDCE6009D}"/>
              </a:ext>
            </a:extLst>
          </p:cNvPr>
          <p:cNvCxnSpPr>
            <a:cxnSpLocks/>
          </p:cNvCxnSpPr>
          <p:nvPr/>
        </p:nvCxnSpPr>
        <p:spPr>
          <a:xfrm>
            <a:off x="655957" y="1658468"/>
            <a:ext cx="3109526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251E2AF9-F391-E099-5802-79607DF02120}"/>
              </a:ext>
            </a:extLst>
          </p:cNvPr>
          <p:cNvSpPr txBox="1"/>
          <p:nvPr/>
        </p:nvSpPr>
        <p:spPr>
          <a:xfrm>
            <a:off x="1793778" y="1181491"/>
            <a:ext cx="83388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하늘누리</a:t>
            </a:r>
            <a:endParaRPr lang="en-US" altLang="ko-KR" sz="11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en-US" altLang="ko-KR" sz="11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CI</a:t>
            </a:r>
            <a:endParaRPr lang="ko-KR" altLang="en-US" sz="11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12" name="그림 11" descr="블랙, 어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40079BD-D318-47FB-1DAD-3A6C4F7BEE40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2985" y="1191723"/>
            <a:ext cx="383533" cy="38353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D9038877-ED17-E285-723B-DDE973FAF4DA}"/>
              </a:ext>
            </a:extLst>
          </p:cNvPr>
          <p:cNvSpPr txBox="1"/>
          <p:nvPr/>
        </p:nvSpPr>
        <p:spPr>
          <a:xfrm>
            <a:off x="2826086" y="1293697"/>
            <a:ext cx="57184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" panose="020D0604000000000000" pitchFamily="50" charset="-127"/>
                <a:ea typeface="나눔고딕" panose="020D0604000000000000" pitchFamily="50" charset="-127"/>
              </a:rPr>
              <a:t>르그아웃</a:t>
            </a:r>
          </a:p>
        </p:txBody>
      </p:sp>
      <p:pic>
        <p:nvPicPr>
          <p:cNvPr id="17" name="Picture 4" descr="로그 아웃 아이콘">
            <a:extLst>
              <a:ext uri="{FF2B5EF4-FFF2-40B4-BE49-F238E27FC236}">
                <a16:creationId xmlns:a16="http://schemas.microsoft.com/office/drawing/2014/main" id="{ABF0BE4F-5446-02A7-7C04-FB6677CD51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9631" y="1283929"/>
            <a:ext cx="217049" cy="217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3DDDEB30-0380-509B-5EB7-6BF763CA593C}"/>
              </a:ext>
            </a:extLst>
          </p:cNvPr>
          <p:cNvSpPr txBox="1"/>
          <p:nvPr/>
        </p:nvSpPr>
        <p:spPr>
          <a:xfrm>
            <a:off x="1343128" y="1807796"/>
            <a:ext cx="17351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자료실</a:t>
            </a:r>
            <a:endParaRPr lang="en-US" altLang="ko-KR" sz="1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5894473-6FF8-30D6-6DF1-BC181399B946}"/>
              </a:ext>
            </a:extLst>
          </p:cNvPr>
          <p:cNvSpPr txBox="1"/>
          <p:nvPr/>
        </p:nvSpPr>
        <p:spPr>
          <a:xfrm>
            <a:off x="794294" y="2194931"/>
            <a:ext cx="2971189" cy="66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000" b="1" dirty="0"/>
              <a:t>"</a:t>
            </a:r>
            <a:r>
              <a:rPr lang="ko-KR" altLang="en-US" sz="1000" b="1" dirty="0"/>
              <a:t>하늘누리 이용을 돕는 투명하고 정확한 기록들</a:t>
            </a:r>
            <a:r>
              <a:rPr lang="en-US" altLang="ko-KR" sz="1000" b="1" dirty="0"/>
              <a:t>“</a:t>
            </a:r>
          </a:p>
          <a:p>
            <a:pPr algn="ctr"/>
            <a:r>
              <a:rPr lang="ko-KR" altLang="en-US" sz="900" dirty="0"/>
              <a:t>이곳저곳 찾아보시는 번거로움을 덜어드리기 위해 관련 서식과 가이드북을 한곳에 정리했습니다</a:t>
            </a:r>
            <a:r>
              <a:rPr lang="en-US" altLang="ko-KR" sz="900" dirty="0"/>
              <a:t>. </a:t>
            </a:r>
            <a:r>
              <a:rPr lang="ko-KR" altLang="en-US" sz="900" dirty="0"/>
              <a:t>편안하게 내려 받아 확인해 보세요</a:t>
            </a:r>
            <a:r>
              <a:rPr lang="en-US" altLang="ko-KR" sz="900" dirty="0"/>
              <a:t>.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468E5ED2-1775-4ACD-2791-2F466F8B2314}"/>
              </a:ext>
            </a:extLst>
          </p:cNvPr>
          <p:cNvCxnSpPr>
            <a:cxnSpLocks/>
          </p:cNvCxnSpPr>
          <p:nvPr/>
        </p:nvCxnSpPr>
        <p:spPr>
          <a:xfrm>
            <a:off x="794294" y="2950861"/>
            <a:ext cx="2962224" cy="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BD7186FD-58F9-4BC0-870E-534A93E74067}"/>
              </a:ext>
            </a:extLst>
          </p:cNvPr>
          <p:cNvSpPr txBox="1"/>
          <p:nvPr/>
        </p:nvSpPr>
        <p:spPr>
          <a:xfrm>
            <a:off x="685142" y="3009228"/>
            <a:ext cx="1888026" cy="27872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하늘누리 시설운영 규정입니다</a:t>
            </a:r>
            <a:r>
              <a:rPr lang="en-US" altLang="ko-KR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9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D49FF05-C104-8F70-13BB-D6CF48AE2EEC}"/>
              </a:ext>
            </a:extLst>
          </p:cNvPr>
          <p:cNvSpPr txBox="1"/>
          <p:nvPr/>
        </p:nvSpPr>
        <p:spPr>
          <a:xfrm>
            <a:off x="2964765" y="3025710"/>
            <a:ext cx="924702" cy="230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2026-03-11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A65FCCDD-4DA2-851F-95F3-63A7D85376D1}"/>
              </a:ext>
            </a:extLst>
          </p:cNvPr>
          <p:cNvCxnSpPr>
            <a:cxnSpLocks/>
          </p:cNvCxnSpPr>
          <p:nvPr/>
        </p:nvCxnSpPr>
        <p:spPr>
          <a:xfrm>
            <a:off x="753236" y="3327004"/>
            <a:ext cx="2923819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D3293B74-9B12-DB57-70C2-A8AEC3049DA7}"/>
              </a:ext>
            </a:extLst>
          </p:cNvPr>
          <p:cNvCxnSpPr>
            <a:cxnSpLocks/>
          </p:cNvCxnSpPr>
          <p:nvPr/>
        </p:nvCxnSpPr>
        <p:spPr>
          <a:xfrm>
            <a:off x="753236" y="4568902"/>
            <a:ext cx="2923819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15778F24-F27C-F21F-1A1D-385F033FD740}"/>
              </a:ext>
            </a:extLst>
          </p:cNvPr>
          <p:cNvSpPr txBox="1"/>
          <p:nvPr/>
        </p:nvSpPr>
        <p:spPr>
          <a:xfrm>
            <a:off x="794294" y="3454229"/>
            <a:ext cx="2418275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하늘누리 시설운영 규정을 공유합니다 </a:t>
            </a:r>
            <a:endParaRPr lang="en-US" altLang="ko-KR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endParaRPr lang="en-US" altLang="ko-KR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en-US" altLang="ko-KR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&lt;</a:t>
            </a:r>
            <a:r>
              <a:rPr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등록파일</a:t>
            </a:r>
            <a:r>
              <a:rPr lang="en-US" altLang="ko-KR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&gt;</a:t>
            </a:r>
          </a:p>
          <a:p>
            <a:endParaRPr lang="en-US" altLang="ko-KR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하늘누리 시설운영 규정 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1.pdf</a:t>
            </a:r>
          </a:p>
          <a:p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하늘누리 시설운영 규정 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2.pdf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47" name="직선 연결선 46">
            <a:extLst>
              <a:ext uri="{FF2B5EF4-FFF2-40B4-BE49-F238E27FC236}">
                <a16:creationId xmlns:a16="http://schemas.microsoft.com/office/drawing/2014/main" id="{4749ABA1-A5FD-F1BF-A12A-E14535411EA1}"/>
              </a:ext>
            </a:extLst>
          </p:cNvPr>
          <p:cNvCxnSpPr>
            <a:cxnSpLocks/>
          </p:cNvCxnSpPr>
          <p:nvPr/>
        </p:nvCxnSpPr>
        <p:spPr>
          <a:xfrm>
            <a:off x="753236" y="5323029"/>
            <a:ext cx="2923819" cy="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EFC21D39-1988-4A82-1A26-B907316BB945}"/>
              </a:ext>
            </a:extLst>
          </p:cNvPr>
          <p:cNvSpPr txBox="1"/>
          <p:nvPr/>
        </p:nvSpPr>
        <p:spPr>
          <a:xfrm>
            <a:off x="753236" y="4638709"/>
            <a:ext cx="66196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첨부파일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6085D28-4238-A8D9-39FD-B9A38E684CCB}"/>
              </a:ext>
            </a:extLst>
          </p:cNvPr>
          <p:cNvSpPr txBox="1"/>
          <p:nvPr/>
        </p:nvSpPr>
        <p:spPr>
          <a:xfrm>
            <a:off x="1343128" y="4667893"/>
            <a:ext cx="173752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u="sng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하늘누리 시설운영 규정 </a:t>
            </a:r>
            <a:r>
              <a:rPr lang="en-US" altLang="ko-KR" sz="900" u="sng" dirty="0">
                <a:latin typeface="나눔고딕" panose="020D0604000000000000" pitchFamily="50" charset="-127"/>
                <a:ea typeface="나눔고딕" panose="020D0604000000000000" pitchFamily="50" charset="-127"/>
              </a:rPr>
              <a:t>1.pdf</a:t>
            </a:r>
            <a:endParaRPr lang="ko-KR" altLang="en-US" sz="900" u="sng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579E198-5426-77DF-6FE3-A42B9FCA6318}"/>
              </a:ext>
            </a:extLst>
          </p:cNvPr>
          <p:cNvSpPr txBox="1"/>
          <p:nvPr/>
        </p:nvSpPr>
        <p:spPr>
          <a:xfrm>
            <a:off x="1343128" y="4986082"/>
            <a:ext cx="173752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u="sng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하늘누리 시설운영 규정 </a:t>
            </a:r>
            <a:r>
              <a:rPr lang="en-US" altLang="ko-KR" sz="900" u="sng" dirty="0">
                <a:latin typeface="나눔고딕" panose="020D0604000000000000" pitchFamily="50" charset="-127"/>
                <a:ea typeface="나눔고딕" panose="020D0604000000000000" pitchFamily="50" charset="-127"/>
              </a:rPr>
              <a:t>2.pdf</a:t>
            </a:r>
            <a:endParaRPr lang="ko-KR" altLang="en-US" sz="900" u="sng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52" name="Picture 2" descr="다운로드 - 무료 화살개 아이콘">
            <a:extLst>
              <a:ext uri="{FF2B5EF4-FFF2-40B4-BE49-F238E27FC236}">
                <a16:creationId xmlns:a16="http://schemas.microsoft.com/office/drawing/2014/main" id="{F6D5C90D-5AA6-FAB7-720E-1DC6C4B995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6593" y="4667893"/>
            <a:ext cx="230832" cy="2308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" name="Picture 2" descr="다운로드 - 무료 화살개 아이콘">
            <a:extLst>
              <a:ext uri="{FF2B5EF4-FFF2-40B4-BE49-F238E27FC236}">
                <a16:creationId xmlns:a16="http://schemas.microsoft.com/office/drawing/2014/main" id="{1CC954C7-5E37-736C-E614-DA3A4D3246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1163" y="4993207"/>
            <a:ext cx="230832" cy="2308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" name="모서리가 둥근 직사각형 63">
            <a:extLst>
              <a:ext uri="{FF2B5EF4-FFF2-40B4-BE49-F238E27FC236}">
                <a16:creationId xmlns:a16="http://schemas.microsoft.com/office/drawing/2014/main" id="{C6AFBF96-5574-7CEF-889D-FE73852006F6}"/>
              </a:ext>
            </a:extLst>
          </p:cNvPr>
          <p:cNvSpPr/>
          <p:nvPr/>
        </p:nvSpPr>
        <p:spPr bwMode="auto">
          <a:xfrm>
            <a:off x="753237" y="5464096"/>
            <a:ext cx="3003282" cy="312422"/>
          </a:xfrm>
          <a:prstGeom prst="roundRect">
            <a:avLst/>
          </a:prstGeom>
          <a:solidFill>
            <a:schemeClr val="tx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000" b="1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목록</a:t>
            </a: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8B252CC9-62AE-C62D-FB60-42A4B8BCBDB2}"/>
              </a:ext>
            </a:extLst>
          </p:cNvPr>
          <p:cNvSpPr/>
          <p:nvPr/>
        </p:nvSpPr>
        <p:spPr>
          <a:xfrm>
            <a:off x="655957" y="5890058"/>
            <a:ext cx="3168137" cy="264669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Footer</a:t>
            </a:r>
            <a:endParaRPr lang="ko-KR" altLang="en-US" sz="10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37219331"/>
      </p:ext>
    </p:extLst>
  </p:cSld>
  <p:clrMapOvr>
    <a:masterClrMapping/>
  </p:clrMapOvr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7E6C4E-149B-D5AD-E31F-6DB219EBFA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6BDB3A9-BAA3-DFBD-A5F8-12C38CF4F74B}"/>
              </a:ext>
            </a:extLst>
          </p:cNvPr>
          <p:cNvSpPr txBox="1"/>
          <p:nvPr/>
        </p:nvSpPr>
        <p:spPr>
          <a:xfrm>
            <a:off x="1047750" y="2476500"/>
            <a:ext cx="2390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나눔고딕" pitchFamily="2" charset="-127"/>
                <a:ea typeface="나눔고딕" pitchFamily="2" charset="-127"/>
              </a:rPr>
              <a:t>08. </a:t>
            </a:r>
            <a:r>
              <a:rPr lang="ko-KR" altLang="en-US" b="1" dirty="0">
                <a:latin typeface="나눔고딕" pitchFamily="2" charset="-127"/>
                <a:ea typeface="나눔고딕" pitchFamily="2" charset="-127"/>
              </a:rPr>
              <a:t>기타</a:t>
            </a:r>
          </a:p>
        </p:txBody>
      </p:sp>
    </p:spTree>
    <p:extLst>
      <p:ext uri="{BB962C8B-B14F-4D97-AF65-F5344CB8AC3E}">
        <p14:creationId xmlns:p14="http://schemas.microsoft.com/office/powerpoint/2010/main" val="4155246268"/>
      </p:ext>
    </p:extLst>
  </p:cSld>
  <p:clrMapOvr>
    <a:masterClrMapping/>
  </p:clrMapOvr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C44740-B7A3-304C-41C3-82CF0CDAE5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6FC4085F-9BD6-E4FF-0A9C-4B104113386B}"/>
              </a:ext>
            </a:extLst>
          </p:cNvPr>
          <p:cNvGraphicFramePr>
            <a:graphicFrameLocks noGrp="1"/>
          </p:cNvGraphicFramePr>
          <p:nvPr/>
        </p:nvGraphicFramePr>
        <p:xfrm>
          <a:off x="9182101" y="947377"/>
          <a:ext cx="2795588" cy="1847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1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684046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723838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3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172599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4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290794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5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922450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6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784800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7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0538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8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199337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9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450365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4C2E338C-7848-11B9-5911-576998785D05}"/>
              </a:ext>
            </a:extLst>
          </p:cNvPr>
          <p:cNvSpPr/>
          <p:nvPr/>
        </p:nvSpPr>
        <p:spPr>
          <a:xfrm>
            <a:off x="959895" y="375614"/>
            <a:ext cx="1192955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</a:pP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메인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서비스 이용약관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2353521-21BF-D445-AE51-1322653CE78C}"/>
              </a:ext>
            </a:extLst>
          </p:cNvPr>
          <p:cNvSpPr txBox="1"/>
          <p:nvPr/>
        </p:nvSpPr>
        <p:spPr>
          <a:xfrm>
            <a:off x="6003996" y="123825"/>
            <a:ext cx="17303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HN_Serviceagree_001</a:t>
            </a:r>
            <a:endParaRPr lang="ko-KR" altLang="en-US" sz="800" dirty="0"/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3117421D-09CE-446C-518F-7E7B2A523FC8}"/>
              </a:ext>
            </a:extLst>
          </p:cNvPr>
          <p:cNvCxnSpPr>
            <a:cxnSpLocks/>
          </p:cNvCxnSpPr>
          <p:nvPr/>
        </p:nvCxnSpPr>
        <p:spPr>
          <a:xfrm>
            <a:off x="704597" y="1658468"/>
            <a:ext cx="3109526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6CE377D4-54D6-F75B-BC26-B85B8DF32E0E}"/>
              </a:ext>
            </a:extLst>
          </p:cNvPr>
          <p:cNvSpPr txBox="1"/>
          <p:nvPr/>
        </p:nvSpPr>
        <p:spPr>
          <a:xfrm>
            <a:off x="1793778" y="1181491"/>
            <a:ext cx="83388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하늘누리</a:t>
            </a:r>
            <a:endParaRPr lang="en-US" altLang="ko-KR" sz="11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en-US" altLang="ko-KR" sz="11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CI</a:t>
            </a:r>
            <a:endParaRPr lang="ko-KR" altLang="en-US" sz="11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11" name="그림 10" descr="블랙, 어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C5EE97F-3857-66FB-6135-29C2090217CD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2985" y="1191723"/>
            <a:ext cx="383533" cy="38353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0E381F3-5358-22F0-9712-599BDEDF7672}"/>
              </a:ext>
            </a:extLst>
          </p:cNvPr>
          <p:cNvSpPr txBox="1"/>
          <p:nvPr/>
        </p:nvSpPr>
        <p:spPr>
          <a:xfrm>
            <a:off x="2826086" y="1293697"/>
            <a:ext cx="57184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" panose="020D0604000000000000" pitchFamily="50" charset="-127"/>
                <a:ea typeface="나눔고딕" panose="020D0604000000000000" pitchFamily="50" charset="-127"/>
              </a:rPr>
              <a:t>르그아웃</a:t>
            </a:r>
          </a:p>
        </p:txBody>
      </p:sp>
      <p:pic>
        <p:nvPicPr>
          <p:cNvPr id="16" name="Picture 4" descr="로그 아웃 아이콘">
            <a:extLst>
              <a:ext uri="{FF2B5EF4-FFF2-40B4-BE49-F238E27FC236}">
                <a16:creationId xmlns:a16="http://schemas.microsoft.com/office/drawing/2014/main" id="{D19526C1-6EB0-2E2C-6728-64F27F9969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9631" y="1283929"/>
            <a:ext cx="217049" cy="217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BB1C5074-FD23-20C0-B65C-631FFC8547CE}"/>
              </a:ext>
            </a:extLst>
          </p:cNvPr>
          <p:cNvSpPr txBox="1"/>
          <p:nvPr/>
        </p:nvSpPr>
        <p:spPr>
          <a:xfrm>
            <a:off x="1343128" y="1807796"/>
            <a:ext cx="17351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서비스 이용약관</a:t>
            </a:r>
            <a:endParaRPr lang="en-US" altLang="ko-KR" sz="1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354E297-7C98-9C70-47EE-06D7295F23F4}"/>
              </a:ext>
            </a:extLst>
          </p:cNvPr>
          <p:cNvSpPr txBox="1"/>
          <p:nvPr/>
        </p:nvSpPr>
        <p:spPr>
          <a:xfrm>
            <a:off x="1434473" y="3241190"/>
            <a:ext cx="193851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Contents Text </a:t>
            </a:r>
            <a:r>
              <a:rPr lang="ko-KR" altLang="en-US" sz="28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파일 참조</a:t>
            </a:r>
          </a:p>
        </p:txBody>
      </p:sp>
    </p:spTree>
    <p:extLst>
      <p:ext uri="{BB962C8B-B14F-4D97-AF65-F5344CB8AC3E}">
        <p14:creationId xmlns:p14="http://schemas.microsoft.com/office/powerpoint/2010/main" val="2114689948"/>
      </p:ext>
    </p:extLst>
  </p:cSld>
  <p:clrMapOvr>
    <a:masterClrMapping/>
  </p:clrMapOvr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4B783B-4FAA-333E-E87F-382C927436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CE01A09D-3919-C385-B033-05A53274E009}"/>
              </a:ext>
            </a:extLst>
          </p:cNvPr>
          <p:cNvGraphicFramePr>
            <a:graphicFrameLocks noGrp="1"/>
          </p:cNvGraphicFramePr>
          <p:nvPr/>
        </p:nvGraphicFramePr>
        <p:xfrm>
          <a:off x="9182101" y="947377"/>
          <a:ext cx="2795588" cy="1847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1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684046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723838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3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172599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4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290794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5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922450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6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784800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7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0538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8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199337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9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450365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E6F8F1C1-BEE8-7C39-95B6-E522594CD7CE}"/>
              </a:ext>
            </a:extLst>
          </p:cNvPr>
          <p:cNvSpPr/>
          <p:nvPr/>
        </p:nvSpPr>
        <p:spPr>
          <a:xfrm>
            <a:off x="959895" y="375614"/>
            <a:ext cx="1289135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</a:pP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메인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개인정보 처리방침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E57C3F6-43D9-5CE9-D748-9684DD23E92B}"/>
              </a:ext>
            </a:extLst>
          </p:cNvPr>
          <p:cNvSpPr txBox="1"/>
          <p:nvPr/>
        </p:nvSpPr>
        <p:spPr>
          <a:xfrm>
            <a:off x="6003996" y="123825"/>
            <a:ext cx="17303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HN_Perinfo_001</a:t>
            </a:r>
            <a:endParaRPr lang="ko-KR" altLang="en-US" sz="800" dirty="0"/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7BD26ECA-A8E3-EEB5-6AD1-876E509F286B}"/>
              </a:ext>
            </a:extLst>
          </p:cNvPr>
          <p:cNvCxnSpPr>
            <a:cxnSpLocks/>
          </p:cNvCxnSpPr>
          <p:nvPr/>
        </p:nvCxnSpPr>
        <p:spPr>
          <a:xfrm>
            <a:off x="704597" y="1658468"/>
            <a:ext cx="3109526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EFCCE97E-4494-BCEA-E05C-CA30A6E4F65F}"/>
              </a:ext>
            </a:extLst>
          </p:cNvPr>
          <p:cNvSpPr txBox="1"/>
          <p:nvPr/>
        </p:nvSpPr>
        <p:spPr>
          <a:xfrm>
            <a:off x="1793778" y="1181491"/>
            <a:ext cx="83388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하늘누리</a:t>
            </a:r>
            <a:endParaRPr lang="en-US" altLang="ko-KR" sz="11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en-US" altLang="ko-KR" sz="11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CI</a:t>
            </a:r>
            <a:endParaRPr lang="ko-KR" altLang="en-US" sz="11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11" name="그림 10" descr="블랙, 어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74FD198-D6A6-21E0-9A62-3185C62B9109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2985" y="1191723"/>
            <a:ext cx="383533" cy="38353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8C5170B-3947-4F57-A4A5-ECC70ED41E72}"/>
              </a:ext>
            </a:extLst>
          </p:cNvPr>
          <p:cNvSpPr txBox="1"/>
          <p:nvPr/>
        </p:nvSpPr>
        <p:spPr>
          <a:xfrm>
            <a:off x="2826086" y="1293697"/>
            <a:ext cx="57184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" panose="020D0604000000000000" pitchFamily="50" charset="-127"/>
                <a:ea typeface="나눔고딕" panose="020D0604000000000000" pitchFamily="50" charset="-127"/>
              </a:rPr>
              <a:t>르그아웃</a:t>
            </a:r>
          </a:p>
        </p:txBody>
      </p:sp>
      <p:pic>
        <p:nvPicPr>
          <p:cNvPr id="16" name="Picture 4" descr="로그 아웃 아이콘">
            <a:extLst>
              <a:ext uri="{FF2B5EF4-FFF2-40B4-BE49-F238E27FC236}">
                <a16:creationId xmlns:a16="http://schemas.microsoft.com/office/drawing/2014/main" id="{CD67B805-AA74-0292-1024-391CC369C7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9631" y="1283929"/>
            <a:ext cx="217049" cy="217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F63F85A7-7F30-1405-549A-10879C523B52}"/>
              </a:ext>
            </a:extLst>
          </p:cNvPr>
          <p:cNvSpPr txBox="1"/>
          <p:nvPr/>
        </p:nvSpPr>
        <p:spPr>
          <a:xfrm>
            <a:off x="1343128" y="1807796"/>
            <a:ext cx="19385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개인정보 처리방침</a:t>
            </a:r>
            <a:endParaRPr lang="en-US" altLang="ko-KR" sz="1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D4E84AD-14C3-A223-4154-AAFEB487664D}"/>
              </a:ext>
            </a:extLst>
          </p:cNvPr>
          <p:cNvSpPr txBox="1"/>
          <p:nvPr/>
        </p:nvSpPr>
        <p:spPr>
          <a:xfrm>
            <a:off x="1434473" y="3241190"/>
            <a:ext cx="193851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Contents Text </a:t>
            </a:r>
            <a:r>
              <a:rPr lang="ko-KR" altLang="en-US" sz="28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파일 참조</a:t>
            </a:r>
          </a:p>
        </p:txBody>
      </p:sp>
    </p:spTree>
    <p:extLst>
      <p:ext uri="{BB962C8B-B14F-4D97-AF65-F5344CB8AC3E}">
        <p14:creationId xmlns:p14="http://schemas.microsoft.com/office/powerpoint/2010/main" val="36728047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tx1">
              <a:lumMod val="50000"/>
              <a:lumOff val="50000"/>
            </a:schemeClr>
          </a:solidFill>
        </a:ln>
      </a:spPr>
      <a:bodyPr rtlCol="0" anchor="ctr"/>
      <a:lstStyle>
        <a:defPPr algn="ctr">
          <a:defRPr sz="1000" dirty="0" smtClean="0">
            <a:solidFill>
              <a:schemeClr val="tx1"/>
            </a:solidFill>
            <a:latin typeface="나눔고딕" panose="020D0604000000000000" pitchFamily="50" charset="-127"/>
            <a:ea typeface="나눔고딕" panose="020D0604000000000000" pitchFamily="50" charset="-12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bg1">
              <a:lumMod val="65000"/>
            </a:schemeClr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800" smtClean="0">
            <a:latin typeface="나눔고딕" panose="020D0604000000000000" pitchFamily="50" charset="-127"/>
            <a:ea typeface="나눔고딕" panose="020D0604000000000000" pitchFamily="50" charset="-12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1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solidFill>
            <a:schemeClr val="tx1"/>
          </a:solidFill>
        </a:ln>
      </a:spPr>
      <a:bodyPr rtlCol="0" anchor="ctr"/>
      <a:lstStyle>
        <a:defPPr algn="ctr">
          <a:defRPr sz="1000" smtClean="0">
            <a:solidFill>
              <a:schemeClr val="tx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sz="9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15326</TotalTime>
  <Words>21877</Words>
  <Application>Microsoft Office PowerPoint</Application>
  <PresentationFormat>와이드스크린</PresentationFormat>
  <Paragraphs>6875</Paragraphs>
  <Slides>204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3</vt:i4>
      </vt:variant>
      <vt:variant>
        <vt:lpstr>슬라이드 제목</vt:lpstr>
      </vt:variant>
      <vt:variant>
        <vt:i4>204</vt:i4>
      </vt:variant>
    </vt:vector>
  </HeadingPairs>
  <TitlesOfParts>
    <vt:vector size="213" baseType="lpstr">
      <vt:lpstr>나눔고딕</vt:lpstr>
      <vt:lpstr>나눔바른고딕</vt:lpstr>
      <vt:lpstr>돋움</vt:lpstr>
      <vt:lpstr>맑은 고딕</vt:lpstr>
      <vt:lpstr>Arial</vt:lpstr>
      <vt:lpstr>Wingdings</vt:lpstr>
      <vt:lpstr>Office 테마</vt:lpstr>
      <vt:lpstr>디자인 사용자 지정</vt:lpstr>
      <vt:lpstr>1_디자인 사용자 지정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Hwang Ryeol Lee</dc:creator>
  <cp:lastModifiedBy>Hwang Ryeol Lee</cp:lastModifiedBy>
  <cp:revision>302</cp:revision>
  <dcterms:created xsi:type="dcterms:W3CDTF">2025-07-07T03:55:37Z</dcterms:created>
  <dcterms:modified xsi:type="dcterms:W3CDTF">2026-02-12T06:47:07Z</dcterms:modified>
</cp:coreProperties>
</file>